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8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34" r:id="rId49"/>
    <p:sldId id="335" r:id="rId50"/>
    <p:sldId id="336" r:id="rId51"/>
    <p:sldId id="337" r:id="rId52"/>
    <p:sldId id="338" r:id="rId53"/>
    <p:sldId id="339" r:id="rId54"/>
    <p:sldId id="340" r:id="rId55"/>
    <p:sldId id="341" r:id="rId56"/>
    <p:sldId id="369" r:id="rId57"/>
    <p:sldId id="343" r:id="rId58"/>
    <p:sldId id="344" r:id="rId59"/>
    <p:sldId id="345" r:id="rId60"/>
    <p:sldId id="346" r:id="rId61"/>
    <p:sldId id="347" r:id="rId62"/>
    <p:sldId id="348" r:id="rId63"/>
    <p:sldId id="349" r:id="rId64"/>
    <p:sldId id="350" r:id="rId65"/>
    <p:sldId id="351" r:id="rId66"/>
    <p:sldId id="370" r:id="rId67"/>
    <p:sldId id="353" r:id="rId68"/>
    <p:sldId id="354" r:id="rId69"/>
    <p:sldId id="355" r:id="rId70"/>
    <p:sldId id="356" r:id="rId71"/>
    <p:sldId id="357" r:id="rId72"/>
    <p:sldId id="358" r:id="rId73"/>
    <p:sldId id="359" r:id="rId74"/>
    <p:sldId id="360" r:id="rId75"/>
    <p:sldId id="361" r:id="rId76"/>
    <p:sldId id="362" r:id="rId77"/>
    <p:sldId id="363" r:id="rId78"/>
    <p:sldId id="364" r:id="rId79"/>
    <p:sldId id="365" r:id="rId80"/>
    <p:sldId id="366" r:id="rId81"/>
    <p:sldId id="367" r:id="rId82"/>
    <p:sldId id="368" r:id="rId83"/>
  </p:sldIdLst>
  <p:sldSz cx="9144000" cy="6858000" type="screen4x3"/>
  <p:notesSz cx="6858000" cy="9144000"/>
  <p:custDataLst>
    <p:tags r:id="rId8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0000CC"/>
    <a:srgbClr val="3333FF"/>
    <a:srgbClr val="CC00FF"/>
    <a:srgbClr val="993366"/>
    <a:srgbClr val="9900CC"/>
    <a:srgbClr val="F2F2F2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104" d="100"/>
          <a:sy n="104" d="100"/>
        </p:scale>
        <p:origin x="114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3" cy="45003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3-03-03T15:47:42"/>
    </inkml:context>
    <inkml:brush xml:id="br0">
      <inkml:brushProperty name="width" value="0.09701" units="cm"/>
      <inkml:brushProperty name="height" value="0.09701" units="cm"/>
      <inkml:brushProperty name="color" value="#FFCF01"/>
      <inkml:brushProperty name="fitToCurve" value="1"/>
    </inkml:brush>
  </inkml:definitions>
  <inkml:trace contextRef="#ctx0" brushRef="#br0">22175 18554,'0'-25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988635D-E117-AEEC-C9F7-48265569A0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1773275-6E16-1F45-84EE-104B9F6BE64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F1DB1E9D-D4E8-403D-ED6B-ACFD872D932C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92350506-B9D9-EEDC-FCE2-EB99AA73264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25A83F23-19D9-E234-AFAF-C5A6720CF85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E60124E6-C394-A664-BBAF-EBB06A4F57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A8B6B21-5F9B-43D6-904D-3B873C94D38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幻灯片图像占位符 1">
            <a:extLst>
              <a:ext uri="{FF2B5EF4-FFF2-40B4-BE49-F238E27FC236}">
                <a16:creationId xmlns:a16="http://schemas.microsoft.com/office/drawing/2014/main" id="{A6A3D9D5-C255-31B2-E8F8-19E4999AE12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360986-4CE1-5E7A-3408-DFC2164F0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/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ea typeface="华文中宋" panose="02010600040101010101" pitchFamily="2" charset="-122"/>
              </a:rPr>
              <a:t>如何衡量</a:t>
            </a:r>
            <a:r>
              <a:rPr kumimoji="1"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华文中宋" panose="02010600040101010101" pitchFamily="2" charset="-122"/>
              </a:rPr>
              <a:t>数字通信系统性能 ？提示： 结合</a:t>
            </a:r>
            <a:r>
              <a:rPr kumimoji="1"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华文中宋" panose="02010600040101010101" pitchFamily="2" charset="-122"/>
              </a:rPr>
              <a:t>5</a:t>
            </a:r>
            <a:r>
              <a:rPr kumimoji="1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华文中宋" panose="02010600040101010101" pitchFamily="2" charset="-122"/>
              </a:rPr>
              <a:t>、</a:t>
            </a:r>
            <a:r>
              <a:rPr kumimoji="1"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华文中宋" panose="02010600040101010101" pitchFamily="2" charset="-122"/>
              </a:rPr>
              <a:t>7</a:t>
            </a:r>
            <a:r>
              <a:rPr kumimoji="1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华文中宋" panose="02010600040101010101" pitchFamily="2" charset="-122"/>
              </a:rPr>
              <a:t>、</a:t>
            </a:r>
            <a:r>
              <a:rPr kumimoji="1"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华文中宋" panose="02010600040101010101" pitchFamily="2" charset="-122"/>
              </a:rPr>
              <a:t>1</a:t>
            </a:r>
            <a:r>
              <a:rPr kumimoji="1"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  <a:ea typeface="华文中宋" panose="02010600040101010101" pitchFamily="2" charset="-122"/>
              </a:rPr>
              <a:t>章，</a:t>
            </a:r>
            <a:r>
              <a:rPr kumimoji="1"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ea typeface="华文中宋" panose="02010600040101010101" pitchFamily="2" charset="-122"/>
              </a:rPr>
              <a:t>抽判</a:t>
            </a:r>
          </a:p>
          <a:p>
            <a:pPr eaLnBrk="1" hangingPunct="1">
              <a:defRPr/>
            </a:pPr>
            <a:endParaRPr lang="zh-CN" altLang="en-US" dirty="0"/>
          </a:p>
        </p:txBody>
      </p:sp>
      <p:sp>
        <p:nvSpPr>
          <p:cNvPr id="63491" name="日期占位符 3">
            <a:extLst>
              <a:ext uri="{FF2B5EF4-FFF2-40B4-BE49-F238E27FC236}">
                <a16:creationId xmlns:a16="http://schemas.microsoft.com/office/drawing/2014/main" id="{F67B2610-DBA2-CFFE-5314-E2765666BB8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2192B49C-5ABC-4584-9C34-FC51EF400CB3}" type="datetime1">
              <a:rPr lang="zh-CN" altLang="en-US" smtClean="0"/>
              <a:pPr/>
              <a:t>2023/8/16</a:t>
            </a:fld>
            <a:endParaRPr lang="zh-CN" altLang="en-US"/>
          </a:p>
        </p:txBody>
      </p:sp>
      <p:sp>
        <p:nvSpPr>
          <p:cNvPr id="63492" name="灯片编号占位符 4">
            <a:extLst>
              <a:ext uri="{FF2B5EF4-FFF2-40B4-BE49-F238E27FC236}">
                <a16:creationId xmlns:a16="http://schemas.microsoft.com/office/drawing/2014/main" id="{3E76EC85-B1F5-B361-D866-58A632693B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3DD9F18-2A40-4D92-B6FA-D80956088F95}" type="slidenum">
              <a:rPr lang="en-US" altLang="zh-CN"/>
              <a:pPr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>
            <a:extLst>
              <a:ext uri="{FF2B5EF4-FFF2-40B4-BE49-F238E27FC236}">
                <a16:creationId xmlns:a16="http://schemas.microsoft.com/office/drawing/2014/main" id="{8ADCCECE-6B2B-82D1-60CB-2D848B8B3C6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1138" name="备注占位符 2">
            <a:extLst>
              <a:ext uri="{FF2B5EF4-FFF2-40B4-BE49-F238E27FC236}">
                <a16:creationId xmlns:a16="http://schemas.microsoft.com/office/drawing/2014/main" id="{E86CA45B-D309-40E3-7570-6F440D0AF8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139" name="日期占位符 3">
            <a:extLst>
              <a:ext uri="{FF2B5EF4-FFF2-40B4-BE49-F238E27FC236}">
                <a16:creationId xmlns:a16="http://schemas.microsoft.com/office/drawing/2014/main" id="{668E86FD-9719-9A7A-94E9-205255EC8F6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D2A4EC42-A1D7-4F6B-B05B-3F687347BD09}" type="datetime1">
              <a:rPr lang="zh-CN" altLang="en-US" smtClean="0"/>
              <a:pPr/>
              <a:t>2023/8/16</a:t>
            </a:fld>
            <a:endParaRPr lang="zh-CN" altLang="en-US"/>
          </a:p>
        </p:txBody>
      </p:sp>
      <p:sp>
        <p:nvSpPr>
          <p:cNvPr id="91140" name="灯片编号占位符 4">
            <a:extLst>
              <a:ext uri="{FF2B5EF4-FFF2-40B4-BE49-F238E27FC236}">
                <a16:creationId xmlns:a16="http://schemas.microsoft.com/office/drawing/2014/main" id="{5C33B10C-C215-2B00-0002-0EDE0D3F99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2AB52726-8827-4D7D-A367-2CA33031ADEF}" type="slidenum">
              <a:rPr lang="en-US" altLang="zh-CN"/>
              <a:pPr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09BCB69-F7A4-062F-D920-1F820333CD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7ECCE3D-BCF4-9CB7-2140-CAF40C5589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A5AADF7-B8A6-AB99-AB36-374A5B25E8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6894CB-2B50-48D2-9773-7572F163DAE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913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7100" y="1268413"/>
            <a:ext cx="8042275" cy="5221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1D7AF17-3500-08E2-C666-8CFCE8CD1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50696FB-4F6B-63D3-E727-E5A1950924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F198668-7955-0C09-AFA2-FF9E226485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347EB7-FB36-4BA9-9C7B-8C1FB560E2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624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18DC3FD-4C28-7765-012E-E04A03D6BF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AB529EC-8440-2872-95F6-EF559D42C9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66F2D71-1D18-B0A7-68EA-64935FF6BD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974842-45CC-46C7-8200-DFBFA5BD68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19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27100" y="1268413"/>
            <a:ext cx="3944938" cy="5221287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4438" y="1268413"/>
            <a:ext cx="3944937" cy="5221287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AE81E70-03D4-D775-EF15-9DBA52335B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1672089-9608-3ABD-1FF9-75EC27B770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99B0091-8D13-BDB1-16EE-E4BFE4EC9B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1B08F3-D061-477D-952B-A2506A5AC9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0379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7A276AC-85F3-0FE3-9232-C928D4C02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321739B-830A-092D-C32F-977D9627FE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493B7A7C-30E6-999D-2D31-F8703EBCB1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1B22AF-F8CE-4AA7-97B5-C7DAD98F837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7945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8DA8F81-0C2D-B686-C126-8A4684B787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74E07B6-D25D-1AAB-6D1F-1101A5CFA4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0D3D53F-0E49-1CCD-F0A5-7E4F94B7A8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CA6331-D7FC-4DFB-B3B1-01A1D70F69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2461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D10A03F-7CA0-59F2-37E7-22BDEECA1E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43F255ED-5167-7A37-A954-EA47BD703E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5AE2F87-5EF9-5D19-AB7B-4360928906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BDA84D-8A79-4F2B-9080-1848B27FFB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915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9207BEB-BCB0-3333-6863-83FCCFADF5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796039B-2548-E77B-8D52-8DD6E7AAED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A85D8B7-1114-303E-E199-63384B14A9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BAE202-3905-46CD-8BE0-077B70BDFC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3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FE4FE55-08D4-5B2D-A04D-BE164F3D43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4532474-C279-46FB-3FC0-F3567F3E19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A409748-61F7-3358-F16D-1437D7CE8A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F6B0A9-7EB3-47AC-94BD-0C9C99FC14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152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27100" y="1268413"/>
            <a:ext cx="8042275" cy="52212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E34BC76-B387-3B85-B343-DD74C107BE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14859E4-543C-A6D4-4EA0-6856DD6B83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85E0127-7F28-9E83-D685-B1825C1F41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AD04ED-2248-4978-8C9C-E022866380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121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9600" y="214313"/>
            <a:ext cx="2009775" cy="62753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27100" y="214313"/>
            <a:ext cx="5880100" cy="62753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6AF0214-CF1E-1482-C2AF-AC9693C177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12ABE52-6648-FE6F-CCA0-2422EB52FC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3C1AC13-7D59-D4AC-4A56-43D5BB28DA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BEBD9E-B642-4ACC-80C5-45408D82B4B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2370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E76540-8AC4-F683-A1D5-12B18F50E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021571-6F4A-606D-19DA-BDC315C6A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CDB23A-FB55-E384-1A0C-D6E0F598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75876C-1CE5-48CF-A5DA-E86C51469D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2099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2149A7-6289-1B25-11A2-51A37000B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DD8124-940D-6667-D106-7E4CDB3FC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BD78EA-CDB3-9187-1823-7C764C6E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BB4E37-92E8-40ED-9B9B-F1261A3A69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1693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CB13CB-274B-D066-6AC5-63D9377D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994F4D-D9F0-9677-2D63-E8CFD56B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CC4C43-E48B-12C8-CB56-76A8E94C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22C82B-7A36-4F1D-AA4F-74DD419069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2482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96682C-26A7-9D26-1476-4D22356B7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546751-FE84-1000-A0EC-57B6D9D2F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D83D88-F920-D748-2D4E-42B13C6F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09346F-5681-4258-B2C4-EEEC6F7745D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415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9B9DB4-36CF-E34A-49FC-8AA7B2960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A60897-D991-7F71-0C19-38191FD07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D44512-1893-2FD0-6312-08330EB38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05D24D-3FDB-4FAD-B652-753B00F8013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412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EA1EA6-92EA-9CE7-1E33-E3DA7770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A052CB-D185-4FF7-1A1E-E788D153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68087F-6B3A-F83B-4780-EBE581A2D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D3F221-CFB9-462B-81D9-B47C428A1CA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3674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45F879-F7EF-0408-0B59-9B31B4B33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08461E-79F5-E67A-0035-92A31F2D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44E1B5-2034-AC78-D612-CB4FD4DE3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8269B3-C4DF-4295-8942-D2AC7D6907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6062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260350"/>
            <a:ext cx="7773987" cy="60801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066800"/>
            <a:ext cx="41529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1066800"/>
            <a:ext cx="4152900" cy="2628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6300" y="3848100"/>
            <a:ext cx="4152900" cy="2628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DE0CA003-0915-F671-9FFD-7C604DCFD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0076C766-FC12-B4CD-6753-AFEA8E765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305690A-A376-E763-8721-9D69850D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E307A-1D54-4D2B-BF6D-729D5B340E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0636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7EA3C9-82EB-25EA-3841-D9B335FB6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8D2380-4405-7AF6-0D9D-5F6FCFD0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855842-AAA2-9622-015D-C0C8462C1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8BEAA2-AA49-47AE-9EFA-3376C738654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961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C5D67D-80CB-2F3E-5C9A-047B7D6A8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C6F0FF-BA13-860A-EBE5-546DBA17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B43CCE-FC7C-CC6F-F738-D82FC8C5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20BF4D-F017-476A-A246-5DA44356C9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29756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AD0613-A9A8-CC6D-CB72-E0A2DB78E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DBACD9-6A98-6E05-D5F9-B4159DE42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8FACA1-7915-F75D-677C-27D3C1E3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EB9BD1-9C42-4FF8-8792-2336C400049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33785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D303A6-93F6-9DF0-3DAA-172D92BF6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D02BAF-8DA2-897E-0FDB-1649F8A1A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F64301-098E-1E79-71A7-D5AF15C1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1C40F5-71BA-4F42-A33A-A9D38CED1B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39919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09F4B4-3486-9AF0-1447-F468857E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8E94B4-654E-2939-E21D-0730BF19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18E44C-797A-E28F-0CBC-DD136233B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4AAFEA-E4DB-44AA-A412-4D45C42A98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8725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059953-0803-2DEC-064A-8B906102B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8A9C39-9964-3C17-9F0D-8D0BF27A9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0BD733-BCC9-2024-24CD-62DED8C5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DE46F2-C857-4CC4-BE4D-94869EA338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35182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5955-DE63-8C52-C596-88F3A514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2CDEA8-4748-B362-EBFE-FD149E54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D7BCE0-57AC-27B0-E12E-1F495832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181EF5-D4BA-4DA2-8522-55C5BF0EE1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37698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3F1D88-228A-E4BF-F52E-DA508674B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BADF39-F1F3-5D92-9C0F-85C07FBF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DE8D7A-3D42-0EAA-DA5A-D3400526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9EDBF1-57C9-4DCA-9FE4-AAF56DEA49B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94819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5E0919-1E0A-49DB-4099-F29B3317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52B533-4608-BC7B-1224-FC3EFA42B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2819B8-7092-9E49-68D9-57574C6D2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70AFFA-5BF7-41C6-8C5A-88A9378B8C2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06117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AF6940-90F7-8CEE-6E11-423A22003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7BCD22-D701-6543-2F73-52F7FC99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0C1416-2514-27BD-3C10-2A0738BD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78D15A-84B3-4B66-914C-87D60F2906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54730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FD33A5-52E9-8506-1D0F-832C07E1C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7DFA58-C79F-FCB2-00CA-132890986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17A9E2-1B61-90D4-634C-62FFDA24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477BA4-99A3-4452-BC9D-1612B2C015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26785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7DE16F-1E8A-2151-EDC0-0507C750C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75859C-DDE7-D1AB-A632-28B6FFB7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1FEDF3-EF3C-2946-4BFB-2594F740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F8ADB8-F233-4E43-A503-565873156A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80104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7C38DE-E5D0-4FA7-B344-0EA9B363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DFAB55-15AF-A04F-870E-5ADDF0E88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9F236-CF8F-740F-23BF-FA3AF2A06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596049-33B3-4CA5-B0F2-6ACB61432F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59021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C3B26F-E9B4-E6D0-5D54-8F9A6EA4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A4CC6C-6319-FE36-73A4-485BB8F9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DC46D3-DC9E-25D2-27D5-EFDE6D0CB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50F6C7-B869-4EA7-B17E-0D6C7FB73C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71777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B6629D-315B-5C36-1201-460DFCFD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C2DF0E-4AF0-5C6D-2D3A-76087BED1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5F1862-B24F-789B-9214-6E5482E3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9A23F0-5734-4DB2-A19B-10B2A1CDF3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29280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42B48D-3E62-A4DE-1A77-56BDABD1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24F743-6EDA-9FD9-73B2-B237D04AD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E91B60-4981-F02C-3EF5-69D9768F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F2411-953D-4CD9-9179-F7183424E4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1023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260350"/>
            <a:ext cx="7773987" cy="60801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066800"/>
            <a:ext cx="41529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066800"/>
            <a:ext cx="41529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841B8F-6A93-68F8-14B8-A6EB0219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E9F02B-67E3-56C5-D871-74A5C9F0E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DA9787-4780-8925-37E1-5EA9D6C71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D8133-BFB4-4FD7-8BE8-7CE6EBCEBF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30118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20F19D-3746-C37A-D184-BA4EF0A5A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6C2F9A-9D47-30AC-08FA-06E2BC78F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1DC489-EC05-E94A-12B9-C090F7F30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9DC6CD-2EEB-4D18-9860-86B1381145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97021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FD4B2F-0375-5ED0-27A3-39D0A0A9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390008-F4B9-008A-3ECD-7997E31F4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68D66B-875B-7F15-B9C8-A8D29233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7EDA91-1ACE-4C2E-8AF1-C1C94FF0C1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77149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9EEF12-4B59-72B6-FFC7-08AE4263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AD426B-08CE-4006-8EDD-10D49136C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170B08-C951-21CC-7506-E1A6882C6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5DB514-B2DA-4CB1-8F5D-4AFC4FAA55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70307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F70554-F21E-3057-D162-5F62BF60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87EF1B-BD97-0177-E9C5-7F2CE51B0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FC4BA3-E211-A552-9431-8EFE959F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BC996-B901-494A-B690-CF37286D1A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71316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98963E-53EE-B63A-677C-E80FD0A3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E6F5E2-171B-6B26-87B8-648303F76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2CCE31-FA74-2692-549D-B9724E60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29E31B-FB81-4575-BE00-EA043357FA2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98871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3C874E-A86C-04CB-4E47-C78EA56D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C7C013-E05B-A477-E761-95823AB58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0D9DF9-4FFF-2674-ACF0-D6C2D9AB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0758BE-5F99-404F-B97B-D51FC6538E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42907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2289B9-06CF-F541-9B0F-F0DACC1FE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590737-F822-25BF-0F98-B06DB2D7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8612FD-D50E-B1B4-E5C3-B9B2F3BB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8DD135-6CE8-4BE2-96EE-E356E29D165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76700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A2B47D-917B-D49A-736D-7C6721804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EC3185-5D1F-EE6E-450D-B7043ECA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74B439-0B4D-F1CB-8CF9-20346940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8FC4AB-F576-4C88-9371-202C32381A7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31374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8B743E-C086-20F7-41CF-74D02833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05C454-F1AB-DD85-9B65-96783EC42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005C6A-DFC8-28CA-A5B3-1BFF726F2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5F5422-7BFD-4B8A-ADB6-77746D56289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03332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7D10EF-840B-C765-4E32-AF294A47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BBC922-B395-90FD-7DB8-20B51979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9345FB-FC28-B004-AB1A-92DC88E7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36A60C-B2FF-40B3-98DF-E1112816643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949035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93BACB-8C1A-A7ED-61E7-E3BBAFD23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247DAD-D2EB-0AE7-3241-CB405C59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0A0A96-C1B6-CBB9-5BE5-293921292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C107F9-FDDF-4EBF-8463-B73E1EF734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72065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5915FDC-F326-012E-D628-04286F6E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F2B4F74-0A99-E458-1B38-0FF602033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96AB6E-499C-31B9-8E4B-B36A7B70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318FDA-70A6-4659-8A66-CBE30EE399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50653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681969-CC8F-2F81-9412-A9FAE0A7D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ADF4E8-F3FB-8AC6-3B64-776967DE4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78DE79-1C6A-DBC2-3C85-CD0ABACF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9DE08D-A387-4270-A648-987C481388C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9332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C69E47-EA59-71B4-EEDE-692EA48C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0B2B7A-5A76-6958-BA69-205103E61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EFF7D2-B947-08E0-348E-D55F9539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BF8545-C4F0-4C8D-9B18-0F5ECB8453C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8594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965F42-D455-1ECB-123D-BE77B3FB3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99EEB8-82A2-F0F9-8222-2A0597C9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E7864E-A19C-BFCC-80A8-FDECEC7B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5A7229-A1B1-4243-8870-8FEF45A4DA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9140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BE534F-C732-D451-6901-53FDEEC5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BE36A0A-857C-F89E-332B-3948872E7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B9F578-6B2C-DF05-DC1E-F497347F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310CA5-3D71-49E8-84AB-918CA4DBAB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852635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743375-4520-3141-4719-91A3EA22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E9B98A-2EBB-CAB8-11B7-C557EB46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5FDBFC-44EA-6D7A-2482-CAE809B8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6632D7-5051-487C-8FAC-1DA9720B9B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48272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503CBB-6D90-8FFA-C3C0-40ECE3203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70843C-75B9-420D-A3C8-105413681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838689-D8AE-C5FA-9BDB-2BB453D4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81CE0B-3271-4DA8-8384-4374813BF1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05038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100E70-246E-CB90-3DFA-594CAD420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63ECBC-529C-C293-407E-B0769AB1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3CC90A-3AA6-A9EF-3B3B-D5CD893E5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44C32D-B70D-40F4-868D-719DE99022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13285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419D3B-136C-A30E-6227-CB495C7F0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7F6A3D9-0160-103A-E2DC-75C1E7CF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619E75-F820-D5E0-328E-8446EFE4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D68D2-B0E0-46DB-BFC2-E22F3BA43A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1434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0DE035-D7F2-5AFD-B63F-6761B2160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1878D1-AC08-55D8-776D-69A44970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833C91-09F4-133A-0657-F0B1FA7A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047837-4FA1-4965-9330-1DB4F7744D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45544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7B6170-8516-40AF-AAB7-5436E4343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0C126D-50D0-232E-D841-725C9AB2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2A1171-4965-9751-0A4E-E25773EFD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6E7986-0451-4E00-88A4-22FD141E9A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17666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E7520E-C790-3699-253D-1F8D7DFD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730336-9083-FD55-65FF-796D9E83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FECA40-4348-D418-05C4-4F96BDF1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78B451-A0DC-44C1-B35B-B527BDF7CA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027634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546EBF-0966-1888-28C5-3409A43C0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DF0082-C6B5-20AC-DCBA-259147C42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045D23-09C9-2A9D-6F55-68492FC1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8D5270-8E20-49D3-8E97-4ABC33E3702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930587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E87542-06FC-E59C-31B6-44BDB92D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D4CC08-7CC9-E51C-F2CA-564964B78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CBFE81-3804-DD40-117E-7F12E285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407F02-F0FC-474A-A32E-6D245ED99E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3858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854A9F-2C99-1E55-4329-DD8EDAF8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58ED92-7244-08F5-49E1-A7689A185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CD8131-4162-AB90-28E3-096C2B457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834A43-CE68-4478-A36D-47F5583384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492110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DD5E3B-9B1D-7D11-F447-73EA7434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E7EF97-460D-34EE-2EB2-734A45B0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D52530-9019-FE67-CC52-C110ED4E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99C91E-B78A-4A93-99DF-814DEE7B11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99846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1B7BE0-3022-DF1B-2ADC-AD932C452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C46BBA-0F6C-B942-862F-90133CC9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02A406-EF1A-775D-FE21-67C8DD0D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D8820F-523A-4BB5-8488-3D363B5BAC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914273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6787387-6AD2-C788-C9A1-9AEF5DDE8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2FE20E-5812-A828-0489-54A4FC82A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79FB1E-A871-EF26-03C2-2AE3EECE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15A3C2-B52E-4176-ADE3-2199329956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06326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392D9C-E1A4-8B01-7A52-1561CB78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B6A8A1-B2A5-75CF-4CE6-9939914C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D5CE91-69A3-2CCE-8A25-50585E52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8A8DCB-F7C0-4260-97C6-43AE742661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1115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6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Rectangle 11">
            <a:extLst>
              <a:ext uri="{FF2B5EF4-FFF2-40B4-BE49-F238E27FC236}">
                <a16:creationId xmlns:a16="http://schemas.microsoft.com/office/drawing/2014/main" id="{10E21CCC-E5E5-CFA2-66C2-145BC12A612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E4326A10-1FAD-97AA-8D7D-042C32B49DC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C958D197-080A-0089-8473-74351F43D1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0643F99-AFAA-4E99-AAD8-38A68B593AE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E0949-130C-ADFF-343B-840BA9F0A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9538" y="6507163"/>
            <a:ext cx="3857626" cy="314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  <a:tabLst>
                <a:tab pos="3595370" algn="l"/>
              </a:tabLst>
              <a:defRPr/>
            </a:pPr>
            <a:r>
              <a:rPr lang="zh-CN" alt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西安电子科技大学  通信工程学院</a:t>
            </a:r>
            <a:r>
              <a:rPr lang="en-US" altLang="zh-CN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                          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ADB5AD-2950-9159-E052-E8AD5D3E2E98}"/>
              </a:ext>
            </a:extLst>
          </p:cNvPr>
          <p:cNvSpPr/>
          <p:nvPr/>
        </p:nvSpPr>
        <p:spPr>
          <a:xfrm>
            <a:off x="7005638" y="6492875"/>
            <a:ext cx="2143125" cy="2762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defRPr/>
            </a:pPr>
            <a:r>
              <a:rPr lang="zh-CN" alt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课件制作：曹丽娜 </a:t>
            </a:r>
            <a:endParaRPr lang="zh-CN" alt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4" r:id="rId2"/>
    <p:sldLayoutId id="2147483723" r:id="rId3"/>
    <p:sldLayoutId id="2147483722" r:id="rId4"/>
    <p:sldLayoutId id="2147483721" r:id="rId5"/>
    <p:sldLayoutId id="2147483720" r:id="rId6"/>
    <p:sldLayoutId id="2147483719" r:id="rId7"/>
    <p:sldLayoutId id="2147483718" r:id="rId8"/>
    <p:sldLayoutId id="2147483717" r:id="rId9"/>
    <p:sldLayoutId id="2147483716" r:id="rId10"/>
    <p:sldLayoutId id="214748371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  <p:sldLayoutId id="2147483739" r:id="rId25"/>
    <p:sldLayoutId id="2147483740" r:id="rId26"/>
    <p:sldLayoutId id="2147483741" r:id="rId27"/>
    <p:sldLayoutId id="2147483742" r:id="rId28"/>
    <p:sldLayoutId id="2147483743" r:id="rId29"/>
    <p:sldLayoutId id="2147483744" r:id="rId30"/>
    <p:sldLayoutId id="2147483745" r:id="rId31"/>
    <p:sldLayoutId id="2147483746" r:id="rId32"/>
    <p:sldLayoutId id="2147483747" r:id="rId33"/>
    <p:sldLayoutId id="2147483748" r:id="rId34"/>
    <p:sldLayoutId id="2147483749" r:id="rId35"/>
    <p:sldLayoutId id="2147483750" r:id="rId36"/>
    <p:sldLayoutId id="2147483751" r:id="rId37"/>
    <p:sldLayoutId id="2147483752" r:id="rId38"/>
    <p:sldLayoutId id="2147483753" r:id="rId39"/>
    <p:sldLayoutId id="2147483754" r:id="rId40"/>
    <p:sldLayoutId id="2147483755" r:id="rId41"/>
    <p:sldLayoutId id="2147483756" r:id="rId42"/>
    <p:sldLayoutId id="2147483757" r:id="rId43"/>
    <p:sldLayoutId id="2147483758" r:id="rId44"/>
    <p:sldLayoutId id="2147483759" r:id="rId45"/>
    <p:sldLayoutId id="2147483760" r:id="rId46"/>
    <p:sldLayoutId id="2147483761" r:id="rId47"/>
    <p:sldLayoutId id="2147483762" r:id="rId48"/>
    <p:sldLayoutId id="2147483763" r:id="rId49"/>
    <p:sldLayoutId id="2147483764" r:id="rId50"/>
    <p:sldLayoutId id="2147483765" r:id="rId51"/>
    <p:sldLayoutId id="2147483766" r:id="rId52"/>
    <p:sldLayoutId id="2147483767" r:id="rId53"/>
    <p:sldLayoutId id="2147483768" r:id="rId54"/>
    <p:sldLayoutId id="2147483769" r:id="rId55"/>
    <p:sldLayoutId id="2147483770" r:id="rId56"/>
    <p:sldLayoutId id="2147483771" r:id="rId57"/>
    <p:sldLayoutId id="2147483772" r:id="rId58"/>
    <p:sldLayoutId id="2147483773" r:id="rId59"/>
    <p:sldLayoutId id="2147483774" r:id="rId60"/>
    <p:sldLayoutId id="2147483775" r:id="rId61"/>
    <p:sldLayoutId id="2147483776" r:id="rId62"/>
    <p:sldLayoutId id="2147483777" r:id="rId63"/>
    <p:sldLayoutId id="2147483778" r:id="rId64"/>
    <p:sldLayoutId id="2147483779" r:id="rId65"/>
    <p:sldLayoutId id="2147483780" r:id="rId6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12" Type="http://schemas.openxmlformats.org/officeDocument/2006/relationships/image" Target="../media/image1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7.wmf"/><Relationship Id="rId10" Type="http://schemas.openxmlformats.org/officeDocument/2006/relationships/image" Target="../media/image20.png"/><Relationship Id="rId4" Type="http://schemas.openxmlformats.org/officeDocument/2006/relationships/oleObject" Target="../embeddings/oleObject7.bin"/><Relationship Id="rId9" Type="http://schemas.openxmlformats.org/officeDocument/2006/relationships/image" Target="../media/image1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4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3.png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39.wmf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1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2.png"/><Relationship Id="rId5" Type="http://schemas.openxmlformats.org/officeDocument/2006/relationships/image" Target="../media/image41.wmf"/><Relationship Id="rId4" Type="http://schemas.openxmlformats.org/officeDocument/2006/relationships/oleObject" Target="../embeddings/oleObject2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7" Type="http://schemas.openxmlformats.org/officeDocument/2006/relationships/image" Target="../media/image46.png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wmf"/><Relationship Id="rId4" Type="http://schemas.openxmlformats.org/officeDocument/2006/relationships/oleObject" Target="../embeddings/oleObject2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51.wmf"/><Relationship Id="rId3" Type="http://schemas.openxmlformats.org/officeDocument/2006/relationships/image" Target="../media/image47.wmf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28.bin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50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55.emf"/><Relationship Id="rId9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64.wmf"/><Relationship Id="rId3" Type="http://schemas.openxmlformats.org/officeDocument/2006/relationships/image" Target="../media/image59.wmf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37.bin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63.wmf"/><Relationship Id="rId5" Type="http://schemas.openxmlformats.org/officeDocument/2006/relationships/image" Target="../media/image60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6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oleObject" Target="../embeddings/oleObject38.bin"/><Relationship Id="rId7" Type="http://schemas.openxmlformats.org/officeDocument/2006/relationships/image" Target="../media/image6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66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7" Type="http://schemas.openxmlformats.org/officeDocument/2006/relationships/image" Target="../media/image73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4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76.wmf"/><Relationship Id="rId3" Type="http://schemas.openxmlformats.org/officeDocument/2006/relationships/image" Target="../media/image74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78.wmf"/><Relationship Id="rId2" Type="http://schemas.openxmlformats.org/officeDocument/2006/relationships/oleObject" Target="../embeddings/oleObject43.bin"/><Relationship Id="rId16" Type="http://schemas.openxmlformats.org/officeDocument/2006/relationships/oleObject" Target="../embeddings/oleObject50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75.wmf"/><Relationship Id="rId5" Type="http://schemas.openxmlformats.org/officeDocument/2006/relationships/image" Target="../media/image72.wmf"/><Relationship Id="rId15" Type="http://schemas.openxmlformats.org/officeDocument/2006/relationships/image" Target="../media/image77.w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4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56.bin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30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83.wmf"/><Relationship Id="rId5" Type="http://schemas.openxmlformats.org/officeDocument/2006/relationships/image" Target="../media/image80.wmf"/><Relationship Id="rId15" Type="http://schemas.openxmlformats.org/officeDocument/2006/relationships/image" Target="../media/image85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82.wmf"/><Relationship Id="rId14" Type="http://schemas.openxmlformats.org/officeDocument/2006/relationships/oleObject" Target="../embeddings/oleObject57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image" Target="../media/image86.wmf"/><Relationship Id="rId7" Type="http://schemas.openxmlformats.org/officeDocument/2006/relationships/image" Target="../media/image88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31.x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87.w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89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2.wmf"/><Relationship Id="rId12" Type="http://schemas.openxmlformats.org/officeDocument/2006/relationships/oleObject" Target="../embeddings/oleObject67.bin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32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94.wmf"/><Relationship Id="rId5" Type="http://schemas.openxmlformats.org/officeDocument/2006/relationships/image" Target="../media/image91.wmf"/><Relationship Id="rId15" Type="http://schemas.openxmlformats.org/officeDocument/2006/relationships/image" Target="../media/image96.w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93.wmf"/><Relationship Id="rId14" Type="http://schemas.openxmlformats.org/officeDocument/2006/relationships/oleObject" Target="../embeddings/oleObject6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9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103.png"/><Relationship Id="rId4" Type="http://schemas.openxmlformats.org/officeDocument/2006/relationships/image" Target="../media/image101.wmf"/><Relationship Id="rId9" Type="http://schemas.openxmlformats.org/officeDocument/2006/relationships/image" Target="../media/image10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image" Target="../media/image104.wmf"/><Relationship Id="rId7" Type="http://schemas.openxmlformats.org/officeDocument/2006/relationships/image" Target="../media/image106.w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35.xml"/><Relationship Id="rId6" Type="http://schemas.openxmlformats.org/officeDocument/2006/relationships/oleObject" Target="../embeddings/oleObject77.bin"/><Relationship Id="rId5" Type="http://schemas.openxmlformats.org/officeDocument/2006/relationships/image" Target="../media/image105.wmf"/><Relationship Id="rId10" Type="http://schemas.openxmlformats.org/officeDocument/2006/relationships/image" Target="../media/image108.png"/><Relationship Id="rId4" Type="http://schemas.openxmlformats.org/officeDocument/2006/relationships/oleObject" Target="../embeddings/oleObject76.bin"/><Relationship Id="rId9" Type="http://schemas.openxmlformats.org/officeDocument/2006/relationships/image" Target="../media/image107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1.wmf"/><Relationship Id="rId12" Type="http://schemas.openxmlformats.org/officeDocument/2006/relationships/oleObject" Target="../embeddings/oleObject84.bin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36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113.wmf"/><Relationship Id="rId5" Type="http://schemas.openxmlformats.org/officeDocument/2006/relationships/image" Target="../media/image110.w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112.wmf"/><Relationship Id="rId14" Type="http://schemas.openxmlformats.org/officeDocument/2006/relationships/image" Target="../media/image1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7" Type="http://schemas.openxmlformats.org/officeDocument/2006/relationships/image" Target="../media/image118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36.xml"/><Relationship Id="rId6" Type="http://schemas.openxmlformats.org/officeDocument/2006/relationships/oleObject" Target="../embeddings/oleObject87.bin"/><Relationship Id="rId5" Type="http://schemas.openxmlformats.org/officeDocument/2006/relationships/image" Target="../media/image117.wmf"/><Relationship Id="rId4" Type="http://schemas.openxmlformats.org/officeDocument/2006/relationships/oleObject" Target="../embeddings/oleObject86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21.wmf"/><Relationship Id="rId7" Type="http://schemas.openxmlformats.org/officeDocument/2006/relationships/image" Target="../media/image123.w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38.x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122.wmf"/><Relationship Id="rId10" Type="http://schemas.openxmlformats.org/officeDocument/2006/relationships/image" Target="../media/image126.png"/><Relationship Id="rId4" Type="http://schemas.openxmlformats.org/officeDocument/2006/relationships/oleObject" Target="../embeddings/oleObject89.bin"/><Relationship Id="rId9" Type="http://schemas.openxmlformats.org/officeDocument/2006/relationships/image" Target="../media/image1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29.png"/><Relationship Id="rId5" Type="http://schemas.openxmlformats.org/officeDocument/2006/relationships/image" Target="../media/image128.wmf"/><Relationship Id="rId4" Type="http://schemas.openxmlformats.org/officeDocument/2006/relationships/oleObject" Target="../embeddings/oleObject92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98.bin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135.wmf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5" Type="http://schemas.openxmlformats.org/officeDocument/2006/relationships/image" Target="../media/image137.png"/><Relationship Id="rId10" Type="http://schemas.openxmlformats.org/officeDocument/2006/relationships/image" Target="../media/image134.w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136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3" Type="http://schemas.openxmlformats.org/officeDocument/2006/relationships/image" Target="../media/image138.wmf"/><Relationship Id="rId7" Type="http://schemas.openxmlformats.org/officeDocument/2006/relationships/image" Target="../media/image140.wmf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41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42.wmf"/><Relationship Id="rId5" Type="http://schemas.openxmlformats.org/officeDocument/2006/relationships/image" Target="../media/image139.wmf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41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7" Type="http://schemas.openxmlformats.org/officeDocument/2006/relationships/image" Target="../media/image145.wmf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43.xml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144.wmf"/><Relationship Id="rId4" Type="http://schemas.openxmlformats.org/officeDocument/2006/relationships/oleObject" Target="../embeddings/oleObject105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147.wmf"/><Relationship Id="rId4" Type="http://schemas.openxmlformats.org/officeDocument/2006/relationships/oleObject" Target="../embeddings/oleObject108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7" Type="http://schemas.openxmlformats.org/officeDocument/2006/relationships/image" Target="../media/image150.w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45.xml"/><Relationship Id="rId6" Type="http://schemas.openxmlformats.org/officeDocument/2006/relationships/oleObject" Target="../embeddings/oleObject111.bin"/><Relationship Id="rId5" Type="http://schemas.openxmlformats.org/officeDocument/2006/relationships/image" Target="../media/image149.wmf"/><Relationship Id="rId4" Type="http://schemas.openxmlformats.org/officeDocument/2006/relationships/oleObject" Target="../embeddings/oleObject110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image" Target="../media/image151.wmf"/><Relationship Id="rId7" Type="http://schemas.openxmlformats.org/officeDocument/2006/relationships/oleObject" Target="../embeddings/oleObject114.bin"/><Relationship Id="rId2" Type="http://schemas.openxmlformats.org/officeDocument/2006/relationships/oleObject" Target="../embeddings/oleObject112.bin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53.jpeg"/><Relationship Id="rId5" Type="http://schemas.openxmlformats.org/officeDocument/2006/relationships/image" Target="../media/image152.wmf"/><Relationship Id="rId10" Type="http://schemas.openxmlformats.org/officeDocument/2006/relationships/image" Target="../media/image155.wmf"/><Relationship Id="rId4" Type="http://schemas.openxmlformats.org/officeDocument/2006/relationships/oleObject" Target="../embeddings/oleObject113.bin"/><Relationship Id="rId9" Type="http://schemas.openxmlformats.org/officeDocument/2006/relationships/oleObject" Target="../embeddings/oleObject115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64.wmf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61.wmf"/><Relationship Id="rId17" Type="http://schemas.openxmlformats.org/officeDocument/2006/relationships/oleObject" Target="../embeddings/oleObject123.bin"/><Relationship Id="rId2" Type="http://schemas.openxmlformats.org/officeDocument/2006/relationships/image" Target="../media/image156.png"/><Relationship Id="rId16" Type="http://schemas.openxmlformats.org/officeDocument/2006/relationships/image" Target="../media/image163.wmf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10" Type="http://schemas.openxmlformats.org/officeDocument/2006/relationships/image" Target="../media/image160.wmf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62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3" Type="http://schemas.openxmlformats.org/officeDocument/2006/relationships/image" Target="../media/image165.wmf"/><Relationship Id="rId7" Type="http://schemas.openxmlformats.org/officeDocument/2006/relationships/image" Target="../media/image167.wmf"/><Relationship Id="rId2" Type="http://schemas.openxmlformats.org/officeDocument/2006/relationships/oleObject" Target="../embeddings/oleObject124.bin"/><Relationship Id="rId1" Type="http://schemas.openxmlformats.org/officeDocument/2006/relationships/slideLayout" Target="../slideLayouts/slideLayout49.x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69.wmf"/><Relationship Id="rId5" Type="http://schemas.openxmlformats.org/officeDocument/2006/relationships/image" Target="../media/image166.wmf"/><Relationship Id="rId10" Type="http://schemas.openxmlformats.org/officeDocument/2006/relationships/oleObject" Target="../embeddings/oleObject128.bin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68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13" Type="http://schemas.openxmlformats.org/officeDocument/2006/relationships/image" Target="../media/image175.wmf"/><Relationship Id="rId3" Type="http://schemas.openxmlformats.org/officeDocument/2006/relationships/image" Target="../media/image170.wmf"/><Relationship Id="rId7" Type="http://schemas.openxmlformats.org/officeDocument/2006/relationships/image" Target="../media/image172.wmf"/><Relationship Id="rId12" Type="http://schemas.openxmlformats.org/officeDocument/2006/relationships/oleObject" Target="../embeddings/oleObject134.bin"/><Relationship Id="rId2" Type="http://schemas.openxmlformats.org/officeDocument/2006/relationships/oleObject" Target="../embeddings/oleObject129.bin"/><Relationship Id="rId1" Type="http://schemas.openxmlformats.org/officeDocument/2006/relationships/slideLayout" Target="../slideLayouts/slideLayout50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74.wmf"/><Relationship Id="rId5" Type="http://schemas.openxmlformats.org/officeDocument/2006/relationships/image" Target="../media/image171.wmf"/><Relationship Id="rId10" Type="http://schemas.openxmlformats.org/officeDocument/2006/relationships/oleObject" Target="../embeddings/oleObject133.bin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73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77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oleObject" Target="../embeddings/oleObject136.bin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180.png"/><Relationship Id="rId5" Type="http://schemas.openxmlformats.org/officeDocument/2006/relationships/image" Target="../media/image179.wmf"/><Relationship Id="rId4" Type="http://schemas.openxmlformats.org/officeDocument/2006/relationships/oleObject" Target="../embeddings/oleObject137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86.wmf"/><Relationship Id="rId3" Type="http://schemas.openxmlformats.org/officeDocument/2006/relationships/image" Target="../media/image181.wmf"/><Relationship Id="rId7" Type="http://schemas.openxmlformats.org/officeDocument/2006/relationships/image" Target="../media/image183.wmf"/><Relationship Id="rId12" Type="http://schemas.openxmlformats.org/officeDocument/2006/relationships/oleObject" Target="../embeddings/oleObject143.bin"/><Relationship Id="rId2" Type="http://schemas.openxmlformats.org/officeDocument/2006/relationships/oleObject" Target="../embeddings/oleObject138.bin"/><Relationship Id="rId1" Type="http://schemas.openxmlformats.org/officeDocument/2006/relationships/slideLayout" Target="../slideLayouts/slideLayout52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85.wmf"/><Relationship Id="rId5" Type="http://schemas.openxmlformats.org/officeDocument/2006/relationships/image" Target="../media/image182.wmf"/><Relationship Id="rId10" Type="http://schemas.openxmlformats.org/officeDocument/2006/relationships/oleObject" Target="../embeddings/oleObject142.bin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84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192.wmf"/><Relationship Id="rId3" Type="http://schemas.openxmlformats.org/officeDocument/2006/relationships/image" Target="../media/image187.wmf"/><Relationship Id="rId7" Type="http://schemas.openxmlformats.org/officeDocument/2006/relationships/image" Target="../media/image189.wmf"/><Relationship Id="rId12" Type="http://schemas.openxmlformats.org/officeDocument/2006/relationships/oleObject" Target="../embeddings/oleObject149.bin"/><Relationship Id="rId2" Type="http://schemas.openxmlformats.org/officeDocument/2006/relationships/oleObject" Target="../embeddings/oleObject144.bin"/><Relationship Id="rId1" Type="http://schemas.openxmlformats.org/officeDocument/2006/relationships/slideLayout" Target="../slideLayouts/slideLayout36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191.wmf"/><Relationship Id="rId5" Type="http://schemas.openxmlformats.org/officeDocument/2006/relationships/image" Target="../media/image188.wmf"/><Relationship Id="rId15" Type="http://schemas.openxmlformats.org/officeDocument/2006/relationships/image" Target="../media/image193.wmf"/><Relationship Id="rId10" Type="http://schemas.openxmlformats.org/officeDocument/2006/relationships/oleObject" Target="../embeddings/oleObject148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190.wmf"/><Relationship Id="rId14" Type="http://schemas.openxmlformats.org/officeDocument/2006/relationships/oleObject" Target="../embeddings/oleObject150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oleObject" Target="../embeddings/oleObject156.bin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99.wmf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96.wmf"/><Relationship Id="rId11" Type="http://schemas.openxmlformats.org/officeDocument/2006/relationships/oleObject" Target="../embeddings/oleObject155.bin"/><Relationship Id="rId5" Type="http://schemas.openxmlformats.org/officeDocument/2006/relationships/oleObject" Target="../embeddings/oleObject152.bin"/><Relationship Id="rId15" Type="http://schemas.openxmlformats.org/officeDocument/2006/relationships/image" Target="../media/image201.png"/><Relationship Id="rId10" Type="http://schemas.openxmlformats.org/officeDocument/2006/relationships/image" Target="../media/image198.wmf"/><Relationship Id="rId4" Type="http://schemas.openxmlformats.org/officeDocument/2006/relationships/image" Target="../media/image195.wmf"/><Relationship Id="rId9" Type="http://schemas.openxmlformats.org/officeDocument/2006/relationships/oleObject" Target="../embeddings/oleObject154.bin"/><Relationship Id="rId14" Type="http://schemas.openxmlformats.org/officeDocument/2006/relationships/image" Target="../media/image200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3" Type="http://schemas.openxmlformats.org/officeDocument/2006/relationships/image" Target="../media/image202.emf"/><Relationship Id="rId7" Type="http://schemas.openxmlformats.org/officeDocument/2006/relationships/image" Target="../media/image204.wmf"/><Relationship Id="rId2" Type="http://schemas.openxmlformats.org/officeDocument/2006/relationships/oleObject" Target="../embeddings/oleObject157.bin"/><Relationship Id="rId1" Type="http://schemas.openxmlformats.org/officeDocument/2006/relationships/slideLayout" Target="../slideLayouts/slideLayout54.xml"/><Relationship Id="rId6" Type="http://schemas.openxmlformats.org/officeDocument/2006/relationships/oleObject" Target="../embeddings/oleObject159.bin"/><Relationship Id="rId5" Type="http://schemas.openxmlformats.org/officeDocument/2006/relationships/image" Target="../media/image203.emf"/><Relationship Id="rId10" Type="http://schemas.openxmlformats.org/officeDocument/2006/relationships/image" Target="../media/image206.png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205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oleObject" Target="../embeddings/oleObject162.bin"/><Relationship Id="rId18" Type="http://schemas.openxmlformats.org/officeDocument/2006/relationships/image" Target="../media/image210.wmf"/><Relationship Id="rId3" Type="http://schemas.openxmlformats.org/officeDocument/2006/relationships/tags" Target="../tags/tag5.xml"/><Relationship Id="rId21" Type="http://schemas.openxmlformats.org/officeDocument/2006/relationships/image" Target="../media/image212.png"/><Relationship Id="rId7" Type="http://schemas.openxmlformats.org/officeDocument/2006/relationships/tags" Target="../tags/tag9.xml"/><Relationship Id="rId12" Type="http://schemas.openxmlformats.org/officeDocument/2006/relationships/image" Target="../media/image207.wmf"/><Relationship Id="rId17" Type="http://schemas.openxmlformats.org/officeDocument/2006/relationships/oleObject" Target="../embeddings/oleObject164.bin"/><Relationship Id="rId2" Type="http://schemas.openxmlformats.org/officeDocument/2006/relationships/tags" Target="../tags/tag4.xml"/><Relationship Id="rId16" Type="http://schemas.openxmlformats.org/officeDocument/2006/relationships/image" Target="../media/image209.wmf"/><Relationship Id="rId20" Type="http://schemas.openxmlformats.org/officeDocument/2006/relationships/image" Target="../media/image211.wmf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oleObject" Target="../embeddings/oleObject161.bin"/><Relationship Id="rId5" Type="http://schemas.openxmlformats.org/officeDocument/2006/relationships/tags" Target="../tags/tag7.xml"/><Relationship Id="rId15" Type="http://schemas.openxmlformats.org/officeDocument/2006/relationships/oleObject" Target="../embeddings/oleObject163.bin"/><Relationship Id="rId10" Type="http://schemas.openxmlformats.org/officeDocument/2006/relationships/slideLayout" Target="../slideLayouts/slideLayout12.xml"/><Relationship Id="rId19" Type="http://schemas.openxmlformats.org/officeDocument/2006/relationships/oleObject" Target="../embeddings/oleObject165.bin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image" Target="../media/image208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36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13" Type="http://schemas.openxmlformats.org/officeDocument/2006/relationships/oleObject" Target="../embeddings/oleObject171.bin"/><Relationship Id="rId18" Type="http://schemas.openxmlformats.org/officeDocument/2006/relationships/image" Target="../media/image222.wm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219.emf"/><Relationship Id="rId17" Type="http://schemas.openxmlformats.org/officeDocument/2006/relationships/oleObject" Target="../embeddings/oleObject173.bin"/><Relationship Id="rId2" Type="http://schemas.openxmlformats.org/officeDocument/2006/relationships/image" Target="../media/image214.png"/><Relationship Id="rId16" Type="http://schemas.openxmlformats.org/officeDocument/2006/relationships/image" Target="../media/image221.wmf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216.w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7.bin"/><Relationship Id="rId15" Type="http://schemas.openxmlformats.org/officeDocument/2006/relationships/oleObject" Target="../embeddings/oleObject172.bin"/><Relationship Id="rId10" Type="http://schemas.openxmlformats.org/officeDocument/2006/relationships/image" Target="../media/image218.wmf"/><Relationship Id="rId19" Type="http://schemas.openxmlformats.org/officeDocument/2006/relationships/image" Target="../media/image223.png"/><Relationship Id="rId4" Type="http://schemas.openxmlformats.org/officeDocument/2006/relationships/image" Target="../media/image215.wmf"/><Relationship Id="rId9" Type="http://schemas.openxmlformats.org/officeDocument/2006/relationships/oleObject" Target="../embeddings/oleObject169.bin"/><Relationship Id="rId14" Type="http://schemas.openxmlformats.org/officeDocument/2006/relationships/image" Target="../media/image220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4.bin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217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7" Type="http://schemas.openxmlformats.org/officeDocument/2006/relationships/image" Target="../media/image228.wmf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58.xml"/><Relationship Id="rId6" Type="http://schemas.openxmlformats.org/officeDocument/2006/relationships/oleObject" Target="../embeddings/oleObject176.bin"/><Relationship Id="rId5" Type="http://schemas.openxmlformats.org/officeDocument/2006/relationships/image" Target="../media/image227.wmf"/><Relationship Id="rId4" Type="http://schemas.openxmlformats.org/officeDocument/2006/relationships/oleObject" Target="../embeddings/oleObject175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0.bin"/><Relationship Id="rId3" Type="http://schemas.openxmlformats.org/officeDocument/2006/relationships/image" Target="../media/image230.wmf"/><Relationship Id="rId7" Type="http://schemas.openxmlformats.org/officeDocument/2006/relationships/image" Target="../media/image232.wmf"/><Relationship Id="rId2" Type="http://schemas.openxmlformats.org/officeDocument/2006/relationships/oleObject" Target="../embeddings/oleObject177.bin"/><Relationship Id="rId1" Type="http://schemas.openxmlformats.org/officeDocument/2006/relationships/slideLayout" Target="../slideLayouts/slideLayout59.xml"/><Relationship Id="rId6" Type="http://schemas.openxmlformats.org/officeDocument/2006/relationships/oleObject" Target="../embeddings/oleObject179.bin"/><Relationship Id="rId11" Type="http://schemas.openxmlformats.org/officeDocument/2006/relationships/image" Target="../media/image234.wmf"/><Relationship Id="rId5" Type="http://schemas.openxmlformats.org/officeDocument/2006/relationships/image" Target="../media/image231.wmf"/><Relationship Id="rId10" Type="http://schemas.openxmlformats.org/officeDocument/2006/relationships/oleObject" Target="../embeddings/oleObject181.bin"/><Relationship Id="rId4" Type="http://schemas.openxmlformats.org/officeDocument/2006/relationships/oleObject" Target="../embeddings/oleObject178.bin"/><Relationship Id="rId9" Type="http://schemas.openxmlformats.org/officeDocument/2006/relationships/image" Target="../media/image233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jpe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6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39.wmf"/><Relationship Id="rId5" Type="http://schemas.openxmlformats.org/officeDocument/2006/relationships/oleObject" Target="../embeddings/oleObject183.bin"/><Relationship Id="rId10" Type="http://schemas.openxmlformats.org/officeDocument/2006/relationships/image" Target="../media/image241.wmf"/><Relationship Id="rId4" Type="http://schemas.openxmlformats.org/officeDocument/2006/relationships/image" Target="../media/image238.wmf"/><Relationship Id="rId9" Type="http://schemas.openxmlformats.org/officeDocument/2006/relationships/oleObject" Target="../embeddings/oleObject185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image" Target="../media/image242.wmf"/><Relationship Id="rId26" Type="http://schemas.openxmlformats.org/officeDocument/2006/relationships/image" Target="../media/image245.wmf"/><Relationship Id="rId3" Type="http://schemas.openxmlformats.org/officeDocument/2006/relationships/tags" Target="../tags/tag14.xml"/><Relationship Id="rId21" Type="http://schemas.openxmlformats.org/officeDocument/2006/relationships/oleObject" Target="../embeddings/oleObject188.bin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oleObject" Target="../embeddings/oleObject186.bin"/><Relationship Id="rId25" Type="http://schemas.openxmlformats.org/officeDocument/2006/relationships/oleObject" Target="../embeddings/oleObject190.bin"/><Relationship Id="rId2" Type="http://schemas.openxmlformats.org/officeDocument/2006/relationships/tags" Target="../tags/tag13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243.wmf"/><Relationship Id="rId29" Type="http://schemas.openxmlformats.org/officeDocument/2006/relationships/oleObject" Target="../embeddings/oleObject192.bin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image" Target="../media/image187.wmf"/><Relationship Id="rId32" Type="http://schemas.openxmlformats.org/officeDocument/2006/relationships/image" Target="../media/image248.png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oleObject" Target="../embeddings/oleObject189.bin"/><Relationship Id="rId28" Type="http://schemas.openxmlformats.org/officeDocument/2006/relationships/image" Target="../media/image246.wmf"/><Relationship Id="rId10" Type="http://schemas.openxmlformats.org/officeDocument/2006/relationships/tags" Target="../tags/tag21.xml"/><Relationship Id="rId19" Type="http://schemas.openxmlformats.org/officeDocument/2006/relationships/oleObject" Target="../embeddings/oleObject187.bin"/><Relationship Id="rId31" Type="http://schemas.openxmlformats.org/officeDocument/2006/relationships/customXml" Target="../ink/ink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image" Target="../media/image244.wmf"/><Relationship Id="rId27" Type="http://schemas.openxmlformats.org/officeDocument/2006/relationships/oleObject" Target="../embeddings/oleObject191.bin"/><Relationship Id="rId30" Type="http://schemas.openxmlformats.org/officeDocument/2006/relationships/image" Target="../media/image247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wmf"/><Relationship Id="rId7" Type="http://schemas.openxmlformats.org/officeDocument/2006/relationships/image" Target="../media/image251.wmf"/><Relationship Id="rId2" Type="http://schemas.openxmlformats.org/officeDocument/2006/relationships/oleObject" Target="../embeddings/oleObject193.bin"/><Relationship Id="rId1" Type="http://schemas.openxmlformats.org/officeDocument/2006/relationships/slideLayout" Target="../slideLayouts/slideLayout63.xml"/><Relationship Id="rId6" Type="http://schemas.openxmlformats.org/officeDocument/2006/relationships/oleObject" Target="../embeddings/oleObject195.bin"/><Relationship Id="rId5" Type="http://schemas.openxmlformats.org/officeDocument/2006/relationships/image" Target="../media/image250.emf"/><Relationship Id="rId4" Type="http://schemas.openxmlformats.org/officeDocument/2006/relationships/oleObject" Target="../embeddings/oleObject194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image" Target="../media/image257.wmf"/><Relationship Id="rId3" Type="http://schemas.openxmlformats.org/officeDocument/2006/relationships/image" Target="../media/image252.emf"/><Relationship Id="rId7" Type="http://schemas.openxmlformats.org/officeDocument/2006/relationships/image" Target="../media/image254.wmf"/><Relationship Id="rId12" Type="http://schemas.openxmlformats.org/officeDocument/2006/relationships/oleObject" Target="../embeddings/oleObject201.bin"/><Relationship Id="rId2" Type="http://schemas.openxmlformats.org/officeDocument/2006/relationships/oleObject" Target="../embeddings/oleObject196.bin"/><Relationship Id="rId1" Type="http://schemas.openxmlformats.org/officeDocument/2006/relationships/slideLayout" Target="../slideLayouts/slideLayout64.x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256.wmf"/><Relationship Id="rId5" Type="http://schemas.openxmlformats.org/officeDocument/2006/relationships/image" Target="../media/image253.wmf"/><Relationship Id="rId10" Type="http://schemas.openxmlformats.org/officeDocument/2006/relationships/oleObject" Target="../embeddings/oleObject200.bin"/><Relationship Id="rId4" Type="http://schemas.openxmlformats.org/officeDocument/2006/relationships/oleObject" Target="../embeddings/oleObject197.bin"/><Relationship Id="rId9" Type="http://schemas.openxmlformats.org/officeDocument/2006/relationships/image" Target="../media/image255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emf"/><Relationship Id="rId7" Type="http://schemas.openxmlformats.org/officeDocument/2006/relationships/image" Target="../media/image260.wmf"/><Relationship Id="rId2" Type="http://schemas.openxmlformats.org/officeDocument/2006/relationships/oleObject" Target="../embeddings/oleObject202.bin"/><Relationship Id="rId1" Type="http://schemas.openxmlformats.org/officeDocument/2006/relationships/slideLayout" Target="../slideLayouts/slideLayout36.xml"/><Relationship Id="rId6" Type="http://schemas.openxmlformats.org/officeDocument/2006/relationships/oleObject" Target="../embeddings/oleObject204.bin"/><Relationship Id="rId5" Type="http://schemas.openxmlformats.org/officeDocument/2006/relationships/image" Target="../media/image259.wmf"/><Relationship Id="rId4" Type="http://schemas.openxmlformats.org/officeDocument/2006/relationships/oleObject" Target="../embeddings/oleObject203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wmf"/><Relationship Id="rId2" Type="http://schemas.openxmlformats.org/officeDocument/2006/relationships/oleObject" Target="../embeddings/oleObject20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3.png"/><Relationship Id="rId5" Type="http://schemas.openxmlformats.org/officeDocument/2006/relationships/image" Target="../media/image262.wmf"/><Relationship Id="rId4" Type="http://schemas.openxmlformats.org/officeDocument/2006/relationships/oleObject" Target="../embeddings/oleObject206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wmf"/><Relationship Id="rId7" Type="http://schemas.openxmlformats.org/officeDocument/2006/relationships/image" Target="../media/image266.wmf"/><Relationship Id="rId2" Type="http://schemas.openxmlformats.org/officeDocument/2006/relationships/oleObject" Target="../embeddings/oleObject20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9.bin"/><Relationship Id="rId5" Type="http://schemas.openxmlformats.org/officeDocument/2006/relationships/image" Target="../media/image265.wmf"/><Relationship Id="rId4" Type="http://schemas.openxmlformats.org/officeDocument/2006/relationships/oleObject" Target="../embeddings/oleObject208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3.bin"/><Relationship Id="rId13" Type="http://schemas.openxmlformats.org/officeDocument/2006/relationships/image" Target="../media/image272.wmf"/><Relationship Id="rId3" Type="http://schemas.openxmlformats.org/officeDocument/2006/relationships/image" Target="../media/image267.wmf"/><Relationship Id="rId7" Type="http://schemas.openxmlformats.org/officeDocument/2006/relationships/image" Target="../media/image269.wmf"/><Relationship Id="rId12" Type="http://schemas.openxmlformats.org/officeDocument/2006/relationships/oleObject" Target="../embeddings/oleObject215.bin"/><Relationship Id="rId2" Type="http://schemas.openxmlformats.org/officeDocument/2006/relationships/oleObject" Target="../embeddings/oleObject2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2.bin"/><Relationship Id="rId11" Type="http://schemas.openxmlformats.org/officeDocument/2006/relationships/image" Target="../media/image271.wmf"/><Relationship Id="rId5" Type="http://schemas.openxmlformats.org/officeDocument/2006/relationships/image" Target="../media/image268.wmf"/><Relationship Id="rId15" Type="http://schemas.openxmlformats.org/officeDocument/2006/relationships/image" Target="../media/image273.wmf"/><Relationship Id="rId10" Type="http://schemas.openxmlformats.org/officeDocument/2006/relationships/oleObject" Target="../embeddings/oleObject214.bin"/><Relationship Id="rId4" Type="http://schemas.openxmlformats.org/officeDocument/2006/relationships/oleObject" Target="../embeddings/oleObject211.bin"/><Relationship Id="rId9" Type="http://schemas.openxmlformats.org/officeDocument/2006/relationships/image" Target="../media/image270.wmf"/><Relationship Id="rId14" Type="http://schemas.openxmlformats.org/officeDocument/2006/relationships/oleObject" Target="../embeddings/oleObject216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0.bin"/><Relationship Id="rId3" Type="http://schemas.openxmlformats.org/officeDocument/2006/relationships/image" Target="../media/image274.wmf"/><Relationship Id="rId7" Type="http://schemas.openxmlformats.org/officeDocument/2006/relationships/image" Target="../media/image276.wmf"/><Relationship Id="rId2" Type="http://schemas.openxmlformats.org/officeDocument/2006/relationships/oleObject" Target="../embeddings/oleObject2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9.bin"/><Relationship Id="rId11" Type="http://schemas.openxmlformats.org/officeDocument/2006/relationships/image" Target="../media/image278.wmf"/><Relationship Id="rId5" Type="http://schemas.openxmlformats.org/officeDocument/2006/relationships/image" Target="../media/image275.wmf"/><Relationship Id="rId10" Type="http://schemas.openxmlformats.org/officeDocument/2006/relationships/oleObject" Target="../embeddings/oleObject221.bin"/><Relationship Id="rId4" Type="http://schemas.openxmlformats.org/officeDocument/2006/relationships/oleObject" Target="../embeddings/oleObject218.bin"/><Relationship Id="rId9" Type="http://schemas.openxmlformats.org/officeDocument/2006/relationships/image" Target="../media/image277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3" Type="http://schemas.openxmlformats.org/officeDocument/2006/relationships/image" Target="../media/image279.wmf"/><Relationship Id="rId7" Type="http://schemas.openxmlformats.org/officeDocument/2006/relationships/image" Target="../media/image281.wmf"/><Relationship Id="rId2" Type="http://schemas.openxmlformats.org/officeDocument/2006/relationships/oleObject" Target="../embeddings/oleObject222.bin"/><Relationship Id="rId1" Type="http://schemas.openxmlformats.org/officeDocument/2006/relationships/slideLayout" Target="../slideLayouts/slideLayout65.xml"/><Relationship Id="rId6" Type="http://schemas.openxmlformats.org/officeDocument/2006/relationships/oleObject" Target="../embeddings/oleObject224.bin"/><Relationship Id="rId5" Type="http://schemas.openxmlformats.org/officeDocument/2006/relationships/image" Target="../media/image280.wmf"/><Relationship Id="rId4" Type="http://schemas.openxmlformats.org/officeDocument/2006/relationships/oleObject" Target="../embeddings/oleObject223.bin"/><Relationship Id="rId9" Type="http://schemas.openxmlformats.org/officeDocument/2006/relationships/image" Target="../media/image252.e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9.bin"/><Relationship Id="rId13" Type="http://schemas.openxmlformats.org/officeDocument/2006/relationships/image" Target="../media/image287.wmf"/><Relationship Id="rId3" Type="http://schemas.openxmlformats.org/officeDocument/2006/relationships/image" Target="../media/image282.wmf"/><Relationship Id="rId7" Type="http://schemas.openxmlformats.org/officeDocument/2006/relationships/image" Target="../media/image284.wmf"/><Relationship Id="rId12" Type="http://schemas.openxmlformats.org/officeDocument/2006/relationships/oleObject" Target="../embeddings/oleObject231.bin"/><Relationship Id="rId2" Type="http://schemas.openxmlformats.org/officeDocument/2006/relationships/oleObject" Target="../embeddings/oleObject226.bin"/><Relationship Id="rId1" Type="http://schemas.openxmlformats.org/officeDocument/2006/relationships/slideLayout" Target="../slideLayouts/slideLayout66.xml"/><Relationship Id="rId6" Type="http://schemas.openxmlformats.org/officeDocument/2006/relationships/oleObject" Target="../embeddings/oleObject228.bin"/><Relationship Id="rId11" Type="http://schemas.openxmlformats.org/officeDocument/2006/relationships/image" Target="../media/image286.wmf"/><Relationship Id="rId5" Type="http://schemas.openxmlformats.org/officeDocument/2006/relationships/image" Target="../media/image283.wmf"/><Relationship Id="rId10" Type="http://schemas.openxmlformats.org/officeDocument/2006/relationships/oleObject" Target="../embeddings/oleObject230.bin"/><Relationship Id="rId4" Type="http://schemas.openxmlformats.org/officeDocument/2006/relationships/oleObject" Target="../embeddings/oleObject227.bin"/><Relationship Id="rId9" Type="http://schemas.openxmlformats.org/officeDocument/2006/relationships/image" Target="../media/image285.w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wmf"/><Relationship Id="rId2" Type="http://schemas.openxmlformats.org/officeDocument/2006/relationships/oleObject" Target="../embeddings/oleObject23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9.wmf"/><Relationship Id="rId4" Type="http://schemas.openxmlformats.org/officeDocument/2006/relationships/oleObject" Target="../embeddings/oleObject233.bin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wmf"/><Relationship Id="rId2" Type="http://schemas.openxmlformats.org/officeDocument/2006/relationships/oleObject" Target="../embeddings/oleObject234.bin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wmf"/><Relationship Id="rId7" Type="http://schemas.openxmlformats.org/officeDocument/2006/relationships/image" Target="../media/image295.wmf"/><Relationship Id="rId2" Type="http://schemas.openxmlformats.org/officeDocument/2006/relationships/oleObject" Target="../embeddings/oleObject2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7.bin"/><Relationship Id="rId5" Type="http://schemas.openxmlformats.org/officeDocument/2006/relationships/image" Target="../media/image294.wmf"/><Relationship Id="rId4" Type="http://schemas.openxmlformats.org/officeDocument/2006/relationships/oleObject" Target="../embeddings/oleObject236.bin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9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图片 4" descr="封面3.jpg">
            <a:extLst>
              <a:ext uri="{FF2B5EF4-FFF2-40B4-BE49-F238E27FC236}">
                <a16:creationId xmlns:a16="http://schemas.microsoft.com/office/drawing/2014/main" id="{ED8890C5-F8DE-73C9-D0C4-02ECB10DD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矩形 5">
            <a:extLst>
              <a:ext uri="{FF2B5EF4-FFF2-40B4-BE49-F238E27FC236}">
                <a16:creationId xmlns:a16="http://schemas.microsoft.com/office/drawing/2014/main" id="{93D94C5C-5813-17C2-0370-049479E0A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4940300"/>
            <a:ext cx="5500688" cy="560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制作：曹丽娜  </a:t>
            </a:r>
            <a:r>
              <a:rPr lang="en-US" altLang="zh-CN" dirty="0">
                <a:solidFill>
                  <a:srgbClr val="003399"/>
                </a:solidFill>
                <a:latin typeface="+mn-lt"/>
                <a:cs typeface="Arial" panose="020B0604020202020204" pitchFamily="34" charset="0"/>
              </a:rPr>
              <a:t>ccllna@163.com</a:t>
            </a:r>
          </a:p>
        </p:txBody>
      </p:sp>
      <p:pic>
        <p:nvPicPr>
          <p:cNvPr id="59395" name="内容占位符 23" descr="图标.gif">
            <a:extLst>
              <a:ext uri="{FF2B5EF4-FFF2-40B4-BE49-F238E27FC236}">
                <a16:creationId xmlns:a16="http://schemas.microsoft.com/office/drawing/2014/main" id="{490944C0-E150-91A2-68CC-866C925F7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063" y="2786063"/>
            <a:ext cx="592137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6" name="内容占位符 21" descr="校徽2.gif">
            <a:extLst>
              <a:ext uri="{FF2B5EF4-FFF2-40B4-BE49-F238E27FC236}">
                <a16:creationId xmlns:a16="http://schemas.microsoft.com/office/drawing/2014/main" id="{7D32C956-DAD3-8083-BD59-DEC774B2D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2714625"/>
            <a:ext cx="563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4C51121-19B8-E9E9-0386-C1C308B28E86}"/>
              </a:ext>
            </a:extLst>
          </p:cNvPr>
          <p:cNvSpPr/>
          <p:nvPr/>
        </p:nvSpPr>
        <p:spPr>
          <a:xfrm>
            <a:off x="1714500" y="5864225"/>
            <a:ext cx="6286500" cy="565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美工设计：陈英         技术支持：张嘉等人</a:t>
            </a:r>
            <a:endParaRPr lang="en-US" altLang="zh-CN" sz="2000" dirty="0">
              <a:latin typeface="+mn-lt"/>
            </a:endParaRPr>
          </a:p>
        </p:txBody>
      </p:sp>
      <p:sp>
        <p:nvSpPr>
          <p:cNvPr id="59398" name="矩形 7">
            <a:extLst>
              <a:ext uri="{FF2B5EF4-FFF2-40B4-BE49-F238E27FC236}">
                <a16:creationId xmlns:a16="http://schemas.microsoft.com/office/drawing/2014/main" id="{0F44AADC-1A5D-9B28-7688-304184B6C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3295650"/>
            <a:ext cx="2224087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5400">
                <a:solidFill>
                  <a:srgbClr val="7030A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课 件</a:t>
            </a:r>
            <a:endParaRPr lang="en-US" altLang="zh-CN" sz="5400" dirty="0">
              <a:solidFill>
                <a:srgbClr val="7030A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1EB65CF8-EAB5-81C5-A60F-294D0A4E949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2714625"/>
            <a:ext cx="5562600" cy="1643063"/>
          </a:xfrm>
          <a:prstGeom prst="rect">
            <a:avLst/>
          </a:prstGeom>
          <a:solidFill>
            <a:srgbClr val="003399"/>
          </a:solidFill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6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6000" dirty="0">
              <a:solidFill>
                <a:srgbClr val="000099"/>
              </a:solidFill>
            </a:endParaRPr>
          </a:p>
        </p:txBody>
      </p:sp>
      <p:pic>
        <p:nvPicPr>
          <p:cNvPr id="6" name="内容占位符 34">
            <a:extLst>
              <a:ext uri="{FF2B5EF4-FFF2-40B4-BE49-F238E27FC236}">
                <a16:creationId xmlns:a16="http://schemas.microsoft.com/office/drawing/2014/main" id="{DB10C358-3704-3E71-0FE6-5A2620B474C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55334" t="2000" r="15137" b="2000"/>
          <a:stretch>
            <a:fillRect/>
          </a:stretch>
        </p:blipFill>
        <p:spPr>
          <a:xfrm>
            <a:off x="5839405" y="1500174"/>
            <a:ext cx="2009195" cy="321471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01600" prst="riblet"/>
          </a:sp3d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40C6F666-CFE1-76A4-257A-ABBDF6986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75" y="2714625"/>
            <a:ext cx="785813" cy="17145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 eaLnBrk="0" hangingPunct="0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5400" kern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en-US" altLang="zh-CN" sz="6000" kern="0" dirty="0">
              <a:solidFill>
                <a:srgbClr val="000099"/>
              </a:solidFill>
              <a:latin typeface="+mn-lt"/>
              <a:ea typeface="+mn-ea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C4550D8-54BF-A72D-D47E-4DF693D23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4643438"/>
            <a:ext cx="2500312" cy="785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通信原理（第</a:t>
            </a:r>
            <a:r>
              <a:rPr lang="en-US" altLang="zh-CN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版</a:t>
            </a:r>
            <a:r>
              <a:rPr lang="zh-CN" altLang="en-US" sz="2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</a:p>
        </p:txBody>
      </p:sp>
      <p:sp>
        <p:nvSpPr>
          <p:cNvPr id="60421" name="矩形 11">
            <a:extLst>
              <a:ext uri="{FF2B5EF4-FFF2-40B4-BE49-F238E27FC236}">
                <a16:creationId xmlns:a16="http://schemas.microsoft.com/office/drawing/2014/main" id="{714DD9F9-6F9C-5FFB-BDF9-AEB62AC9E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285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 eaLnBrk="0" hangingPunct="0"/>
            <a:endParaRPr lang="zh-CN" altLang="en-US"/>
          </a:p>
        </p:txBody>
      </p:sp>
      <p:pic>
        <p:nvPicPr>
          <p:cNvPr id="60422" name="内容占位符 12" descr="校徽3.gif">
            <a:extLst>
              <a:ext uri="{FF2B5EF4-FFF2-40B4-BE49-F238E27FC236}">
                <a16:creationId xmlns:a16="http://schemas.microsoft.com/office/drawing/2014/main" id="{2E6364E4-015C-1130-6D9E-37E21DF9B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5337175"/>
            <a:ext cx="57150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3" name="内容占位符 27" descr="图标3.gif">
            <a:extLst>
              <a:ext uri="{FF2B5EF4-FFF2-40B4-BE49-F238E27FC236}">
                <a16:creationId xmlns:a16="http://schemas.microsoft.com/office/drawing/2014/main" id="{1D1071BA-9C82-BC3F-A297-DDBDF87EE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5" y="5357813"/>
            <a:ext cx="569913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B1BB79C-AB1C-09F0-1946-3CF34CC8B007}"/>
              </a:ext>
            </a:extLst>
          </p:cNvPr>
          <p:cNvSpPr/>
          <p:nvPr/>
        </p:nvSpPr>
        <p:spPr>
          <a:xfrm>
            <a:off x="496888" y="1917700"/>
            <a:ext cx="1319212" cy="769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3200" kern="0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400" b="1" kern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9</a:t>
            </a:r>
            <a:r>
              <a:rPr lang="zh-CN" altLang="en-US" sz="3200" kern="0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zh-CN" altLang="en-US" sz="3200" dirty="0">
              <a:solidFill>
                <a:srgbClr val="00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694DD539-10FC-C238-DB02-2E70F728E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5" y="5962650"/>
            <a:ext cx="2500313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200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樊昌信 曹丽娜 编著</a:t>
            </a:r>
          </a:p>
        </p:txBody>
      </p:sp>
      <p:sp>
        <p:nvSpPr>
          <p:cNvPr id="60426" name="矩形 12">
            <a:extLst>
              <a:ext uri="{FF2B5EF4-FFF2-40B4-BE49-F238E27FC236}">
                <a16:creationId xmlns:a16="http://schemas.microsoft.com/office/drawing/2014/main" id="{5E61210B-0EBD-9128-3427-E2BAAC255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3124200"/>
            <a:ext cx="53403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最佳接收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3455D4C3-AF5A-BDF5-FD0A-C92C826CD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100"/>
            <a:ext cx="2660650" cy="708025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本章内容</a:t>
            </a:r>
            <a:r>
              <a:rPr lang="en-US" altLang="zh-CN" sz="3600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3600" dirty="0">
              <a:solidFill>
                <a:schemeClr val="bg1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C0A24D7-50DE-3473-0EE2-AB076DC18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8925" y="590550"/>
            <a:ext cx="242887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00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80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最佳接收  </a:t>
            </a:r>
            <a:r>
              <a:rPr lang="en-US" altLang="zh-CN" sz="2000" dirty="0">
                <a:solidFill>
                  <a:srgbClr val="800080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endParaRPr lang="zh-CN" altLang="en-US" sz="2000" dirty="0">
              <a:solidFill>
                <a:srgbClr val="80008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04042685-747B-6424-41A8-B732E03B83F4}"/>
              </a:ext>
            </a:extLst>
          </p:cNvPr>
          <p:cNvGrpSpPr>
            <a:grpSpLocks/>
          </p:cNvGrpSpPr>
          <p:nvPr/>
        </p:nvGrpSpPr>
        <p:grpSpPr bwMode="auto">
          <a:xfrm>
            <a:off x="1504950" y="2000250"/>
            <a:ext cx="185738" cy="207963"/>
            <a:chOff x="2976" y="1008"/>
            <a:chExt cx="1056" cy="432"/>
          </a:xfrm>
        </p:grpSpPr>
        <p:sp>
          <p:nvSpPr>
            <p:cNvPr id="61444" name="Oval 9">
              <a:extLst>
                <a:ext uri="{FF2B5EF4-FFF2-40B4-BE49-F238E27FC236}">
                  <a16:creationId xmlns:a16="http://schemas.microsoft.com/office/drawing/2014/main" id="{CE279E8E-B540-8EBF-F823-AB964C073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/>
            <a:p>
              <a:pPr eaLnBrk="0" hangingPunct="0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61445" name="Oval 10">
              <a:extLst>
                <a:ext uri="{FF2B5EF4-FFF2-40B4-BE49-F238E27FC236}">
                  <a16:creationId xmlns:a16="http://schemas.microsoft.com/office/drawing/2014/main" id="{3FD89A74-3794-9F51-4867-DF3AF377D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/>
            <a:p>
              <a:pPr eaLnBrk="0" hangingPunct="0">
                <a:lnSpc>
                  <a:spcPts val="2200"/>
                </a:lnSpc>
              </a:pPr>
              <a:endParaRPr lang="zh-CN" altLang="en-US"/>
            </a:p>
          </p:txBody>
        </p:sp>
      </p:grpSp>
      <p:grpSp>
        <p:nvGrpSpPr>
          <p:cNvPr id="3" name="Group 17">
            <a:extLst>
              <a:ext uri="{FF2B5EF4-FFF2-40B4-BE49-F238E27FC236}">
                <a16:creationId xmlns:a16="http://schemas.microsoft.com/office/drawing/2014/main" id="{4A5CBBBC-8E84-CB3B-830B-C56731EC5C8D}"/>
              </a:ext>
            </a:extLst>
          </p:cNvPr>
          <p:cNvGrpSpPr>
            <a:grpSpLocks/>
          </p:cNvGrpSpPr>
          <p:nvPr/>
        </p:nvGrpSpPr>
        <p:grpSpPr bwMode="auto">
          <a:xfrm>
            <a:off x="1506538" y="2590800"/>
            <a:ext cx="185737" cy="207963"/>
            <a:chOff x="2976" y="1008"/>
            <a:chExt cx="1056" cy="432"/>
          </a:xfrm>
        </p:grpSpPr>
        <p:sp>
          <p:nvSpPr>
            <p:cNvPr id="61447" name="Oval 18">
              <a:extLst>
                <a:ext uri="{FF2B5EF4-FFF2-40B4-BE49-F238E27FC236}">
                  <a16:creationId xmlns:a16="http://schemas.microsoft.com/office/drawing/2014/main" id="{F3FC9E99-C1F9-CABE-51C7-907A69021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/>
            <a:p>
              <a:pPr eaLnBrk="0" hangingPunct="0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61448" name="Oval 19">
              <a:extLst>
                <a:ext uri="{FF2B5EF4-FFF2-40B4-BE49-F238E27FC236}">
                  <a16:creationId xmlns:a16="http://schemas.microsoft.com/office/drawing/2014/main" id="{B4B1DC26-AE54-ED6A-B071-919DFF079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/>
            <a:p>
              <a:pPr eaLnBrk="0" hangingPunct="0">
                <a:lnSpc>
                  <a:spcPts val="2200"/>
                </a:lnSpc>
              </a:pPr>
              <a:endParaRPr lang="zh-CN" altLang="en-US"/>
            </a:p>
          </p:txBody>
        </p:sp>
      </p:grpSp>
      <p:grpSp>
        <p:nvGrpSpPr>
          <p:cNvPr id="4" name="Group 20">
            <a:extLst>
              <a:ext uri="{FF2B5EF4-FFF2-40B4-BE49-F238E27FC236}">
                <a16:creationId xmlns:a16="http://schemas.microsoft.com/office/drawing/2014/main" id="{D2F5F0DF-7AA3-1CA7-E079-3D15469F48C6}"/>
              </a:ext>
            </a:extLst>
          </p:cNvPr>
          <p:cNvGrpSpPr>
            <a:grpSpLocks/>
          </p:cNvGrpSpPr>
          <p:nvPr/>
        </p:nvGrpSpPr>
        <p:grpSpPr bwMode="auto">
          <a:xfrm>
            <a:off x="1492250" y="3221038"/>
            <a:ext cx="185738" cy="207962"/>
            <a:chOff x="2976" y="1008"/>
            <a:chExt cx="1056" cy="432"/>
          </a:xfrm>
        </p:grpSpPr>
        <p:sp>
          <p:nvSpPr>
            <p:cNvPr id="61450" name="Oval 21">
              <a:extLst>
                <a:ext uri="{FF2B5EF4-FFF2-40B4-BE49-F238E27FC236}">
                  <a16:creationId xmlns:a16="http://schemas.microsoft.com/office/drawing/2014/main" id="{89B7716A-3F32-797B-DBAC-09FE98E70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/>
            <a:p>
              <a:pPr eaLnBrk="0" hangingPunct="0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61451" name="Oval 22">
              <a:extLst>
                <a:ext uri="{FF2B5EF4-FFF2-40B4-BE49-F238E27FC236}">
                  <a16:creationId xmlns:a16="http://schemas.microsoft.com/office/drawing/2014/main" id="{8B8DF597-999E-8CFE-D751-5CAB42974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/>
            <a:p>
              <a:pPr eaLnBrk="0" hangingPunct="0">
                <a:lnSpc>
                  <a:spcPts val="2200"/>
                </a:lnSpc>
              </a:pPr>
              <a:endParaRPr lang="zh-CN" altLang="en-US"/>
            </a:p>
          </p:txBody>
        </p:sp>
      </p:grpSp>
      <p:grpSp>
        <p:nvGrpSpPr>
          <p:cNvPr id="6" name="Group 8">
            <a:extLst>
              <a:ext uri="{FF2B5EF4-FFF2-40B4-BE49-F238E27FC236}">
                <a16:creationId xmlns:a16="http://schemas.microsoft.com/office/drawing/2014/main" id="{4DC08DE5-E863-176A-AD07-981DDB3A6E0F}"/>
              </a:ext>
            </a:extLst>
          </p:cNvPr>
          <p:cNvGrpSpPr>
            <a:grpSpLocks/>
          </p:cNvGrpSpPr>
          <p:nvPr/>
        </p:nvGrpSpPr>
        <p:grpSpPr bwMode="auto">
          <a:xfrm>
            <a:off x="1492250" y="3810000"/>
            <a:ext cx="185738" cy="207963"/>
            <a:chOff x="2976" y="1008"/>
            <a:chExt cx="1056" cy="432"/>
          </a:xfrm>
        </p:grpSpPr>
        <p:sp>
          <p:nvSpPr>
            <p:cNvPr id="61453" name="Oval 9">
              <a:extLst>
                <a:ext uri="{FF2B5EF4-FFF2-40B4-BE49-F238E27FC236}">
                  <a16:creationId xmlns:a16="http://schemas.microsoft.com/office/drawing/2014/main" id="{4ED43BAB-509E-52C6-4A85-01DC25E02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/>
            <a:p>
              <a:pPr eaLnBrk="0" hangingPunct="0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61454" name="Oval 10">
              <a:extLst>
                <a:ext uri="{FF2B5EF4-FFF2-40B4-BE49-F238E27FC236}">
                  <a16:creationId xmlns:a16="http://schemas.microsoft.com/office/drawing/2014/main" id="{B630177F-191C-AEFA-836F-A0E75F6FD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/>
            <a:p>
              <a:pPr eaLnBrk="0" hangingPunct="0">
                <a:lnSpc>
                  <a:spcPts val="2200"/>
                </a:lnSpc>
              </a:pPr>
              <a:endParaRPr lang="zh-CN" altLang="en-US"/>
            </a:p>
          </p:txBody>
        </p:sp>
      </p:grpSp>
      <p:sp>
        <p:nvSpPr>
          <p:cNvPr id="22" name="Rectangle 3">
            <a:extLst>
              <a:ext uri="{FF2B5EF4-FFF2-40B4-BE49-F238E27FC236}">
                <a16:creationId xmlns:a16="http://schemas.microsoft.com/office/drawing/2014/main" id="{E1DD8A4D-38BB-2166-DEE5-944CF269D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828800"/>
            <a:ext cx="72390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4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数字信号的统计特性</a:t>
            </a:r>
          </a:p>
          <a:p>
            <a:pPr>
              <a:lnSpc>
                <a:spcPts val="4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最佳接收准则</a:t>
            </a:r>
          </a:p>
          <a:p>
            <a:pPr>
              <a:lnSpc>
                <a:spcPts val="4000"/>
              </a:lnSpc>
              <a:spcBef>
                <a:spcPct val="20000"/>
              </a:spcBef>
            </a:pPr>
            <a:r>
              <a:rPr lang="zh-CN" altLang="en-US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确知</a:t>
            </a:r>
            <a:r>
              <a:rPr lang="en-US" altLang="zh-CN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随相</a:t>
            </a:r>
            <a:r>
              <a:rPr lang="en-US" altLang="zh-CN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起伏</a:t>
            </a:r>
            <a:r>
              <a:rPr lang="zh-CN" altLang="en-US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数字信号的最佳接收</a:t>
            </a:r>
          </a:p>
          <a:p>
            <a:pPr>
              <a:lnSpc>
                <a:spcPts val="4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en-US" altLang="zh-CN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最佳接收机性能比较</a:t>
            </a:r>
          </a:p>
          <a:p>
            <a:pPr>
              <a:lnSpc>
                <a:spcPts val="4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数字信号的匹配滤波接收</a:t>
            </a:r>
            <a:endParaRPr lang="en-US" altLang="zh-CN" sz="2800" b="1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4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最佳基带传输系统</a:t>
            </a:r>
            <a:endParaRPr lang="en-US" altLang="zh-CN" sz="3200" b="1">
              <a:ea typeface="华文新魏" panose="02010800040101010101" pitchFamily="2" charset="-122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A74713CF-F181-591C-B272-5086FBACF52A}"/>
              </a:ext>
            </a:extLst>
          </p:cNvPr>
          <p:cNvGrpSpPr>
            <a:grpSpLocks/>
          </p:cNvGrpSpPr>
          <p:nvPr/>
        </p:nvGrpSpPr>
        <p:grpSpPr bwMode="auto">
          <a:xfrm>
            <a:off x="1482725" y="4391025"/>
            <a:ext cx="185738" cy="207963"/>
            <a:chOff x="2976" y="1008"/>
            <a:chExt cx="1056" cy="432"/>
          </a:xfrm>
        </p:grpSpPr>
        <p:sp>
          <p:nvSpPr>
            <p:cNvPr id="61457" name="Oval 9">
              <a:extLst>
                <a:ext uri="{FF2B5EF4-FFF2-40B4-BE49-F238E27FC236}">
                  <a16:creationId xmlns:a16="http://schemas.microsoft.com/office/drawing/2014/main" id="{87E096A1-39E3-29C9-DD73-CD1A8B856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/>
            <a:p>
              <a:pPr eaLnBrk="0" hangingPunct="0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61458" name="Oval 10">
              <a:extLst>
                <a:ext uri="{FF2B5EF4-FFF2-40B4-BE49-F238E27FC236}">
                  <a16:creationId xmlns:a16="http://schemas.microsoft.com/office/drawing/2014/main" id="{CBC3A77C-BEAF-2A62-4936-9996DAAD5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/>
            <a:p>
              <a:pPr eaLnBrk="0" hangingPunct="0">
                <a:lnSpc>
                  <a:spcPts val="2200"/>
                </a:lnSpc>
              </a:pPr>
              <a:endParaRPr lang="zh-CN" alt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ED3D038-215F-5B12-7631-9DB7050EC5A8}"/>
              </a:ext>
            </a:extLst>
          </p:cNvPr>
          <p:cNvGrpSpPr>
            <a:grpSpLocks/>
          </p:cNvGrpSpPr>
          <p:nvPr/>
        </p:nvGrpSpPr>
        <p:grpSpPr bwMode="auto">
          <a:xfrm>
            <a:off x="1482725" y="4953000"/>
            <a:ext cx="185738" cy="207963"/>
            <a:chOff x="2976" y="1008"/>
            <a:chExt cx="1056" cy="432"/>
          </a:xfrm>
        </p:grpSpPr>
        <p:sp>
          <p:nvSpPr>
            <p:cNvPr id="61460" name="Oval 9">
              <a:extLst>
                <a:ext uri="{FF2B5EF4-FFF2-40B4-BE49-F238E27FC236}">
                  <a16:creationId xmlns:a16="http://schemas.microsoft.com/office/drawing/2014/main" id="{4D4A37B8-3C52-79D3-6EBE-024C5BF4A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/>
            <a:p>
              <a:pPr eaLnBrk="0" hangingPunct="0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61461" name="Oval 10">
              <a:extLst>
                <a:ext uri="{FF2B5EF4-FFF2-40B4-BE49-F238E27FC236}">
                  <a16:creationId xmlns:a16="http://schemas.microsoft.com/office/drawing/2014/main" id="{F1FB62A5-F2CC-F375-7C03-5A0A8AA64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/>
            <a:p>
              <a:pPr eaLnBrk="0" hangingPunct="0">
                <a:lnSpc>
                  <a:spcPts val="2200"/>
                </a:lnSpc>
              </a:pP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4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5" name="Picture 15">
            <a:extLst>
              <a:ext uri="{FF2B5EF4-FFF2-40B4-BE49-F238E27FC236}">
                <a16:creationId xmlns:a16="http://schemas.microsoft.com/office/drawing/2014/main" id="{18F263A5-A392-7167-2B32-F05287694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43" b="914"/>
          <a:stretch>
            <a:fillRect/>
          </a:stretch>
        </p:blipFill>
        <p:spPr bwMode="auto">
          <a:xfrm>
            <a:off x="2794000" y="5518150"/>
            <a:ext cx="42672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751A750B-3D1D-319A-0719-7D565AF27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614"/>
          <a:stretch>
            <a:fillRect/>
          </a:stretch>
        </p:blipFill>
        <p:spPr bwMode="auto">
          <a:xfrm>
            <a:off x="2705100" y="3873500"/>
            <a:ext cx="4267200" cy="108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94" name="Picture 14">
            <a:extLst>
              <a:ext uri="{FF2B5EF4-FFF2-40B4-BE49-F238E27FC236}">
                <a16:creationId xmlns:a16="http://schemas.microsoft.com/office/drawing/2014/main" id="{68CE87CD-A806-472A-3FA8-BCD73F72E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0"/>
          <a:stretch>
            <a:fillRect/>
          </a:stretch>
        </p:blipFill>
        <p:spPr bwMode="auto">
          <a:xfrm>
            <a:off x="1179513" y="2390775"/>
            <a:ext cx="7793037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2" name="Rectangle 2">
            <a:extLst>
              <a:ext uri="{FF2B5EF4-FFF2-40B4-BE49-F238E27FC236}">
                <a16:creationId xmlns:a16="http://schemas.microsoft.com/office/drawing/2014/main" id="{ACBB31E8-3809-456E-1B3D-5EF049CD21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28600" y="381000"/>
            <a:ext cx="1219200" cy="60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zh-CN" altLang="en-US" sz="3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B6E903-6388-11E3-9030-BF3889106AE6}"/>
              </a:ext>
            </a:extLst>
          </p:cNvPr>
          <p:cNvSpPr/>
          <p:nvPr/>
        </p:nvSpPr>
        <p:spPr>
          <a:xfrm>
            <a:off x="693738" y="2049463"/>
            <a:ext cx="1973262" cy="5413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研究目的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681E44-BF4B-013C-391F-A03F42931C7C}"/>
              </a:ext>
            </a:extLst>
          </p:cNvPr>
          <p:cNvSpPr/>
          <p:nvPr/>
        </p:nvSpPr>
        <p:spPr>
          <a:xfrm>
            <a:off x="1143000" y="3429000"/>
            <a:ext cx="73914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最佳</a:t>
            </a: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kumimoji="1" lang="zh-CN" altLang="en-US" sz="2000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的概念</a:t>
            </a:r>
            <a:r>
              <a:rPr kumimoji="1" lang="zh-CN" altLang="en-US" sz="2000" kern="0" dirty="0">
                <a:solidFill>
                  <a:srgbClr val="000000"/>
                </a:solidFill>
                <a:latin typeface="+mn-ea"/>
                <a:ea typeface="+mn-ea"/>
              </a:rPr>
              <a:t>，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指在</a:t>
            </a:r>
            <a:r>
              <a:rPr kumimoji="1" lang="zh-CN" altLang="en-US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某种准则 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或某种意义下的最佳 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81984D-D97D-6D9F-5D96-C23557300918}"/>
              </a:ext>
            </a:extLst>
          </p:cNvPr>
          <p:cNvSpPr/>
          <p:nvPr/>
        </p:nvSpPr>
        <p:spPr>
          <a:xfrm>
            <a:off x="693738" y="4984750"/>
            <a:ext cx="1973262" cy="5413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内容主线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12B41F6-E689-09F7-DE0C-68766C025F3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940845" y="5241131"/>
            <a:ext cx="519112" cy="31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AutoShape 6">
            <a:extLst>
              <a:ext uri="{FF2B5EF4-FFF2-40B4-BE49-F238E27FC236}">
                <a16:creationId xmlns:a16="http://schemas.microsoft.com/office/drawing/2014/main" id="{75E6561C-6A04-A937-AD21-BCACCC53A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0" y="4114800"/>
            <a:ext cx="1981200" cy="1219200"/>
          </a:xfrm>
          <a:prstGeom prst="cloudCallout">
            <a:avLst>
              <a:gd name="adj1" fmla="val -80932"/>
              <a:gd name="adj2" fmla="val -25052"/>
            </a:avLst>
          </a:prstGeom>
          <a:solidFill>
            <a:schemeClr val="accent3">
              <a:lumMod val="95000"/>
            </a:schemeClr>
          </a:solidFill>
          <a:ln w="3175">
            <a:solidFill>
              <a:srgbClr val="5F5F5F"/>
            </a:solidFill>
            <a:round/>
          </a:ln>
          <a:effectLst/>
        </p:spPr>
        <p:txBody>
          <a:bodyPr/>
          <a:lstStyle/>
          <a:p>
            <a:pPr eaLnBrk="0" hangingPunct="0">
              <a:lnSpc>
                <a:spcPct val="115000"/>
              </a:lnSpc>
              <a:defRPr/>
            </a:pPr>
            <a:r>
              <a:rPr kumimoji="1" lang="zh-CN" altLang="en-US" sz="2000" dirty="0">
                <a:effectLst>
                  <a:outerShdw blurRad="38100" dist="38100" dir="2700000" algn="tl">
                    <a:srgbClr val="FFFFFF"/>
                  </a:outerShdw>
                </a:effectLst>
                <a:ea typeface="华文中宋" panose="02010600040101010101" pitchFamily="2" charset="-122"/>
              </a:rPr>
              <a:t>   </a:t>
            </a:r>
            <a:r>
              <a:rPr kumimoji="1" lang="zh-CN" altLang="en-US" sz="2000" b="1" dirty="0">
                <a:solidFill>
                  <a:srgbClr val="FF0000"/>
                </a:solidFill>
                <a:latin typeface="宋体-方正超大字符集" pitchFamily="65" charset="-122"/>
                <a:ea typeface="宋体-方正超大字符集" pitchFamily="65" charset="-122"/>
              </a:rPr>
              <a:t>最直观</a:t>
            </a:r>
            <a:endParaRPr kumimoji="1" lang="en-US" altLang="zh-CN" sz="2000" b="1" dirty="0">
              <a:solidFill>
                <a:srgbClr val="FF0000"/>
              </a:solidFill>
              <a:latin typeface="宋体-方正超大字符集" pitchFamily="65" charset="-122"/>
              <a:ea typeface="宋体-方正超大字符集" pitchFamily="65" charset="-122"/>
            </a:endParaRPr>
          </a:p>
          <a:p>
            <a:pPr eaLnBrk="0" hangingPunct="0">
              <a:lnSpc>
                <a:spcPct val="115000"/>
              </a:lnSpc>
              <a:defRPr/>
            </a:pPr>
            <a:r>
              <a:rPr kumimoji="1" lang="zh-CN" altLang="en-US" sz="2000" b="1" dirty="0">
                <a:solidFill>
                  <a:srgbClr val="FF0000"/>
                </a:solidFill>
                <a:latin typeface="宋体-方正超大字符集" pitchFamily="65" charset="-122"/>
                <a:ea typeface="宋体-方正超大字符集" pitchFamily="65" charset="-122"/>
              </a:rPr>
              <a:t>常用准则</a:t>
            </a:r>
            <a:endParaRPr lang="zh-CN" altLang="en-US" sz="2000" b="1" dirty="0">
              <a:solidFill>
                <a:srgbClr val="FF0000"/>
              </a:solidFill>
              <a:latin typeface="宋体-方正超大字符集" pitchFamily="65" charset="-122"/>
              <a:ea typeface="宋体-方正超大字符集" pitchFamily="65" charset="-122"/>
            </a:endParaRPr>
          </a:p>
          <a:p>
            <a:pPr algn="ctr" eaLnBrk="0" hangingPunct="0">
              <a:defRPr/>
            </a:pPr>
            <a:endParaRPr lang="en-US" altLang="zh-CN" dirty="0"/>
          </a:p>
        </p:txBody>
      </p:sp>
      <p:pic>
        <p:nvPicPr>
          <p:cNvPr id="19" name="Picture 14">
            <a:extLst>
              <a:ext uri="{FF2B5EF4-FFF2-40B4-BE49-F238E27FC236}">
                <a16:creationId xmlns:a16="http://schemas.microsoft.com/office/drawing/2014/main" id="{5F51C0EB-BA8F-DA8F-2CAB-04079B927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217"/>
          <a:stretch>
            <a:fillRect/>
          </a:stretch>
        </p:blipFill>
        <p:spPr bwMode="auto">
          <a:xfrm>
            <a:off x="1120775" y="1073150"/>
            <a:ext cx="7793038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2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animBg="1"/>
      <p:bldP spid="12" grpId="0"/>
      <p:bldP spid="13" grpId="0"/>
      <p:bldP spid="14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D3644870-276B-4020-BA8F-2A126DF36DD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309813" y="3140075"/>
            <a:ext cx="5233987" cy="70802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defTabSz="802005" eaLnBrk="0" hangingPunct="0">
              <a:spcBef>
                <a:spcPct val="20000"/>
              </a:spcBef>
              <a:defRPr/>
            </a:pP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 </a:t>
            </a:r>
            <a:r>
              <a:rPr lang="en-US" altLang="zh-CN" sz="2800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lang="en-US" altLang="zh-CN" sz="4000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统计特性</a:t>
            </a:r>
            <a:endParaRPr lang="en-GB" sz="4000" b="1" noProof="1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043" name="矩形 4">
            <a:extLst>
              <a:ext uri="{FF2B5EF4-FFF2-40B4-BE49-F238E27FC236}">
                <a16:creationId xmlns:a16="http://schemas.microsoft.com/office/drawing/2014/main" id="{C5D84817-7876-B699-0E9F-90BA59C9B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544637" cy="646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3600" b="1" u="sng" dirty="0">
                <a:solidFill>
                  <a:srgbClr val="800080"/>
                </a:solidFill>
                <a:latin typeface="+mn-ea"/>
                <a:ea typeface="+mn-ea"/>
              </a:rPr>
              <a:t>§</a:t>
            </a:r>
            <a:r>
              <a:rPr lang="en-US" altLang="en-US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lang="en-US" altLang="zh-CN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.1  </a:t>
            </a:r>
            <a:endParaRPr lang="zh-CN" altLang="en-US" sz="3600" b="1" u="sng" dirty="0">
              <a:solidFill>
                <a:srgbClr val="80008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1F14BC0-2442-2939-B915-3C3D25352826}"/>
              </a:ext>
            </a:extLst>
          </p:cNvPr>
          <p:cNvSpPr/>
          <p:nvPr/>
        </p:nvSpPr>
        <p:spPr>
          <a:xfrm>
            <a:off x="609600" y="2971800"/>
            <a:ext cx="7924800" cy="461963"/>
          </a:xfrm>
          <a:prstGeom prst="rect">
            <a:avLst/>
          </a:prstGeom>
          <a:solidFill>
            <a:srgbClr val="E8E8E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噪声 </a:t>
            </a:r>
            <a:r>
              <a:rPr lang="en-US" altLang="zh-CN" sz="2400" b="1" i="1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400" b="1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的统计特性</a:t>
            </a:r>
            <a:endParaRPr kumimoji="1" lang="zh-CN" altLang="en-US" sz="2400" b="1" kern="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5" name="Object 17">
            <a:extLst>
              <a:ext uri="{FF2B5EF4-FFF2-40B4-BE49-F238E27FC236}">
                <a16:creationId xmlns:a16="http://schemas.microsoft.com/office/drawing/2014/main" id="{A2FE150B-F4ED-C72C-03CC-A241A24FD960}"/>
              </a:ext>
            </a:extLst>
          </p:cNvPr>
          <p:cNvGraphicFramePr>
            <a:graphicFrameLocks/>
          </p:cNvGraphicFramePr>
          <p:nvPr/>
        </p:nvGraphicFramePr>
        <p:xfrm>
          <a:off x="1295400" y="4425950"/>
          <a:ext cx="29718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47800" imgH="228600" progId="Equation.DSMT4">
                  <p:embed/>
                </p:oleObj>
              </mc:Choice>
              <mc:Fallback>
                <p:oleObj r:id="rId2" imgW="1447800" imgH="228600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425950"/>
                        <a:ext cx="29718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C0F23A75-DA35-F64B-3FA1-146361C0592F}"/>
              </a:ext>
            </a:extLst>
          </p:cNvPr>
          <p:cNvGraphicFramePr>
            <a:graphicFrameLocks/>
          </p:cNvGraphicFramePr>
          <p:nvPr/>
        </p:nvGraphicFramePr>
        <p:xfrm>
          <a:off x="4572000" y="4460875"/>
          <a:ext cx="320516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24000" imgH="228600" progId="Equation.DSMT4">
                  <p:embed/>
                </p:oleObj>
              </mc:Choice>
              <mc:Fallback>
                <p:oleObj r:id="rId4" imgW="1524000" imgH="228600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460875"/>
                        <a:ext cx="320516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1">
            <a:extLst>
              <a:ext uri="{FF2B5EF4-FFF2-40B4-BE49-F238E27FC236}">
                <a16:creationId xmlns:a16="http://schemas.microsoft.com/office/drawing/2014/main" id="{85ED46F9-B408-44D6-0FF9-1E7D9254D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3657600"/>
            <a:ext cx="682942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 设</a:t>
            </a:r>
            <a:r>
              <a:rPr lang="en-US" altLang="zh-CN" sz="2000" b="1" i="1" dirty="0">
                <a:solidFill>
                  <a:srgbClr val="0000CC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000" b="1" dirty="0">
                <a:solidFill>
                  <a:srgbClr val="0000CC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b="1" i="1" dirty="0">
                <a:solidFill>
                  <a:srgbClr val="0000CC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000" b="1" dirty="0">
                <a:solidFill>
                  <a:srgbClr val="0000CC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是均值</a:t>
            </a:r>
            <a:r>
              <a:rPr lang="en-US" altLang="zh-CN" sz="2000" b="1" dirty="0">
                <a:solidFill>
                  <a:srgbClr val="0000CC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高斯</a:t>
            </a: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白噪声，其</a:t>
            </a:r>
            <a:r>
              <a:rPr lang="en-US" altLang="zh-CN" sz="2000" dirty="0"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b="1" i="1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k </a:t>
            </a: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维概率密度函数为：</a:t>
            </a:r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5FF0FA09-280E-A06A-A260-4C1FE6856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237038"/>
            <a:ext cx="110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CC"/>
                </a:solidFill>
                <a:ea typeface="华文中宋" panose="02010600040101010101" pitchFamily="2" charset="-122"/>
              </a:rPr>
              <a:t>统计独立</a:t>
            </a:r>
          </a:p>
        </p:txBody>
      </p:sp>
      <p:graphicFrame>
        <p:nvGraphicFramePr>
          <p:cNvPr id="24590" name="Object 14">
            <a:extLst>
              <a:ext uri="{FF2B5EF4-FFF2-40B4-BE49-F238E27FC236}">
                <a16:creationId xmlns:a16="http://schemas.microsoft.com/office/drawing/2014/main" id="{D9C602B8-62B9-3839-F437-D78788760AB4}"/>
              </a:ext>
            </a:extLst>
          </p:cNvPr>
          <p:cNvGraphicFramePr>
            <a:graphicFrameLocks/>
          </p:cNvGraphicFramePr>
          <p:nvPr/>
        </p:nvGraphicFramePr>
        <p:xfrm>
          <a:off x="5146675" y="5181600"/>
          <a:ext cx="35052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28800" imgH="482600" progId="Equation.DSMT4">
                  <p:embed/>
                </p:oleObj>
              </mc:Choice>
              <mc:Fallback>
                <p:oleObj r:id="rId6" imgW="1828800" imgH="482600" progId="Equation.DSMT4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675" y="5181600"/>
                        <a:ext cx="3505200" cy="93186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15">
            <a:extLst>
              <a:ext uri="{FF2B5EF4-FFF2-40B4-BE49-F238E27FC236}">
                <a16:creationId xmlns:a16="http://schemas.microsoft.com/office/drawing/2014/main" id="{517E09EF-377D-925B-CA6B-6012F1562F6D}"/>
              </a:ext>
            </a:extLst>
          </p:cNvPr>
          <p:cNvGraphicFramePr>
            <a:graphicFrameLocks/>
          </p:cNvGraphicFramePr>
          <p:nvPr/>
        </p:nvGraphicFramePr>
        <p:xfrm>
          <a:off x="381000" y="5173663"/>
          <a:ext cx="44196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259619" imgH="482391" progId="Equation.DSMT4">
                  <p:embed/>
                </p:oleObj>
              </mc:Choice>
              <mc:Fallback>
                <p:oleObj r:id="rId8" imgW="2259619" imgH="482391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173663"/>
                        <a:ext cx="4419600" cy="93662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1">
            <a:extLst>
              <a:ext uri="{FF2B5EF4-FFF2-40B4-BE49-F238E27FC236}">
                <a16:creationId xmlns:a16="http://schemas.microsoft.com/office/drawing/2014/main" id="{EA0571A0-F7A7-55FE-9C01-CA0D93EDF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123950"/>
            <a:ext cx="401637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以接收</a:t>
            </a:r>
            <a:r>
              <a:rPr lang="zh-CN" altLang="en-US" sz="2000" b="1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信号为例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并设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</a:p>
        </p:txBody>
      </p:sp>
      <p:graphicFrame>
        <p:nvGraphicFramePr>
          <p:cNvPr id="21513" name="Object 9">
            <a:extLst>
              <a:ext uri="{FF2B5EF4-FFF2-40B4-BE49-F238E27FC236}">
                <a16:creationId xmlns:a16="http://schemas.microsoft.com/office/drawing/2014/main" id="{C94CDBF8-C8C3-C583-0B80-A9A0449A5A5E}"/>
              </a:ext>
            </a:extLst>
          </p:cNvPr>
          <p:cNvGraphicFramePr>
            <a:graphicFrameLocks/>
          </p:cNvGraphicFramePr>
          <p:nvPr/>
        </p:nvGraphicFramePr>
        <p:xfrm>
          <a:off x="1219200" y="1751013"/>
          <a:ext cx="16002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876300" imgH="457200" progId="Equation.DSMT4">
                  <p:embed/>
                </p:oleObj>
              </mc:Choice>
              <mc:Fallback>
                <p:oleObj r:id="rId10" imgW="876300" imgH="457200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751013"/>
                        <a:ext cx="1600200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6569" name="Picture 9">
            <a:extLst>
              <a:ext uri="{FF2B5EF4-FFF2-40B4-BE49-F238E27FC236}">
                <a16:creationId xmlns:a16="http://schemas.microsoft.com/office/drawing/2014/main" id="{509855EE-093B-086B-72EC-304920C7F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600200"/>
            <a:ext cx="3086100" cy="1066800"/>
          </a:xfrm>
          <a:prstGeom prst="rect">
            <a:avLst/>
          </a:prstGeom>
          <a:noFill/>
          <a:ln w="9525">
            <a:solidFill>
              <a:srgbClr val="D9D9D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8" name="矩形 15">
            <a:extLst>
              <a:ext uri="{FF2B5EF4-FFF2-40B4-BE49-F238E27FC236}">
                <a16:creationId xmlns:a16="http://schemas.microsoft.com/office/drawing/2014/main" id="{32506AE5-9DFD-ACBE-42AA-2D271A739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962150"/>
            <a:ext cx="203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i="1"/>
              <a:t>P</a:t>
            </a:r>
            <a:r>
              <a:rPr lang="en-US" altLang="zh-CN" sz="2000" b="1"/>
              <a:t>(0) + </a:t>
            </a:r>
            <a:r>
              <a:rPr lang="en-US" altLang="zh-CN" sz="2000" b="1" i="1"/>
              <a:t>P</a:t>
            </a:r>
            <a:r>
              <a:rPr lang="en-US" altLang="zh-CN" sz="2000" b="1"/>
              <a:t>(1) = 1</a:t>
            </a:r>
            <a:r>
              <a:rPr lang="en-US" altLang="zh-CN" sz="2000"/>
              <a:t>	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/>
      <p:bldP spid="12" grpId="0"/>
      <p:bldP spid="410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5D1CF99-4575-EB26-6C52-92F1362C0056}"/>
              </a:ext>
            </a:extLst>
          </p:cNvPr>
          <p:cNvSpPr/>
          <p:nvPr/>
        </p:nvSpPr>
        <p:spPr>
          <a:xfrm>
            <a:off x="838200" y="2209800"/>
            <a:ext cx="7543800" cy="527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800"/>
              </a:lnSpc>
              <a:buClr>
                <a:schemeClr val="bg1">
                  <a:lumMod val="50000"/>
                </a:schemeClr>
              </a:buClr>
              <a:buSzPct val="65000"/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当</a:t>
            </a:r>
            <a:r>
              <a:rPr lang="zh-CN" altLang="en-US" sz="20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i="1" dirty="0">
                <a:solidFill>
                  <a:srgbClr val="8000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很大时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0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噪声 在一个</a:t>
            </a:r>
            <a:r>
              <a:rPr lang="en-US" altLang="zh-CN" sz="2400" b="1" i="1" dirty="0">
                <a:solidFill>
                  <a:srgbClr val="0000CC"/>
                </a:solidFill>
              </a:rPr>
              <a:t>T</a:t>
            </a:r>
            <a:r>
              <a:rPr lang="en-US" altLang="zh-CN" sz="2400" b="1" baseline="-25000" dirty="0">
                <a:solidFill>
                  <a:srgbClr val="0000CC"/>
                </a:solidFill>
              </a:rPr>
              <a:t>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内的平均功率 可表示为：</a:t>
            </a:r>
          </a:p>
        </p:txBody>
      </p:sp>
      <p:graphicFrame>
        <p:nvGraphicFramePr>
          <p:cNvPr id="5122" name="Object 7">
            <a:hlinkClick r:id="" action="ppaction://ole?verb=1" highlightClick="1"/>
            <a:extLst>
              <a:ext uri="{FF2B5EF4-FFF2-40B4-BE49-F238E27FC236}">
                <a16:creationId xmlns:a16="http://schemas.microsoft.com/office/drawing/2014/main" id="{20AB4B91-4CC5-55FD-01CE-716240B47E95}"/>
              </a:ext>
            </a:extLst>
          </p:cNvPr>
          <p:cNvGraphicFramePr>
            <a:graphicFrameLocks/>
          </p:cNvGraphicFramePr>
          <p:nvPr/>
        </p:nvGraphicFramePr>
        <p:xfrm>
          <a:off x="1676400" y="2895600"/>
          <a:ext cx="36671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09088" imgH="444307" progId="Equation.DSMT4">
                  <p:embed/>
                </p:oleObj>
              </mc:Choice>
              <mc:Fallback>
                <p:oleObj r:id="rId2" imgW="1409088" imgH="444307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895600"/>
                        <a:ext cx="366712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>
            <a:extLst>
              <a:ext uri="{FF2B5EF4-FFF2-40B4-BE49-F238E27FC236}">
                <a16:creationId xmlns:a16="http://schemas.microsoft.com/office/drawing/2014/main" id="{50BEDF85-7C7D-4F2D-D471-30AA884713E8}"/>
              </a:ext>
            </a:extLst>
          </p:cNvPr>
          <p:cNvGraphicFramePr>
            <a:graphicFrameLocks/>
          </p:cNvGraphicFramePr>
          <p:nvPr/>
        </p:nvGraphicFramePr>
        <p:xfrm>
          <a:off x="5257800" y="2930525"/>
          <a:ext cx="209232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90170" imgH="431613" progId="Equation.DSMT4">
                  <p:embed/>
                </p:oleObj>
              </mc:Choice>
              <mc:Fallback>
                <p:oleObj r:id="rId4" imgW="990170" imgH="431613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930525"/>
                        <a:ext cx="209232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19">
            <a:extLst>
              <a:ext uri="{FF2B5EF4-FFF2-40B4-BE49-F238E27FC236}">
                <a16:creationId xmlns:a16="http://schemas.microsoft.com/office/drawing/2014/main" id="{AA3B40D5-A3A9-6745-88D7-349CC1C40F68}"/>
              </a:ext>
            </a:extLst>
          </p:cNvPr>
          <p:cNvGraphicFramePr>
            <a:graphicFrameLocks/>
          </p:cNvGraphicFramePr>
          <p:nvPr/>
        </p:nvGraphicFramePr>
        <p:xfrm>
          <a:off x="3733800" y="4292600"/>
          <a:ext cx="3624263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75673" imgH="444307" progId="Equation.DSMT4">
                  <p:embed/>
                </p:oleObj>
              </mc:Choice>
              <mc:Fallback>
                <p:oleObj r:id="rId6" imgW="1675673" imgH="444307" progId="Equation.DSMT4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292600"/>
                        <a:ext cx="3624263" cy="965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CC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椭圆形标注 7">
            <a:extLst>
              <a:ext uri="{FF2B5EF4-FFF2-40B4-BE49-F238E27FC236}">
                <a16:creationId xmlns:a16="http://schemas.microsoft.com/office/drawing/2014/main" id="{2BE9F991-1497-36D0-2F60-9F26056F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4759325"/>
            <a:ext cx="381000" cy="533400"/>
          </a:xfrm>
          <a:prstGeom prst="wedgeEllipseCallout">
            <a:avLst>
              <a:gd name="adj1" fmla="val -185014"/>
              <a:gd name="adj2" fmla="val 93204"/>
            </a:avLst>
          </a:prstGeom>
          <a:noFill/>
          <a:ln w="12700">
            <a:solidFill>
              <a:srgbClr val="CC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5125" name="Object 20">
            <a:extLst>
              <a:ext uri="{FF2B5EF4-FFF2-40B4-BE49-F238E27FC236}">
                <a16:creationId xmlns:a16="http://schemas.microsoft.com/office/drawing/2014/main" id="{1C853174-A019-BD13-EE7C-C8931AB01BAD}"/>
              </a:ext>
            </a:extLst>
          </p:cNvPr>
          <p:cNvGraphicFramePr>
            <a:graphicFrameLocks/>
          </p:cNvGraphicFramePr>
          <p:nvPr/>
        </p:nvGraphicFramePr>
        <p:xfrm>
          <a:off x="1801813" y="5538788"/>
          <a:ext cx="16684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47419" imgH="241195" progId="Equation.DSMT4">
                  <p:embed/>
                </p:oleObj>
              </mc:Choice>
              <mc:Fallback>
                <p:oleObj r:id="rId8" imgW="647419" imgH="241195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5538788"/>
                        <a:ext cx="1668462" cy="6191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矩形 9">
            <a:extLst>
              <a:ext uri="{FF2B5EF4-FFF2-40B4-BE49-F238E27FC236}">
                <a16:creationId xmlns:a16="http://schemas.microsoft.com/office/drawing/2014/main" id="{89FFAB9B-655F-0529-2F5A-86B3B4ABB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638800"/>
            <a:ext cx="3200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i="1"/>
              <a:t>n</a:t>
            </a:r>
            <a:r>
              <a:rPr lang="en-US" altLang="zh-CN" sz="2400" b="1" baseline="-25000"/>
              <a:t>0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噪声单边功率谱密度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EA2714-F2CA-FFE0-3F73-CD036D0C5B07}"/>
              </a:ext>
            </a:extLst>
          </p:cNvPr>
          <p:cNvSpPr/>
          <p:nvPr/>
        </p:nvSpPr>
        <p:spPr bwMode="auto">
          <a:xfrm>
            <a:off x="3276600" y="2895600"/>
            <a:ext cx="4114800" cy="990600"/>
          </a:xfrm>
          <a:prstGeom prst="rect">
            <a:avLst/>
          </a:prstGeom>
          <a:noFill/>
          <a:ln w="9525" cap="flat" cmpd="sng" algn="ctr">
            <a:solidFill>
              <a:srgbClr val="0000CC"/>
            </a:solidFill>
            <a:prstDash val="dash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307A36A-07DA-2EC6-41EE-5DF4889543EC}"/>
              </a:ext>
            </a:extLst>
          </p:cNvPr>
          <p:cNvSpPr>
            <a:spLocks noEditPoints="1" noChangeArrowheads="1"/>
          </p:cNvSpPr>
          <p:nvPr/>
        </p:nvSpPr>
        <p:spPr bwMode="auto">
          <a:xfrm rot="2302846" flipV="1">
            <a:off x="7099300" y="3687763"/>
            <a:ext cx="782638" cy="565150"/>
          </a:xfrm>
          <a:custGeom>
            <a:avLst/>
            <a:gdLst>
              <a:gd name="T0" fmla="*/ 0 w 728"/>
              <a:gd name="T1" fmla="*/ 590 h 604"/>
              <a:gd name="T2" fmla="*/ 6 w 728"/>
              <a:gd name="T3" fmla="*/ 582 h 604"/>
              <a:gd name="T4" fmla="*/ 718 w 728"/>
              <a:gd name="T5" fmla="*/ 0 h 604"/>
              <a:gd name="T6" fmla="*/ 656 w 728"/>
              <a:gd name="T7" fmla="*/ 216 h 604"/>
              <a:gd name="T8" fmla="*/ 626 w 728"/>
              <a:gd name="T9" fmla="*/ 324 h 604"/>
              <a:gd name="T10" fmla="*/ 588 w 728"/>
              <a:gd name="T11" fmla="*/ 418 h 604"/>
              <a:gd name="T12" fmla="*/ 542 w 728"/>
              <a:gd name="T13" fmla="*/ 494 h 604"/>
              <a:gd name="T14" fmla="*/ 504 w 728"/>
              <a:gd name="T15" fmla="*/ 536 h 604"/>
              <a:gd name="T16" fmla="*/ 470 w 728"/>
              <a:gd name="T17" fmla="*/ 562 h 604"/>
              <a:gd name="T18" fmla="*/ 420 w 728"/>
              <a:gd name="T19" fmla="*/ 586 h 604"/>
              <a:gd name="T20" fmla="*/ 364 w 728"/>
              <a:gd name="T21" fmla="*/ 598 h 604"/>
              <a:gd name="T22" fmla="*/ 306 w 728"/>
              <a:gd name="T23" fmla="*/ 592 h 604"/>
              <a:gd name="T24" fmla="*/ 278 w 728"/>
              <a:gd name="T25" fmla="*/ 582 h 604"/>
              <a:gd name="T26" fmla="*/ 198 w 728"/>
              <a:gd name="T27" fmla="*/ 554 h 604"/>
              <a:gd name="T28" fmla="*/ 124 w 728"/>
              <a:gd name="T29" fmla="*/ 540 h 604"/>
              <a:gd name="T30" fmla="*/ 92 w 728"/>
              <a:gd name="T31" fmla="*/ 540 h 604"/>
              <a:gd name="T32" fmla="*/ 62 w 728"/>
              <a:gd name="T33" fmla="*/ 546 h 604"/>
              <a:gd name="T34" fmla="*/ 36 w 728"/>
              <a:gd name="T35" fmla="*/ 556 h 604"/>
              <a:gd name="T36" fmla="*/ 12 w 728"/>
              <a:gd name="T37" fmla="*/ 574 h 604"/>
              <a:gd name="T38" fmla="*/ 46 w 728"/>
              <a:gd name="T39" fmla="*/ 552 h 604"/>
              <a:gd name="T40" fmla="*/ 70 w 728"/>
              <a:gd name="T41" fmla="*/ 544 h 604"/>
              <a:gd name="T42" fmla="*/ 100 w 728"/>
              <a:gd name="T43" fmla="*/ 542 h 604"/>
              <a:gd name="T44" fmla="*/ 134 w 728"/>
              <a:gd name="T45" fmla="*/ 544 h 604"/>
              <a:gd name="T46" fmla="*/ 174 w 728"/>
              <a:gd name="T47" fmla="*/ 550 h 604"/>
              <a:gd name="T48" fmla="*/ 222 w 728"/>
              <a:gd name="T49" fmla="*/ 564 h 604"/>
              <a:gd name="T50" fmla="*/ 276 w 728"/>
              <a:gd name="T51" fmla="*/ 586 h 604"/>
              <a:gd name="T52" fmla="*/ 322 w 728"/>
              <a:gd name="T53" fmla="*/ 600 h 604"/>
              <a:gd name="T54" fmla="*/ 376 w 728"/>
              <a:gd name="T55" fmla="*/ 604 h 604"/>
              <a:gd name="T56" fmla="*/ 434 w 728"/>
              <a:gd name="T57" fmla="*/ 592 h 604"/>
              <a:gd name="T58" fmla="*/ 498 w 728"/>
              <a:gd name="T59" fmla="*/ 560 h 604"/>
              <a:gd name="T60" fmla="*/ 526 w 728"/>
              <a:gd name="T61" fmla="*/ 538 h 604"/>
              <a:gd name="T62" fmla="*/ 554 w 728"/>
              <a:gd name="T63" fmla="*/ 508 h 604"/>
              <a:gd name="T64" fmla="*/ 606 w 728"/>
              <a:gd name="T65" fmla="*/ 430 h 604"/>
              <a:gd name="T66" fmla="*/ 650 w 728"/>
              <a:gd name="T67" fmla="*/ 332 h 604"/>
              <a:gd name="T68" fmla="*/ 684 w 728"/>
              <a:gd name="T69" fmla="*/ 220 h 604"/>
              <a:gd name="T70" fmla="*/ 718 w 728"/>
              <a:gd name="T71" fmla="*/ 0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46EFD2C7-7F17-592C-5D2D-167E2AF13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3" y="1058863"/>
            <a:ext cx="7556500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129" grpId="0" animBg="1"/>
      <p:bldP spid="5130" grpId="0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1">
            <a:extLst>
              <a:ext uri="{FF2B5EF4-FFF2-40B4-BE49-F238E27FC236}">
                <a16:creationId xmlns:a16="http://schemas.microsoft.com/office/drawing/2014/main" id="{1004735D-D035-326A-A1E4-EEAB30064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3879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000">
                <a:ea typeface="微软雅黑" panose="020B0503020204020204" pitchFamily="34" charset="-122"/>
              </a:rPr>
              <a:t> 则 </a:t>
            </a:r>
            <a:r>
              <a:rPr lang="en-US" altLang="zh-CN" sz="2000" b="1" i="1">
                <a:solidFill>
                  <a:srgbClr val="0000CC"/>
                </a:solidFill>
                <a:ea typeface="微软雅黑" panose="020B0503020204020204" pitchFamily="34" charset="-122"/>
              </a:rPr>
              <a:t>n</a:t>
            </a:r>
            <a:r>
              <a:rPr lang="en-US" altLang="zh-CN" sz="2000" b="1">
                <a:solidFill>
                  <a:srgbClr val="0000CC"/>
                </a:solidFill>
                <a:ea typeface="微软雅黑" panose="020B0503020204020204" pitchFamily="34" charset="-122"/>
              </a:rPr>
              <a:t>(</a:t>
            </a:r>
            <a:r>
              <a:rPr lang="en-US" altLang="zh-CN" sz="2000" b="1" i="1">
                <a:solidFill>
                  <a:srgbClr val="0000CC"/>
                </a:solidFill>
                <a:ea typeface="微软雅黑" panose="020B0503020204020204" pitchFamily="34" charset="-122"/>
              </a:rPr>
              <a:t>t</a:t>
            </a:r>
            <a:r>
              <a:rPr lang="en-US" altLang="zh-CN" sz="2000" b="1">
                <a:solidFill>
                  <a:srgbClr val="0000CC"/>
                </a:solidFill>
                <a:ea typeface="微软雅黑" panose="020B0503020204020204" pitchFamily="34" charset="-122"/>
              </a:rPr>
              <a:t>)</a:t>
            </a:r>
            <a:r>
              <a:rPr lang="en-US" altLang="zh-CN" sz="2000">
                <a:ea typeface="微软雅黑" panose="020B0503020204020204" pitchFamily="34" charset="-122"/>
              </a:rPr>
              <a:t> </a:t>
            </a:r>
            <a:r>
              <a:rPr lang="zh-CN" altLang="en-US" sz="2000">
                <a:ea typeface="微软雅黑" panose="020B0503020204020204" pitchFamily="34" charset="-122"/>
              </a:rPr>
              <a:t>的</a:t>
            </a:r>
            <a:r>
              <a:rPr lang="en-US" altLang="zh-CN" sz="2400" i="1">
                <a:ea typeface="微软雅黑" panose="020B0503020204020204" pitchFamily="34" charset="-122"/>
              </a:rPr>
              <a:t> </a:t>
            </a:r>
            <a:r>
              <a:rPr lang="en-US" altLang="zh-CN" sz="2400" b="1" i="1">
                <a:solidFill>
                  <a:srgbClr val="800080"/>
                </a:solidFill>
                <a:ea typeface="微软雅黑" panose="020B0503020204020204" pitchFamily="34" charset="-122"/>
              </a:rPr>
              <a:t>k </a:t>
            </a:r>
            <a:r>
              <a:rPr lang="zh-CN" altLang="en-US" sz="2000">
                <a:ea typeface="微软雅黑" panose="020B0503020204020204" pitchFamily="34" charset="-122"/>
              </a:rPr>
              <a:t>维概率密度函数：</a:t>
            </a:r>
          </a:p>
        </p:txBody>
      </p:sp>
      <p:graphicFrame>
        <p:nvGraphicFramePr>
          <p:cNvPr id="24591" name="Object 15">
            <a:extLst>
              <a:ext uri="{FF2B5EF4-FFF2-40B4-BE49-F238E27FC236}">
                <a16:creationId xmlns:a16="http://schemas.microsoft.com/office/drawing/2014/main" id="{B611458D-E8DE-C718-B15E-AC0127568050}"/>
              </a:ext>
            </a:extLst>
          </p:cNvPr>
          <p:cNvGraphicFramePr>
            <a:graphicFrameLocks/>
          </p:cNvGraphicFramePr>
          <p:nvPr/>
        </p:nvGraphicFramePr>
        <p:xfrm>
          <a:off x="2173288" y="1719263"/>
          <a:ext cx="4737100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85008" imgH="571252" progId="Equation.DSMT4">
                  <p:embed/>
                </p:oleObj>
              </mc:Choice>
              <mc:Fallback>
                <p:oleObj r:id="rId2" imgW="2285008" imgH="571252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1719263"/>
                        <a:ext cx="4737100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1">
            <a:extLst>
              <a:ext uri="{FF2B5EF4-FFF2-40B4-BE49-F238E27FC236}">
                <a16:creationId xmlns:a16="http://schemas.microsoft.com/office/drawing/2014/main" id="{C7E84230-97C8-5C2E-713B-EDEF4028F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895600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Clr>
                <a:srgbClr val="0000CC"/>
              </a:buClr>
              <a:buSzPct val="65000"/>
            </a:pPr>
            <a:r>
              <a:rPr lang="zh-CN" altLang="en-US" sz="2000">
                <a:ea typeface="微软雅黑" panose="020B0503020204020204" pitchFamily="34" charset="-122"/>
              </a:rPr>
              <a:t>可改写为：</a:t>
            </a:r>
          </a:p>
        </p:txBody>
      </p:sp>
      <p:graphicFrame>
        <p:nvGraphicFramePr>
          <p:cNvPr id="6148" name="Object 4">
            <a:extLst>
              <a:ext uri="{FF2B5EF4-FFF2-40B4-BE49-F238E27FC236}">
                <a16:creationId xmlns:a16="http://schemas.microsoft.com/office/drawing/2014/main" id="{6EBB59A3-2B52-DADF-C98F-BE178516FCDE}"/>
              </a:ext>
            </a:extLst>
          </p:cNvPr>
          <p:cNvGraphicFramePr>
            <a:graphicFrameLocks/>
          </p:cNvGraphicFramePr>
          <p:nvPr/>
        </p:nvGraphicFramePr>
        <p:xfrm>
          <a:off x="7367588" y="2713038"/>
          <a:ext cx="862012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56408" imgH="177492" progId="Equation.DSMT4">
                  <p:embed/>
                </p:oleObj>
              </mc:Choice>
              <mc:Fallback>
                <p:oleObj r:id="rId4" imgW="456408" imgH="177492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7588" y="2713038"/>
                        <a:ext cx="862012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24">
            <a:extLst>
              <a:ext uri="{FF2B5EF4-FFF2-40B4-BE49-F238E27FC236}">
                <a16:creationId xmlns:a16="http://schemas.microsoft.com/office/drawing/2014/main" id="{834AF0BA-C248-625D-FE6C-B349E312E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2514600"/>
            <a:ext cx="228600" cy="762000"/>
          </a:xfrm>
          <a:prstGeom prst="curvedLeftArrow">
            <a:avLst>
              <a:gd name="adj1" fmla="val 67929"/>
              <a:gd name="adj2" fmla="val 135859"/>
              <a:gd name="adj3" fmla="val 3333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3083" name="Picture 11">
            <a:extLst>
              <a:ext uri="{FF2B5EF4-FFF2-40B4-BE49-F238E27FC236}">
                <a16:creationId xmlns:a16="http://schemas.microsoft.com/office/drawing/2014/main" id="{A786AF5A-9F45-53DD-C3EC-7A89ECDDA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5118100"/>
            <a:ext cx="8128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77D0709C-9F53-7947-1525-C2599C19F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01"/>
          <a:stretch>
            <a:fillRect/>
          </a:stretch>
        </p:blipFill>
        <p:spPr bwMode="auto">
          <a:xfrm>
            <a:off x="2092325" y="3473450"/>
            <a:ext cx="5019675" cy="130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0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1A29E00-D493-6122-2E09-37DACC51DBEC}"/>
              </a:ext>
            </a:extLst>
          </p:cNvPr>
          <p:cNvSpPr/>
          <p:nvPr/>
        </p:nvSpPr>
        <p:spPr>
          <a:xfrm>
            <a:off x="609600" y="1066800"/>
            <a:ext cx="8077200" cy="461963"/>
          </a:xfrm>
          <a:prstGeom prst="rect">
            <a:avLst/>
          </a:prstGeom>
          <a:solidFill>
            <a:srgbClr val="E8E8E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接收电压 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的统计特性</a:t>
            </a:r>
            <a:endParaRPr kumimoji="1" lang="zh-CN" altLang="en-US" sz="2400" b="1" kern="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37B936-A2DF-AE4C-0838-E0D6ED4FF5AF}"/>
              </a:ext>
            </a:extLst>
          </p:cNvPr>
          <p:cNvSpPr/>
          <p:nvPr/>
        </p:nvSpPr>
        <p:spPr>
          <a:xfrm>
            <a:off x="990600" y="2863850"/>
            <a:ext cx="79248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buClr>
                <a:schemeClr val="tx1">
                  <a:lumMod val="65000"/>
                  <a:lumOff val="35000"/>
                </a:schemeClr>
              </a:buClr>
              <a:buSzPct val="65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当出现信号 </a:t>
            </a:r>
            <a:r>
              <a:rPr kumimoji="1" lang="en-US" altLang="zh-CN" sz="2400" b="1" i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kumimoji="1" lang="en-US" altLang="zh-CN" sz="2400" b="1" kern="0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400" b="1" i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kumimoji="1" lang="en-US" altLang="zh-CN" sz="2000" kern="0" dirty="0">
                <a:solidFill>
                  <a:srgbClr val="0000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时，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接收电压 </a:t>
            </a:r>
            <a:r>
              <a:rPr kumimoji="1" lang="en-US" altLang="zh-CN" sz="2000" i="1" kern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kumimoji="1" lang="en-US" altLang="zh-CN" sz="2000" kern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000" i="1" kern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1" lang="en-US" altLang="zh-CN" sz="2000" kern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 </a:t>
            </a:r>
            <a:r>
              <a:rPr lang="en-US" altLang="zh-CN" sz="2400" i="1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维联合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概率密度函数</a:t>
            </a:r>
            <a:r>
              <a:rPr kumimoji="1" lang="zh-CN" altLang="en-US" sz="2000" kern="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12C3A6-F946-A85B-04BC-676684E5420C}"/>
              </a:ext>
            </a:extLst>
          </p:cNvPr>
          <p:cNvSpPr/>
          <p:nvPr/>
        </p:nvSpPr>
        <p:spPr>
          <a:xfrm>
            <a:off x="990600" y="4702175"/>
            <a:ext cx="76962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buClr>
                <a:schemeClr val="tx1">
                  <a:lumMod val="65000"/>
                  <a:lumOff val="35000"/>
                </a:schemeClr>
              </a:buClr>
              <a:buSzPct val="65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当出现信号 </a:t>
            </a:r>
            <a:r>
              <a:rPr kumimoji="1" lang="en-US" altLang="zh-CN" sz="2400" b="1" i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kumimoji="1" lang="en-US" altLang="zh-CN" sz="2400" b="1" kern="0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400" b="1" i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时，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接收电压 </a:t>
            </a:r>
            <a:r>
              <a:rPr kumimoji="1" lang="en-US" altLang="zh-CN" sz="2000" i="1" kern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kumimoji="1" lang="en-US" altLang="zh-CN" sz="2000" kern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000" i="1" kern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1" lang="en-US" altLang="zh-CN" sz="2000" kern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 </a:t>
            </a:r>
            <a:r>
              <a:rPr lang="en-US" altLang="zh-CN" sz="2400" i="1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维联合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概率密度函数</a:t>
            </a:r>
            <a:r>
              <a:rPr kumimoji="1" lang="zh-CN" altLang="en-US" sz="2000" kern="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7CF8405B-3BAB-24CB-9909-63A7D6B28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643063"/>
            <a:ext cx="8096250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>
            <a:extLst>
              <a:ext uri="{FF2B5EF4-FFF2-40B4-BE49-F238E27FC236}">
                <a16:creationId xmlns:a16="http://schemas.microsoft.com/office/drawing/2014/main" id="{C3DD8762-671C-4243-899B-2643C7289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79"/>
          <a:stretch>
            <a:fillRect/>
          </a:stretch>
        </p:blipFill>
        <p:spPr bwMode="auto">
          <a:xfrm>
            <a:off x="2128838" y="5162550"/>
            <a:ext cx="5629275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C48923-C387-4A28-7ACF-823D4F0E6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39"/>
          <a:stretch>
            <a:fillRect/>
          </a:stretch>
        </p:blipFill>
        <p:spPr bwMode="auto">
          <a:xfrm>
            <a:off x="2127250" y="3384550"/>
            <a:ext cx="5629275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5">
            <a:extLst>
              <a:ext uri="{FF2B5EF4-FFF2-40B4-BE49-F238E27FC236}">
                <a16:creationId xmlns:a16="http://schemas.microsoft.com/office/drawing/2014/main" id="{E6E32188-B105-77D9-8F02-EFA085D6F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69634" name="Rectangle 7">
            <a:extLst>
              <a:ext uri="{FF2B5EF4-FFF2-40B4-BE49-F238E27FC236}">
                <a16:creationId xmlns:a16="http://schemas.microsoft.com/office/drawing/2014/main" id="{F671606E-3593-BCA1-335B-E59403C66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8202" name="矩形 26">
            <a:extLst>
              <a:ext uri="{FF2B5EF4-FFF2-40B4-BE49-F238E27FC236}">
                <a16:creationId xmlns:a16="http://schemas.microsoft.com/office/drawing/2014/main" id="{404626DB-B4E9-4D8C-DA92-489E0B121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572000"/>
            <a:ext cx="7696200" cy="106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ts val="38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式中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 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+ 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 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维矢量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表示一个码元内接收电压 的 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个抽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样值。</a:t>
            </a:r>
            <a:r>
              <a:rPr lang="en-US" altLang="zh-CN" sz="2000" b="1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en-US" altLang="zh-CN" sz="2000" b="1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kumimoji="1" lang="en-US" altLang="zh-CN" sz="2000" b="1" i="1" kern="0" dirty="0">
                <a:solidFill>
                  <a:srgbClr val="8000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维空间中的一个点。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53A8DF-DC67-3956-DEC5-B5238668DBB9}"/>
              </a:ext>
            </a:extLst>
          </p:cNvPr>
          <p:cNvSpPr/>
          <p:nvPr/>
        </p:nvSpPr>
        <p:spPr>
          <a:xfrm>
            <a:off x="609600" y="1143000"/>
            <a:ext cx="80772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推广到 </a:t>
            </a:r>
            <a:r>
              <a:rPr lang="en-US" altLang="zh-CN" sz="2800" b="1" dirty="0">
                <a:solidFill>
                  <a:srgbClr val="8000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rgbClr val="8000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进制</a:t>
            </a:r>
            <a:endParaRPr lang="zh-CN" altLang="en-US" sz="2400" b="1" dirty="0">
              <a:solidFill>
                <a:srgbClr val="800080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5123" name="Object 7">
            <a:extLst>
              <a:ext uri="{FF2B5EF4-FFF2-40B4-BE49-F238E27FC236}">
                <a16:creationId xmlns:a16="http://schemas.microsoft.com/office/drawing/2014/main" id="{1B2B931F-4020-B730-9BE9-B1093591FB7D}"/>
              </a:ext>
            </a:extLst>
          </p:cNvPr>
          <p:cNvGraphicFramePr>
            <a:graphicFrameLocks/>
          </p:cNvGraphicFramePr>
          <p:nvPr/>
        </p:nvGraphicFramePr>
        <p:xfrm>
          <a:off x="5334000" y="3913188"/>
          <a:ext cx="22860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78564" imgH="203024" progId="Equation.DSMT4">
                  <p:embed/>
                </p:oleObj>
              </mc:Choice>
              <mc:Fallback>
                <p:oleObj r:id="rId2" imgW="1078564" imgH="203024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913188"/>
                        <a:ext cx="22860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CA5AAC6-7646-D069-CADE-2BB05AFBF0C3}"/>
              </a:ext>
            </a:extLst>
          </p:cNvPr>
          <p:cNvSpPr/>
          <p:nvPr/>
        </p:nvSpPr>
        <p:spPr>
          <a:xfrm>
            <a:off x="838200" y="1828800"/>
            <a:ext cx="80772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buClr>
                <a:srgbClr val="0000CC"/>
              </a:buClr>
              <a:buSzPct val="65000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当发送</a:t>
            </a:r>
            <a:r>
              <a: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800" b="1" i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800" b="1" i="1" baseline="-25000" dirty="0" err="1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 sz="2800" b="1" baseline="-25000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</a:t>
            </a:r>
            <a:r>
              <a:rPr lang="en-US" altLang="zh-CN" sz="2000" dirty="0">
                <a:latin typeface="+mn-ea"/>
                <a:ea typeface="+mn-ea"/>
                <a:cs typeface="Arial" panose="020B0604020202020204" pitchFamily="34" charset="0"/>
              </a:rPr>
              <a:t> ,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接收电压 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 </a:t>
            </a:r>
            <a:r>
              <a:rPr kumimoji="1" lang="en-US" altLang="zh-CN" sz="2400" b="1" i="1" kern="0" dirty="0">
                <a:solidFill>
                  <a:srgbClr val="8000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维联合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概率密度函数为</a:t>
            </a:r>
            <a:r>
              <a:rPr kumimoji="1" lang="zh-CN" altLang="en-US" sz="2000" kern="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5131" name="Picture 11">
            <a:extLst>
              <a:ext uri="{FF2B5EF4-FFF2-40B4-BE49-F238E27FC236}">
                <a16:creationId xmlns:a16="http://schemas.microsoft.com/office/drawing/2014/main" id="{530DF3E5-EFF8-CC5B-FBBF-9B968F8AE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99"/>
          <a:stretch>
            <a:fillRect/>
          </a:stretch>
        </p:blipFill>
        <p:spPr bwMode="auto">
          <a:xfrm>
            <a:off x="615950" y="2540000"/>
            <a:ext cx="809625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" grpId="0"/>
      <p:bldP spid="14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076B7BF2-BC2D-2815-8AA7-2289C4D206D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309813" y="3140075"/>
            <a:ext cx="5233987" cy="70802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defTabSz="802005" eaLnBrk="0" hangingPunct="0">
              <a:spcBef>
                <a:spcPct val="20000"/>
              </a:spcBef>
              <a:defRPr/>
            </a:pP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 </a:t>
            </a:r>
            <a:r>
              <a:rPr lang="en-US" altLang="zh-CN" sz="2800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lang="en-US" altLang="zh-CN" sz="4000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最佳接收</a:t>
            </a:r>
            <a:endParaRPr lang="en-GB" sz="4000" b="1" noProof="1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043" name="矩形 4">
            <a:extLst>
              <a:ext uri="{FF2B5EF4-FFF2-40B4-BE49-F238E27FC236}">
                <a16:creationId xmlns:a16="http://schemas.microsoft.com/office/drawing/2014/main" id="{35C8FDC5-BF95-1F13-D6EB-4986DA3FE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546225" cy="646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3600" b="1" u="sng" dirty="0">
                <a:solidFill>
                  <a:srgbClr val="800080"/>
                </a:solidFill>
                <a:latin typeface="+mn-ea"/>
                <a:ea typeface="+mn-ea"/>
              </a:rPr>
              <a:t>§</a:t>
            </a:r>
            <a:r>
              <a:rPr lang="en-US" altLang="en-US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lang="en-US" altLang="zh-CN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.2  </a:t>
            </a:r>
            <a:endParaRPr lang="zh-CN" altLang="en-US" sz="3600" b="1" u="sng" dirty="0">
              <a:solidFill>
                <a:srgbClr val="80008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019B8F-15DC-E2FA-E963-9B1A83E7FA7E}"/>
              </a:ext>
            </a:extLst>
          </p:cNvPr>
          <p:cNvSpPr/>
          <p:nvPr/>
        </p:nvSpPr>
        <p:spPr>
          <a:xfrm>
            <a:off x="2362200" y="4038600"/>
            <a:ext cx="504666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zh-CN" altLang="en-US" sz="2400" kern="0" dirty="0">
                <a:solidFill>
                  <a:srgbClr val="80008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“</a:t>
            </a:r>
            <a:r>
              <a:rPr kumimoji="1" lang="zh-CN" altLang="en-US" sz="2400" kern="0" dirty="0">
                <a:solidFill>
                  <a:srgbClr val="80008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最佳</a:t>
            </a:r>
            <a:r>
              <a:rPr kumimoji="1" lang="zh-CN" altLang="en-US" sz="2400" kern="0" dirty="0">
                <a:solidFill>
                  <a:srgbClr val="80008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”</a:t>
            </a:r>
            <a:r>
              <a:rPr kumimoji="1" lang="zh-CN" altLang="en-US" sz="2400" kern="0" dirty="0">
                <a:solidFill>
                  <a:srgbClr val="80008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准则 </a:t>
            </a:r>
            <a:r>
              <a:rPr kumimoji="1" lang="en-US" altLang="zh-CN" sz="2400" kern="0" dirty="0">
                <a:solidFill>
                  <a:srgbClr val="800080"/>
                </a:solidFill>
                <a:latin typeface="+mn-ea"/>
              </a:rPr>
              <a:t>——</a:t>
            </a:r>
            <a:r>
              <a:rPr kumimoji="1" lang="zh-CN" altLang="en-US" sz="2400" kern="0" dirty="0">
                <a:solidFill>
                  <a:srgbClr val="80008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zh-CN" altLang="en-US" sz="240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错误概率最小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8" name="Picture 14">
            <a:extLst>
              <a:ext uri="{FF2B5EF4-FFF2-40B4-BE49-F238E27FC236}">
                <a16:creationId xmlns:a16="http://schemas.microsoft.com/office/drawing/2014/main" id="{E66D85CF-C860-D119-608E-D120F0A89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1073150"/>
            <a:ext cx="7645400" cy="108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218" name="Object 11">
            <a:extLst>
              <a:ext uri="{FF2B5EF4-FFF2-40B4-BE49-F238E27FC236}">
                <a16:creationId xmlns:a16="http://schemas.microsoft.com/office/drawing/2014/main" id="{F08B4674-B502-4492-2699-42979AB15021}"/>
              </a:ext>
            </a:extLst>
          </p:cNvPr>
          <p:cNvGraphicFramePr>
            <a:graphicFrameLocks/>
          </p:cNvGraphicFramePr>
          <p:nvPr/>
        </p:nvGraphicFramePr>
        <p:xfrm>
          <a:off x="2882900" y="2773363"/>
          <a:ext cx="42672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54200" imgH="228600" progId="Equation.DSMT4">
                  <p:embed/>
                </p:oleObj>
              </mc:Choice>
              <mc:Fallback>
                <p:oleObj r:id="rId3" imgW="1854200" imgH="2286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900" y="2773363"/>
                        <a:ext cx="4267200" cy="522287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939E3E59-4288-43E4-C716-4BB82E7266DA}"/>
              </a:ext>
            </a:extLst>
          </p:cNvPr>
          <p:cNvSpPr/>
          <p:nvPr/>
        </p:nvSpPr>
        <p:spPr>
          <a:xfrm>
            <a:off x="663575" y="4389438"/>
            <a:ext cx="394970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设 分界线为</a:t>
            </a:r>
            <a:r>
              <a:rPr lang="en-US" altLang="zh-CN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判决规则为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Arial" panose="020B0604020202020204" pitchFamily="34" charset="0"/>
              </a:rPr>
              <a:t>：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153" name="Picture 4">
            <a:extLst>
              <a:ext uri="{FF2B5EF4-FFF2-40B4-BE49-F238E27FC236}">
                <a16:creationId xmlns:a16="http://schemas.microsoft.com/office/drawing/2014/main" id="{30A2722D-7729-417B-3805-2EBF2D011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19700" y="3860800"/>
            <a:ext cx="295275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570A30A-0A1D-AA33-A912-383A734FD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95300"/>
            <a:ext cx="332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sz="2800" b="1">
                <a:latin typeface="Arial" panose="020B0604020202020204" pitchFamily="34" charset="0"/>
                <a:ea typeface="微软雅黑" panose="020B0503020204020204" pitchFamily="34" charset="-122"/>
              </a:rPr>
              <a:t>求总误码率 </a:t>
            </a:r>
            <a:r>
              <a:rPr lang="en-US" altLang="zh-CN" sz="2800" b="1" i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en-US" altLang="zh-CN" sz="2800" b="1" i="1" baseline="-25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6159" name="Picture 15">
            <a:extLst>
              <a:ext uri="{FF2B5EF4-FFF2-40B4-BE49-F238E27FC236}">
                <a16:creationId xmlns:a16="http://schemas.microsoft.com/office/drawing/2014/main" id="{80E4317C-BBCB-9FD1-63EE-672564EA3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3" y="2055813"/>
            <a:ext cx="237013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0" name="Picture 16">
            <a:extLst>
              <a:ext uri="{FF2B5EF4-FFF2-40B4-BE49-F238E27FC236}">
                <a16:creationId xmlns:a16="http://schemas.microsoft.com/office/drawing/2014/main" id="{BB68616E-A785-D7DA-A421-5497056D9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 r="-629"/>
          <a:stretch>
            <a:fillRect/>
          </a:stretch>
        </p:blipFill>
        <p:spPr bwMode="auto">
          <a:xfrm>
            <a:off x="1104900" y="5073650"/>
            <a:ext cx="7112000" cy="1141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">
            <a:extLst>
              <a:ext uri="{FF2B5EF4-FFF2-40B4-BE49-F238E27FC236}">
                <a16:creationId xmlns:a16="http://schemas.microsoft.com/office/drawing/2014/main" id="{10B77200-4666-E656-F203-63D2F30FD6F7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070225"/>
            <a:ext cx="4268788" cy="2128838"/>
            <a:chOff x="1569" y="1934"/>
            <a:chExt cx="2484" cy="1081"/>
          </a:xfrm>
        </p:grpSpPr>
        <p:grpSp>
          <p:nvGrpSpPr>
            <p:cNvPr id="72706" name="Group 5">
              <a:extLst>
                <a:ext uri="{FF2B5EF4-FFF2-40B4-BE49-F238E27FC236}">
                  <a16:creationId xmlns:a16="http://schemas.microsoft.com/office/drawing/2014/main" id="{2E1EB3E3-1DBA-0EBF-E509-AF8631767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9" y="1934"/>
              <a:ext cx="2484" cy="1054"/>
              <a:chOff x="5670" y="10619"/>
              <a:chExt cx="4502" cy="1785"/>
            </a:xfrm>
          </p:grpSpPr>
          <p:grpSp>
            <p:nvGrpSpPr>
              <p:cNvPr id="72707" name="Group 6">
                <a:extLst>
                  <a:ext uri="{FF2B5EF4-FFF2-40B4-BE49-F238E27FC236}">
                    <a16:creationId xmlns:a16="http://schemas.microsoft.com/office/drawing/2014/main" id="{54B57D08-A4C5-8E04-0C8E-10DCE699EC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70" y="10619"/>
                <a:ext cx="4502" cy="1726"/>
                <a:chOff x="5670" y="10215"/>
                <a:chExt cx="4502" cy="1726"/>
              </a:xfrm>
            </p:grpSpPr>
            <p:pic>
              <p:nvPicPr>
                <p:cNvPr id="72708" name="Picture 7" descr="最佳接收误码率">
                  <a:extLst>
                    <a:ext uri="{FF2B5EF4-FFF2-40B4-BE49-F238E27FC236}">
                      <a16:creationId xmlns:a16="http://schemas.microsoft.com/office/drawing/2014/main" id="{D1471410-17EE-7F45-9B76-AC74BBD6F20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74" y="10641"/>
                  <a:ext cx="4498" cy="1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2709" name="Line 8">
                  <a:extLst>
                    <a:ext uri="{FF2B5EF4-FFF2-40B4-BE49-F238E27FC236}">
                      <a16:creationId xmlns:a16="http://schemas.microsoft.com/office/drawing/2014/main" id="{E28E6943-16A0-E248-0DE3-6BDEEF8D44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7560" y="10215"/>
                  <a:ext cx="14" cy="7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10" name="Text Box 9">
                  <a:extLst>
                    <a:ext uri="{FF2B5EF4-FFF2-40B4-BE49-F238E27FC236}">
                      <a16:creationId xmlns:a16="http://schemas.microsoft.com/office/drawing/2014/main" id="{9B4ADC55-F046-1D4A-2592-89093B79BE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554" y="10285"/>
                  <a:ext cx="554" cy="4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 eaLnBrk="0" hangingPunct="0"/>
                  <a:r>
                    <a:rPr lang="en-US" altLang="zh-CN" sz="2000" b="1" i="1"/>
                    <a:t>A</a:t>
                  </a:r>
                  <a:r>
                    <a:rPr lang="en-US" altLang="zh-CN" sz="2000" b="1" baseline="-25000"/>
                    <a:t>0</a:t>
                  </a:r>
                  <a:endParaRPr lang="en-US" altLang="zh-CN" sz="3600" b="1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2711" name="Text Box 10">
                  <a:extLst>
                    <a:ext uri="{FF2B5EF4-FFF2-40B4-BE49-F238E27FC236}">
                      <a16:creationId xmlns:a16="http://schemas.microsoft.com/office/drawing/2014/main" id="{A9E1C309-9553-F01C-B746-FAAA6E406C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61" y="10288"/>
                  <a:ext cx="554" cy="4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 eaLnBrk="0" hangingPunct="0"/>
                  <a:r>
                    <a:rPr lang="en-US" altLang="zh-CN" sz="2000" b="1" i="1"/>
                    <a:t>A</a:t>
                  </a:r>
                  <a:r>
                    <a:rPr lang="en-US" altLang="zh-CN" sz="2000" b="1" baseline="-25000"/>
                    <a:t>1</a:t>
                  </a:r>
                  <a:endParaRPr lang="en-US" altLang="zh-CN" sz="3600" b="1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2712" name="Line 11">
                  <a:extLst>
                    <a:ext uri="{FF2B5EF4-FFF2-40B4-BE49-F238E27FC236}">
                      <a16:creationId xmlns:a16="http://schemas.microsoft.com/office/drawing/2014/main" id="{98787FC1-6883-3E99-B196-3D786A3982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976" y="10483"/>
                  <a:ext cx="55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13" name="Line 12">
                  <a:extLst>
                    <a:ext uri="{FF2B5EF4-FFF2-40B4-BE49-F238E27FC236}">
                      <a16:creationId xmlns:a16="http://schemas.microsoft.com/office/drawing/2014/main" id="{ED4E8C19-0608-0144-DC9D-60CBE23335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20" y="10485"/>
                  <a:ext cx="55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14" name="Line 13">
                  <a:extLst>
                    <a:ext uri="{FF2B5EF4-FFF2-40B4-BE49-F238E27FC236}">
                      <a16:creationId xmlns:a16="http://schemas.microsoft.com/office/drawing/2014/main" id="{DB8294C5-82E0-3FEF-0DC3-279546B7F0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80" y="10485"/>
                  <a:ext cx="97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15" name="Line 14">
                  <a:extLst>
                    <a:ext uri="{FF2B5EF4-FFF2-40B4-BE49-F238E27FC236}">
                      <a16:creationId xmlns:a16="http://schemas.microsoft.com/office/drawing/2014/main" id="{6C6B424E-B2CB-F100-8EE7-6B7337FDE2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70" y="10483"/>
                  <a:ext cx="97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2716" name="Text Box 15">
                <a:extLst>
                  <a:ext uri="{FF2B5EF4-FFF2-40B4-BE49-F238E27FC236}">
                    <a16:creationId xmlns:a16="http://schemas.microsoft.com/office/drawing/2014/main" id="{7C7740EA-DADE-E3D3-45DD-B853E600F8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45" y="12100"/>
                <a:ext cx="373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2400" b="1" i="1">
                    <a:latin typeface="Times New Roman" panose="02020603050405020304" pitchFamily="18" charset="0"/>
                  </a:rPr>
                  <a:t>r</a:t>
                </a:r>
                <a:endParaRPr lang="en-US" altLang="zh-CN" sz="2400"/>
              </a:p>
            </p:txBody>
          </p:sp>
        </p:grpSp>
        <p:sp>
          <p:nvSpPr>
            <p:cNvPr id="72717" name="Text Box 17">
              <a:extLst>
                <a:ext uri="{FF2B5EF4-FFF2-40B4-BE49-F238E27FC236}">
                  <a16:creationId xmlns:a16="http://schemas.microsoft.com/office/drawing/2014/main" id="{78AEB139-4488-64AA-C52E-30588D299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0" y="2219"/>
              <a:ext cx="397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20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r</a:t>
              </a:r>
              <a:r>
                <a:rPr lang="en-US" altLang="zh-CN" sz="2000" b="1">
                  <a:latin typeface="Times New Roman" panose="02020603050405020304" pitchFamily="18" charset="0"/>
                </a:rPr>
                <a:t>)</a:t>
              </a:r>
              <a:endParaRPr lang="en-US" altLang="zh-CN" sz="3600" b="1"/>
            </a:p>
          </p:txBody>
        </p:sp>
        <p:sp>
          <p:nvSpPr>
            <p:cNvPr id="72718" name="Text Box 18">
              <a:extLst>
                <a:ext uri="{FF2B5EF4-FFF2-40B4-BE49-F238E27FC236}">
                  <a16:creationId xmlns:a16="http://schemas.microsoft.com/office/drawing/2014/main" id="{2CC12E2C-ECAA-3835-9D27-A659967B3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5" y="2225"/>
              <a:ext cx="397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2000" b="1" i="1">
                  <a:latin typeface="Times New Roman" panose="02020603050405020304" pitchFamily="18" charset="0"/>
                </a:rPr>
                <a:t>f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000" b="1">
                  <a:latin typeface="Times New Roman" panose="02020603050405020304" pitchFamily="18" charset="0"/>
                </a:rPr>
                <a:t>(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r</a:t>
              </a:r>
              <a:r>
                <a:rPr lang="en-US" altLang="zh-CN" sz="2000" b="1">
                  <a:latin typeface="Times New Roman" panose="02020603050405020304" pitchFamily="18" charset="0"/>
                </a:rPr>
                <a:t>)</a:t>
              </a:r>
              <a:endParaRPr lang="en-US" altLang="zh-CN" sz="3600" b="1"/>
            </a:p>
          </p:txBody>
        </p:sp>
        <p:sp>
          <p:nvSpPr>
            <p:cNvPr id="72719" name="Text Box 19">
              <a:extLst>
                <a:ext uri="{FF2B5EF4-FFF2-40B4-BE49-F238E27FC236}">
                  <a16:creationId xmlns:a16="http://schemas.microsoft.com/office/drawing/2014/main" id="{896D2C32-D1A1-56D5-F39C-E03AB217A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7" y="2830"/>
              <a:ext cx="398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  <p:sp>
          <p:nvSpPr>
            <p:cNvPr id="72720" name="Text Box 20">
              <a:extLst>
                <a:ext uri="{FF2B5EF4-FFF2-40B4-BE49-F238E27FC236}">
                  <a16:creationId xmlns:a16="http://schemas.microsoft.com/office/drawing/2014/main" id="{23FFB3D6-DDD8-0535-ED07-0CD24111B2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5" y="2620"/>
              <a:ext cx="663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b="1" i="1">
                  <a:solidFill>
                    <a:srgbClr val="0000CC"/>
                  </a:solidFill>
                </a:rPr>
                <a:t>P</a:t>
              </a:r>
              <a:r>
                <a:rPr lang="en-US" altLang="zh-CN">
                  <a:solidFill>
                    <a:srgbClr val="0000CC"/>
                  </a:solidFill>
                </a:rPr>
                <a:t>(</a:t>
              </a:r>
              <a:r>
                <a:rPr lang="en-US" altLang="zh-CN" b="1" i="1">
                  <a:solidFill>
                    <a:srgbClr val="0000CC"/>
                  </a:solidFill>
                </a:rPr>
                <a:t>A</a:t>
              </a:r>
              <a:r>
                <a:rPr lang="en-US" altLang="zh-CN" b="1" baseline="-25000">
                  <a:solidFill>
                    <a:srgbClr val="0000CC"/>
                  </a:solidFill>
                </a:rPr>
                <a:t>0</a:t>
              </a:r>
              <a:r>
                <a:rPr lang="en-US" altLang="zh-CN" b="1">
                  <a:solidFill>
                    <a:srgbClr val="0000CC"/>
                  </a:solidFill>
                </a:rPr>
                <a:t>/1</a:t>
              </a:r>
              <a:r>
                <a:rPr lang="en-US" altLang="zh-CN">
                  <a:solidFill>
                    <a:srgbClr val="0000CC"/>
                  </a:solidFill>
                </a:rPr>
                <a:t>)</a:t>
              </a:r>
              <a:endParaRPr lang="en-US" altLang="zh-CN">
                <a:solidFill>
                  <a:srgbClr val="0000CC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2721" name="Text Box 21">
              <a:extLst>
                <a:ext uri="{FF2B5EF4-FFF2-40B4-BE49-F238E27FC236}">
                  <a16:creationId xmlns:a16="http://schemas.microsoft.com/office/drawing/2014/main" id="{D7B4D4B4-4029-13D2-2E35-289329CB0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2" y="2494"/>
              <a:ext cx="600" cy="1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b="1" i="1">
                  <a:solidFill>
                    <a:srgbClr val="800080"/>
                  </a:solidFill>
                </a:rPr>
                <a:t>P</a:t>
              </a:r>
              <a:r>
                <a:rPr lang="en-US" altLang="zh-CN">
                  <a:solidFill>
                    <a:srgbClr val="800080"/>
                  </a:solidFill>
                </a:rPr>
                <a:t>(</a:t>
              </a:r>
              <a:r>
                <a:rPr lang="en-US" altLang="zh-CN" b="1" i="1">
                  <a:solidFill>
                    <a:srgbClr val="800080"/>
                  </a:solidFill>
                </a:rPr>
                <a:t>A</a:t>
              </a:r>
              <a:r>
                <a:rPr lang="en-US" altLang="zh-CN" b="1" baseline="-25000">
                  <a:solidFill>
                    <a:srgbClr val="800080"/>
                  </a:solidFill>
                </a:rPr>
                <a:t>1</a:t>
              </a:r>
              <a:r>
                <a:rPr lang="en-US" altLang="zh-CN" b="1">
                  <a:solidFill>
                    <a:srgbClr val="800080"/>
                  </a:solidFill>
                </a:rPr>
                <a:t>/0</a:t>
              </a:r>
              <a:r>
                <a:rPr lang="en-US" altLang="zh-CN">
                  <a:solidFill>
                    <a:srgbClr val="800080"/>
                  </a:solidFill>
                </a:rPr>
                <a:t>)</a:t>
              </a:r>
              <a:endParaRPr lang="en-US" altLang="zh-CN">
                <a:solidFill>
                  <a:srgbClr val="80008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2722" name="Rectangle 22">
              <a:extLst>
                <a:ext uri="{FF2B5EF4-FFF2-40B4-BE49-F238E27FC236}">
                  <a16:creationId xmlns:a16="http://schemas.microsoft.com/office/drawing/2014/main" id="{8CBF3D99-4A20-7258-8EB8-3C7028D6D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0" y="2167"/>
              <a:ext cx="149" cy="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</p:grpSp>
      <p:graphicFrame>
        <p:nvGraphicFramePr>
          <p:cNvPr id="7170" name="Object 10">
            <a:extLst>
              <a:ext uri="{FF2B5EF4-FFF2-40B4-BE49-F238E27FC236}">
                <a16:creationId xmlns:a16="http://schemas.microsoft.com/office/drawing/2014/main" id="{BC8CA9AF-B299-4434-5FEC-596E7514826D}"/>
              </a:ext>
            </a:extLst>
          </p:cNvPr>
          <p:cNvGraphicFramePr>
            <a:graphicFrameLocks/>
          </p:cNvGraphicFramePr>
          <p:nvPr/>
        </p:nvGraphicFramePr>
        <p:xfrm>
          <a:off x="4802188" y="2087563"/>
          <a:ext cx="3065462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71922" imgH="355292" progId="Equation.DSMT4">
                  <p:embed/>
                </p:oleObj>
              </mc:Choice>
              <mc:Fallback>
                <p:oleObj r:id="rId3" imgW="1471922" imgH="355292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2188" y="2087563"/>
                        <a:ext cx="3065462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5">
            <a:extLst>
              <a:ext uri="{FF2B5EF4-FFF2-40B4-BE49-F238E27FC236}">
                <a16:creationId xmlns:a16="http://schemas.microsoft.com/office/drawing/2014/main" id="{56A30F83-9582-05AB-CC5A-1BBFA523BFCD}"/>
              </a:ext>
            </a:extLst>
          </p:cNvPr>
          <p:cNvGraphicFramePr>
            <a:graphicFrameLocks/>
          </p:cNvGraphicFramePr>
          <p:nvPr/>
        </p:nvGraphicFramePr>
        <p:xfrm>
          <a:off x="4765675" y="1296988"/>
          <a:ext cx="3106738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85255" imgH="330057" progId="Equation.DSMT4">
                  <p:embed/>
                </p:oleObj>
              </mc:Choice>
              <mc:Fallback>
                <p:oleObj r:id="rId5" imgW="1485255" imgH="330057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675" y="1296988"/>
                        <a:ext cx="3106738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11">
            <a:extLst>
              <a:ext uri="{FF2B5EF4-FFF2-40B4-BE49-F238E27FC236}">
                <a16:creationId xmlns:a16="http://schemas.microsoft.com/office/drawing/2014/main" id="{4352F17B-5011-3DF8-525E-3FD1EC9224C1}"/>
              </a:ext>
            </a:extLst>
          </p:cNvPr>
          <p:cNvGraphicFramePr>
            <a:graphicFrameLocks/>
          </p:cNvGraphicFramePr>
          <p:nvPr/>
        </p:nvGraphicFramePr>
        <p:xfrm>
          <a:off x="2517775" y="5554663"/>
          <a:ext cx="46450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019300" imgH="228600" progId="Equation.DSMT4">
                  <p:embed/>
                </p:oleObj>
              </mc:Choice>
              <mc:Fallback>
                <p:oleObj r:id="rId7" imgW="2019300" imgH="2286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5554663"/>
                        <a:ext cx="46450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7">
            <a:extLst>
              <a:ext uri="{FF2B5EF4-FFF2-40B4-BE49-F238E27FC236}">
                <a16:creationId xmlns:a16="http://schemas.microsoft.com/office/drawing/2014/main" id="{407291C7-BE6E-2237-CF25-66460B3C13D0}"/>
              </a:ext>
            </a:extLst>
          </p:cNvPr>
          <p:cNvGraphicFramePr>
            <a:graphicFrameLocks/>
          </p:cNvGraphicFramePr>
          <p:nvPr/>
        </p:nvGraphicFramePr>
        <p:xfrm>
          <a:off x="2514600" y="1484313"/>
          <a:ext cx="2235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117600" imgH="228600" progId="Equation.DSMT4">
                  <p:embed/>
                </p:oleObj>
              </mc:Choice>
              <mc:Fallback>
                <p:oleObj r:id="rId9" imgW="1117600" imgH="2286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484313"/>
                        <a:ext cx="2235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8">
            <a:extLst>
              <a:ext uri="{FF2B5EF4-FFF2-40B4-BE49-F238E27FC236}">
                <a16:creationId xmlns:a16="http://schemas.microsoft.com/office/drawing/2014/main" id="{46AE31F5-98AF-642D-F8EC-B7D12C170EC7}"/>
              </a:ext>
            </a:extLst>
          </p:cNvPr>
          <p:cNvGraphicFramePr>
            <a:graphicFrameLocks/>
          </p:cNvGraphicFramePr>
          <p:nvPr/>
        </p:nvGraphicFramePr>
        <p:xfrm>
          <a:off x="2514600" y="2220913"/>
          <a:ext cx="2260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129810" imgH="228501" progId="Equation.DSMT4">
                  <p:embed/>
                </p:oleObj>
              </mc:Choice>
              <mc:Fallback>
                <p:oleObj r:id="rId11" imgW="1129810" imgH="228501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220913"/>
                        <a:ext cx="2260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389A0618-593C-E6B3-438D-B867713C871E}"/>
              </a:ext>
            </a:extLst>
          </p:cNvPr>
          <p:cNvSpPr/>
          <p:nvPr/>
        </p:nvSpPr>
        <p:spPr>
          <a:xfrm>
            <a:off x="663575" y="1123950"/>
            <a:ext cx="2003425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错误概率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706958B-1E7F-3944-2A56-BA066696532E}"/>
              </a:ext>
            </a:extLst>
          </p:cNvPr>
          <p:cNvSpPr/>
          <p:nvPr/>
        </p:nvSpPr>
        <p:spPr>
          <a:xfrm>
            <a:off x="663575" y="5086350"/>
            <a:ext cx="2003425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总误码率 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3">
            <a:extLst>
              <a:ext uri="{FF2B5EF4-FFF2-40B4-BE49-F238E27FC236}">
                <a16:creationId xmlns:a16="http://schemas.microsoft.com/office/drawing/2014/main" id="{88176D81-B35D-01A2-6225-A26F76757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670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12299" name="Object 11">
            <a:extLst>
              <a:ext uri="{FF2B5EF4-FFF2-40B4-BE49-F238E27FC236}">
                <a16:creationId xmlns:a16="http://schemas.microsoft.com/office/drawing/2014/main" id="{8E0CD9F5-FAE3-73C0-777E-CE620CC0D2E6}"/>
              </a:ext>
            </a:extLst>
          </p:cNvPr>
          <p:cNvGraphicFramePr>
            <a:graphicFrameLocks/>
          </p:cNvGraphicFramePr>
          <p:nvPr/>
        </p:nvGraphicFramePr>
        <p:xfrm>
          <a:off x="4473575" y="3606800"/>
          <a:ext cx="10128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95085" imgH="431613" progId="Equation.3">
                  <p:embed/>
                </p:oleObj>
              </mc:Choice>
              <mc:Fallback>
                <p:oleObj r:id="rId2" imgW="495085" imgH="431613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3575" y="3606800"/>
                        <a:ext cx="1012825" cy="8890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矩形 12">
            <a:extLst>
              <a:ext uri="{FF2B5EF4-FFF2-40B4-BE49-F238E27FC236}">
                <a16:creationId xmlns:a16="http://schemas.microsoft.com/office/drawing/2014/main" id="{74641A6D-A166-00C8-AED5-D5F7AD208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65760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</a:rPr>
              <a:t>令</a:t>
            </a:r>
            <a:endParaRPr lang="zh-CN" altLang="en-US">
              <a:ea typeface="微软雅黑" panose="020B0503020204020204" pitchFamily="34" charset="-122"/>
            </a:endParaRPr>
          </a:p>
        </p:txBody>
      </p:sp>
      <p:graphicFrame>
        <p:nvGraphicFramePr>
          <p:cNvPr id="11269" name="Object 13">
            <a:extLst>
              <a:ext uri="{FF2B5EF4-FFF2-40B4-BE49-F238E27FC236}">
                <a16:creationId xmlns:a16="http://schemas.microsoft.com/office/drawing/2014/main" id="{DCE28013-60E2-793C-CBC0-B50DCE596A4C}"/>
              </a:ext>
            </a:extLst>
          </p:cNvPr>
          <p:cNvGraphicFramePr>
            <a:graphicFrameLocks/>
          </p:cNvGraphicFramePr>
          <p:nvPr/>
        </p:nvGraphicFramePr>
        <p:xfrm>
          <a:off x="3200400" y="4687888"/>
          <a:ext cx="362743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52600" imgH="241300" progId="Equation.3">
                  <p:embed/>
                </p:oleObj>
              </mc:Choice>
              <mc:Fallback>
                <p:oleObj r:id="rId4" imgW="1752600" imgH="241300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687888"/>
                        <a:ext cx="3627438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矩形 16">
            <a:extLst>
              <a:ext uri="{FF2B5EF4-FFF2-40B4-BE49-F238E27FC236}">
                <a16:creationId xmlns:a16="http://schemas.microsoft.com/office/drawing/2014/main" id="{F9C23403-6D56-0B90-C148-A1A06765B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06680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</a:rPr>
              <a:t>即</a:t>
            </a: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11274" name="矩形 17">
            <a:extLst>
              <a:ext uri="{FF2B5EF4-FFF2-40B4-BE49-F238E27FC236}">
                <a16:creationId xmlns:a16="http://schemas.microsoft.com/office/drawing/2014/main" id="{8792CC79-C754-CFEB-28FD-83BC20C38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075" y="4629150"/>
            <a:ext cx="696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</a:rPr>
              <a:t>则有</a:t>
            </a: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11276" name="矩形 14">
            <a:extLst>
              <a:ext uri="{FF2B5EF4-FFF2-40B4-BE49-F238E27FC236}">
                <a16:creationId xmlns:a16="http://schemas.microsoft.com/office/drawing/2014/main" id="{33203675-D52B-421B-C06E-36620DCE3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738" y="541020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</a:rPr>
              <a:t>即</a:t>
            </a: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727F0C-C3E2-222C-5C0A-FD02CF3AB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" y="2967038"/>
            <a:ext cx="4899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ea typeface="微软雅黑" panose="020B0503020204020204" pitchFamily="34" charset="-122"/>
              </a:rPr>
              <a:t>使</a:t>
            </a:r>
            <a:r>
              <a:rPr lang="en-US" altLang="zh-CN" sz="2400" b="1" i="1">
                <a:solidFill>
                  <a:srgbClr val="FF0000"/>
                </a:solidFill>
                <a:ea typeface="微软雅黑" panose="020B0503020204020204" pitchFamily="34" charset="-122"/>
              </a:rPr>
              <a:t>P</a:t>
            </a:r>
            <a:r>
              <a:rPr lang="en-US" altLang="zh-CN" sz="2400" b="1" baseline="-25000">
                <a:solidFill>
                  <a:srgbClr val="FF0000"/>
                </a:solidFill>
                <a:ea typeface="微软雅黑" panose="020B0503020204020204" pitchFamily="34" charset="-122"/>
              </a:rPr>
              <a:t>e</a:t>
            </a:r>
            <a:r>
              <a:rPr lang="zh-CN" altLang="en-US" sz="2400" b="1">
                <a:solidFill>
                  <a:srgbClr val="000000"/>
                </a:solidFill>
                <a:ea typeface="微软雅黑" panose="020B0503020204020204" pitchFamily="34" charset="-122"/>
              </a:rPr>
              <a:t>最小</a:t>
            </a:r>
            <a:r>
              <a:rPr lang="zh-CN" altLang="en-US" sz="2400">
                <a:solidFill>
                  <a:srgbClr val="000000"/>
                </a:solidFill>
                <a:ea typeface="微软雅黑" panose="020B0503020204020204" pitchFamily="34" charset="-122"/>
              </a:rPr>
              <a:t>的</a:t>
            </a:r>
            <a:r>
              <a:rPr lang="zh-CN" altLang="en-US" sz="2400" b="1">
                <a:ea typeface="微软雅黑" panose="020B0503020204020204" pitchFamily="34" charset="-122"/>
              </a:rPr>
              <a:t>最佳判决分界点 </a:t>
            </a:r>
            <a:r>
              <a:rPr lang="en-US" altLang="zh-CN" sz="2400" b="1" i="1">
                <a:solidFill>
                  <a:srgbClr val="FF0000"/>
                </a:solidFill>
                <a:ea typeface="微软雅黑" panose="020B0503020204020204" pitchFamily="34" charset="-122"/>
              </a:rPr>
              <a:t>r</a:t>
            </a:r>
            <a:r>
              <a:rPr lang="en-US" altLang="zh-CN" sz="2400" baseline="-25000">
                <a:solidFill>
                  <a:srgbClr val="FF0000"/>
                </a:solidFill>
                <a:ea typeface="微软雅黑" panose="020B0503020204020204" pitchFamily="34" charset="-122"/>
              </a:rPr>
              <a:t>0 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Symbol" panose="05050102010706020507" pitchFamily="18" charset="2"/>
              </a:rPr>
              <a:t>：</a:t>
            </a:r>
            <a:r>
              <a:rPr lang="zh-CN" altLang="en-US" sz="2000"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" name="矩形 10">
            <a:extLst>
              <a:ext uri="{FF2B5EF4-FFF2-40B4-BE49-F238E27FC236}">
                <a16:creationId xmlns:a16="http://schemas.microsoft.com/office/drawing/2014/main" id="{4D5D8F88-B24F-D6A7-7AA6-4074985FF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209800"/>
            <a:ext cx="4724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 i="1">
                <a:ea typeface="微软雅黑" panose="020B0503020204020204" pitchFamily="34" charset="-122"/>
              </a:rPr>
              <a:t>——</a:t>
            </a:r>
            <a:r>
              <a:rPr lang="en-US" altLang="zh-CN" sz="2400" i="1">
                <a:solidFill>
                  <a:srgbClr val="FF0000"/>
                </a:solidFill>
                <a:ea typeface="微软雅黑" panose="020B0503020204020204" pitchFamily="34" charset="-122"/>
              </a:rPr>
              <a:t> P</a:t>
            </a:r>
            <a:r>
              <a:rPr lang="en-US" altLang="zh-CN" sz="2400" baseline="-25000">
                <a:solidFill>
                  <a:srgbClr val="FF0000"/>
                </a:solidFill>
                <a:ea typeface="微软雅黑" panose="020B0503020204020204" pitchFamily="34" charset="-122"/>
              </a:rPr>
              <a:t>e </a:t>
            </a:r>
            <a:r>
              <a:rPr lang="zh-CN" altLang="en-US" sz="2000">
                <a:ea typeface="微软雅黑" panose="020B0503020204020204" pitchFamily="34" charset="-122"/>
              </a:rPr>
              <a:t>与 </a:t>
            </a:r>
            <a:r>
              <a:rPr lang="en-US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r</a:t>
            </a:r>
            <a:r>
              <a:rPr lang="en-US" altLang="zh-CN" sz="2000" b="1" baseline="-25000">
                <a:solidFill>
                  <a:srgbClr val="FF0000"/>
                </a:solidFill>
                <a:ea typeface="微软雅黑" panose="020B0503020204020204" pitchFamily="34" charset="-122"/>
              </a:rPr>
              <a:t>0</a:t>
            </a:r>
            <a:r>
              <a:rPr lang="en-US" altLang="zh-CN" sz="2000" b="1">
                <a:solidFill>
                  <a:srgbClr val="FF0000"/>
                </a:solidFill>
                <a:ea typeface="微软雅黑" panose="020B0503020204020204" pitchFamily="34" charset="-122"/>
                <a:sym typeface="Symbol" panose="05050102010706020507" pitchFamily="18" charset="2"/>
              </a:rPr>
              <a:t> </a:t>
            </a:r>
            <a:r>
              <a:rPr lang="zh-CN" altLang="en-US" sz="2000">
                <a:ea typeface="微软雅黑" panose="020B0503020204020204" pitchFamily="34" charset="-122"/>
              </a:rPr>
              <a:t>密切相关 。</a:t>
            </a:r>
          </a:p>
        </p:txBody>
      </p:sp>
      <p:pic>
        <p:nvPicPr>
          <p:cNvPr id="8207" name="Picture 15">
            <a:extLst>
              <a:ext uri="{FF2B5EF4-FFF2-40B4-BE49-F238E27FC236}">
                <a16:creationId xmlns:a16="http://schemas.microsoft.com/office/drawing/2014/main" id="{0614DDAB-D847-3700-941E-87B431F75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49" t="77950"/>
          <a:stretch>
            <a:fillRect/>
          </a:stretch>
        </p:blipFill>
        <p:spPr bwMode="auto">
          <a:xfrm>
            <a:off x="3771900" y="5294313"/>
            <a:ext cx="3897313" cy="115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5">
            <a:extLst>
              <a:ext uri="{FF2B5EF4-FFF2-40B4-BE49-F238E27FC236}">
                <a16:creationId xmlns:a16="http://schemas.microsoft.com/office/drawing/2014/main" id="{0512D35F-F0B2-2F2B-7B19-A5F9AD545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061"/>
          <a:stretch>
            <a:fillRect/>
          </a:stretch>
        </p:blipFill>
        <p:spPr bwMode="auto">
          <a:xfrm>
            <a:off x="2305050" y="1250950"/>
            <a:ext cx="53340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/>
      <p:bldP spid="11273" grpId="0"/>
      <p:bldP spid="11274" grpId="0"/>
      <p:bldP spid="11276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8F31AEFA-49E5-94AD-D2FB-BF16124BC40A}"/>
              </a:ext>
            </a:extLst>
          </p:cNvPr>
          <p:cNvSpPr/>
          <p:nvPr/>
        </p:nvSpPr>
        <p:spPr bwMode="auto">
          <a:xfrm>
            <a:off x="2591439" y="1684646"/>
            <a:ext cx="4343400" cy="1752600"/>
          </a:xfrm>
          <a:prstGeom prst="rect">
            <a:avLst/>
          </a:prstGeom>
          <a:solidFill>
            <a:srgbClr val="E8E8E8"/>
          </a:solidFill>
          <a:ln w="9525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12304" name="矩形 5">
            <a:extLst>
              <a:ext uri="{FF2B5EF4-FFF2-40B4-BE49-F238E27FC236}">
                <a16:creationId xmlns:a16="http://schemas.microsoft.com/office/drawing/2014/main" id="{5A848A45-27B0-44AA-6A06-D26AA8D7A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363" y="1903413"/>
            <a:ext cx="492125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2400" dirty="0">
                <a:latin typeface="+mn-ea"/>
                <a:ea typeface="+mn-ea"/>
              </a:rPr>
              <a:t>若</a:t>
            </a:r>
          </a:p>
        </p:txBody>
      </p:sp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163856DA-F1D4-A768-A851-1CACF401E13E}"/>
              </a:ext>
            </a:extLst>
          </p:cNvPr>
          <p:cNvGraphicFramePr>
            <a:graphicFrameLocks/>
          </p:cNvGraphicFramePr>
          <p:nvPr/>
        </p:nvGraphicFramePr>
        <p:xfrm>
          <a:off x="3200400" y="1698625"/>
          <a:ext cx="17510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01309" imgH="431613" progId="Equation.DSMT4">
                  <p:embed/>
                </p:oleObj>
              </mc:Choice>
              <mc:Fallback>
                <p:oleObj r:id="rId2" imgW="901309" imgH="431613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698625"/>
                        <a:ext cx="17510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A12CAC1-3905-9B5B-E2EA-B49BDD41590A}"/>
              </a:ext>
            </a:extLst>
          </p:cNvPr>
          <p:cNvSpPr/>
          <p:nvPr/>
        </p:nvSpPr>
        <p:spPr>
          <a:xfrm>
            <a:off x="5116513" y="1881188"/>
            <a:ext cx="2058987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2400" b="1" dirty="0">
                <a:latin typeface="+mn-ea"/>
                <a:ea typeface="+mn-ea"/>
              </a:rPr>
              <a:t>则判为“</a:t>
            </a:r>
            <a:r>
              <a:rPr lang="en-US" altLang="zh-CN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lang="en-US" altLang="zh-CN" sz="2400" b="1" dirty="0">
                <a:latin typeface="+mn-ea"/>
                <a:ea typeface="+mn-ea"/>
              </a:rPr>
              <a:t>” 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12291" name="Object 3">
            <a:extLst>
              <a:ext uri="{FF2B5EF4-FFF2-40B4-BE49-F238E27FC236}">
                <a16:creationId xmlns:a16="http://schemas.microsoft.com/office/drawing/2014/main" id="{D7C03A5D-F113-62E2-5BEF-F0C2179EDA23}"/>
              </a:ext>
            </a:extLst>
          </p:cNvPr>
          <p:cNvGraphicFramePr>
            <a:graphicFrameLocks/>
          </p:cNvGraphicFramePr>
          <p:nvPr/>
        </p:nvGraphicFramePr>
        <p:xfrm>
          <a:off x="3227388" y="2613025"/>
          <a:ext cx="17256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88614" imgH="431613" progId="Equation.DSMT4">
                  <p:embed/>
                </p:oleObj>
              </mc:Choice>
              <mc:Fallback>
                <p:oleObj r:id="rId4" imgW="888614" imgH="431613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88" y="2613025"/>
                        <a:ext cx="17256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2DFF689-2029-CFEE-0B6F-77D065F5EE84}"/>
              </a:ext>
            </a:extLst>
          </p:cNvPr>
          <p:cNvSpPr/>
          <p:nvPr/>
        </p:nvSpPr>
        <p:spPr>
          <a:xfrm>
            <a:off x="5105400" y="2760663"/>
            <a:ext cx="2043113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2400" b="1" dirty="0">
                <a:latin typeface="+mn-ea"/>
                <a:ea typeface="+mn-ea"/>
              </a:rPr>
              <a:t>则判为“</a:t>
            </a:r>
            <a:r>
              <a:rPr lang="en-US" altLang="zh-CN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latin typeface="+mn-ea"/>
                <a:ea typeface="+mn-ea"/>
              </a:rPr>
              <a:t>” 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2307" name="矩形 11">
            <a:extLst>
              <a:ext uri="{FF2B5EF4-FFF2-40B4-BE49-F238E27FC236}">
                <a16:creationId xmlns:a16="http://schemas.microsoft.com/office/drawing/2014/main" id="{2A1F46D5-3342-A8D0-2BE7-E20B2631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822575"/>
            <a:ext cx="49212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2400" dirty="0">
                <a:latin typeface="+mn-ea"/>
                <a:ea typeface="+mn-ea"/>
              </a:rPr>
              <a:t>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1E0AF2-8C2F-9115-38E7-B6CF53BF0D4F}"/>
              </a:ext>
            </a:extLst>
          </p:cNvPr>
          <p:cNvSpPr/>
          <p:nvPr/>
        </p:nvSpPr>
        <p:spPr>
          <a:xfrm>
            <a:off x="773113" y="3886200"/>
            <a:ext cx="1589087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zh-CN" sz="2400" b="1" i="1" dirty="0">
                <a:solidFill>
                  <a:srgbClr val="800080"/>
                </a:solidFill>
                <a:latin typeface="+mn-lt"/>
                <a:cs typeface="Arial" panose="020B0604020202020204" pitchFamily="34" charset="0"/>
              </a:rPr>
              <a:t>P</a:t>
            </a:r>
            <a:r>
              <a:rPr lang="en-US" altLang="zh-CN" sz="2400" b="1" dirty="0">
                <a:solidFill>
                  <a:srgbClr val="800080"/>
                </a:solidFill>
                <a:latin typeface="+mn-lt"/>
                <a:cs typeface="Arial" panose="020B0604020202020204" pitchFamily="34" charset="0"/>
              </a:rPr>
              <a:t>(1)</a:t>
            </a:r>
            <a:r>
              <a:rPr lang="en-US" altLang="zh-CN" sz="2400" b="1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2400" b="1" i="1" dirty="0">
                <a:solidFill>
                  <a:srgbClr val="800080"/>
                </a:solidFill>
                <a:latin typeface="+mn-lt"/>
                <a:cs typeface="Arial" panose="020B0604020202020204" pitchFamily="34" charset="0"/>
              </a:rPr>
              <a:t>P</a:t>
            </a:r>
            <a:r>
              <a:rPr lang="en-US" altLang="zh-CN" sz="2400" b="1" dirty="0">
                <a:solidFill>
                  <a:srgbClr val="800080"/>
                </a:solidFill>
                <a:latin typeface="+mn-lt"/>
                <a:cs typeface="Arial" panose="020B0604020202020204" pitchFamily="34" charset="0"/>
              </a:rPr>
              <a:t>(0) </a:t>
            </a:r>
            <a:endParaRPr lang="zh-CN" altLang="en-US" sz="2400" dirty="0">
              <a:solidFill>
                <a:srgbClr val="800080"/>
              </a:solidFill>
              <a:latin typeface="+mn-ea"/>
              <a:ea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1D59F5-D719-288F-E84A-EF5D17DCF44A}"/>
              </a:ext>
            </a:extLst>
          </p:cNvPr>
          <p:cNvSpPr/>
          <p:nvPr/>
        </p:nvSpPr>
        <p:spPr>
          <a:xfrm>
            <a:off x="1981200" y="1074738"/>
            <a:ext cx="60960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altLang="zh-CN" sz="2000" dirty="0">
                <a:latin typeface="+mn-ea"/>
                <a:ea typeface="+mn-ea"/>
              </a:rPr>
              <a:t>——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zh-CN" altLang="en-US" sz="2000" dirty="0">
                <a:latin typeface="+mn-ea"/>
                <a:ea typeface="+mn-ea"/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最大似然准则</a:t>
            </a:r>
            <a:r>
              <a:rPr lang="zh-CN" altLang="en-US" sz="2000" dirty="0">
                <a:latin typeface="+mn-ea"/>
                <a:ea typeface="+mn-ea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，可使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误码率最小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800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0BA6B3-81A6-0C67-E8D8-3E168A0DB357}"/>
              </a:ext>
            </a:extLst>
          </p:cNvPr>
          <p:cNvSpPr/>
          <p:nvPr/>
        </p:nvSpPr>
        <p:spPr>
          <a:xfrm>
            <a:off x="990600" y="5257800"/>
            <a:ext cx="1066800" cy="91281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lnSpc>
                <a:spcPts val="3200"/>
              </a:lnSpc>
              <a:buClr>
                <a:srgbClr val="0000CC"/>
              </a:buClr>
              <a:buSzPct val="65000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推广到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0" hangingPunct="0">
              <a:lnSpc>
                <a:spcPts val="3200"/>
              </a:lnSpc>
              <a:buClr>
                <a:srgbClr val="0000CC"/>
              </a:buClr>
              <a:buSzPct val="65000"/>
              <a:defRPr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进制</a:t>
            </a:r>
            <a:endParaRPr lang="zh-CN" altLang="en-US" sz="2000" b="1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2E22B8-2F34-459C-BA74-EF09E0CF6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1093788"/>
            <a:ext cx="479425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buClr>
                <a:srgbClr val="FF0000"/>
              </a:buClr>
              <a:buSzPct val="80000"/>
            </a:pPr>
            <a:r>
              <a:rPr lang="zh-CN" altLang="en-US" sz="2000">
                <a:solidFill>
                  <a:srgbClr val="0000CC"/>
                </a:solidFill>
                <a:ea typeface="微软雅黑" panose="020B0503020204020204" pitchFamily="34" charset="-122"/>
              </a:rPr>
              <a:t> </a:t>
            </a:r>
            <a:endParaRPr lang="en-US" altLang="zh-CN" sz="2000">
              <a:solidFill>
                <a:srgbClr val="0000CC"/>
              </a:solidFill>
              <a:ea typeface="微软雅黑" panose="020B0503020204020204" pitchFamily="34" charset="-122"/>
            </a:endParaRPr>
          </a:p>
          <a:p>
            <a:pPr eaLnBrk="0" hangingPunct="0">
              <a:buClr>
                <a:srgbClr val="FF0000"/>
              </a:buClr>
              <a:buSzPct val="80000"/>
            </a:pPr>
            <a:r>
              <a:rPr lang="zh-CN" altLang="en-US" sz="2400" b="1">
                <a:solidFill>
                  <a:srgbClr val="003399"/>
                </a:solidFill>
                <a:ea typeface="微软雅黑" panose="020B0503020204020204" pitchFamily="34" charset="-122"/>
              </a:rPr>
              <a:t>判</a:t>
            </a:r>
            <a:endParaRPr lang="en-US" altLang="zh-CN" sz="2400" b="1">
              <a:solidFill>
                <a:srgbClr val="003399"/>
              </a:solidFill>
              <a:ea typeface="微软雅黑" panose="020B0503020204020204" pitchFamily="34" charset="-122"/>
            </a:endParaRPr>
          </a:p>
          <a:p>
            <a:pPr eaLnBrk="0" hangingPunct="0">
              <a:buClr>
                <a:srgbClr val="FF0000"/>
              </a:buClr>
              <a:buSzPct val="80000"/>
            </a:pPr>
            <a:r>
              <a:rPr lang="zh-CN" altLang="en-US" sz="2400" b="1">
                <a:solidFill>
                  <a:srgbClr val="003399"/>
                </a:solidFill>
                <a:ea typeface="微软雅黑" panose="020B0503020204020204" pitchFamily="34" charset="-122"/>
              </a:rPr>
              <a:t>决</a:t>
            </a:r>
            <a:endParaRPr lang="en-US" altLang="zh-CN" sz="2400" b="1">
              <a:solidFill>
                <a:srgbClr val="003399"/>
              </a:solidFill>
              <a:ea typeface="微软雅黑" panose="020B0503020204020204" pitchFamily="34" charset="-122"/>
            </a:endParaRPr>
          </a:p>
          <a:p>
            <a:pPr eaLnBrk="0" hangingPunct="0">
              <a:buClr>
                <a:srgbClr val="FF0000"/>
              </a:buClr>
              <a:buSzPct val="80000"/>
            </a:pPr>
            <a:r>
              <a:rPr lang="zh-CN" altLang="en-US" sz="2400" b="1">
                <a:solidFill>
                  <a:srgbClr val="003399"/>
                </a:solidFill>
                <a:ea typeface="微软雅黑" panose="020B0503020204020204" pitchFamily="34" charset="-122"/>
              </a:rPr>
              <a:t>规</a:t>
            </a:r>
            <a:endParaRPr lang="en-US" altLang="zh-CN" sz="2400" b="1">
              <a:solidFill>
                <a:srgbClr val="003399"/>
              </a:solidFill>
              <a:ea typeface="微软雅黑" panose="020B0503020204020204" pitchFamily="34" charset="-122"/>
            </a:endParaRPr>
          </a:p>
          <a:p>
            <a:pPr eaLnBrk="0" hangingPunct="0">
              <a:buClr>
                <a:srgbClr val="FF0000"/>
              </a:buClr>
              <a:buSzPct val="80000"/>
            </a:pPr>
            <a:r>
              <a:rPr lang="zh-CN" altLang="en-US" sz="2400" b="1">
                <a:solidFill>
                  <a:srgbClr val="003399"/>
                </a:solidFill>
                <a:ea typeface="微软雅黑" panose="020B0503020204020204" pitchFamily="34" charset="-122"/>
              </a:rPr>
              <a:t>则</a:t>
            </a:r>
            <a:endParaRPr lang="zh-CN" altLang="en-US" sz="2000">
              <a:solidFill>
                <a:srgbClr val="003399"/>
              </a:solidFill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28BB01-81FB-AFE5-810A-17734C957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175" y="1039813"/>
            <a:ext cx="4794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buClr>
                <a:srgbClr val="FF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</a:rPr>
              <a:t> </a:t>
            </a:r>
            <a:endParaRPr lang="en-US" altLang="zh-CN" sz="2000">
              <a:solidFill>
                <a:srgbClr val="000000"/>
              </a:solidFill>
              <a:ea typeface="微软雅黑" panose="020B0503020204020204" pitchFamily="34" charset="-122"/>
            </a:endParaRPr>
          </a:p>
          <a:p>
            <a:pPr eaLnBrk="0" hangingPunct="0">
              <a:buClr>
                <a:srgbClr val="FF0000"/>
              </a:buClr>
              <a:buSzPct val="80000"/>
            </a:pPr>
            <a:endParaRPr lang="zh-CN" altLang="en-US" sz="2000">
              <a:ea typeface="微软雅黑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AE4CF64-C7C2-2B9E-63C4-2C6D7A78D08B}"/>
              </a:ext>
            </a:extLst>
          </p:cNvPr>
          <p:cNvSpPr/>
          <p:nvPr/>
        </p:nvSpPr>
        <p:spPr bwMode="auto">
          <a:xfrm>
            <a:off x="838200" y="5181600"/>
            <a:ext cx="1219200" cy="10668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DE67E8F-98E8-D4CA-1B93-3C5D4222788D}"/>
              </a:ext>
            </a:extLst>
          </p:cNvPr>
          <p:cNvSpPr/>
          <p:nvPr/>
        </p:nvSpPr>
        <p:spPr>
          <a:xfrm>
            <a:off x="6527800" y="1933575"/>
            <a:ext cx="155416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i="1" dirty="0">
                <a:solidFill>
                  <a:srgbClr val="003399"/>
                </a:solidFill>
                <a:latin typeface="+mn-ea"/>
                <a:ea typeface="+mn-ea"/>
                <a:cs typeface="Arial" panose="020B0604020202020204" pitchFamily="34" charset="0"/>
              </a:rPr>
              <a:t> —— </a:t>
            </a:r>
            <a:r>
              <a:rPr lang="en-US" altLang="zh-CN" sz="2400" b="1" i="1" dirty="0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aseline="-25000" dirty="0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400" b="1" dirty="0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lang="zh-CN" altLang="en-US" sz="2400" dirty="0">
              <a:solidFill>
                <a:srgbClr val="003399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EC08C4C-D189-A212-57CB-F7BB3659EB8C}"/>
              </a:ext>
            </a:extLst>
          </p:cNvPr>
          <p:cNvSpPr/>
          <p:nvPr/>
        </p:nvSpPr>
        <p:spPr>
          <a:xfrm>
            <a:off x="6553200" y="2819400"/>
            <a:ext cx="155416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b="1" i="1" dirty="0">
                <a:solidFill>
                  <a:srgbClr val="003399"/>
                </a:solidFill>
                <a:latin typeface="+mn-ea"/>
                <a:ea typeface="+mn-ea"/>
                <a:cs typeface="Arial" panose="020B0604020202020204" pitchFamily="34" charset="0"/>
              </a:rPr>
              <a:t> —— </a:t>
            </a:r>
            <a:r>
              <a:rPr lang="en-US" altLang="zh-CN" sz="2400" b="1" i="1" dirty="0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aseline="-25000" dirty="0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lang="zh-CN" altLang="en-US" sz="2400" dirty="0">
              <a:solidFill>
                <a:srgbClr val="003399"/>
              </a:solidFill>
            </a:endParaRPr>
          </a:p>
        </p:txBody>
      </p:sp>
      <p:pic>
        <p:nvPicPr>
          <p:cNvPr id="9248" name="Picture 32">
            <a:extLst>
              <a:ext uri="{FF2B5EF4-FFF2-40B4-BE49-F238E27FC236}">
                <a16:creationId xmlns:a16="http://schemas.microsoft.com/office/drawing/2014/main" id="{FC7FC52F-12CD-54CD-4C03-9927FE6F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138" y="3740150"/>
            <a:ext cx="4564062" cy="126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9" name="Picture 33">
            <a:extLst>
              <a:ext uri="{FF2B5EF4-FFF2-40B4-BE49-F238E27FC236}">
                <a16:creationId xmlns:a16="http://schemas.microsoft.com/office/drawing/2014/main" id="{B2E1806A-EE61-6332-9165-B77E8766A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138" y="5199063"/>
            <a:ext cx="4564062" cy="125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4" grpId="0"/>
      <p:bldP spid="8" grpId="0"/>
      <p:bldP spid="11" grpId="0"/>
      <p:bldP spid="12307" grpId="0"/>
      <p:bldP spid="14" grpId="0"/>
      <p:bldP spid="15" grpId="0"/>
      <p:bldP spid="21" grpId="0"/>
      <p:bldP spid="20" grpId="0"/>
      <p:bldP spid="23" grpId="0"/>
      <p:bldP spid="25" grpId="0" animBg="1"/>
      <p:bldP spid="24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66AA7C3B-6AB6-D7E0-50BC-8B124D39C3B1}"/>
              </a:ext>
            </a:extLst>
          </p:cNvPr>
          <p:cNvSpPr/>
          <p:nvPr/>
        </p:nvSpPr>
        <p:spPr bwMode="auto">
          <a:xfrm>
            <a:off x="2362200" y="873125"/>
            <a:ext cx="4876800" cy="914400"/>
          </a:xfrm>
          <a:prstGeom prst="rect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A2AD5B9-B931-CC53-2F2A-68A2918CF753}"/>
              </a:ext>
            </a:extLst>
          </p:cNvPr>
          <p:cNvSpPr/>
          <p:nvPr/>
        </p:nvSpPr>
        <p:spPr bwMode="auto">
          <a:xfrm>
            <a:off x="2362200" y="4857750"/>
            <a:ext cx="5029200" cy="533400"/>
          </a:xfrm>
          <a:prstGeom prst="rect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EE61AA-92DB-F787-8158-99EA9EF45287}"/>
              </a:ext>
            </a:extLst>
          </p:cNvPr>
          <p:cNvSpPr/>
          <p:nvPr/>
        </p:nvSpPr>
        <p:spPr bwMode="auto">
          <a:xfrm>
            <a:off x="2362200" y="2060575"/>
            <a:ext cx="5029200" cy="533400"/>
          </a:xfrm>
          <a:prstGeom prst="rect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0A7F05E-74FC-7158-DA3F-3AAEBC8F98EB}"/>
              </a:ext>
            </a:extLst>
          </p:cNvPr>
          <p:cNvSpPr/>
          <p:nvPr/>
        </p:nvSpPr>
        <p:spPr bwMode="auto">
          <a:xfrm>
            <a:off x="2362200" y="3333750"/>
            <a:ext cx="4876800" cy="914400"/>
          </a:xfrm>
          <a:prstGeom prst="rect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graphicFrame>
        <p:nvGraphicFramePr>
          <p:cNvPr id="15362" name="Object 2">
            <a:extLst>
              <a:ext uri="{FF2B5EF4-FFF2-40B4-BE49-F238E27FC236}">
                <a16:creationId xmlns:a16="http://schemas.microsoft.com/office/drawing/2014/main" id="{1EBA469D-B6CE-421E-BB6D-B274310094B1}"/>
              </a:ext>
            </a:extLst>
          </p:cNvPr>
          <p:cNvGraphicFramePr>
            <a:graphicFrameLocks/>
          </p:cNvGraphicFramePr>
          <p:nvPr/>
        </p:nvGraphicFramePr>
        <p:xfrm>
          <a:off x="2495550" y="2127250"/>
          <a:ext cx="27622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22400" imgH="228600" progId="Equation.DSMT4">
                  <p:embed/>
                </p:oleObj>
              </mc:Choice>
              <mc:Fallback>
                <p:oleObj r:id="rId2" imgW="1422400" imgH="22860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127250"/>
                        <a:ext cx="27622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9CFDA932-DE47-48B5-9004-A122621DCA4D}"/>
              </a:ext>
            </a:extLst>
          </p:cNvPr>
          <p:cNvSpPr/>
          <p:nvPr/>
        </p:nvSpPr>
        <p:spPr>
          <a:xfrm>
            <a:off x="5334000" y="2092325"/>
            <a:ext cx="203200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2400" b="1" dirty="0">
                <a:latin typeface="+mn-ea"/>
                <a:ea typeface="+mn-ea"/>
              </a:rPr>
              <a:t>则判为“</a:t>
            </a:r>
            <a:r>
              <a:rPr lang="en-US" altLang="zh-CN" sz="2400" b="1" dirty="0">
                <a:latin typeface="+mn-ea"/>
                <a:ea typeface="+mn-ea"/>
              </a:rPr>
              <a:t>0” 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7" name="矩形 5">
            <a:extLst>
              <a:ext uri="{FF2B5EF4-FFF2-40B4-BE49-F238E27FC236}">
                <a16:creationId xmlns:a16="http://schemas.microsoft.com/office/drawing/2014/main" id="{21A05519-9628-6EA1-D66F-4E42BE886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141413"/>
            <a:ext cx="442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</a:p>
        </p:txBody>
      </p:sp>
      <p:graphicFrame>
        <p:nvGraphicFramePr>
          <p:cNvPr id="15363" name="Object 7">
            <a:extLst>
              <a:ext uri="{FF2B5EF4-FFF2-40B4-BE49-F238E27FC236}">
                <a16:creationId xmlns:a16="http://schemas.microsoft.com/office/drawing/2014/main" id="{F7899392-0776-78BA-CD95-C5FEC234EC1D}"/>
              </a:ext>
            </a:extLst>
          </p:cNvPr>
          <p:cNvGraphicFramePr>
            <a:graphicFrameLocks/>
          </p:cNvGraphicFramePr>
          <p:nvPr/>
        </p:nvGraphicFramePr>
        <p:xfrm>
          <a:off x="2971800" y="936625"/>
          <a:ext cx="17510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01309" imgH="431613" progId="Equation.DSMT4">
                  <p:embed/>
                </p:oleObj>
              </mc:Choice>
              <mc:Fallback>
                <p:oleObj r:id="rId4" imgW="901309" imgH="431613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936625"/>
                        <a:ext cx="17510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C4B6FB37-4070-B33E-9B1B-660352188F1F}"/>
              </a:ext>
            </a:extLst>
          </p:cNvPr>
          <p:cNvSpPr/>
          <p:nvPr/>
        </p:nvSpPr>
        <p:spPr>
          <a:xfrm>
            <a:off x="5324475" y="1119188"/>
            <a:ext cx="18732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400" b="1" dirty="0">
                <a:latin typeface="+mn-ea"/>
                <a:ea typeface="+mn-ea"/>
              </a:rPr>
              <a:t>则判为“</a:t>
            </a:r>
            <a:r>
              <a:rPr lang="en-US" altLang="zh-CN" sz="2400" b="1" dirty="0">
                <a:latin typeface="+mn-ea"/>
                <a:ea typeface="+mn-ea"/>
              </a:rPr>
              <a:t>0” 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E6252B58-D7B9-8019-E059-98D4B833D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1943100"/>
            <a:ext cx="146685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buClr>
                <a:srgbClr val="0000CC"/>
              </a:buClr>
              <a:buSzPct val="65000"/>
              <a:defRPr/>
            </a:pP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可改写为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14345" name="Rectangle 9">
            <a:extLst>
              <a:ext uri="{FF2B5EF4-FFF2-40B4-BE49-F238E27FC236}">
                <a16:creationId xmlns:a16="http://schemas.microsoft.com/office/drawing/2014/main" id="{5DDDD671-CE36-3946-E639-D369E94BF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2800350"/>
            <a:ext cx="4737100" cy="461963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两边同除以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为接收 </a:t>
            </a:r>
            <a:r>
              <a:rPr lang="en-US" sz="2400" b="1" i="1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</a:t>
            </a:r>
          </a:p>
        </p:txBody>
      </p:sp>
      <p:graphicFrame>
        <p:nvGraphicFramePr>
          <p:cNvPr id="15364" name="Object 8">
            <a:extLst>
              <a:ext uri="{FF2B5EF4-FFF2-40B4-BE49-F238E27FC236}">
                <a16:creationId xmlns:a16="http://schemas.microsoft.com/office/drawing/2014/main" id="{CD0395DA-95E3-2D59-F7BD-397977449320}"/>
              </a:ext>
            </a:extLst>
          </p:cNvPr>
          <p:cNvGraphicFramePr>
            <a:graphicFrameLocks/>
          </p:cNvGraphicFramePr>
          <p:nvPr/>
        </p:nvGraphicFramePr>
        <p:xfrm>
          <a:off x="1905000" y="2876550"/>
          <a:ext cx="649288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29914" imgH="203024" progId="Equation.DSMT4">
                  <p:embed/>
                </p:oleObj>
              </mc:Choice>
              <mc:Fallback>
                <p:oleObj r:id="rId6" imgW="329914" imgH="203024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876550"/>
                        <a:ext cx="649288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10">
            <a:extLst>
              <a:ext uri="{FF2B5EF4-FFF2-40B4-BE49-F238E27FC236}">
                <a16:creationId xmlns:a16="http://schemas.microsoft.com/office/drawing/2014/main" id="{1A46817B-830C-2017-285C-EC2A5D35C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025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zh-CN" altLang="zh-CN" sz="1100">
                <a:latin typeface="Arial" panose="020B0604020202020204" pitchFamily="34" charset="0"/>
              </a:rPr>
              <a:t> </a:t>
            </a:r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14348" name="Rectangle 12">
            <a:extLst>
              <a:ext uri="{FF2B5EF4-FFF2-40B4-BE49-F238E27FC236}">
                <a16:creationId xmlns:a16="http://schemas.microsoft.com/office/drawing/2014/main" id="{B3D97010-902C-0C99-A1C8-F91DF128A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15365" name="Object 11">
            <a:extLst>
              <a:ext uri="{FF2B5EF4-FFF2-40B4-BE49-F238E27FC236}">
                <a16:creationId xmlns:a16="http://schemas.microsoft.com/office/drawing/2014/main" id="{B778BDF9-E884-E7A6-DA69-0856B871D74C}"/>
              </a:ext>
            </a:extLst>
          </p:cNvPr>
          <p:cNvGraphicFramePr>
            <a:graphicFrameLocks/>
          </p:cNvGraphicFramePr>
          <p:nvPr/>
        </p:nvGraphicFramePr>
        <p:xfrm>
          <a:off x="2438400" y="3409950"/>
          <a:ext cx="28924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85900" imgH="419100" progId="Equation.3">
                  <p:embed/>
                </p:oleObj>
              </mc:Choice>
              <mc:Fallback>
                <p:oleObj r:id="rId8" imgW="1485900" imgH="41910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409950"/>
                        <a:ext cx="289242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5CE815DB-066B-A167-AD84-D95CBEFF9C90}"/>
              </a:ext>
            </a:extLst>
          </p:cNvPr>
          <p:cNvSpPr/>
          <p:nvPr/>
        </p:nvSpPr>
        <p:spPr>
          <a:xfrm>
            <a:off x="5410200" y="3562350"/>
            <a:ext cx="203200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2400" b="1" dirty="0">
                <a:latin typeface="+mn-ea"/>
                <a:ea typeface="+mn-ea"/>
              </a:rPr>
              <a:t>则判为“</a:t>
            </a:r>
            <a:r>
              <a:rPr lang="en-US" altLang="zh-CN" sz="2400" b="1" dirty="0">
                <a:latin typeface="+mn-ea"/>
                <a:ea typeface="+mn-ea"/>
              </a:rPr>
              <a:t>0” 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BA6E0B0-141D-8808-0243-7B85A044E47D}"/>
              </a:ext>
            </a:extLst>
          </p:cNvPr>
          <p:cNvSpPr/>
          <p:nvPr/>
        </p:nvSpPr>
        <p:spPr>
          <a:xfrm>
            <a:off x="609600" y="4400550"/>
            <a:ext cx="54864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贝叶斯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定理可将上式</a:t>
            </a: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改写为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000" dirty="0"/>
          </a:p>
        </p:txBody>
      </p:sp>
      <p:sp>
        <p:nvSpPr>
          <p:cNvPr id="14351" name="Rectangle 15">
            <a:extLst>
              <a:ext uri="{FF2B5EF4-FFF2-40B4-BE49-F238E27FC236}">
                <a16:creationId xmlns:a16="http://schemas.microsoft.com/office/drawing/2014/main" id="{65018050-B3A2-87AD-374E-ABD533218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15366" name="Object 14">
            <a:extLst>
              <a:ext uri="{FF2B5EF4-FFF2-40B4-BE49-F238E27FC236}">
                <a16:creationId xmlns:a16="http://schemas.microsoft.com/office/drawing/2014/main" id="{F6D634BD-3A56-611A-68DD-64B14E60EB72}"/>
              </a:ext>
            </a:extLst>
          </p:cNvPr>
          <p:cNvGraphicFramePr>
            <a:graphicFrameLocks/>
          </p:cNvGraphicFramePr>
          <p:nvPr/>
        </p:nvGraphicFramePr>
        <p:xfrm>
          <a:off x="3028950" y="4892675"/>
          <a:ext cx="18478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887844" imgH="215619" progId="Equation.3">
                  <p:embed/>
                </p:oleObj>
              </mc:Choice>
              <mc:Fallback>
                <p:oleObj r:id="rId10" imgW="887844" imgH="215619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4892675"/>
                        <a:ext cx="18478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5BF74D5F-A36F-F0F3-68A4-866B17A95E2F}"/>
              </a:ext>
            </a:extLst>
          </p:cNvPr>
          <p:cNvSpPr/>
          <p:nvPr/>
        </p:nvSpPr>
        <p:spPr>
          <a:xfrm>
            <a:off x="5421313" y="4887913"/>
            <a:ext cx="203200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2400" b="1" dirty="0">
                <a:latin typeface="+mn-ea"/>
                <a:ea typeface="+mn-ea"/>
              </a:rPr>
              <a:t>则判为“</a:t>
            </a:r>
            <a:r>
              <a:rPr lang="en-US" altLang="zh-CN" sz="2400" b="1" dirty="0">
                <a:latin typeface="+mn-ea"/>
                <a:ea typeface="+mn-ea"/>
              </a:rPr>
              <a:t>0” 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3FF12FC-800F-B2CA-3CB4-13E02CB02921}"/>
              </a:ext>
            </a:extLst>
          </p:cNvPr>
          <p:cNvSpPr/>
          <p:nvPr/>
        </p:nvSpPr>
        <p:spPr bwMode="auto">
          <a:xfrm>
            <a:off x="2362200" y="5426075"/>
            <a:ext cx="5029200" cy="533400"/>
          </a:xfrm>
          <a:prstGeom prst="rect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graphicFrame>
        <p:nvGraphicFramePr>
          <p:cNvPr id="15367" name="Object 16">
            <a:extLst>
              <a:ext uri="{FF2B5EF4-FFF2-40B4-BE49-F238E27FC236}">
                <a16:creationId xmlns:a16="http://schemas.microsoft.com/office/drawing/2014/main" id="{4F45A4EE-F8C8-3A76-1B03-E781F5B79789}"/>
              </a:ext>
            </a:extLst>
          </p:cNvPr>
          <p:cNvGraphicFramePr>
            <a:graphicFrameLocks/>
          </p:cNvGraphicFramePr>
          <p:nvPr/>
        </p:nvGraphicFramePr>
        <p:xfrm>
          <a:off x="3028950" y="5461000"/>
          <a:ext cx="18478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887844" imgH="215619" progId="Equation.3">
                  <p:embed/>
                </p:oleObj>
              </mc:Choice>
              <mc:Fallback>
                <p:oleObj r:id="rId12" imgW="887844" imgH="215619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5461000"/>
                        <a:ext cx="18478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矩形 37">
            <a:extLst>
              <a:ext uri="{FF2B5EF4-FFF2-40B4-BE49-F238E27FC236}">
                <a16:creationId xmlns:a16="http://schemas.microsoft.com/office/drawing/2014/main" id="{AB47550C-1251-9A86-C85C-BF696283EA24}"/>
              </a:ext>
            </a:extLst>
          </p:cNvPr>
          <p:cNvSpPr/>
          <p:nvPr/>
        </p:nvSpPr>
        <p:spPr>
          <a:xfrm>
            <a:off x="5421313" y="5456238"/>
            <a:ext cx="2043112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2400" b="1" dirty="0">
                <a:latin typeface="+mn-ea"/>
                <a:ea typeface="+mn-ea"/>
              </a:rPr>
              <a:t>则判为“</a:t>
            </a:r>
            <a:r>
              <a:rPr lang="en-US" altLang="zh-CN" sz="2400" b="1" dirty="0">
                <a:latin typeface="+mn-ea"/>
                <a:ea typeface="+mn-ea"/>
              </a:rPr>
              <a:t>1” 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5386" name="矩形 38">
            <a:extLst>
              <a:ext uri="{FF2B5EF4-FFF2-40B4-BE49-F238E27FC236}">
                <a16:creationId xmlns:a16="http://schemas.microsoft.com/office/drawing/2014/main" id="{D91103C9-2E47-EB46-2791-B64874D50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486400"/>
            <a:ext cx="696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同理</a:t>
            </a: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10266" name="矩形 39">
            <a:extLst>
              <a:ext uri="{FF2B5EF4-FFF2-40B4-BE49-F238E27FC236}">
                <a16:creationId xmlns:a16="http://schemas.microsoft.com/office/drawing/2014/main" id="{A6BF3661-60F0-A386-51D2-B5583C817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6153150"/>
            <a:ext cx="3379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zh-CN" altLang="en-US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最大后验概率准则</a:t>
            </a:r>
            <a:endParaRPr lang="zh-CN" altLang="en-US" sz="200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Freeform 12">
            <a:extLst>
              <a:ext uri="{FF2B5EF4-FFF2-40B4-BE49-F238E27FC236}">
                <a16:creationId xmlns:a16="http://schemas.microsoft.com/office/drawing/2014/main" id="{CFAF0778-21C5-AE73-2A2A-02239C031315}"/>
              </a:ext>
            </a:extLst>
          </p:cNvPr>
          <p:cNvSpPr>
            <a:spLocks noEditPoints="1" noChangeArrowheads="1"/>
          </p:cNvSpPr>
          <p:nvPr/>
        </p:nvSpPr>
        <p:spPr bwMode="auto">
          <a:xfrm rot="2884793" flipV="1">
            <a:off x="7150894" y="2618582"/>
            <a:ext cx="782637" cy="565150"/>
          </a:xfrm>
          <a:custGeom>
            <a:avLst/>
            <a:gdLst>
              <a:gd name="T0" fmla="*/ 0 w 728"/>
              <a:gd name="T1" fmla="*/ 590 h 604"/>
              <a:gd name="T2" fmla="*/ 6 w 728"/>
              <a:gd name="T3" fmla="*/ 582 h 604"/>
              <a:gd name="T4" fmla="*/ 718 w 728"/>
              <a:gd name="T5" fmla="*/ 0 h 604"/>
              <a:gd name="T6" fmla="*/ 656 w 728"/>
              <a:gd name="T7" fmla="*/ 216 h 604"/>
              <a:gd name="T8" fmla="*/ 626 w 728"/>
              <a:gd name="T9" fmla="*/ 324 h 604"/>
              <a:gd name="T10" fmla="*/ 588 w 728"/>
              <a:gd name="T11" fmla="*/ 418 h 604"/>
              <a:gd name="T12" fmla="*/ 542 w 728"/>
              <a:gd name="T13" fmla="*/ 494 h 604"/>
              <a:gd name="T14" fmla="*/ 504 w 728"/>
              <a:gd name="T15" fmla="*/ 536 h 604"/>
              <a:gd name="T16" fmla="*/ 470 w 728"/>
              <a:gd name="T17" fmla="*/ 562 h 604"/>
              <a:gd name="T18" fmla="*/ 420 w 728"/>
              <a:gd name="T19" fmla="*/ 586 h 604"/>
              <a:gd name="T20" fmla="*/ 364 w 728"/>
              <a:gd name="T21" fmla="*/ 598 h 604"/>
              <a:gd name="T22" fmla="*/ 306 w 728"/>
              <a:gd name="T23" fmla="*/ 592 h 604"/>
              <a:gd name="T24" fmla="*/ 278 w 728"/>
              <a:gd name="T25" fmla="*/ 582 h 604"/>
              <a:gd name="T26" fmla="*/ 198 w 728"/>
              <a:gd name="T27" fmla="*/ 554 h 604"/>
              <a:gd name="T28" fmla="*/ 124 w 728"/>
              <a:gd name="T29" fmla="*/ 540 h 604"/>
              <a:gd name="T30" fmla="*/ 92 w 728"/>
              <a:gd name="T31" fmla="*/ 540 h 604"/>
              <a:gd name="T32" fmla="*/ 62 w 728"/>
              <a:gd name="T33" fmla="*/ 546 h 604"/>
              <a:gd name="T34" fmla="*/ 36 w 728"/>
              <a:gd name="T35" fmla="*/ 556 h 604"/>
              <a:gd name="T36" fmla="*/ 12 w 728"/>
              <a:gd name="T37" fmla="*/ 574 h 604"/>
              <a:gd name="T38" fmla="*/ 46 w 728"/>
              <a:gd name="T39" fmla="*/ 552 h 604"/>
              <a:gd name="T40" fmla="*/ 70 w 728"/>
              <a:gd name="T41" fmla="*/ 544 h 604"/>
              <a:gd name="T42" fmla="*/ 100 w 728"/>
              <a:gd name="T43" fmla="*/ 542 h 604"/>
              <a:gd name="T44" fmla="*/ 134 w 728"/>
              <a:gd name="T45" fmla="*/ 544 h 604"/>
              <a:gd name="T46" fmla="*/ 174 w 728"/>
              <a:gd name="T47" fmla="*/ 550 h 604"/>
              <a:gd name="T48" fmla="*/ 222 w 728"/>
              <a:gd name="T49" fmla="*/ 564 h 604"/>
              <a:gd name="T50" fmla="*/ 276 w 728"/>
              <a:gd name="T51" fmla="*/ 586 h 604"/>
              <a:gd name="T52" fmla="*/ 322 w 728"/>
              <a:gd name="T53" fmla="*/ 600 h 604"/>
              <a:gd name="T54" fmla="*/ 376 w 728"/>
              <a:gd name="T55" fmla="*/ 604 h 604"/>
              <a:gd name="T56" fmla="*/ 434 w 728"/>
              <a:gd name="T57" fmla="*/ 592 h 604"/>
              <a:gd name="T58" fmla="*/ 498 w 728"/>
              <a:gd name="T59" fmla="*/ 560 h 604"/>
              <a:gd name="T60" fmla="*/ 526 w 728"/>
              <a:gd name="T61" fmla="*/ 538 h 604"/>
              <a:gd name="T62" fmla="*/ 554 w 728"/>
              <a:gd name="T63" fmla="*/ 508 h 604"/>
              <a:gd name="T64" fmla="*/ 606 w 728"/>
              <a:gd name="T65" fmla="*/ 430 h 604"/>
              <a:gd name="T66" fmla="*/ 650 w 728"/>
              <a:gd name="T67" fmla="*/ 332 h 604"/>
              <a:gd name="T68" fmla="*/ 684 w 728"/>
              <a:gd name="T69" fmla="*/ 220 h 604"/>
              <a:gd name="T70" fmla="*/ 718 w 728"/>
              <a:gd name="T71" fmla="*/ 0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0CF13C44-60D3-F5E5-D757-B98DC29B4B7B}"/>
              </a:ext>
            </a:extLst>
          </p:cNvPr>
          <p:cNvSpPr>
            <a:spLocks noEditPoints="1" noChangeArrowheads="1"/>
          </p:cNvSpPr>
          <p:nvPr/>
        </p:nvSpPr>
        <p:spPr bwMode="auto">
          <a:xfrm rot="2973038" flipV="1">
            <a:off x="7100888" y="4065588"/>
            <a:ext cx="781050" cy="565150"/>
          </a:xfrm>
          <a:custGeom>
            <a:avLst/>
            <a:gdLst>
              <a:gd name="T0" fmla="*/ 0 w 728"/>
              <a:gd name="T1" fmla="*/ 590 h 604"/>
              <a:gd name="T2" fmla="*/ 6 w 728"/>
              <a:gd name="T3" fmla="*/ 582 h 604"/>
              <a:gd name="T4" fmla="*/ 718 w 728"/>
              <a:gd name="T5" fmla="*/ 0 h 604"/>
              <a:gd name="T6" fmla="*/ 656 w 728"/>
              <a:gd name="T7" fmla="*/ 216 h 604"/>
              <a:gd name="T8" fmla="*/ 626 w 728"/>
              <a:gd name="T9" fmla="*/ 324 h 604"/>
              <a:gd name="T10" fmla="*/ 588 w 728"/>
              <a:gd name="T11" fmla="*/ 418 h 604"/>
              <a:gd name="T12" fmla="*/ 542 w 728"/>
              <a:gd name="T13" fmla="*/ 494 h 604"/>
              <a:gd name="T14" fmla="*/ 504 w 728"/>
              <a:gd name="T15" fmla="*/ 536 h 604"/>
              <a:gd name="T16" fmla="*/ 470 w 728"/>
              <a:gd name="T17" fmla="*/ 562 h 604"/>
              <a:gd name="T18" fmla="*/ 420 w 728"/>
              <a:gd name="T19" fmla="*/ 586 h 604"/>
              <a:gd name="T20" fmla="*/ 364 w 728"/>
              <a:gd name="T21" fmla="*/ 598 h 604"/>
              <a:gd name="T22" fmla="*/ 306 w 728"/>
              <a:gd name="T23" fmla="*/ 592 h 604"/>
              <a:gd name="T24" fmla="*/ 278 w 728"/>
              <a:gd name="T25" fmla="*/ 582 h 604"/>
              <a:gd name="T26" fmla="*/ 198 w 728"/>
              <a:gd name="T27" fmla="*/ 554 h 604"/>
              <a:gd name="T28" fmla="*/ 124 w 728"/>
              <a:gd name="T29" fmla="*/ 540 h 604"/>
              <a:gd name="T30" fmla="*/ 92 w 728"/>
              <a:gd name="T31" fmla="*/ 540 h 604"/>
              <a:gd name="T32" fmla="*/ 62 w 728"/>
              <a:gd name="T33" fmla="*/ 546 h 604"/>
              <a:gd name="T34" fmla="*/ 36 w 728"/>
              <a:gd name="T35" fmla="*/ 556 h 604"/>
              <a:gd name="T36" fmla="*/ 12 w 728"/>
              <a:gd name="T37" fmla="*/ 574 h 604"/>
              <a:gd name="T38" fmla="*/ 46 w 728"/>
              <a:gd name="T39" fmla="*/ 552 h 604"/>
              <a:gd name="T40" fmla="*/ 70 w 728"/>
              <a:gd name="T41" fmla="*/ 544 h 604"/>
              <a:gd name="T42" fmla="*/ 100 w 728"/>
              <a:gd name="T43" fmla="*/ 542 h 604"/>
              <a:gd name="T44" fmla="*/ 134 w 728"/>
              <a:gd name="T45" fmla="*/ 544 h 604"/>
              <a:gd name="T46" fmla="*/ 174 w 728"/>
              <a:gd name="T47" fmla="*/ 550 h 604"/>
              <a:gd name="T48" fmla="*/ 222 w 728"/>
              <a:gd name="T49" fmla="*/ 564 h 604"/>
              <a:gd name="T50" fmla="*/ 276 w 728"/>
              <a:gd name="T51" fmla="*/ 586 h 604"/>
              <a:gd name="T52" fmla="*/ 322 w 728"/>
              <a:gd name="T53" fmla="*/ 600 h 604"/>
              <a:gd name="T54" fmla="*/ 376 w 728"/>
              <a:gd name="T55" fmla="*/ 604 h 604"/>
              <a:gd name="T56" fmla="*/ 434 w 728"/>
              <a:gd name="T57" fmla="*/ 592 h 604"/>
              <a:gd name="T58" fmla="*/ 498 w 728"/>
              <a:gd name="T59" fmla="*/ 560 h 604"/>
              <a:gd name="T60" fmla="*/ 526 w 728"/>
              <a:gd name="T61" fmla="*/ 538 h 604"/>
              <a:gd name="T62" fmla="*/ 554 w 728"/>
              <a:gd name="T63" fmla="*/ 508 h 604"/>
              <a:gd name="T64" fmla="*/ 606 w 728"/>
              <a:gd name="T65" fmla="*/ 430 h 604"/>
              <a:gd name="T66" fmla="*/ 650 w 728"/>
              <a:gd name="T67" fmla="*/ 332 h 604"/>
              <a:gd name="T68" fmla="*/ 684 w 728"/>
              <a:gd name="T69" fmla="*/ 220 h 604"/>
              <a:gd name="T70" fmla="*/ 718 w 728"/>
              <a:gd name="T71" fmla="*/ 0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">
            <a:extLst>
              <a:ext uri="{FF2B5EF4-FFF2-40B4-BE49-F238E27FC236}">
                <a16:creationId xmlns:a16="http://schemas.microsoft.com/office/drawing/2014/main" id="{7FAB03A1-CF32-F0A9-9841-7E236D5751EB}"/>
              </a:ext>
            </a:extLst>
          </p:cNvPr>
          <p:cNvSpPr>
            <a:spLocks noEditPoints="1" noChangeArrowheads="1"/>
          </p:cNvSpPr>
          <p:nvPr/>
        </p:nvSpPr>
        <p:spPr bwMode="auto">
          <a:xfrm rot="2695405" flipV="1">
            <a:off x="7132638" y="1241425"/>
            <a:ext cx="782637" cy="565150"/>
          </a:xfrm>
          <a:custGeom>
            <a:avLst/>
            <a:gdLst>
              <a:gd name="T0" fmla="*/ 0 w 728"/>
              <a:gd name="T1" fmla="*/ 590 h 604"/>
              <a:gd name="T2" fmla="*/ 6 w 728"/>
              <a:gd name="T3" fmla="*/ 582 h 604"/>
              <a:gd name="T4" fmla="*/ 718 w 728"/>
              <a:gd name="T5" fmla="*/ 0 h 604"/>
              <a:gd name="T6" fmla="*/ 656 w 728"/>
              <a:gd name="T7" fmla="*/ 216 h 604"/>
              <a:gd name="T8" fmla="*/ 626 w 728"/>
              <a:gd name="T9" fmla="*/ 324 h 604"/>
              <a:gd name="T10" fmla="*/ 588 w 728"/>
              <a:gd name="T11" fmla="*/ 418 h 604"/>
              <a:gd name="T12" fmla="*/ 542 w 728"/>
              <a:gd name="T13" fmla="*/ 494 h 604"/>
              <a:gd name="T14" fmla="*/ 504 w 728"/>
              <a:gd name="T15" fmla="*/ 536 h 604"/>
              <a:gd name="T16" fmla="*/ 470 w 728"/>
              <a:gd name="T17" fmla="*/ 562 h 604"/>
              <a:gd name="T18" fmla="*/ 420 w 728"/>
              <a:gd name="T19" fmla="*/ 586 h 604"/>
              <a:gd name="T20" fmla="*/ 364 w 728"/>
              <a:gd name="T21" fmla="*/ 598 h 604"/>
              <a:gd name="T22" fmla="*/ 306 w 728"/>
              <a:gd name="T23" fmla="*/ 592 h 604"/>
              <a:gd name="T24" fmla="*/ 278 w 728"/>
              <a:gd name="T25" fmla="*/ 582 h 604"/>
              <a:gd name="T26" fmla="*/ 198 w 728"/>
              <a:gd name="T27" fmla="*/ 554 h 604"/>
              <a:gd name="T28" fmla="*/ 124 w 728"/>
              <a:gd name="T29" fmla="*/ 540 h 604"/>
              <a:gd name="T30" fmla="*/ 92 w 728"/>
              <a:gd name="T31" fmla="*/ 540 h 604"/>
              <a:gd name="T32" fmla="*/ 62 w 728"/>
              <a:gd name="T33" fmla="*/ 546 h 604"/>
              <a:gd name="T34" fmla="*/ 36 w 728"/>
              <a:gd name="T35" fmla="*/ 556 h 604"/>
              <a:gd name="T36" fmla="*/ 12 w 728"/>
              <a:gd name="T37" fmla="*/ 574 h 604"/>
              <a:gd name="T38" fmla="*/ 46 w 728"/>
              <a:gd name="T39" fmla="*/ 552 h 604"/>
              <a:gd name="T40" fmla="*/ 70 w 728"/>
              <a:gd name="T41" fmla="*/ 544 h 604"/>
              <a:gd name="T42" fmla="*/ 100 w 728"/>
              <a:gd name="T43" fmla="*/ 542 h 604"/>
              <a:gd name="T44" fmla="*/ 134 w 728"/>
              <a:gd name="T45" fmla="*/ 544 h 604"/>
              <a:gd name="T46" fmla="*/ 174 w 728"/>
              <a:gd name="T47" fmla="*/ 550 h 604"/>
              <a:gd name="T48" fmla="*/ 222 w 728"/>
              <a:gd name="T49" fmla="*/ 564 h 604"/>
              <a:gd name="T50" fmla="*/ 276 w 728"/>
              <a:gd name="T51" fmla="*/ 586 h 604"/>
              <a:gd name="T52" fmla="*/ 322 w 728"/>
              <a:gd name="T53" fmla="*/ 600 h 604"/>
              <a:gd name="T54" fmla="*/ 376 w 728"/>
              <a:gd name="T55" fmla="*/ 604 h 604"/>
              <a:gd name="T56" fmla="*/ 434 w 728"/>
              <a:gd name="T57" fmla="*/ 592 h 604"/>
              <a:gd name="T58" fmla="*/ 498 w 728"/>
              <a:gd name="T59" fmla="*/ 560 h 604"/>
              <a:gd name="T60" fmla="*/ 526 w 728"/>
              <a:gd name="T61" fmla="*/ 538 h 604"/>
              <a:gd name="T62" fmla="*/ 554 w 728"/>
              <a:gd name="T63" fmla="*/ 508 h 604"/>
              <a:gd name="T64" fmla="*/ 606 w 728"/>
              <a:gd name="T65" fmla="*/ 430 h 604"/>
              <a:gd name="T66" fmla="*/ 650 w 728"/>
              <a:gd name="T67" fmla="*/ 332 h 604"/>
              <a:gd name="T68" fmla="*/ 684 w 728"/>
              <a:gd name="T69" fmla="*/ 220 h 604"/>
              <a:gd name="T70" fmla="*/ 718 w 728"/>
              <a:gd name="T71" fmla="*/ 0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E7A4A9C-BD98-3261-74D6-92630B032D32}"/>
              </a:ext>
            </a:extLst>
          </p:cNvPr>
          <p:cNvSpPr/>
          <p:nvPr/>
        </p:nvSpPr>
        <p:spPr bwMode="auto">
          <a:xfrm>
            <a:off x="2344056" y="4876800"/>
            <a:ext cx="5105400" cy="1143000"/>
          </a:xfrm>
          <a:prstGeom prst="rect">
            <a:avLst/>
          </a:prstGeom>
          <a:noFill/>
          <a:ln w="28575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10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5" dur="1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10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2" grpId="0" animBg="1"/>
      <p:bldP spid="31" grpId="0" animBg="1"/>
      <p:bldP spid="23" grpId="0" animBg="1"/>
      <p:bldP spid="3" grpId="0"/>
      <p:bldP spid="9" grpId="0"/>
      <p:bldP spid="12" grpId="0"/>
      <p:bldP spid="14345" grpId="0"/>
      <p:bldP spid="21" grpId="0"/>
      <p:bldP spid="26" grpId="0"/>
      <p:bldP spid="29" grpId="0"/>
      <p:bldP spid="36" grpId="0" animBg="1"/>
      <p:bldP spid="38" grpId="0"/>
      <p:bldP spid="15386" grpId="0"/>
      <p:bldP spid="10266" grpId="0"/>
      <p:bldP spid="28" grpId="0" animBg="1"/>
      <p:bldP spid="30" grpId="0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0" name="Picture 20">
            <a:extLst>
              <a:ext uri="{FF2B5EF4-FFF2-40B4-BE49-F238E27FC236}">
                <a16:creationId xmlns:a16="http://schemas.microsoft.com/office/drawing/2014/main" id="{44DF6029-FBC2-E670-5754-6450E9797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3562350"/>
            <a:ext cx="528955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圆角矩形 25">
            <a:extLst>
              <a:ext uri="{FF2B5EF4-FFF2-40B4-BE49-F238E27FC236}">
                <a16:creationId xmlns:a16="http://schemas.microsoft.com/office/drawing/2014/main" id="{6FFA2890-0FDE-2F7B-CBAC-679D017F30E6}"/>
              </a:ext>
            </a:extLst>
          </p:cNvPr>
          <p:cNvSpPr/>
          <p:nvPr/>
        </p:nvSpPr>
        <p:spPr bwMode="auto">
          <a:xfrm>
            <a:off x="1905000" y="3486150"/>
            <a:ext cx="5105400" cy="762000"/>
          </a:xfrm>
          <a:prstGeom prst="roundRect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243716" name="Rectangle 4">
            <a:extLst>
              <a:ext uri="{FF2B5EF4-FFF2-40B4-BE49-F238E27FC236}">
                <a16:creationId xmlns:a16="http://schemas.microsoft.com/office/drawing/2014/main" id="{E15DCF26-548B-EC74-F17B-EBBD5612F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243718" name="Rectangle 6">
            <a:extLst>
              <a:ext uri="{FF2B5EF4-FFF2-40B4-BE49-F238E27FC236}">
                <a16:creationId xmlns:a16="http://schemas.microsoft.com/office/drawing/2014/main" id="{9CC672BC-5718-B07E-3440-82FAE8019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1275" name="矩形 15">
            <a:extLst>
              <a:ext uri="{FF2B5EF4-FFF2-40B4-BE49-F238E27FC236}">
                <a16:creationId xmlns:a16="http://schemas.microsoft.com/office/drawing/2014/main" id="{B1992E01-7866-856D-8FC6-32A6CA662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4648200"/>
            <a:ext cx="5175250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按以上准则判决均可使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误概率最小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277" name="矩形 18">
            <a:extLst>
              <a:ext uri="{FF2B5EF4-FFF2-40B4-BE49-F238E27FC236}">
                <a16:creationId xmlns:a16="http://schemas.microsoft.com/office/drawing/2014/main" id="{D4C1D1F2-291D-23F4-7019-B448E73FD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502025"/>
            <a:ext cx="6461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等价</a:t>
            </a:r>
            <a:endParaRPr lang="zh-CN" altLang="en-US"/>
          </a:p>
        </p:txBody>
      </p:sp>
      <p:sp>
        <p:nvSpPr>
          <p:cNvPr id="23" name="Rectangle 18">
            <a:extLst>
              <a:ext uri="{FF2B5EF4-FFF2-40B4-BE49-F238E27FC236}">
                <a16:creationId xmlns:a16="http://schemas.microsoft.com/office/drawing/2014/main" id="{45495487-4E06-2D58-A264-3DF51A236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774950"/>
            <a:ext cx="3124200" cy="425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en-US" altLang="zh-CN" sz="2000" dirty="0">
                <a:ea typeface="华文中宋" panose="02010600040101010101" pitchFamily="2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高斯白噪声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条件下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</a:p>
        </p:txBody>
      </p:sp>
      <p:pic>
        <p:nvPicPr>
          <p:cNvPr id="10259" name="Picture 19">
            <a:extLst>
              <a:ext uri="{FF2B5EF4-FFF2-40B4-BE49-F238E27FC236}">
                <a16:creationId xmlns:a16="http://schemas.microsoft.com/office/drawing/2014/main" id="{E25F24BC-07BE-B88B-B730-8031FE63C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1206500"/>
            <a:ext cx="7675562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1275" grpId="0"/>
      <p:bldP spid="11277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5B6564AE-3D4D-9BDF-7EAE-D1C1923AC70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905000" y="3254375"/>
            <a:ext cx="6148388" cy="70802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defTabSz="802005" eaLnBrk="0" hangingPunct="0">
              <a:spcBef>
                <a:spcPct val="20000"/>
              </a:spcBef>
              <a:defRPr/>
            </a:pPr>
            <a:r>
              <a:rPr lang="zh-CN" altLang="en-US" sz="4000" b="1" kern="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确知</a:t>
            </a: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</a:t>
            </a:r>
            <a:r>
              <a:rPr lang="en-US" altLang="zh-CN" sz="2800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最佳接收</a:t>
            </a:r>
            <a:endParaRPr lang="en-GB" sz="4000" b="1" noProof="1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043" name="矩形 4">
            <a:extLst>
              <a:ext uri="{FF2B5EF4-FFF2-40B4-BE49-F238E27FC236}">
                <a16:creationId xmlns:a16="http://schemas.microsoft.com/office/drawing/2014/main" id="{F2614CF9-4910-2753-82F7-CF2944D31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189163"/>
            <a:ext cx="1546225" cy="646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3600" b="1" u="sng" dirty="0">
                <a:solidFill>
                  <a:srgbClr val="800080"/>
                </a:solidFill>
                <a:latin typeface="+mn-ea"/>
                <a:ea typeface="+mn-ea"/>
              </a:rPr>
              <a:t>§</a:t>
            </a:r>
            <a:r>
              <a:rPr lang="en-US" altLang="en-US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lang="en-US" altLang="zh-CN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.3  </a:t>
            </a:r>
            <a:endParaRPr lang="zh-CN" altLang="en-US" sz="3600" b="1" u="sng" dirty="0">
              <a:solidFill>
                <a:srgbClr val="80008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2F1192-BB31-0A89-B9CC-CA455CD62116}"/>
              </a:ext>
            </a:extLst>
          </p:cNvPr>
          <p:cNvSpPr/>
          <p:nvPr/>
        </p:nvSpPr>
        <p:spPr>
          <a:xfrm>
            <a:off x="1524000" y="4572000"/>
            <a:ext cx="6172200" cy="604838"/>
          </a:xfrm>
          <a:prstGeom prst="rect">
            <a:avLst/>
          </a:prstGeom>
          <a:solidFill>
            <a:srgbClr val="E8E8E8"/>
          </a:solidFill>
          <a:effectLst/>
        </p:spPr>
        <p:txBody>
          <a:bodyPr>
            <a:spAutoFit/>
          </a:bodyPr>
          <a:lstStyle/>
          <a:p>
            <a:pPr>
              <a:lnSpc>
                <a:spcPts val="4000"/>
              </a:lnSpc>
              <a:buClr>
                <a:schemeClr val="bg1">
                  <a:lumMod val="50000"/>
                </a:schemeClr>
              </a:buClr>
              <a:buSzPct val="65000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以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二进制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为例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讨论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确知信号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的最佳接收机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结构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12" name="Picture 24">
            <a:extLst>
              <a:ext uri="{FF2B5EF4-FFF2-40B4-BE49-F238E27FC236}">
                <a16:creationId xmlns:a16="http://schemas.microsoft.com/office/drawing/2014/main" id="{69C1B6D2-2499-B900-9A04-0EFF1EC83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5859463"/>
            <a:ext cx="671195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椭圆 20">
            <a:extLst>
              <a:ext uri="{FF2B5EF4-FFF2-40B4-BE49-F238E27FC236}">
                <a16:creationId xmlns:a16="http://schemas.microsoft.com/office/drawing/2014/main" id="{BC43BA97-F9C5-2F88-E4B3-41EE8C261FFE}"/>
              </a:ext>
            </a:extLst>
          </p:cNvPr>
          <p:cNvSpPr/>
          <p:nvPr/>
        </p:nvSpPr>
        <p:spPr bwMode="auto">
          <a:xfrm>
            <a:off x="838200" y="5562600"/>
            <a:ext cx="914400" cy="533400"/>
          </a:xfrm>
          <a:prstGeom prst="ellipse">
            <a:avLst/>
          </a:prstGeom>
          <a:solidFill>
            <a:srgbClr val="E8E8E8"/>
          </a:solidFill>
          <a:ln w="9525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15365" name="Rectangle 7">
            <a:extLst>
              <a:ext uri="{FF2B5EF4-FFF2-40B4-BE49-F238E27FC236}">
                <a16:creationId xmlns:a16="http://schemas.microsoft.com/office/drawing/2014/main" id="{A4AB2524-6BDD-6D67-22D2-98E013A25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457200"/>
            <a:ext cx="7773988" cy="501650"/>
          </a:xfrm>
          <a:ln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二进制确知信号最佳接收机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B847CB95-12C1-56F6-A3A3-9759C385417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2000" y="2667000"/>
            <a:ext cx="7696200" cy="45720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50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噪声</a:t>
            </a:r>
            <a:r>
              <a:rPr lang="en-US" altLang="zh-CN" sz="2400" i="1" dirty="0">
                <a:solidFill>
                  <a:srgbClr val="000099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n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(t)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是高斯白噪声</a:t>
            </a:r>
            <a:r>
              <a:rPr lang="zh-CN" altLang="en-US" sz="2000" dirty="0">
                <a:latin typeface="+mn-ea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均值为 </a:t>
            </a:r>
            <a:r>
              <a:rPr lang="en-US" altLang="zh-CN" sz="20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+mn-ea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单边功率谱密度为 </a:t>
            </a:r>
            <a:r>
              <a:rPr lang="en-US" altLang="zh-CN" sz="2400" i="1" dirty="0">
                <a:solidFill>
                  <a:srgbClr val="000099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n</a:t>
            </a:r>
            <a:r>
              <a:rPr lang="en-US" altLang="zh-CN" sz="2400" baseline="-25000" dirty="0">
                <a:solidFill>
                  <a:srgbClr val="000099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0 </a:t>
            </a:r>
            <a:r>
              <a:rPr lang="zh-CN" altLang="en-US" sz="2000" dirty="0">
                <a:latin typeface="Arial" panose="020B0604020202020204" pitchFamily="34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78853" name="Rectangle 4">
            <a:extLst>
              <a:ext uri="{FF2B5EF4-FFF2-40B4-BE49-F238E27FC236}">
                <a16:creationId xmlns:a16="http://schemas.microsoft.com/office/drawing/2014/main" id="{6EB8A368-8B32-C3D4-F46E-4C70CCD9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159756" name="Object 12">
            <a:extLst>
              <a:ext uri="{FF2B5EF4-FFF2-40B4-BE49-F238E27FC236}">
                <a16:creationId xmlns:a16="http://schemas.microsoft.com/office/drawing/2014/main" id="{CF354D08-14C1-A353-0AD0-6CA3CB2221E1}"/>
              </a:ext>
            </a:extLst>
          </p:cNvPr>
          <p:cNvGraphicFramePr>
            <a:graphicFrameLocks/>
          </p:cNvGraphicFramePr>
          <p:nvPr>
            <p:ph sz="quarter" idx="3"/>
          </p:nvPr>
        </p:nvGraphicFramePr>
        <p:xfrm>
          <a:off x="1849438" y="4419600"/>
          <a:ext cx="4627562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33840" imgH="1139400" progId="Visio.Drawing.11">
                  <p:embed/>
                </p:oleObj>
              </mc:Choice>
              <mc:Fallback>
                <p:oleObj r:id="rId3" imgW="3633840" imgH="1139400" progId="Visio.Drawing.11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438" y="4419600"/>
                        <a:ext cx="4627562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">
            <a:extLst>
              <a:ext uri="{FF2B5EF4-FFF2-40B4-BE49-F238E27FC236}">
                <a16:creationId xmlns:a16="http://schemas.microsoft.com/office/drawing/2014/main" id="{ED811C5E-D43D-21F1-3512-628E398C6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143000"/>
            <a:ext cx="7848600" cy="990600"/>
          </a:xfrm>
          <a:prstGeom prst="rect">
            <a:avLst/>
          </a:prstGeom>
          <a:ln>
            <a:miter lim="800000"/>
          </a:ln>
        </p:spPr>
        <p:txBody>
          <a:bodyPr/>
          <a:lstStyle/>
          <a:p>
            <a:pPr marL="342900" indent="-342900">
              <a:lnSpc>
                <a:spcPts val="3800"/>
              </a:lnSpc>
              <a:spcBef>
                <a:spcPct val="20000"/>
              </a:spcBef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设发送码元波形 </a:t>
            </a:r>
            <a:r>
              <a:rPr kumimoji="1" lang="en-US" altLang="zh-CN" sz="2400" b="1" i="1" kern="0" dirty="0">
                <a:ea typeface="华文中宋" panose="02010600040101010101" pitchFamily="2" charset="-122"/>
              </a:rPr>
              <a:t>s</a:t>
            </a:r>
            <a:r>
              <a:rPr kumimoji="1" lang="en-US" altLang="zh-CN" sz="2400" b="1" kern="0" baseline="-25000" dirty="0">
                <a:ea typeface="华文中宋" panose="02010600040101010101" pitchFamily="2" charset="-122"/>
              </a:rPr>
              <a:t>0</a:t>
            </a:r>
            <a:r>
              <a:rPr kumimoji="1" lang="en-US" altLang="zh-CN" sz="2400" b="1" kern="0" dirty="0">
                <a:ea typeface="华文中宋" panose="02010600040101010101" pitchFamily="2" charset="-122"/>
              </a:rPr>
              <a:t>(t)</a:t>
            </a:r>
            <a:r>
              <a:rPr kumimoji="1" lang="en-US" altLang="zh-CN" sz="2000" kern="0" dirty="0">
                <a:solidFill>
                  <a:srgbClr val="000099"/>
                </a:solidFill>
                <a:ea typeface="华文中宋" panose="02010600040101010101" pitchFamily="2" charset="-122"/>
              </a:rPr>
              <a:t> </a:t>
            </a:r>
            <a:r>
              <a:rPr kumimoji="1" lang="zh-CN" altLang="en-US" sz="2000" kern="0" dirty="0">
                <a:ea typeface="华文中宋" panose="02010600040101010101" pitchFamily="2" charset="-122"/>
              </a:rPr>
              <a:t>和</a:t>
            </a:r>
            <a:r>
              <a:rPr kumimoji="1" lang="zh-CN" altLang="en-US" sz="2000" i="1" kern="0" dirty="0">
                <a:ea typeface="华文中宋" panose="02010600040101010101" pitchFamily="2" charset="-122"/>
              </a:rPr>
              <a:t> </a:t>
            </a:r>
            <a:r>
              <a:rPr kumimoji="1" lang="en-US" altLang="zh-CN" sz="2400" b="1" i="1" kern="0" dirty="0">
                <a:ea typeface="华文中宋" panose="02010600040101010101" pitchFamily="2" charset="-122"/>
              </a:rPr>
              <a:t>s</a:t>
            </a:r>
            <a:r>
              <a:rPr kumimoji="1" lang="en-US" altLang="zh-CN" sz="2400" b="1" kern="0" baseline="-25000" dirty="0">
                <a:ea typeface="华文中宋" panose="02010600040101010101" pitchFamily="2" charset="-122"/>
              </a:rPr>
              <a:t>1</a:t>
            </a:r>
            <a:r>
              <a:rPr kumimoji="1" lang="en-US" altLang="zh-CN" sz="2400" b="1" kern="0" dirty="0">
                <a:ea typeface="华文中宋" panose="02010600040101010101" pitchFamily="2" charset="-122"/>
              </a:rPr>
              <a:t>(t)</a:t>
            </a:r>
            <a:r>
              <a:rPr kumimoji="1" lang="zh-CN" altLang="en-US" sz="2000" kern="0" dirty="0">
                <a:ea typeface="华文中宋" panose="02010600040101010101" pitchFamily="2" charset="-122"/>
              </a:rPr>
              <a:t>，</a:t>
            </a:r>
            <a:r>
              <a:rPr kumimoji="1"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其持续时间为 </a:t>
            </a:r>
            <a:r>
              <a:rPr kumimoji="1" lang="en-US" altLang="zh-CN" sz="2400" b="1" kern="0" dirty="0">
                <a:ea typeface="华文中宋" panose="02010600040101010101" pitchFamily="2" charset="-122"/>
              </a:rPr>
              <a:t>(0,</a:t>
            </a:r>
            <a:r>
              <a:rPr kumimoji="1" lang="en-US" altLang="zh-CN" sz="2400" b="1" i="1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rPr>
              <a:t> T</a:t>
            </a:r>
            <a:r>
              <a:rPr kumimoji="1" lang="en-US" altLang="zh-CN" sz="2400" b="1" kern="0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rPr>
              <a:t>B </a:t>
            </a:r>
            <a:r>
              <a:rPr kumimoji="1" lang="en-US" altLang="zh-CN" sz="2400" b="1" kern="0" dirty="0">
                <a:ea typeface="华文中宋" panose="02010600040101010101" pitchFamily="2" charset="-122"/>
              </a:rPr>
              <a:t>)</a:t>
            </a:r>
            <a:r>
              <a:rPr kumimoji="1" lang="en-US" altLang="zh-CN" sz="2000" kern="0" dirty="0">
                <a:ea typeface="华文中宋" panose="02010600040101010101" pitchFamily="2" charset="-122"/>
              </a:rPr>
              <a:t> </a:t>
            </a:r>
            <a:r>
              <a:rPr kumimoji="1" lang="zh-CN" altLang="en-US" sz="2000" kern="0" dirty="0">
                <a:ea typeface="华文中宋" panose="02010600040101010101" pitchFamily="2" charset="-122"/>
              </a:rPr>
              <a:t>，</a:t>
            </a:r>
            <a:r>
              <a:rPr kumimoji="1"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endParaRPr kumimoji="1"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800"/>
              </a:lnSpc>
              <a:spcBef>
                <a:spcPct val="20000"/>
              </a:spcBef>
              <a:buClr>
                <a:srgbClr val="0000CC"/>
              </a:buClr>
              <a:buSzPct val="65000"/>
              <a:defRPr/>
            </a:pPr>
            <a:r>
              <a:rPr kumimoji="1"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能量相等</a:t>
            </a:r>
            <a:r>
              <a:rPr kumimoji="1" lang="zh-CN" altLang="en-US" sz="2000" kern="0" dirty="0">
                <a:latin typeface="+mn-ea"/>
                <a:ea typeface="+mn-ea"/>
              </a:rPr>
              <a:t>：</a:t>
            </a:r>
            <a:r>
              <a:rPr kumimoji="1" lang="en-US" altLang="zh-CN" sz="2000" kern="0" dirty="0">
                <a:latin typeface="+mn-ea"/>
                <a:ea typeface="+mn-ea"/>
              </a:rPr>
              <a:t> </a:t>
            </a:r>
          </a:p>
          <a:p>
            <a:pPr marL="742950" lvl="1" indent="-285750">
              <a:lnSpc>
                <a:spcPct val="95000"/>
              </a:lnSpc>
              <a:spcBef>
                <a:spcPct val="20000"/>
              </a:spcBef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endParaRPr kumimoji="1" lang="en-US" altLang="zh-CN" sz="2000" kern="0" dirty="0">
              <a:ea typeface="华文中宋" panose="02010600040101010101" pitchFamily="2" charset="-122"/>
            </a:endParaRPr>
          </a:p>
        </p:txBody>
      </p:sp>
      <p:graphicFrame>
        <p:nvGraphicFramePr>
          <p:cNvPr id="15364" name="Object 5">
            <a:extLst>
              <a:ext uri="{FF2B5EF4-FFF2-40B4-BE49-F238E27FC236}">
                <a16:creationId xmlns:a16="http://schemas.microsoft.com/office/drawing/2014/main" id="{7B0011A0-870D-8C1B-34F7-9DB82438FBC2}"/>
              </a:ext>
            </a:extLst>
          </p:cNvPr>
          <p:cNvGraphicFramePr>
            <a:graphicFrameLocks/>
          </p:cNvGraphicFramePr>
          <p:nvPr/>
        </p:nvGraphicFramePr>
        <p:xfrm>
          <a:off x="3048000" y="1828800"/>
          <a:ext cx="1968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64781" imgH="330057" progId="Equation.DSMT4">
                  <p:embed/>
                </p:oleObj>
              </mc:Choice>
              <mc:Fallback>
                <p:oleObj r:id="rId5" imgW="964781" imgH="330057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828800"/>
                        <a:ext cx="1968500" cy="6731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">
            <a:extLst>
              <a:ext uri="{FF2B5EF4-FFF2-40B4-BE49-F238E27FC236}">
                <a16:creationId xmlns:a16="http://schemas.microsoft.com/office/drawing/2014/main" id="{A8B39F7D-E133-E52C-A050-C15AC6E34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5052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5000"/>
              </a:lnSpc>
              <a:spcBef>
                <a:spcPct val="20000"/>
              </a:spcBef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则接收信号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sp>
        <p:nvSpPr>
          <p:cNvPr id="15370" name="矩形 11">
            <a:extLst>
              <a:ext uri="{FF2B5EF4-FFF2-40B4-BE49-F238E27FC236}">
                <a16:creationId xmlns:a16="http://schemas.microsoft.com/office/drawing/2014/main" id="{60D1A935-AEA9-42FB-E6F2-3781A484E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4606925"/>
            <a:ext cx="1447800" cy="609600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cxnSp>
        <p:nvCxnSpPr>
          <p:cNvPr id="15372" name="直接连接符 17">
            <a:extLst>
              <a:ext uri="{FF2B5EF4-FFF2-40B4-BE49-F238E27FC236}">
                <a16:creationId xmlns:a16="http://schemas.microsoft.com/office/drawing/2014/main" id="{C6E81889-6E5E-D427-B94F-474228EEC72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609307" y="5599906"/>
            <a:ext cx="533400" cy="1587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CC5107B-7C1F-1B75-491F-51CD1E91F06B}"/>
              </a:ext>
            </a:extLst>
          </p:cNvPr>
          <p:cNvSpPr/>
          <p:nvPr/>
        </p:nvSpPr>
        <p:spPr>
          <a:xfrm>
            <a:off x="6248400" y="4648200"/>
            <a:ext cx="1042988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b="1" i="1" kern="0" dirty="0" err="1">
                <a:ea typeface="华文中宋" panose="02010600040101010101" pitchFamily="2" charset="-122"/>
              </a:rPr>
              <a:t>P</a:t>
            </a:r>
            <a:r>
              <a:rPr kumimoji="1" lang="en-US" altLang="zh-CN" sz="2400" b="1" kern="0" baseline="-25000" dirty="0" err="1">
                <a:ea typeface="华文中宋" panose="02010600040101010101" pitchFamily="2" charset="-122"/>
              </a:rPr>
              <a:t>e</a:t>
            </a:r>
            <a:r>
              <a:rPr kumimoji="1" lang="en-US" altLang="zh-CN" sz="2400" b="1" kern="0" baseline="-25000" dirty="0">
                <a:solidFill>
                  <a:srgbClr val="000099"/>
                </a:solidFill>
                <a:ea typeface="华文中宋" panose="02010600040101010101" pitchFamily="2" charset="-122"/>
              </a:rPr>
              <a:t> </a:t>
            </a:r>
            <a:r>
              <a:rPr kumimoji="1" lang="en-US" altLang="zh-CN" sz="2400" b="1" kern="0" baseline="-25000" dirty="0">
                <a:solidFill>
                  <a:srgbClr val="FF0000"/>
                </a:solidFill>
                <a:ea typeface="华文中宋" panose="02010600040101010101" pitchFamily="2" charset="-122"/>
              </a:rPr>
              <a:t>min</a:t>
            </a:r>
            <a:r>
              <a:rPr kumimoji="1" lang="en-US" altLang="zh-CN" sz="2400" kern="0" baseline="-25000" dirty="0">
                <a:solidFill>
                  <a:srgbClr val="000099"/>
                </a:solidFill>
                <a:ea typeface="华文中宋" panose="02010600040101010101" pitchFamily="2" charset="-122"/>
              </a:rPr>
              <a:t>  </a:t>
            </a:r>
            <a:endParaRPr lang="zh-CN" altLang="en-US" dirty="0"/>
          </a:p>
        </p:txBody>
      </p:sp>
      <p:cxnSp>
        <p:nvCxnSpPr>
          <p:cNvPr id="15374" name="直接连接符 20">
            <a:extLst>
              <a:ext uri="{FF2B5EF4-FFF2-40B4-BE49-F238E27FC236}">
                <a16:creationId xmlns:a16="http://schemas.microsoft.com/office/drawing/2014/main" id="{1084F715-79C7-F009-EB0C-4EA5211F18D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286501" y="5599112"/>
            <a:ext cx="533400" cy="317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7" name="Object 15">
            <a:extLst>
              <a:ext uri="{FF2B5EF4-FFF2-40B4-BE49-F238E27FC236}">
                <a16:creationId xmlns:a16="http://schemas.microsoft.com/office/drawing/2014/main" id="{B04E1680-6C64-5C73-652D-6D27D37C5847}"/>
              </a:ext>
            </a:extLst>
          </p:cNvPr>
          <p:cNvGraphicFramePr>
            <a:graphicFrameLocks/>
          </p:cNvGraphicFramePr>
          <p:nvPr/>
        </p:nvGraphicFramePr>
        <p:xfrm>
          <a:off x="5449888" y="1828800"/>
          <a:ext cx="194151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52087" imgH="330057" progId="Equation.DSMT4">
                  <p:embed/>
                </p:oleObj>
              </mc:Choice>
              <mc:Fallback>
                <p:oleObj r:id="rId7" imgW="952087" imgH="330057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9888" y="1828800"/>
                        <a:ext cx="1941512" cy="6731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DDB5C9A2-4127-AB8F-C52F-EB2623389B72}"/>
              </a:ext>
            </a:extLst>
          </p:cNvPr>
          <p:cNvSpPr/>
          <p:nvPr/>
        </p:nvSpPr>
        <p:spPr>
          <a:xfrm>
            <a:off x="5029200" y="1905000"/>
            <a:ext cx="450850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E18FF2F-40E9-62AD-F716-34D96D7915FB}"/>
              </a:ext>
            </a:extLst>
          </p:cNvPr>
          <p:cNvSpPr/>
          <p:nvPr/>
        </p:nvSpPr>
        <p:spPr>
          <a:xfrm>
            <a:off x="914400" y="5591175"/>
            <a:ext cx="8382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400" kern="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任务：</a:t>
            </a:r>
            <a:r>
              <a:rPr kumimoji="1" lang="zh-CN" altLang="en-US" sz="2400" kern="0" dirty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7C2BEA-6CEB-17D3-A82C-A9887D06E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6507163"/>
            <a:ext cx="3857625" cy="2841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  <a:tabLst>
                <a:tab pos="3595370" algn="l"/>
              </a:tabLst>
              <a:defRPr/>
            </a:pPr>
            <a:r>
              <a:rPr lang="zh-CN" alt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西安电子科技大学  通信工程学院</a:t>
            </a:r>
            <a:r>
              <a:rPr lang="en-US" altLang="zh-CN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                          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12311" name="Picture 23">
            <a:extLst>
              <a:ext uri="{FF2B5EF4-FFF2-40B4-BE49-F238E27FC236}">
                <a16:creationId xmlns:a16="http://schemas.microsoft.com/office/drawing/2014/main" id="{A0000099-8B10-160B-2959-EC0DFE2A4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0" y="3421063"/>
            <a:ext cx="37782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5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2" dur="20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10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5365" grpId="0" animBg="1"/>
      <p:bldP spid="159747" grpId="0" build="p"/>
      <p:bldP spid="15" grpId="0" animBg="1"/>
      <p:bldP spid="14" grpId="0" animBg="1"/>
      <p:bldP spid="15370" grpId="0" animBg="1"/>
      <p:bldP spid="19" grpId="0"/>
      <p:bldP spid="18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B06B0028-5C2B-BB49-BAEE-8B8EC13197C5}"/>
              </a:ext>
            </a:extLst>
          </p:cNvPr>
          <p:cNvSpPr/>
          <p:nvPr/>
        </p:nvSpPr>
        <p:spPr bwMode="auto">
          <a:xfrm>
            <a:off x="1268104" y="4884760"/>
            <a:ext cx="6477000" cy="1447800"/>
          </a:xfrm>
          <a:prstGeom prst="rect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75983D5-44B0-1FD3-D178-05D5428D43B0}"/>
              </a:ext>
            </a:extLst>
          </p:cNvPr>
          <p:cNvSpPr/>
          <p:nvPr/>
        </p:nvSpPr>
        <p:spPr bwMode="auto">
          <a:xfrm>
            <a:off x="1336343" y="1066800"/>
            <a:ext cx="4343400" cy="1066800"/>
          </a:xfrm>
          <a:prstGeom prst="rect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4826C3-1EDA-BDE7-F5B5-23F0B7AC8885}"/>
              </a:ext>
            </a:extLst>
          </p:cNvPr>
          <p:cNvSpPr/>
          <p:nvPr/>
        </p:nvSpPr>
        <p:spPr>
          <a:xfrm>
            <a:off x="4308475" y="1101725"/>
            <a:ext cx="2041525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判为 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en-US" altLang="zh-CN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lang="zh-CN" altLang="en-US"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657B6C-5C2D-DA64-B868-3B8C9CA22BA3}"/>
              </a:ext>
            </a:extLst>
          </p:cNvPr>
          <p:cNvSpPr/>
          <p:nvPr/>
        </p:nvSpPr>
        <p:spPr>
          <a:xfrm>
            <a:off x="4325938" y="1665288"/>
            <a:ext cx="1979612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判为 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en-US" altLang="zh-CN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lang="zh-CN" altLang="en-US"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89446" name="Object 6">
            <a:extLst>
              <a:ext uri="{FF2B5EF4-FFF2-40B4-BE49-F238E27FC236}">
                <a16:creationId xmlns:a16="http://schemas.microsoft.com/office/drawing/2014/main" id="{9744932E-CB54-2970-8F41-8314480DD774}"/>
              </a:ext>
            </a:extLst>
          </p:cNvPr>
          <p:cNvGraphicFramePr>
            <a:graphicFrameLocks/>
          </p:cNvGraphicFramePr>
          <p:nvPr/>
        </p:nvGraphicFramePr>
        <p:xfrm>
          <a:off x="2743200" y="3330575"/>
          <a:ext cx="52578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45122" imgH="482391" progId="Equation.DSMT4">
                  <p:embed/>
                </p:oleObj>
              </mc:Choice>
              <mc:Fallback>
                <p:oleObj r:id="rId2" imgW="2945122" imgH="482391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330575"/>
                        <a:ext cx="52578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ADC4B8E6-4AC0-E107-D03F-0EB8F7DB5855}"/>
              </a:ext>
            </a:extLst>
          </p:cNvPr>
          <p:cNvGraphicFramePr>
            <a:graphicFrameLocks/>
          </p:cNvGraphicFramePr>
          <p:nvPr/>
        </p:nvGraphicFramePr>
        <p:xfrm>
          <a:off x="2789238" y="2362200"/>
          <a:ext cx="521176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919733" imgH="482391" progId="Equation.DSMT4">
                  <p:embed/>
                </p:oleObj>
              </mc:Choice>
              <mc:Fallback>
                <p:oleObj r:id="rId4" imgW="2919733" imgH="482391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238" y="2362200"/>
                        <a:ext cx="5211762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A9415887-8FA2-9CD2-E2A5-43BF7CE56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1276350"/>
            <a:ext cx="696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3399"/>
                </a:solidFill>
                <a:ea typeface="微软雅黑" panose="020B0503020204020204" pitchFamily="34" charset="-122"/>
              </a:rPr>
              <a:t>根据</a:t>
            </a:r>
            <a:endParaRPr lang="zh-CN" altLang="en-US">
              <a:solidFill>
                <a:srgbClr val="003399"/>
              </a:solidFill>
              <a:ea typeface="微软雅黑" panose="020B0503020204020204" pitchFamily="34" charset="-122"/>
            </a:endParaRPr>
          </a:p>
        </p:txBody>
      </p:sp>
      <p:graphicFrame>
        <p:nvGraphicFramePr>
          <p:cNvPr id="15362" name="Object 11">
            <a:extLst>
              <a:ext uri="{FF2B5EF4-FFF2-40B4-BE49-F238E27FC236}">
                <a16:creationId xmlns:a16="http://schemas.microsoft.com/office/drawing/2014/main" id="{3F350558-C3BA-118A-EAA6-46847BADE2BD}"/>
              </a:ext>
            </a:extLst>
          </p:cNvPr>
          <p:cNvGraphicFramePr>
            <a:graphicFrameLocks/>
          </p:cNvGraphicFramePr>
          <p:nvPr/>
        </p:nvGraphicFramePr>
        <p:xfrm>
          <a:off x="1412875" y="1143000"/>
          <a:ext cx="27622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22400" imgH="228600" progId="Equation.DSMT4">
                  <p:embed/>
                </p:oleObj>
              </mc:Choice>
              <mc:Fallback>
                <p:oleObj r:id="rId6" imgW="1422400" imgH="2286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1143000"/>
                        <a:ext cx="27622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">
            <a:extLst>
              <a:ext uri="{FF2B5EF4-FFF2-40B4-BE49-F238E27FC236}">
                <a16:creationId xmlns:a16="http://schemas.microsoft.com/office/drawing/2014/main" id="{DF479C22-92E6-1082-2C31-A908BBA427B9}"/>
              </a:ext>
            </a:extLst>
          </p:cNvPr>
          <p:cNvGraphicFramePr>
            <a:graphicFrameLocks/>
          </p:cNvGraphicFramePr>
          <p:nvPr/>
        </p:nvGraphicFramePr>
        <p:xfrm>
          <a:off x="1412875" y="1676400"/>
          <a:ext cx="27622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22400" imgH="228600" progId="Equation.DSMT4">
                  <p:embed/>
                </p:oleObj>
              </mc:Choice>
              <mc:Fallback>
                <p:oleObj r:id="rId8" imgW="1422400" imgH="228600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1676400"/>
                        <a:ext cx="27622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Freeform 12">
            <a:extLst>
              <a:ext uri="{FF2B5EF4-FFF2-40B4-BE49-F238E27FC236}">
                <a16:creationId xmlns:a16="http://schemas.microsoft.com/office/drawing/2014/main" id="{2D165A1C-8321-714C-3DA9-F8203E743B6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51163" y="2133600"/>
            <a:ext cx="706437" cy="533400"/>
          </a:xfrm>
          <a:custGeom>
            <a:avLst/>
            <a:gdLst>
              <a:gd name="T0" fmla="*/ 0 w 728"/>
              <a:gd name="T1" fmla="*/ 590 h 604"/>
              <a:gd name="T2" fmla="*/ 6 w 728"/>
              <a:gd name="T3" fmla="*/ 582 h 604"/>
              <a:gd name="T4" fmla="*/ 718 w 728"/>
              <a:gd name="T5" fmla="*/ 0 h 604"/>
              <a:gd name="T6" fmla="*/ 656 w 728"/>
              <a:gd name="T7" fmla="*/ 216 h 604"/>
              <a:gd name="T8" fmla="*/ 626 w 728"/>
              <a:gd name="T9" fmla="*/ 324 h 604"/>
              <a:gd name="T10" fmla="*/ 588 w 728"/>
              <a:gd name="T11" fmla="*/ 418 h 604"/>
              <a:gd name="T12" fmla="*/ 542 w 728"/>
              <a:gd name="T13" fmla="*/ 494 h 604"/>
              <a:gd name="T14" fmla="*/ 504 w 728"/>
              <a:gd name="T15" fmla="*/ 536 h 604"/>
              <a:gd name="T16" fmla="*/ 470 w 728"/>
              <a:gd name="T17" fmla="*/ 562 h 604"/>
              <a:gd name="T18" fmla="*/ 420 w 728"/>
              <a:gd name="T19" fmla="*/ 586 h 604"/>
              <a:gd name="T20" fmla="*/ 364 w 728"/>
              <a:gd name="T21" fmla="*/ 598 h 604"/>
              <a:gd name="T22" fmla="*/ 306 w 728"/>
              <a:gd name="T23" fmla="*/ 592 h 604"/>
              <a:gd name="T24" fmla="*/ 278 w 728"/>
              <a:gd name="T25" fmla="*/ 582 h 604"/>
              <a:gd name="T26" fmla="*/ 198 w 728"/>
              <a:gd name="T27" fmla="*/ 554 h 604"/>
              <a:gd name="T28" fmla="*/ 124 w 728"/>
              <a:gd name="T29" fmla="*/ 540 h 604"/>
              <a:gd name="T30" fmla="*/ 92 w 728"/>
              <a:gd name="T31" fmla="*/ 540 h 604"/>
              <a:gd name="T32" fmla="*/ 62 w 728"/>
              <a:gd name="T33" fmla="*/ 546 h 604"/>
              <a:gd name="T34" fmla="*/ 36 w 728"/>
              <a:gd name="T35" fmla="*/ 556 h 604"/>
              <a:gd name="T36" fmla="*/ 12 w 728"/>
              <a:gd name="T37" fmla="*/ 574 h 604"/>
              <a:gd name="T38" fmla="*/ 46 w 728"/>
              <a:gd name="T39" fmla="*/ 552 h 604"/>
              <a:gd name="T40" fmla="*/ 70 w 728"/>
              <a:gd name="T41" fmla="*/ 544 h 604"/>
              <a:gd name="T42" fmla="*/ 100 w 728"/>
              <a:gd name="T43" fmla="*/ 542 h 604"/>
              <a:gd name="T44" fmla="*/ 134 w 728"/>
              <a:gd name="T45" fmla="*/ 544 h 604"/>
              <a:gd name="T46" fmla="*/ 174 w 728"/>
              <a:gd name="T47" fmla="*/ 550 h 604"/>
              <a:gd name="T48" fmla="*/ 222 w 728"/>
              <a:gd name="T49" fmla="*/ 564 h 604"/>
              <a:gd name="T50" fmla="*/ 276 w 728"/>
              <a:gd name="T51" fmla="*/ 586 h 604"/>
              <a:gd name="T52" fmla="*/ 322 w 728"/>
              <a:gd name="T53" fmla="*/ 600 h 604"/>
              <a:gd name="T54" fmla="*/ 376 w 728"/>
              <a:gd name="T55" fmla="*/ 604 h 604"/>
              <a:gd name="T56" fmla="*/ 434 w 728"/>
              <a:gd name="T57" fmla="*/ 592 h 604"/>
              <a:gd name="T58" fmla="*/ 498 w 728"/>
              <a:gd name="T59" fmla="*/ 560 h 604"/>
              <a:gd name="T60" fmla="*/ 526 w 728"/>
              <a:gd name="T61" fmla="*/ 538 h 604"/>
              <a:gd name="T62" fmla="*/ 554 w 728"/>
              <a:gd name="T63" fmla="*/ 508 h 604"/>
              <a:gd name="T64" fmla="*/ 606 w 728"/>
              <a:gd name="T65" fmla="*/ 430 h 604"/>
              <a:gd name="T66" fmla="*/ 650 w 728"/>
              <a:gd name="T67" fmla="*/ 332 h 604"/>
              <a:gd name="T68" fmla="*/ 684 w 728"/>
              <a:gd name="T69" fmla="*/ 220 h 604"/>
              <a:gd name="T70" fmla="*/ 718 w 728"/>
              <a:gd name="T71" fmla="*/ 0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0">
            <a:extLst>
              <a:ext uri="{FF2B5EF4-FFF2-40B4-BE49-F238E27FC236}">
                <a16:creationId xmlns:a16="http://schemas.microsoft.com/office/drawing/2014/main" id="{771E5891-AAE1-73E1-5DA0-CA1D76EFA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09800"/>
            <a:ext cx="838200" cy="1524000"/>
          </a:xfrm>
          <a:custGeom>
            <a:avLst/>
            <a:gdLst>
              <a:gd name="T0" fmla="*/ 464 w 1612"/>
              <a:gd name="T1" fmla="*/ 966 h 1618"/>
              <a:gd name="T2" fmla="*/ 378 w 1612"/>
              <a:gd name="T3" fmla="*/ 822 h 1618"/>
              <a:gd name="T4" fmla="*/ 310 w 1612"/>
              <a:gd name="T5" fmla="*/ 690 h 1618"/>
              <a:gd name="T6" fmla="*/ 256 w 1612"/>
              <a:gd name="T7" fmla="*/ 572 h 1618"/>
              <a:gd name="T8" fmla="*/ 214 w 1612"/>
              <a:gd name="T9" fmla="*/ 472 h 1618"/>
              <a:gd name="T10" fmla="*/ 166 w 1612"/>
              <a:gd name="T11" fmla="*/ 328 h 1618"/>
              <a:gd name="T12" fmla="*/ 152 w 1612"/>
              <a:gd name="T13" fmla="*/ 276 h 1618"/>
              <a:gd name="T14" fmla="*/ 34 w 1612"/>
              <a:gd name="T15" fmla="*/ 0 h 1618"/>
              <a:gd name="T16" fmla="*/ 82 w 1612"/>
              <a:gd name="T17" fmla="*/ 294 h 1618"/>
              <a:gd name="T18" fmla="*/ 98 w 1612"/>
              <a:gd name="T19" fmla="*/ 350 h 1618"/>
              <a:gd name="T20" fmla="*/ 152 w 1612"/>
              <a:gd name="T21" fmla="*/ 500 h 1618"/>
              <a:gd name="T22" fmla="*/ 200 w 1612"/>
              <a:gd name="T23" fmla="*/ 604 h 1618"/>
              <a:gd name="T24" fmla="*/ 260 w 1612"/>
              <a:gd name="T25" fmla="*/ 722 h 1618"/>
              <a:gd name="T26" fmla="*/ 336 w 1612"/>
              <a:gd name="T27" fmla="*/ 856 h 1618"/>
              <a:gd name="T28" fmla="*/ 430 w 1612"/>
              <a:gd name="T29" fmla="*/ 998 h 1618"/>
              <a:gd name="T30" fmla="*/ 514 w 1612"/>
              <a:gd name="T31" fmla="*/ 1104 h 1618"/>
              <a:gd name="T32" fmla="*/ 602 w 1612"/>
              <a:gd name="T33" fmla="*/ 1196 h 1618"/>
              <a:gd name="T34" fmla="*/ 696 w 1612"/>
              <a:gd name="T35" fmla="*/ 1278 h 1618"/>
              <a:gd name="T36" fmla="*/ 794 w 1612"/>
              <a:gd name="T37" fmla="*/ 1348 h 1618"/>
              <a:gd name="T38" fmla="*/ 892 w 1612"/>
              <a:gd name="T39" fmla="*/ 1408 h 1618"/>
              <a:gd name="T40" fmla="*/ 990 w 1612"/>
              <a:gd name="T41" fmla="*/ 1458 h 1618"/>
              <a:gd name="T42" fmla="*/ 1086 w 1612"/>
              <a:gd name="T43" fmla="*/ 1500 h 1618"/>
              <a:gd name="T44" fmla="*/ 1180 w 1612"/>
              <a:gd name="T45" fmla="*/ 1534 h 1618"/>
              <a:gd name="T46" fmla="*/ 1268 w 1612"/>
              <a:gd name="T47" fmla="*/ 1560 h 1618"/>
              <a:gd name="T48" fmla="*/ 1424 w 1612"/>
              <a:gd name="T49" fmla="*/ 1596 h 1618"/>
              <a:gd name="T50" fmla="*/ 1540 w 1612"/>
              <a:gd name="T51" fmla="*/ 1612 h 1618"/>
              <a:gd name="T52" fmla="*/ 1612 w 1612"/>
              <a:gd name="T53" fmla="*/ 1618 h 1618"/>
              <a:gd name="T54" fmla="*/ 1540 w 1612"/>
              <a:gd name="T55" fmla="*/ 1612 h 1618"/>
              <a:gd name="T56" fmla="*/ 1426 w 1612"/>
              <a:gd name="T57" fmla="*/ 1594 h 1618"/>
              <a:gd name="T58" fmla="*/ 1274 w 1612"/>
              <a:gd name="T59" fmla="*/ 1558 h 1618"/>
              <a:gd name="T60" fmla="*/ 1186 w 1612"/>
              <a:gd name="T61" fmla="*/ 1530 h 1618"/>
              <a:gd name="T62" fmla="*/ 1096 w 1612"/>
              <a:gd name="T63" fmla="*/ 1494 h 1618"/>
              <a:gd name="T64" fmla="*/ 1002 w 1612"/>
              <a:gd name="T65" fmla="*/ 1450 h 1618"/>
              <a:gd name="T66" fmla="*/ 906 w 1612"/>
              <a:gd name="T67" fmla="*/ 1398 h 1618"/>
              <a:gd name="T68" fmla="*/ 810 w 1612"/>
              <a:gd name="T69" fmla="*/ 1336 h 1618"/>
              <a:gd name="T70" fmla="*/ 718 w 1612"/>
              <a:gd name="T71" fmla="*/ 1262 h 1618"/>
              <a:gd name="T72" fmla="*/ 626 w 1612"/>
              <a:gd name="T73" fmla="*/ 1176 h 1618"/>
              <a:gd name="T74" fmla="*/ 542 w 1612"/>
              <a:gd name="T75" fmla="*/ 1078 h 1618"/>
              <a:gd name="T76" fmla="*/ 464 w 1612"/>
              <a:gd name="T77" fmla="*/ 966 h 1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close/>
              </a:path>
            </a:pathLst>
          </a:cu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9997A4-0503-74EC-542B-B074AFC0A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1988" y="2743200"/>
            <a:ext cx="8874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</a:t>
            </a:r>
            <a:endParaRPr lang="en-US" altLang="zh-CN" sz="2000" b="1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入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D6CCE6F-3137-65B3-29B4-AD9F2531B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8" y="2895600"/>
            <a:ext cx="5191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化</a:t>
            </a:r>
            <a:endParaRPr lang="en-US" altLang="zh-CN" sz="2000" b="1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简</a:t>
            </a:r>
            <a:endParaRPr lang="en-US" altLang="zh-CN" sz="2000" b="1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为</a:t>
            </a:r>
            <a:endParaRPr lang="en-US" altLang="zh-CN" sz="2000" b="1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6" name="Object 13">
            <a:extLst>
              <a:ext uri="{FF2B5EF4-FFF2-40B4-BE49-F238E27FC236}">
                <a16:creationId xmlns:a16="http://schemas.microsoft.com/office/drawing/2014/main" id="{7820F9AB-3CD4-DD58-FB87-136A736BD4C0}"/>
              </a:ext>
            </a:extLst>
          </p:cNvPr>
          <p:cNvGraphicFramePr>
            <a:graphicFrameLocks/>
          </p:cNvGraphicFramePr>
          <p:nvPr/>
        </p:nvGraphicFramePr>
        <p:xfrm>
          <a:off x="1347788" y="4953000"/>
          <a:ext cx="485933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500815" imgH="330057" progId="Equation.DSMT4">
                  <p:embed/>
                </p:oleObj>
              </mc:Choice>
              <mc:Fallback>
                <p:oleObj r:id="rId10" imgW="2500815" imgH="330057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788" y="4953000"/>
                        <a:ext cx="4859337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>
            <a:extLst>
              <a:ext uri="{FF2B5EF4-FFF2-40B4-BE49-F238E27FC236}">
                <a16:creationId xmlns:a16="http://schemas.microsoft.com/office/drawing/2014/main" id="{B97D0194-C640-0389-1DFE-B6F9D1812A87}"/>
              </a:ext>
            </a:extLst>
          </p:cNvPr>
          <p:cNvSpPr/>
          <p:nvPr/>
        </p:nvSpPr>
        <p:spPr>
          <a:xfrm>
            <a:off x="1851025" y="4340225"/>
            <a:ext cx="4572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lnSpc>
                <a:spcPts val="3100"/>
              </a:lnSpc>
              <a:defRPr/>
            </a:pPr>
            <a:r>
              <a:rPr kumimoji="1" lang="zh-CN" altLang="en-US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并利用</a:t>
            </a:r>
            <a:r>
              <a:rPr kumimoji="1" lang="en-US" altLang="zh-CN" sz="20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kumimoji="1" lang="en-US" altLang="zh-CN" sz="24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kumimoji="1" lang="en-US" altLang="zh-CN" sz="2400" b="1" baseline="-2500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kumimoji="1" lang="en-US" altLang="zh-CN" sz="24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kumimoji="1" lang="en-US" altLang="zh-CN" sz="24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kumimoji="1" lang="en-US" altLang="zh-CN" sz="2400" b="1" baseline="-2500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sz="24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00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进行化简</a:t>
            </a:r>
            <a:r>
              <a:rPr kumimoji="1" lang="zh-CN" altLang="en-US" sz="2000" b="1" dirty="0">
                <a:solidFill>
                  <a:srgbClr val="003399"/>
                </a:solidFill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D36CF27-7337-5DC2-57C4-313F78BD1569}"/>
              </a:ext>
            </a:extLst>
          </p:cNvPr>
          <p:cNvSpPr/>
          <p:nvPr/>
        </p:nvSpPr>
        <p:spPr>
          <a:xfrm>
            <a:off x="6324600" y="5070475"/>
            <a:ext cx="18923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判为 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en-US" altLang="zh-CN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lang="zh-CN" altLang="en-US"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E8207C7-92E2-B3AA-D12F-A36F68D4DA58}"/>
              </a:ext>
            </a:extLst>
          </p:cNvPr>
          <p:cNvSpPr/>
          <p:nvPr/>
        </p:nvSpPr>
        <p:spPr>
          <a:xfrm>
            <a:off x="6324600" y="5751513"/>
            <a:ext cx="22034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判为 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en-US" altLang="zh-CN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lang="zh-CN" altLang="en-US"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40" name="Object 14">
            <a:extLst>
              <a:ext uri="{FF2B5EF4-FFF2-40B4-BE49-F238E27FC236}">
                <a16:creationId xmlns:a16="http://schemas.microsoft.com/office/drawing/2014/main" id="{88388974-E459-4BD6-7377-A8DC624AB992}"/>
              </a:ext>
            </a:extLst>
          </p:cNvPr>
          <p:cNvGraphicFramePr>
            <a:graphicFrameLocks/>
          </p:cNvGraphicFramePr>
          <p:nvPr/>
        </p:nvGraphicFramePr>
        <p:xfrm>
          <a:off x="1384300" y="5683250"/>
          <a:ext cx="47847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462731" imgH="330057" progId="Equation.DSMT4">
                  <p:embed/>
                </p:oleObj>
              </mc:Choice>
              <mc:Fallback>
                <p:oleObj r:id="rId12" imgW="2462731" imgH="330057" progId="Equation.DSMT4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5683250"/>
                        <a:ext cx="478472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Freeform 10">
            <a:extLst>
              <a:ext uri="{FF2B5EF4-FFF2-40B4-BE49-F238E27FC236}">
                <a16:creationId xmlns:a16="http://schemas.microsoft.com/office/drawing/2014/main" id="{6FDC39F7-3DCB-28B9-A687-1937456AA2B8}"/>
              </a:ext>
            </a:extLst>
          </p:cNvPr>
          <p:cNvSpPr/>
          <p:nvPr/>
        </p:nvSpPr>
        <p:spPr bwMode="auto">
          <a:xfrm rot="19740025" flipV="1">
            <a:off x="598488" y="2298700"/>
            <a:ext cx="1622425" cy="2162175"/>
          </a:xfrm>
          <a:custGeom>
            <a:avLst/>
            <a:gdLst>
              <a:gd name="T0" fmla="*/ 464 w 1612"/>
              <a:gd name="T1" fmla="*/ 966 h 1618"/>
              <a:gd name="T2" fmla="*/ 378 w 1612"/>
              <a:gd name="T3" fmla="*/ 822 h 1618"/>
              <a:gd name="T4" fmla="*/ 310 w 1612"/>
              <a:gd name="T5" fmla="*/ 690 h 1618"/>
              <a:gd name="T6" fmla="*/ 256 w 1612"/>
              <a:gd name="T7" fmla="*/ 572 h 1618"/>
              <a:gd name="T8" fmla="*/ 214 w 1612"/>
              <a:gd name="T9" fmla="*/ 472 h 1618"/>
              <a:gd name="T10" fmla="*/ 166 w 1612"/>
              <a:gd name="T11" fmla="*/ 328 h 1618"/>
              <a:gd name="T12" fmla="*/ 152 w 1612"/>
              <a:gd name="T13" fmla="*/ 276 h 1618"/>
              <a:gd name="T14" fmla="*/ 34 w 1612"/>
              <a:gd name="T15" fmla="*/ 0 h 1618"/>
              <a:gd name="T16" fmla="*/ 82 w 1612"/>
              <a:gd name="T17" fmla="*/ 294 h 1618"/>
              <a:gd name="T18" fmla="*/ 86 w 1612"/>
              <a:gd name="T19" fmla="*/ 308 h 1618"/>
              <a:gd name="T20" fmla="*/ 120 w 1612"/>
              <a:gd name="T21" fmla="*/ 414 h 1618"/>
              <a:gd name="T22" fmla="*/ 174 w 1612"/>
              <a:gd name="T23" fmla="*/ 550 h 1618"/>
              <a:gd name="T24" fmla="*/ 228 w 1612"/>
              <a:gd name="T25" fmla="*/ 662 h 1618"/>
              <a:gd name="T26" fmla="*/ 296 w 1612"/>
              <a:gd name="T27" fmla="*/ 788 h 1618"/>
              <a:gd name="T28" fmla="*/ 382 w 1612"/>
              <a:gd name="T29" fmla="*/ 926 h 1618"/>
              <a:gd name="T30" fmla="*/ 430 w 1612"/>
              <a:gd name="T31" fmla="*/ 998 h 1618"/>
              <a:gd name="T32" fmla="*/ 514 w 1612"/>
              <a:gd name="T33" fmla="*/ 1104 h 1618"/>
              <a:gd name="T34" fmla="*/ 602 w 1612"/>
              <a:gd name="T35" fmla="*/ 1196 h 1618"/>
              <a:gd name="T36" fmla="*/ 696 w 1612"/>
              <a:gd name="T37" fmla="*/ 1278 h 1618"/>
              <a:gd name="T38" fmla="*/ 794 w 1612"/>
              <a:gd name="T39" fmla="*/ 1348 h 1618"/>
              <a:gd name="T40" fmla="*/ 892 w 1612"/>
              <a:gd name="T41" fmla="*/ 1408 h 1618"/>
              <a:gd name="T42" fmla="*/ 990 w 1612"/>
              <a:gd name="T43" fmla="*/ 1458 h 1618"/>
              <a:gd name="T44" fmla="*/ 1086 w 1612"/>
              <a:gd name="T45" fmla="*/ 1500 h 1618"/>
              <a:gd name="T46" fmla="*/ 1180 w 1612"/>
              <a:gd name="T47" fmla="*/ 1534 h 1618"/>
              <a:gd name="T48" fmla="*/ 1268 w 1612"/>
              <a:gd name="T49" fmla="*/ 1560 h 1618"/>
              <a:gd name="T50" fmla="*/ 1424 w 1612"/>
              <a:gd name="T51" fmla="*/ 1596 h 1618"/>
              <a:gd name="T52" fmla="*/ 1540 w 1612"/>
              <a:gd name="T53" fmla="*/ 1612 h 1618"/>
              <a:gd name="T54" fmla="*/ 1612 w 1612"/>
              <a:gd name="T55" fmla="*/ 1618 h 1618"/>
              <a:gd name="T56" fmla="*/ 1580 w 1612"/>
              <a:gd name="T57" fmla="*/ 1616 h 1618"/>
              <a:gd name="T58" fmla="*/ 1488 w 1612"/>
              <a:gd name="T59" fmla="*/ 1606 h 1618"/>
              <a:gd name="T60" fmla="*/ 1354 w 1612"/>
              <a:gd name="T61" fmla="*/ 1578 h 1618"/>
              <a:gd name="T62" fmla="*/ 1230 w 1612"/>
              <a:gd name="T63" fmla="*/ 1544 h 1618"/>
              <a:gd name="T64" fmla="*/ 1142 w 1612"/>
              <a:gd name="T65" fmla="*/ 1512 h 1618"/>
              <a:gd name="T66" fmla="*/ 1048 w 1612"/>
              <a:gd name="T67" fmla="*/ 1474 h 1618"/>
              <a:gd name="T68" fmla="*/ 954 w 1612"/>
              <a:gd name="T69" fmla="*/ 1426 h 1618"/>
              <a:gd name="T70" fmla="*/ 858 w 1612"/>
              <a:gd name="T71" fmla="*/ 1368 h 1618"/>
              <a:gd name="T72" fmla="*/ 764 w 1612"/>
              <a:gd name="T73" fmla="*/ 1300 h 1618"/>
              <a:gd name="T74" fmla="*/ 672 w 1612"/>
              <a:gd name="T75" fmla="*/ 1220 h 1618"/>
              <a:gd name="T76" fmla="*/ 584 w 1612"/>
              <a:gd name="T77" fmla="*/ 1128 h 1618"/>
              <a:gd name="T78" fmla="*/ 502 w 1612"/>
              <a:gd name="T79" fmla="*/ 1024 h 1618"/>
              <a:gd name="T80" fmla="*/ 464 w 1612"/>
              <a:gd name="T81" fmla="*/ 966 h 1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lnTo>
                  <a:pt x="464" y="96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8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2" grpId="0"/>
      <p:bldP spid="29" grpId="0" animBg="1"/>
      <p:bldP spid="31" grpId="0" animBg="1"/>
      <p:bldP spid="34" grpId="0"/>
      <p:bldP spid="35" grpId="0"/>
      <p:bldP spid="37" grpId="0"/>
      <p:bldP spid="38" grpId="0"/>
      <p:bldP spid="39" grpId="0"/>
      <p:bldP spid="4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60" name="Picture 24">
            <a:extLst>
              <a:ext uri="{FF2B5EF4-FFF2-40B4-BE49-F238E27FC236}">
                <a16:creationId xmlns:a16="http://schemas.microsoft.com/office/drawing/2014/main" id="{B396EBE0-758C-DA1C-46BE-30D18CBF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550" y="4976813"/>
            <a:ext cx="3422650" cy="134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410" name="Object 2">
            <a:extLst>
              <a:ext uri="{FF2B5EF4-FFF2-40B4-BE49-F238E27FC236}">
                <a16:creationId xmlns:a16="http://schemas.microsoft.com/office/drawing/2014/main" id="{F38545F1-C5AD-2055-4B66-66795D2EDCF5}"/>
              </a:ext>
            </a:extLst>
          </p:cNvPr>
          <p:cNvGraphicFramePr>
            <a:graphicFrameLocks/>
          </p:cNvGraphicFramePr>
          <p:nvPr/>
        </p:nvGraphicFramePr>
        <p:xfrm>
          <a:off x="1108075" y="1406525"/>
          <a:ext cx="171132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02865" imgH="406224" progId="Equation.3">
                  <p:embed/>
                </p:oleObj>
              </mc:Choice>
              <mc:Fallback>
                <p:oleObj r:id="rId3" imgW="1002865" imgH="406224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1406525"/>
                        <a:ext cx="1711325" cy="70008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>
            <a:extLst>
              <a:ext uri="{FF2B5EF4-FFF2-40B4-BE49-F238E27FC236}">
                <a16:creationId xmlns:a16="http://schemas.microsoft.com/office/drawing/2014/main" id="{1C5960DE-6523-590A-B69F-E291295E71B2}"/>
              </a:ext>
            </a:extLst>
          </p:cNvPr>
          <p:cNvGraphicFramePr>
            <a:graphicFrameLocks/>
          </p:cNvGraphicFramePr>
          <p:nvPr/>
        </p:nvGraphicFramePr>
        <p:xfrm>
          <a:off x="1108075" y="2168525"/>
          <a:ext cx="1709738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64781" imgH="406224" progId="Equation.3">
                  <p:embed/>
                </p:oleObj>
              </mc:Choice>
              <mc:Fallback>
                <p:oleObj r:id="rId5" imgW="964781" imgH="406224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2168525"/>
                        <a:ext cx="1709738" cy="72866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2" name="Picture 6">
            <a:extLst>
              <a:ext uri="{FF2B5EF4-FFF2-40B4-BE49-F238E27FC236}">
                <a16:creationId xmlns:a16="http://schemas.microsoft.com/office/drawing/2014/main" id="{81E3E2E7-E8FB-FDE7-E478-DA0A600FA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588" y="1320800"/>
            <a:ext cx="540226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CCCCC10-CD03-085C-BADD-34ACFC19A333}"/>
              </a:ext>
            </a:extLst>
          </p:cNvPr>
          <p:cNvSpPr/>
          <p:nvPr/>
        </p:nvSpPr>
        <p:spPr>
          <a:xfrm>
            <a:off x="717550" y="511175"/>
            <a:ext cx="4800600" cy="484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lnSpc>
                <a:spcPct val="115000"/>
              </a:lnSpc>
              <a:defRPr/>
            </a:pPr>
            <a:r>
              <a:rPr kumimoji="1" lang="zh-CN" altLang="en-US" sz="2400" b="1" dirty="0">
                <a:solidFill>
                  <a:srgbClr val="0033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二进制确知信号最佳接收机结构：</a:t>
            </a:r>
          </a:p>
        </p:txBody>
      </p:sp>
      <p:sp>
        <p:nvSpPr>
          <p:cNvPr id="17414" name="矩形 14">
            <a:extLst>
              <a:ext uri="{FF2B5EF4-FFF2-40B4-BE49-F238E27FC236}">
                <a16:creationId xmlns:a16="http://schemas.microsoft.com/office/drawing/2014/main" id="{D16B80A3-6100-9580-BF59-DD6D55024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775" y="3403600"/>
            <a:ext cx="113982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等概时</a:t>
            </a:r>
            <a:r>
              <a:rPr lang="zh-CN" altLang="en-US" sz="2000" b="1" dirty="0">
                <a:solidFill>
                  <a:srgbClr val="003399"/>
                </a:solidFill>
                <a:latin typeface="+mn-ea"/>
                <a:ea typeface="+mn-ea"/>
              </a:rPr>
              <a:t>，</a:t>
            </a:r>
            <a:endParaRPr lang="zh-CN" altLang="en-US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415" name="Picture 7">
            <a:extLst>
              <a:ext uri="{FF2B5EF4-FFF2-40B4-BE49-F238E27FC236}">
                <a16:creationId xmlns:a16="http://schemas.microsoft.com/office/drawing/2014/main" id="{53584BF2-6A7A-F8E8-744B-C12FBD817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4051300"/>
            <a:ext cx="45481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3E3EE634-B156-D406-9AC2-3E29A3610B41}"/>
              </a:ext>
            </a:extLst>
          </p:cNvPr>
          <p:cNvSpPr/>
          <p:nvPr/>
        </p:nvSpPr>
        <p:spPr bwMode="auto">
          <a:xfrm>
            <a:off x="6137275" y="1236663"/>
            <a:ext cx="685800" cy="23622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grpSp>
        <p:nvGrpSpPr>
          <p:cNvPr id="2" name="组合 57">
            <a:extLst>
              <a:ext uri="{FF2B5EF4-FFF2-40B4-BE49-F238E27FC236}">
                <a16:creationId xmlns:a16="http://schemas.microsoft.com/office/drawing/2014/main" id="{4648AC4D-F497-38A1-9346-A016E1CC3202}"/>
              </a:ext>
            </a:extLst>
          </p:cNvPr>
          <p:cNvGrpSpPr>
            <a:grpSpLocks/>
          </p:cNvGrpSpPr>
          <p:nvPr/>
        </p:nvGrpSpPr>
        <p:grpSpPr bwMode="auto">
          <a:xfrm>
            <a:off x="5499100" y="4483100"/>
            <a:ext cx="1414463" cy="627063"/>
            <a:chOff x="2500299" y="3352779"/>
            <a:chExt cx="1143180" cy="519584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AF29918-01FD-761C-D829-250C5099AEE7}"/>
                </a:ext>
              </a:extLst>
            </p:cNvPr>
            <p:cNvSpPr/>
            <p:nvPr/>
          </p:nvSpPr>
          <p:spPr bwMode="auto">
            <a:xfrm>
              <a:off x="2500299" y="3352779"/>
              <a:ext cx="837819" cy="505114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rgbClr val="800080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A69A296-9FD5-38CC-7687-003098C39A8B}"/>
                </a:ext>
              </a:extLst>
            </p:cNvPr>
            <p:cNvSpPr/>
            <p:nvPr/>
          </p:nvSpPr>
          <p:spPr>
            <a:xfrm>
              <a:off x="2534941" y="3410657"/>
              <a:ext cx="1108538" cy="4617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kern="0" dirty="0">
                  <a:solidFill>
                    <a:srgbClr val="00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原理</a:t>
              </a:r>
              <a:r>
                <a:rPr lang="zh-CN" altLang="en-US" sz="2400" kern="0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：</a:t>
              </a:r>
              <a:endParaRPr lang="zh-CN" altLang="en-US" sz="2400" dirty="0"/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D549ABCA-0A71-B27D-5E15-EF7A6845F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413" y="3409950"/>
            <a:ext cx="1027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简化为</a:t>
            </a:r>
            <a:r>
              <a:rPr lang="en-US" altLang="zh-CN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b="1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DB18F756-68B1-7A16-90C2-36F32365A808}"/>
              </a:ext>
            </a:extLst>
          </p:cNvPr>
          <p:cNvSpPr>
            <a:spLocks noEditPoints="1"/>
          </p:cNvSpPr>
          <p:nvPr/>
        </p:nvSpPr>
        <p:spPr bwMode="auto">
          <a:xfrm flipH="1" flipV="1">
            <a:off x="3352800" y="3105150"/>
            <a:ext cx="533400" cy="457200"/>
          </a:xfrm>
          <a:custGeom>
            <a:avLst/>
            <a:gdLst>
              <a:gd name="T0" fmla="*/ 0 w 728"/>
              <a:gd name="T1" fmla="*/ 521036 h 604"/>
              <a:gd name="T2" fmla="*/ 11645 w 728"/>
              <a:gd name="T3" fmla="*/ 506907 h 604"/>
              <a:gd name="T4" fmla="*/ 0 w 728"/>
              <a:gd name="T5" fmla="*/ 521036 h 604"/>
              <a:gd name="T6" fmla="*/ 696734 w 728"/>
              <a:gd name="T7" fmla="*/ 0 h 604"/>
              <a:gd name="T8" fmla="*/ 636571 w 728"/>
              <a:gd name="T9" fmla="*/ 190752 h 604"/>
              <a:gd name="T10" fmla="*/ 622985 w 728"/>
              <a:gd name="T11" fmla="*/ 240207 h 604"/>
              <a:gd name="T12" fmla="*/ 589992 w 728"/>
              <a:gd name="T13" fmla="*/ 330284 h 604"/>
              <a:gd name="T14" fmla="*/ 549236 w 728"/>
              <a:gd name="T15" fmla="*/ 406232 h 604"/>
              <a:gd name="T16" fmla="*/ 502658 w 728"/>
              <a:gd name="T17" fmla="*/ 462751 h 604"/>
              <a:gd name="T18" fmla="*/ 477428 w 728"/>
              <a:gd name="T19" fmla="*/ 483946 h 604"/>
              <a:gd name="T20" fmla="*/ 456079 w 728"/>
              <a:gd name="T21" fmla="*/ 496309 h 604"/>
              <a:gd name="T22" fmla="*/ 407560 w 728"/>
              <a:gd name="T23" fmla="*/ 517504 h 604"/>
              <a:gd name="T24" fmla="*/ 353219 w 728"/>
              <a:gd name="T25" fmla="*/ 528101 h 604"/>
              <a:gd name="T26" fmla="*/ 296937 w 728"/>
              <a:gd name="T27" fmla="*/ 522803 h 604"/>
              <a:gd name="T28" fmla="*/ 269766 w 728"/>
              <a:gd name="T29" fmla="*/ 513972 h 604"/>
              <a:gd name="T30" fmla="*/ 230951 w 728"/>
              <a:gd name="T31" fmla="*/ 499842 h 604"/>
              <a:gd name="T32" fmla="*/ 155261 w 728"/>
              <a:gd name="T33" fmla="*/ 480413 h 604"/>
              <a:gd name="T34" fmla="*/ 104801 w 728"/>
              <a:gd name="T35" fmla="*/ 476881 h 604"/>
              <a:gd name="T36" fmla="*/ 73749 w 728"/>
              <a:gd name="T37" fmla="*/ 478647 h 604"/>
              <a:gd name="T38" fmla="*/ 46578 w 728"/>
              <a:gd name="T39" fmla="*/ 485712 h 604"/>
              <a:gd name="T40" fmla="*/ 23289 w 728"/>
              <a:gd name="T41" fmla="*/ 498076 h 604"/>
              <a:gd name="T42" fmla="*/ 11645 w 728"/>
              <a:gd name="T43" fmla="*/ 506907 h 604"/>
              <a:gd name="T44" fmla="*/ 44638 w 728"/>
              <a:gd name="T45" fmla="*/ 487478 h 604"/>
              <a:gd name="T46" fmla="*/ 67927 w 728"/>
              <a:gd name="T47" fmla="*/ 480413 h 604"/>
              <a:gd name="T48" fmla="*/ 97038 w 728"/>
              <a:gd name="T49" fmla="*/ 478647 h 604"/>
              <a:gd name="T50" fmla="*/ 130031 w 728"/>
              <a:gd name="T51" fmla="*/ 480413 h 604"/>
              <a:gd name="T52" fmla="*/ 168846 w 728"/>
              <a:gd name="T53" fmla="*/ 485712 h 604"/>
              <a:gd name="T54" fmla="*/ 215425 w 728"/>
              <a:gd name="T55" fmla="*/ 498076 h 604"/>
              <a:gd name="T56" fmla="*/ 267825 w 728"/>
              <a:gd name="T57" fmla="*/ 517504 h 604"/>
              <a:gd name="T58" fmla="*/ 289174 w 728"/>
              <a:gd name="T59" fmla="*/ 524569 h 604"/>
              <a:gd name="T60" fmla="*/ 337693 w 728"/>
              <a:gd name="T61" fmla="*/ 533400 h 604"/>
              <a:gd name="T62" fmla="*/ 392034 w 728"/>
              <a:gd name="T63" fmla="*/ 529868 h 604"/>
              <a:gd name="T64" fmla="*/ 452198 w 728"/>
              <a:gd name="T65" fmla="*/ 510439 h 604"/>
              <a:gd name="T66" fmla="*/ 483250 w 728"/>
              <a:gd name="T67" fmla="*/ 494543 h 604"/>
              <a:gd name="T68" fmla="*/ 510421 w 728"/>
              <a:gd name="T69" fmla="*/ 475115 h 604"/>
              <a:gd name="T70" fmla="*/ 537592 w 728"/>
              <a:gd name="T71" fmla="*/ 448621 h 604"/>
              <a:gd name="T72" fmla="*/ 588051 w 728"/>
              <a:gd name="T73" fmla="*/ 379738 h 604"/>
              <a:gd name="T74" fmla="*/ 630748 w 728"/>
              <a:gd name="T75" fmla="*/ 293193 h 604"/>
              <a:gd name="T76" fmla="*/ 663741 w 728"/>
              <a:gd name="T77" fmla="*/ 194285 h 604"/>
              <a:gd name="T78" fmla="*/ 696734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990099"/>
          </a:solidFill>
          <a:ln w="9525">
            <a:solidFill>
              <a:srgbClr val="990099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8AA582F7-F97E-8AAF-088A-9B90E4A1F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168" y="3962399"/>
            <a:ext cx="1866900" cy="11557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  <a:miter lim="800000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DEFD24F3-A7FD-64CC-9AF7-FE071D8C0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938" y="4706938"/>
            <a:ext cx="95885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相关器</a:t>
            </a:r>
            <a:r>
              <a:rPr lang="zh-CN" altLang="en-US" sz="20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414" grpId="0"/>
      <p:bldP spid="18" grpId="0" animBg="1"/>
      <p:bldP spid="18" grpId="1" animBg="1"/>
      <p:bldP spid="20" grpId="0"/>
      <p:bldP spid="21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2E5AF22-2FA8-3A2D-6091-41919BF94804}"/>
              </a:ext>
            </a:extLst>
          </p:cNvPr>
          <p:cNvSpPr/>
          <p:nvPr/>
        </p:nvSpPr>
        <p:spPr>
          <a:xfrm>
            <a:off x="609600" y="1143000"/>
            <a:ext cx="7888288" cy="4794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lnSpc>
                <a:spcPct val="115000"/>
              </a:lnSpc>
              <a:defRPr/>
            </a:pPr>
            <a:r>
              <a:rPr kumimoji="1" lang="zh-CN" altLang="en-US" sz="2400" b="1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</a:t>
            </a:r>
            <a:r>
              <a:rPr kumimoji="1" lang="zh-CN" altLang="en-US" sz="2400" dirty="0">
                <a:solidFill>
                  <a:srgbClr val="80008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：</a:t>
            </a:r>
            <a:r>
              <a:rPr kumimoji="1" lang="en-US" altLang="zh-CN" sz="2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kumimoji="1" lang="zh-CN" altLang="en-US" sz="24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进制、等概、确知信号的最佳接收机原理框图</a:t>
            </a:r>
            <a:r>
              <a:rPr kumimoji="1" lang="zh-CN" altLang="en-US" sz="2400" b="1" dirty="0">
                <a:solidFill>
                  <a:srgbClr val="003399"/>
                </a:solidFill>
                <a:latin typeface="+mn-ea"/>
                <a:ea typeface="+mn-ea"/>
              </a:rPr>
              <a:t>：</a:t>
            </a:r>
          </a:p>
        </p:txBody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6B5D910E-DDE4-FE7C-1199-153F2CE0B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pic>
        <p:nvPicPr>
          <p:cNvPr id="190468" name="Picture 4">
            <a:extLst>
              <a:ext uri="{FF2B5EF4-FFF2-40B4-BE49-F238E27FC236}">
                <a16:creationId xmlns:a16="http://schemas.microsoft.com/office/drawing/2014/main" id="{A6099AE9-9774-8E3D-F337-8382CD771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149475"/>
            <a:ext cx="5181600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263B2FD1-C191-E0C7-4055-1FD90D5CF85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133600" y="3140075"/>
            <a:ext cx="6148388" cy="144621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defTabSz="802005" eaLnBrk="0" hangingPunct="0">
              <a:spcBef>
                <a:spcPct val="20000"/>
              </a:spcBef>
              <a:defRPr/>
            </a:pPr>
            <a:r>
              <a:rPr lang="zh-CN" altLang="en-US" sz="4000" b="1" kern="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确知</a:t>
            </a: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数字信号最佳接收</a:t>
            </a:r>
            <a:endParaRPr lang="en-US" altLang="zh-CN" sz="4000" b="1" kern="0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02005" eaLnBrk="0" hangingPunct="0">
              <a:spcBef>
                <a:spcPct val="20000"/>
              </a:spcBef>
              <a:defRPr/>
            </a:pPr>
            <a:r>
              <a:rPr lang="en-US" altLang="zh-CN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sz="4000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 </a:t>
            </a:r>
            <a:r>
              <a:rPr lang="zh-CN" altLang="en-US" sz="4000" kern="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误码率</a:t>
            </a:r>
            <a:endParaRPr lang="en-GB" sz="4000" noProof="1">
              <a:solidFill>
                <a:srgbClr val="800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043" name="矩形 4">
            <a:extLst>
              <a:ext uri="{FF2B5EF4-FFF2-40B4-BE49-F238E27FC236}">
                <a16:creationId xmlns:a16="http://schemas.microsoft.com/office/drawing/2014/main" id="{45B1CCC9-108A-797B-3A2D-EE8E548E9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546225" cy="646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3600" b="1" u="sng" dirty="0">
                <a:solidFill>
                  <a:srgbClr val="800080"/>
                </a:solidFill>
                <a:latin typeface="+mn-ea"/>
                <a:ea typeface="+mn-ea"/>
              </a:rPr>
              <a:t>§</a:t>
            </a:r>
            <a:r>
              <a:rPr lang="en-US" altLang="en-US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lang="en-US" altLang="zh-CN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.4  </a:t>
            </a:r>
            <a:endParaRPr lang="zh-CN" altLang="en-US" sz="3600" b="1" u="sng" dirty="0">
              <a:solidFill>
                <a:srgbClr val="80008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630A6A4-BF3D-3F66-C233-E9F2A75DBD84}"/>
              </a:ext>
            </a:extLst>
          </p:cNvPr>
          <p:cNvSpPr/>
          <p:nvPr/>
        </p:nvSpPr>
        <p:spPr bwMode="auto">
          <a:xfrm>
            <a:off x="6665913" y="2573338"/>
            <a:ext cx="1752600" cy="838200"/>
          </a:xfrm>
          <a:prstGeom prst="rect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19464" name="矩形 5">
            <a:extLst>
              <a:ext uri="{FF2B5EF4-FFF2-40B4-BE49-F238E27FC236}">
                <a16:creationId xmlns:a16="http://schemas.microsoft.com/office/drawing/2014/main" id="{344D1597-80A9-0293-7F98-1A52DD898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687763"/>
            <a:ext cx="3516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在二进制最佳接收机中，若</a:t>
            </a:r>
          </a:p>
        </p:txBody>
      </p:sp>
      <p:graphicFrame>
        <p:nvGraphicFramePr>
          <p:cNvPr id="9" name="Object 13">
            <a:extLst>
              <a:ext uri="{FF2B5EF4-FFF2-40B4-BE49-F238E27FC236}">
                <a16:creationId xmlns:a16="http://schemas.microsoft.com/office/drawing/2014/main" id="{18A1AAE9-455B-B0C3-D500-CB6842FB0181}"/>
              </a:ext>
            </a:extLst>
          </p:cNvPr>
          <p:cNvGraphicFramePr>
            <a:graphicFrameLocks/>
          </p:cNvGraphicFramePr>
          <p:nvPr/>
        </p:nvGraphicFramePr>
        <p:xfrm>
          <a:off x="2465388" y="4186238"/>
          <a:ext cx="4906962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26204" imgH="330057" progId="Equation.DSMT4">
                  <p:embed/>
                </p:oleObj>
              </mc:Choice>
              <mc:Fallback>
                <p:oleObj r:id="rId2" imgW="2526204" imgH="330057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8" y="4186238"/>
                        <a:ext cx="4906962" cy="6413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4BB15C8D-729A-C9E0-E9B6-0FDA302EDF44}"/>
              </a:ext>
            </a:extLst>
          </p:cNvPr>
          <p:cNvSpPr/>
          <p:nvPr/>
        </p:nvSpPr>
        <p:spPr>
          <a:xfrm>
            <a:off x="631825" y="5067300"/>
            <a:ext cx="77724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则判为 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en-US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。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因此</a:t>
            </a:r>
            <a:r>
              <a:rPr lang="zh-CN" altLang="en-US" sz="20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，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发送码元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“</a:t>
            </a:r>
            <a:r>
              <a:rPr lang="en-US" altLang="zh-CN" sz="2400" b="1" dirty="0">
                <a:solidFill>
                  <a:srgbClr val="0000C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时错判为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“</a:t>
            </a:r>
            <a:r>
              <a:rPr lang="en-US" altLang="zh-CN" sz="2400" b="1" dirty="0">
                <a:solidFill>
                  <a:srgbClr val="0000C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的概率为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14409C-B6D3-93BD-79E9-EFE3A1A1873C}"/>
              </a:ext>
            </a:extLst>
          </p:cNvPr>
          <p:cNvSpPr/>
          <p:nvPr/>
        </p:nvSpPr>
        <p:spPr>
          <a:xfrm>
            <a:off x="6499225" y="2509838"/>
            <a:ext cx="203517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“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”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对应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B22962-A994-9D1F-2418-E64447136AD9}"/>
              </a:ext>
            </a:extLst>
          </p:cNvPr>
          <p:cNvSpPr/>
          <p:nvPr/>
        </p:nvSpPr>
        <p:spPr>
          <a:xfrm>
            <a:off x="6499225" y="2967038"/>
            <a:ext cx="203517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“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”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对应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7AE6ADCB-D215-72C9-6E4A-A4FD5F6E379B}"/>
              </a:ext>
            </a:extLst>
          </p:cNvPr>
          <p:cNvGraphicFramePr>
            <a:graphicFrameLocks/>
          </p:cNvGraphicFramePr>
          <p:nvPr/>
        </p:nvGraphicFramePr>
        <p:xfrm>
          <a:off x="1636713" y="5607050"/>
          <a:ext cx="636428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275178" imgH="330057" progId="Equation.DSMT4">
                  <p:embed/>
                </p:oleObj>
              </mc:Choice>
              <mc:Fallback>
                <p:oleObj r:id="rId4" imgW="3275178" imgH="330057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5607050"/>
                        <a:ext cx="6364287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273473BE-B455-38FD-3EE9-714DD23E0F5F}"/>
              </a:ext>
            </a:extLst>
          </p:cNvPr>
          <p:cNvSpPr/>
          <p:nvPr/>
        </p:nvSpPr>
        <p:spPr>
          <a:xfrm>
            <a:off x="1066800" y="2516188"/>
            <a:ext cx="5410200" cy="91281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lnSpc>
                <a:spcPts val="32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i="1" dirty="0">
                <a:solidFill>
                  <a:srgbClr val="0000CC"/>
                </a:solidFill>
                <a:latin typeface="+mn-ea"/>
                <a:ea typeface="+mn-ea"/>
                <a:cs typeface="Arial" panose="020B0604020202020204" pitchFamily="34" charset="0"/>
              </a:rPr>
              <a:t>P</a:t>
            </a:r>
            <a:r>
              <a:rPr lang="en-US" altLang="zh-CN" sz="2000" b="1" dirty="0">
                <a:solidFill>
                  <a:srgbClr val="0000CC"/>
                </a:solidFill>
                <a:latin typeface="+mn-ea"/>
                <a:ea typeface="+mn-ea"/>
                <a:cs typeface="Arial" panose="020B0604020202020204" pitchFamily="34" charset="0"/>
              </a:rPr>
              <a:t>(0/1)</a:t>
            </a:r>
            <a:r>
              <a:rPr lang="zh-CN" altLang="en-US" sz="2000" b="1" dirty="0">
                <a:latin typeface="+mn-ea"/>
                <a:ea typeface="+mn-ea"/>
                <a:cs typeface="Arial" panose="020B0604020202020204" pitchFamily="34" charset="0"/>
              </a:rPr>
              <a:t>为发“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lang="en-US" altLang="zh-CN" sz="2000" b="1" dirty="0">
                <a:latin typeface="+mn-ea"/>
                <a:ea typeface="+mn-ea"/>
                <a:cs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+mn-ea"/>
                <a:ea typeface="+mn-ea"/>
                <a:cs typeface="Arial" panose="020B0604020202020204" pitchFamily="34" charset="0"/>
              </a:rPr>
              <a:t>时，收到“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2000" b="1" dirty="0">
                <a:latin typeface="+mn-ea"/>
                <a:ea typeface="+mn-ea"/>
                <a:cs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+mn-ea"/>
                <a:ea typeface="+mn-ea"/>
                <a:cs typeface="Arial" panose="020B0604020202020204" pitchFamily="34" charset="0"/>
              </a:rPr>
              <a:t>的条件概率；</a:t>
            </a:r>
          </a:p>
          <a:p>
            <a:pPr eaLnBrk="0" hangingPunct="0">
              <a:lnSpc>
                <a:spcPts val="32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i="1" dirty="0">
                <a:solidFill>
                  <a:srgbClr val="800080"/>
                </a:solidFill>
                <a:latin typeface="+mn-ea"/>
                <a:ea typeface="+mn-ea"/>
                <a:cs typeface="Arial" panose="020B0604020202020204" pitchFamily="34" charset="0"/>
              </a:rPr>
              <a:t>P</a:t>
            </a:r>
            <a:r>
              <a:rPr lang="en-US" altLang="zh-CN" sz="2000" b="1" dirty="0">
                <a:solidFill>
                  <a:srgbClr val="800080"/>
                </a:solidFill>
                <a:latin typeface="+mn-ea"/>
                <a:ea typeface="+mn-ea"/>
                <a:cs typeface="Arial" panose="020B0604020202020204" pitchFamily="34" charset="0"/>
              </a:rPr>
              <a:t>(1/0)</a:t>
            </a:r>
            <a:r>
              <a:rPr lang="zh-CN" altLang="en-US" sz="2000" b="1" dirty="0">
                <a:latin typeface="+mn-ea"/>
                <a:ea typeface="+mn-ea"/>
                <a:cs typeface="Arial" panose="020B0604020202020204" pitchFamily="34" charset="0"/>
              </a:rPr>
              <a:t>为发“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lang="en-US" altLang="zh-CN" sz="2000" b="1" dirty="0">
                <a:latin typeface="+mn-ea"/>
                <a:ea typeface="+mn-ea"/>
                <a:cs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+mn-ea"/>
                <a:ea typeface="+mn-ea"/>
                <a:cs typeface="Arial" panose="020B0604020202020204" pitchFamily="34" charset="0"/>
              </a:rPr>
              <a:t>时，收到“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000" b="1" dirty="0">
                <a:latin typeface="+mn-ea"/>
                <a:ea typeface="+mn-ea"/>
                <a:cs typeface="Arial" panose="020B0604020202020204" pitchFamily="34" charset="0"/>
              </a:rPr>
              <a:t>”</a:t>
            </a:r>
            <a:r>
              <a:rPr lang="zh-CN" altLang="en-US" sz="2000" b="1" dirty="0">
                <a:latin typeface="+mn-ea"/>
                <a:ea typeface="+mn-ea"/>
                <a:cs typeface="Arial" panose="020B0604020202020204" pitchFamily="34" charset="0"/>
              </a:rPr>
              <a:t>的条件概率。</a:t>
            </a:r>
          </a:p>
        </p:txBody>
      </p:sp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C8197A29-4965-36BA-67B2-61992073D324}"/>
              </a:ext>
            </a:extLst>
          </p:cNvPr>
          <p:cNvGraphicFramePr>
            <a:graphicFrameLocks/>
          </p:cNvGraphicFramePr>
          <p:nvPr/>
        </p:nvGraphicFramePr>
        <p:xfrm>
          <a:off x="2590800" y="1736725"/>
          <a:ext cx="42672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54200" imgH="228600" progId="Equation.DSMT4">
                  <p:embed/>
                </p:oleObj>
              </mc:Choice>
              <mc:Fallback>
                <p:oleObj r:id="rId6" imgW="1854200" imgH="2286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736725"/>
                        <a:ext cx="4267200" cy="52228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9" name="矩形 16">
            <a:extLst>
              <a:ext uri="{FF2B5EF4-FFF2-40B4-BE49-F238E27FC236}">
                <a16:creationId xmlns:a16="http://schemas.microsoft.com/office/drawing/2014/main" id="{B3E71694-5583-0610-2BC9-FADB88CD8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00150"/>
            <a:ext cx="3771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二进制通信系统的总误码率为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DD6313EB-763E-4A0A-1806-F623C21B2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95300"/>
            <a:ext cx="7773988" cy="501650"/>
          </a:xfrm>
          <a:prstGeom prst="rect">
            <a:avLst/>
          </a:prstGeom>
          <a:noFill/>
          <a:ln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r>
              <a:rPr kumimoji="1"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二进制确知信号最佳接收机</a:t>
            </a:r>
            <a:r>
              <a:rPr kumimoji="1" lang="zh-CN" altLang="en-US" sz="28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误码性能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464" grpId="0"/>
      <p:bldP spid="10" grpId="0"/>
      <p:bldP spid="12" grpId="0"/>
      <p:bldP spid="13" grpId="0"/>
      <p:bldP spid="15" grpId="0"/>
      <p:bldP spid="19469" grpId="0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16">
            <a:extLst>
              <a:ext uri="{FF2B5EF4-FFF2-40B4-BE49-F238E27FC236}">
                <a16:creationId xmlns:a16="http://schemas.microsoft.com/office/drawing/2014/main" id="{08C3018E-A706-283C-3CB1-22BA77990330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1997075"/>
            <a:ext cx="3954463" cy="431800"/>
            <a:chOff x="1752600" y="1932362"/>
            <a:chExt cx="3954929" cy="432110"/>
          </a:xfrm>
        </p:grpSpPr>
        <p:graphicFrame>
          <p:nvGraphicFramePr>
            <p:cNvPr id="84994" name="Object 2">
              <a:extLst>
                <a:ext uri="{FF2B5EF4-FFF2-40B4-BE49-F238E27FC236}">
                  <a16:creationId xmlns:a16="http://schemas.microsoft.com/office/drawing/2014/main" id="{7B980B85-FD10-0947-683C-F00087089A7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228188" y="1932362"/>
            <a:ext cx="1968500" cy="432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040948" imgH="228501" progId="Equation.DSMT4">
                    <p:embed/>
                  </p:oleObj>
                </mc:Choice>
                <mc:Fallback>
                  <p:oleObj r:id="rId2" imgW="1040948" imgH="228501" progId="Equation.DSMT4">
                    <p:embed/>
                    <p:pic>
                      <p:nvPicPr>
                        <p:cNvPr id="0" name="Object 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8188" y="1932362"/>
                          <a:ext cx="1968500" cy="432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4995" name="矩形 3">
              <a:extLst>
                <a:ext uri="{FF2B5EF4-FFF2-40B4-BE49-F238E27FC236}">
                  <a16:creationId xmlns:a16="http://schemas.microsoft.com/office/drawing/2014/main" id="{67E0A815-BD7B-316A-FC1E-CE19C0A95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1945944"/>
              <a:ext cx="39549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rgbClr val="00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               </a:t>
              </a:r>
              <a:r>
                <a:rPr lang="zh-CN" altLang="en-US" sz="2000" b="1">
                  <a:solidFill>
                    <a:srgbClr val="00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代入上式，</a:t>
              </a:r>
            </a:p>
          </p:txBody>
        </p:sp>
      </p:grpSp>
      <p:graphicFrame>
        <p:nvGraphicFramePr>
          <p:cNvPr id="84996" name="Object 4">
            <a:extLst>
              <a:ext uri="{FF2B5EF4-FFF2-40B4-BE49-F238E27FC236}">
                <a16:creationId xmlns:a16="http://schemas.microsoft.com/office/drawing/2014/main" id="{DCA8623F-4286-F545-7F6A-528F044766DF}"/>
              </a:ext>
            </a:extLst>
          </p:cNvPr>
          <p:cNvGraphicFramePr>
            <a:graphicFrameLocks/>
          </p:cNvGraphicFramePr>
          <p:nvPr/>
        </p:nvGraphicFramePr>
        <p:xfrm>
          <a:off x="1295400" y="1066800"/>
          <a:ext cx="636428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275178" imgH="330057" progId="Equation.DSMT4">
                  <p:embed/>
                </p:oleObj>
              </mc:Choice>
              <mc:Fallback>
                <p:oleObj r:id="rId4" imgW="3275178" imgH="330057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066800"/>
                        <a:ext cx="6364288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10">
            <a:extLst>
              <a:ext uri="{FF2B5EF4-FFF2-40B4-BE49-F238E27FC236}">
                <a16:creationId xmlns:a16="http://schemas.microsoft.com/office/drawing/2014/main" id="{BF622662-CD6F-BF2B-C35B-EAF094264F7C}"/>
              </a:ext>
            </a:extLst>
          </p:cNvPr>
          <p:cNvSpPr/>
          <p:nvPr/>
        </p:nvSpPr>
        <p:spPr bwMode="auto">
          <a:xfrm rot="712466" flipH="1">
            <a:off x="2755900" y="1612900"/>
            <a:ext cx="490538" cy="474663"/>
          </a:xfrm>
          <a:custGeom>
            <a:avLst/>
            <a:gdLst>
              <a:gd name="T0" fmla="*/ 241268 w 1612"/>
              <a:gd name="T1" fmla="*/ 909879 h 1618"/>
              <a:gd name="T2" fmla="*/ 196551 w 1612"/>
              <a:gd name="T3" fmla="*/ 774245 h 1618"/>
              <a:gd name="T4" fmla="*/ 161192 w 1612"/>
              <a:gd name="T5" fmla="*/ 649914 h 1618"/>
              <a:gd name="T6" fmla="*/ 133114 w 1612"/>
              <a:gd name="T7" fmla="*/ 538769 h 1618"/>
              <a:gd name="T8" fmla="*/ 111275 w 1612"/>
              <a:gd name="T9" fmla="*/ 444578 h 1618"/>
              <a:gd name="T10" fmla="*/ 86316 w 1612"/>
              <a:gd name="T11" fmla="*/ 308944 h 1618"/>
              <a:gd name="T12" fmla="*/ 79036 w 1612"/>
              <a:gd name="T13" fmla="*/ 259965 h 1618"/>
              <a:gd name="T14" fmla="*/ 17679 w 1612"/>
              <a:gd name="T15" fmla="*/ 0 h 1618"/>
              <a:gd name="T16" fmla="*/ 42638 w 1612"/>
              <a:gd name="T17" fmla="*/ 276920 h 1618"/>
              <a:gd name="T18" fmla="*/ 44718 w 1612"/>
              <a:gd name="T19" fmla="*/ 290106 h 1618"/>
              <a:gd name="T20" fmla="*/ 62397 w 1612"/>
              <a:gd name="T21" fmla="*/ 389948 h 1618"/>
              <a:gd name="T22" fmla="*/ 90476 w 1612"/>
              <a:gd name="T23" fmla="*/ 518047 h 1618"/>
              <a:gd name="T24" fmla="*/ 118554 w 1612"/>
              <a:gd name="T25" fmla="*/ 623540 h 1618"/>
              <a:gd name="T26" fmla="*/ 153913 w 1612"/>
              <a:gd name="T27" fmla="*/ 742220 h 1618"/>
              <a:gd name="T28" fmla="*/ 198631 w 1612"/>
              <a:gd name="T29" fmla="*/ 872203 h 1618"/>
              <a:gd name="T30" fmla="*/ 223589 w 1612"/>
              <a:gd name="T31" fmla="*/ 940020 h 1618"/>
              <a:gd name="T32" fmla="*/ 267267 w 1612"/>
              <a:gd name="T33" fmla="*/ 1039862 h 1618"/>
              <a:gd name="T34" fmla="*/ 313025 w 1612"/>
              <a:gd name="T35" fmla="*/ 1126517 h 1618"/>
              <a:gd name="T36" fmla="*/ 361903 w 1612"/>
              <a:gd name="T37" fmla="*/ 1203753 h 1618"/>
              <a:gd name="T38" fmla="*/ 412860 w 1612"/>
              <a:gd name="T39" fmla="*/ 1269686 h 1618"/>
              <a:gd name="T40" fmla="*/ 463818 w 1612"/>
              <a:gd name="T41" fmla="*/ 1326200 h 1618"/>
              <a:gd name="T42" fmla="*/ 514775 w 1612"/>
              <a:gd name="T43" fmla="*/ 1373295 h 1618"/>
              <a:gd name="T44" fmla="*/ 564693 w 1612"/>
              <a:gd name="T45" fmla="*/ 1412855 h 1618"/>
              <a:gd name="T46" fmla="*/ 613571 w 1612"/>
              <a:gd name="T47" fmla="*/ 1444880 h 1618"/>
              <a:gd name="T48" fmla="*/ 659329 w 1612"/>
              <a:gd name="T49" fmla="*/ 1469370 h 1618"/>
              <a:gd name="T50" fmla="*/ 740445 w 1612"/>
              <a:gd name="T51" fmla="*/ 1503278 h 1618"/>
              <a:gd name="T52" fmla="*/ 800762 w 1612"/>
              <a:gd name="T53" fmla="*/ 1518349 h 1618"/>
              <a:gd name="T54" fmla="*/ 838200 w 1612"/>
              <a:gd name="T55" fmla="*/ 1524000 h 1618"/>
              <a:gd name="T56" fmla="*/ 821561 w 1612"/>
              <a:gd name="T57" fmla="*/ 1522116 h 1618"/>
              <a:gd name="T58" fmla="*/ 773723 w 1612"/>
              <a:gd name="T59" fmla="*/ 1512697 h 1618"/>
              <a:gd name="T60" fmla="*/ 704046 w 1612"/>
              <a:gd name="T61" fmla="*/ 1486324 h 1618"/>
              <a:gd name="T62" fmla="*/ 639570 w 1612"/>
              <a:gd name="T63" fmla="*/ 1454299 h 1618"/>
              <a:gd name="T64" fmla="*/ 593812 w 1612"/>
              <a:gd name="T65" fmla="*/ 1424158 h 1618"/>
              <a:gd name="T66" fmla="*/ 544934 w 1612"/>
              <a:gd name="T67" fmla="*/ 1388366 h 1618"/>
              <a:gd name="T68" fmla="*/ 496056 w 1612"/>
              <a:gd name="T69" fmla="*/ 1343155 h 1618"/>
              <a:gd name="T70" fmla="*/ 446139 w 1612"/>
              <a:gd name="T71" fmla="*/ 1288524 h 1618"/>
              <a:gd name="T72" fmla="*/ 397261 w 1612"/>
              <a:gd name="T73" fmla="*/ 1224475 h 1618"/>
              <a:gd name="T74" fmla="*/ 349423 w 1612"/>
              <a:gd name="T75" fmla="*/ 1149122 h 1618"/>
              <a:gd name="T76" fmla="*/ 303666 w 1612"/>
              <a:gd name="T77" fmla="*/ 1062467 h 1618"/>
              <a:gd name="T78" fmla="*/ 261028 w 1612"/>
              <a:gd name="T79" fmla="*/ 964509 h 1618"/>
              <a:gd name="T80" fmla="*/ 241268 w 1612"/>
              <a:gd name="T81" fmla="*/ 909879 h 161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612"/>
              <a:gd name="T124" fmla="*/ 0 h 1618"/>
              <a:gd name="T125" fmla="*/ 1612 w 1612"/>
              <a:gd name="T126" fmla="*/ 1618 h 161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close/>
              </a:path>
            </a:pathLst>
          </a:custGeom>
          <a:solidFill>
            <a:srgbClr val="990099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64EBEFB-CFB5-533E-6462-55E8DAF57414}"/>
              </a:ext>
            </a:extLst>
          </p:cNvPr>
          <p:cNvSpPr/>
          <p:nvPr/>
        </p:nvSpPr>
        <p:spPr bwMode="auto">
          <a:xfrm rot="481828" flipH="1">
            <a:off x="5219700" y="1612900"/>
            <a:ext cx="490538" cy="474663"/>
          </a:xfrm>
          <a:custGeom>
            <a:avLst/>
            <a:gdLst>
              <a:gd name="T0" fmla="*/ 241268 w 1612"/>
              <a:gd name="T1" fmla="*/ 909879 h 1618"/>
              <a:gd name="T2" fmla="*/ 196551 w 1612"/>
              <a:gd name="T3" fmla="*/ 774245 h 1618"/>
              <a:gd name="T4" fmla="*/ 161192 w 1612"/>
              <a:gd name="T5" fmla="*/ 649914 h 1618"/>
              <a:gd name="T6" fmla="*/ 133114 w 1612"/>
              <a:gd name="T7" fmla="*/ 538769 h 1618"/>
              <a:gd name="T8" fmla="*/ 111275 w 1612"/>
              <a:gd name="T9" fmla="*/ 444578 h 1618"/>
              <a:gd name="T10" fmla="*/ 86316 w 1612"/>
              <a:gd name="T11" fmla="*/ 308944 h 1618"/>
              <a:gd name="T12" fmla="*/ 79036 w 1612"/>
              <a:gd name="T13" fmla="*/ 259965 h 1618"/>
              <a:gd name="T14" fmla="*/ 17679 w 1612"/>
              <a:gd name="T15" fmla="*/ 0 h 1618"/>
              <a:gd name="T16" fmla="*/ 42638 w 1612"/>
              <a:gd name="T17" fmla="*/ 276920 h 1618"/>
              <a:gd name="T18" fmla="*/ 44718 w 1612"/>
              <a:gd name="T19" fmla="*/ 290106 h 1618"/>
              <a:gd name="T20" fmla="*/ 62397 w 1612"/>
              <a:gd name="T21" fmla="*/ 389948 h 1618"/>
              <a:gd name="T22" fmla="*/ 90476 w 1612"/>
              <a:gd name="T23" fmla="*/ 518047 h 1618"/>
              <a:gd name="T24" fmla="*/ 118554 w 1612"/>
              <a:gd name="T25" fmla="*/ 623540 h 1618"/>
              <a:gd name="T26" fmla="*/ 153913 w 1612"/>
              <a:gd name="T27" fmla="*/ 742220 h 1618"/>
              <a:gd name="T28" fmla="*/ 198631 w 1612"/>
              <a:gd name="T29" fmla="*/ 872203 h 1618"/>
              <a:gd name="T30" fmla="*/ 223589 w 1612"/>
              <a:gd name="T31" fmla="*/ 940020 h 1618"/>
              <a:gd name="T32" fmla="*/ 267267 w 1612"/>
              <a:gd name="T33" fmla="*/ 1039862 h 1618"/>
              <a:gd name="T34" fmla="*/ 313025 w 1612"/>
              <a:gd name="T35" fmla="*/ 1126517 h 1618"/>
              <a:gd name="T36" fmla="*/ 361903 w 1612"/>
              <a:gd name="T37" fmla="*/ 1203753 h 1618"/>
              <a:gd name="T38" fmla="*/ 412860 w 1612"/>
              <a:gd name="T39" fmla="*/ 1269686 h 1618"/>
              <a:gd name="T40" fmla="*/ 463818 w 1612"/>
              <a:gd name="T41" fmla="*/ 1326200 h 1618"/>
              <a:gd name="T42" fmla="*/ 514775 w 1612"/>
              <a:gd name="T43" fmla="*/ 1373295 h 1618"/>
              <a:gd name="T44" fmla="*/ 564693 w 1612"/>
              <a:gd name="T45" fmla="*/ 1412855 h 1618"/>
              <a:gd name="T46" fmla="*/ 613571 w 1612"/>
              <a:gd name="T47" fmla="*/ 1444880 h 1618"/>
              <a:gd name="T48" fmla="*/ 659329 w 1612"/>
              <a:gd name="T49" fmla="*/ 1469370 h 1618"/>
              <a:gd name="T50" fmla="*/ 740445 w 1612"/>
              <a:gd name="T51" fmla="*/ 1503278 h 1618"/>
              <a:gd name="T52" fmla="*/ 800762 w 1612"/>
              <a:gd name="T53" fmla="*/ 1518349 h 1618"/>
              <a:gd name="T54" fmla="*/ 838200 w 1612"/>
              <a:gd name="T55" fmla="*/ 1524000 h 1618"/>
              <a:gd name="T56" fmla="*/ 821561 w 1612"/>
              <a:gd name="T57" fmla="*/ 1522116 h 1618"/>
              <a:gd name="T58" fmla="*/ 773723 w 1612"/>
              <a:gd name="T59" fmla="*/ 1512697 h 1618"/>
              <a:gd name="T60" fmla="*/ 704046 w 1612"/>
              <a:gd name="T61" fmla="*/ 1486324 h 1618"/>
              <a:gd name="T62" fmla="*/ 639570 w 1612"/>
              <a:gd name="T63" fmla="*/ 1454299 h 1618"/>
              <a:gd name="T64" fmla="*/ 593812 w 1612"/>
              <a:gd name="T65" fmla="*/ 1424158 h 1618"/>
              <a:gd name="T66" fmla="*/ 544934 w 1612"/>
              <a:gd name="T67" fmla="*/ 1388366 h 1618"/>
              <a:gd name="T68" fmla="*/ 496056 w 1612"/>
              <a:gd name="T69" fmla="*/ 1343155 h 1618"/>
              <a:gd name="T70" fmla="*/ 446139 w 1612"/>
              <a:gd name="T71" fmla="*/ 1288524 h 1618"/>
              <a:gd name="T72" fmla="*/ 397261 w 1612"/>
              <a:gd name="T73" fmla="*/ 1224475 h 1618"/>
              <a:gd name="T74" fmla="*/ 349423 w 1612"/>
              <a:gd name="T75" fmla="*/ 1149122 h 1618"/>
              <a:gd name="T76" fmla="*/ 303666 w 1612"/>
              <a:gd name="T77" fmla="*/ 1062467 h 1618"/>
              <a:gd name="T78" fmla="*/ 261028 w 1612"/>
              <a:gd name="T79" fmla="*/ 964509 h 1618"/>
              <a:gd name="T80" fmla="*/ 241268 w 1612"/>
              <a:gd name="T81" fmla="*/ 909879 h 161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612"/>
              <a:gd name="T124" fmla="*/ 0 h 1618"/>
              <a:gd name="T125" fmla="*/ 1612 w 1612"/>
              <a:gd name="T126" fmla="*/ 1618 h 161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close/>
              </a:path>
            </a:pathLst>
          </a:custGeom>
          <a:solidFill>
            <a:srgbClr val="990099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99B299-9721-903D-D271-7E37D9211647}"/>
              </a:ext>
            </a:extLst>
          </p:cNvPr>
          <p:cNvSpPr/>
          <p:nvPr/>
        </p:nvSpPr>
        <p:spPr>
          <a:xfrm>
            <a:off x="5508625" y="1947863"/>
            <a:ext cx="2801938" cy="490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lnSpc>
                <a:spcPts val="3100"/>
              </a:lnSpc>
              <a:defRPr/>
            </a:pPr>
            <a:r>
              <a:rPr kumimoji="1" lang="zh-CN" altLang="en-US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并利用</a:t>
            </a:r>
            <a:r>
              <a:rPr kumimoji="1" lang="en-US" altLang="zh-CN" sz="20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0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kumimoji="1" lang="en-US" altLang="zh-CN" sz="20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kumimoji="1"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kumimoji="1" lang="en-US" altLang="zh-CN" sz="20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kumimoji="1" lang="en-US" altLang="zh-CN" sz="20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进行化简</a:t>
            </a:r>
            <a:endParaRPr kumimoji="1" lang="zh-CN" altLang="en-US" sz="2000" b="1" dirty="0">
              <a:solidFill>
                <a:srgbClr val="003399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50885" name="Object 5">
            <a:extLst>
              <a:ext uri="{FF2B5EF4-FFF2-40B4-BE49-F238E27FC236}">
                <a16:creationId xmlns:a16="http://schemas.microsoft.com/office/drawing/2014/main" id="{14AF406C-CB34-1D06-F972-B87FEA8BA0FD}"/>
              </a:ext>
            </a:extLst>
          </p:cNvPr>
          <p:cNvGraphicFramePr>
            <a:graphicFrameLocks/>
          </p:cNvGraphicFramePr>
          <p:nvPr/>
        </p:nvGraphicFramePr>
        <p:xfrm>
          <a:off x="2819400" y="2527300"/>
          <a:ext cx="1968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64781" imgH="330057" progId="Equation.DSMT4">
                  <p:embed/>
                </p:oleObj>
              </mc:Choice>
              <mc:Fallback>
                <p:oleObj r:id="rId6" imgW="964781" imgH="330057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527300"/>
                        <a:ext cx="1968500" cy="6731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6" name="Object 6">
            <a:extLst>
              <a:ext uri="{FF2B5EF4-FFF2-40B4-BE49-F238E27FC236}">
                <a16:creationId xmlns:a16="http://schemas.microsoft.com/office/drawing/2014/main" id="{8B1535BE-8B14-4552-FA28-C04B60E1435D}"/>
              </a:ext>
            </a:extLst>
          </p:cNvPr>
          <p:cNvGraphicFramePr>
            <a:graphicFrameLocks/>
          </p:cNvGraphicFramePr>
          <p:nvPr/>
        </p:nvGraphicFramePr>
        <p:xfrm>
          <a:off x="5105400" y="2527300"/>
          <a:ext cx="19415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52087" imgH="330057" progId="Equation.DSMT4">
                  <p:embed/>
                </p:oleObj>
              </mc:Choice>
              <mc:Fallback>
                <p:oleObj r:id="rId8" imgW="952087" imgH="330057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527300"/>
                        <a:ext cx="1941513" cy="6731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 10">
            <a:extLst>
              <a:ext uri="{FF2B5EF4-FFF2-40B4-BE49-F238E27FC236}">
                <a16:creationId xmlns:a16="http://schemas.microsoft.com/office/drawing/2014/main" id="{4519D8D0-3312-5E0C-0538-8E335F70CE6B}"/>
              </a:ext>
            </a:extLst>
          </p:cNvPr>
          <p:cNvSpPr/>
          <p:nvPr/>
        </p:nvSpPr>
        <p:spPr bwMode="auto">
          <a:xfrm rot="20794879" flipV="1">
            <a:off x="568325" y="1674813"/>
            <a:ext cx="890588" cy="1719262"/>
          </a:xfrm>
          <a:custGeom>
            <a:avLst/>
            <a:gdLst>
              <a:gd name="T0" fmla="*/ 464 w 1612"/>
              <a:gd name="T1" fmla="*/ 966 h 1618"/>
              <a:gd name="T2" fmla="*/ 378 w 1612"/>
              <a:gd name="T3" fmla="*/ 822 h 1618"/>
              <a:gd name="T4" fmla="*/ 310 w 1612"/>
              <a:gd name="T5" fmla="*/ 690 h 1618"/>
              <a:gd name="T6" fmla="*/ 256 w 1612"/>
              <a:gd name="T7" fmla="*/ 572 h 1618"/>
              <a:gd name="T8" fmla="*/ 214 w 1612"/>
              <a:gd name="T9" fmla="*/ 472 h 1618"/>
              <a:gd name="T10" fmla="*/ 166 w 1612"/>
              <a:gd name="T11" fmla="*/ 328 h 1618"/>
              <a:gd name="T12" fmla="*/ 152 w 1612"/>
              <a:gd name="T13" fmla="*/ 276 h 1618"/>
              <a:gd name="T14" fmla="*/ 34 w 1612"/>
              <a:gd name="T15" fmla="*/ 0 h 1618"/>
              <a:gd name="T16" fmla="*/ 82 w 1612"/>
              <a:gd name="T17" fmla="*/ 294 h 1618"/>
              <a:gd name="T18" fmla="*/ 86 w 1612"/>
              <a:gd name="T19" fmla="*/ 308 h 1618"/>
              <a:gd name="T20" fmla="*/ 120 w 1612"/>
              <a:gd name="T21" fmla="*/ 414 h 1618"/>
              <a:gd name="T22" fmla="*/ 174 w 1612"/>
              <a:gd name="T23" fmla="*/ 550 h 1618"/>
              <a:gd name="T24" fmla="*/ 228 w 1612"/>
              <a:gd name="T25" fmla="*/ 662 h 1618"/>
              <a:gd name="T26" fmla="*/ 296 w 1612"/>
              <a:gd name="T27" fmla="*/ 788 h 1618"/>
              <a:gd name="T28" fmla="*/ 382 w 1612"/>
              <a:gd name="T29" fmla="*/ 926 h 1618"/>
              <a:gd name="T30" fmla="*/ 430 w 1612"/>
              <a:gd name="T31" fmla="*/ 998 h 1618"/>
              <a:gd name="T32" fmla="*/ 514 w 1612"/>
              <a:gd name="T33" fmla="*/ 1104 h 1618"/>
              <a:gd name="T34" fmla="*/ 602 w 1612"/>
              <a:gd name="T35" fmla="*/ 1196 h 1618"/>
              <a:gd name="T36" fmla="*/ 696 w 1612"/>
              <a:gd name="T37" fmla="*/ 1278 h 1618"/>
              <a:gd name="T38" fmla="*/ 794 w 1612"/>
              <a:gd name="T39" fmla="*/ 1348 h 1618"/>
              <a:gd name="T40" fmla="*/ 892 w 1612"/>
              <a:gd name="T41" fmla="*/ 1408 h 1618"/>
              <a:gd name="T42" fmla="*/ 990 w 1612"/>
              <a:gd name="T43" fmla="*/ 1458 h 1618"/>
              <a:gd name="T44" fmla="*/ 1086 w 1612"/>
              <a:gd name="T45" fmla="*/ 1500 h 1618"/>
              <a:gd name="T46" fmla="*/ 1180 w 1612"/>
              <a:gd name="T47" fmla="*/ 1534 h 1618"/>
              <a:gd name="T48" fmla="*/ 1268 w 1612"/>
              <a:gd name="T49" fmla="*/ 1560 h 1618"/>
              <a:gd name="T50" fmla="*/ 1424 w 1612"/>
              <a:gd name="T51" fmla="*/ 1596 h 1618"/>
              <a:gd name="T52" fmla="*/ 1540 w 1612"/>
              <a:gd name="T53" fmla="*/ 1612 h 1618"/>
              <a:gd name="T54" fmla="*/ 1612 w 1612"/>
              <a:gd name="T55" fmla="*/ 1618 h 1618"/>
              <a:gd name="T56" fmla="*/ 1580 w 1612"/>
              <a:gd name="T57" fmla="*/ 1616 h 1618"/>
              <a:gd name="T58" fmla="*/ 1488 w 1612"/>
              <a:gd name="T59" fmla="*/ 1606 h 1618"/>
              <a:gd name="T60" fmla="*/ 1354 w 1612"/>
              <a:gd name="T61" fmla="*/ 1578 h 1618"/>
              <a:gd name="T62" fmla="*/ 1230 w 1612"/>
              <a:gd name="T63" fmla="*/ 1544 h 1618"/>
              <a:gd name="T64" fmla="*/ 1142 w 1612"/>
              <a:gd name="T65" fmla="*/ 1512 h 1618"/>
              <a:gd name="T66" fmla="*/ 1048 w 1612"/>
              <a:gd name="T67" fmla="*/ 1474 h 1618"/>
              <a:gd name="T68" fmla="*/ 954 w 1612"/>
              <a:gd name="T69" fmla="*/ 1426 h 1618"/>
              <a:gd name="T70" fmla="*/ 858 w 1612"/>
              <a:gd name="T71" fmla="*/ 1368 h 1618"/>
              <a:gd name="T72" fmla="*/ 764 w 1612"/>
              <a:gd name="T73" fmla="*/ 1300 h 1618"/>
              <a:gd name="T74" fmla="*/ 672 w 1612"/>
              <a:gd name="T75" fmla="*/ 1220 h 1618"/>
              <a:gd name="T76" fmla="*/ 584 w 1612"/>
              <a:gd name="T77" fmla="*/ 1128 h 1618"/>
              <a:gd name="T78" fmla="*/ 502 w 1612"/>
              <a:gd name="T79" fmla="*/ 1024 h 1618"/>
              <a:gd name="T80" fmla="*/ 464 w 1612"/>
              <a:gd name="T81" fmla="*/ 966 h 1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lnTo>
                  <a:pt x="464" y="96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40978" name="Object 18">
            <a:extLst>
              <a:ext uri="{FF2B5EF4-FFF2-40B4-BE49-F238E27FC236}">
                <a16:creationId xmlns:a16="http://schemas.microsoft.com/office/drawing/2014/main" id="{F6DA134C-22D1-E0A4-8BC0-0EFD968276A6}"/>
              </a:ext>
            </a:extLst>
          </p:cNvPr>
          <p:cNvGraphicFramePr>
            <a:graphicFrameLocks/>
          </p:cNvGraphicFramePr>
          <p:nvPr/>
        </p:nvGraphicFramePr>
        <p:xfrm>
          <a:off x="381000" y="3602038"/>
          <a:ext cx="8459788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141269" imgH="545863" progId="Equation.DSMT4">
                  <p:embed/>
                </p:oleObj>
              </mc:Choice>
              <mc:Fallback>
                <p:oleObj r:id="rId10" imgW="5141269" imgH="545863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602038"/>
                        <a:ext cx="8459788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2">
            <a:extLst>
              <a:ext uri="{FF2B5EF4-FFF2-40B4-BE49-F238E27FC236}">
                <a16:creationId xmlns:a16="http://schemas.microsoft.com/office/drawing/2014/main" id="{0DCD54DC-8485-017C-FD79-1F5A3C005F1B}"/>
              </a:ext>
            </a:extLst>
          </p:cNvPr>
          <p:cNvGraphicFramePr>
            <a:graphicFrameLocks/>
          </p:cNvGraphicFramePr>
          <p:nvPr/>
        </p:nvGraphicFramePr>
        <p:xfrm>
          <a:off x="2209800" y="4418013"/>
          <a:ext cx="379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2202" imgH="215619" progId="Equation.DSMT4">
                  <p:embed/>
                </p:oleObj>
              </mc:Choice>
              <mc:Fallback>
                <p:oleObj r:id="rId12" imgW="152202" imgH="215619" progId="Equation.DSMT4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418013"/>
                        <a:ext cx="3794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F4928DE3-B0B0-9566-24A7-3CC240764697}"/>
              </a:ext>
            </a:extLst>
          </p:cNvPr>
          <p:cNvGraphicFramePr>
            <a:graphicFrameLocks/>
          </p:cNvGraphicFramePr>
          <p:nvPr/>
        </p:nvGraphicFramePr>
        <p:xfrm>
          <a:off x="5911850" y="4521200"/>
          <a:ext cx="29845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39579" imgH="152268" progId="Equation.DSMT4">
                  <p:embed/>
                </p:oleObj>
              </mc:Choice>
              <mc:Fallback>
                <p:oleObj r:id="rId14" imgW="139579" imgH="152268" progId="Equation.DSMT4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1850" y="4521200"/>
                        <a:ext cx="29845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35">
            <a:extLst>
              <a:ext uri="{FF2B5EF4-FFF2-40B4-BE49-F238E27FC236}">
                <a16:creationId xmlns:a16="http://schemas.microsoft.com/office/drawing/2014/main" id="{05437DBC-3E01-D3B9-826A-C60A79EBA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975" y="4418013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高斯随机量</a:t>
            </a:r>
          </a:p>
        </p:txBody>
      </p:sp>
      <p:sp>
        <p:nvSpPr>
          <p:cNvPr id="21" name="Rectangle 36">
            <a:extLst>
              <a:ext uri="{FF2B5EF4-FFF2-40B4-BE49-F238E27FC236}">
                <a16:creationId xmlns:a16="http://schemas.microsoft.com/office/drawing/2014/main" id="{3248BC07-0DC5-2361-B863-309DA88C7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050" y="4479925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常数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A020BBC-9573-8A42-910F-E579B767F3CF}"/>
              </a:ext>
            </a:extLst>
          </p:cNvPr>
          <p:cNvCxnSpPr/>
          <p:nvPr/>
        </p:nvCxnSpPr>
        <p:spPr bwMode="auto">
          <a:xfrm>
            <a:off x="1905000" y="4341812"/>
            <a:ext cx="2514600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D24A779-B20A-7235-1224-DD5C179E0216}"/>
              </a:ext>
            </a:extLst>
          </p:cNvPr>
          <p:cNvCxnSpPr/>
          <p:nvPr/>
        </p:nvCxnSpPr>
        <p:spPr bwMode="auto">
          <a:xfrm flipV="1">
            <a:off x="4863152" y="4418011"/>
            <a:ext cx="3747448" cy="159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E9674B78-19F4-E0F0-9CA5-49B8FB0AACDE}"/>
              </a:ext>
            </a:extLst>
          </p:cNvPr>
          <p:cNvGraphicFramePr>
            <a:graphicFrameLocks/>
          </p:cNvGraphicFramePr>
          <p:nvPr/>
        </p:nvGraphicFramePr>
        <p:xfrm>
          <a:off x="1219200" y="5105400"/>
          <a:ext cx="68580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3287873" imgH="545863" progId="Equation.DSMT4">
                  <p:embed/>
                </p:oleObj>
              </mc:Choice>
              <mc:Fallback>
                <p:oleObj r:id="rId16" imgW="3287873" imgH="545863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05400"/>
                        <a:ext cx="6858000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Freeform 10">
            <a:extLst>
              <a:ext uri="{FF2B5EF4-FFF2-40B4-BE49-F238E27FC236}">
                <a16:creationId xmlns:a16="http://schemas.microsoft.com/office/drawing/2014/main" id="{F776D5F6-54FB-4184-A56F-6368AE0DBE11}"/>
              </a:ext>
            </a:extLst>
          </p:cNvPr>
          <p:cNvSpPr/>
          <p:nvPr/>
        </p:nvSpPr>
        <p:spPr bwMode="auto">
          <a:xfrm rot="18860792" flipV="1">
            <a:off x="391319" y="4275932"/>
            <a:ext cx="996950" cy="1300162"/>
          </a:xfrm>
          <a:custGeom>
            <a:avLst/>
            <a:gdLst>
              <a:gd name="T0" fmla="*/ 464 w 1612"/>
              <a:gd name="T1" fmla="*/ 966 h 1618"/>
              <a:gd name="T2" fmla="*/ 378 w 1612"/>
              <a:gd name="T3" fmla="*/ 822 h 1618"/>
              <a:gd name="T4" fmla="*/ 310 w 1612"/>
              <a:gd name="T5" fmla="*/ 690 h 1618"/>
              <a:gd name="T6" fmla="*/ 256 w 1612"/>
              <a:gd name="T7" fmla="*/ 572 h 1618"/>
              <a:gd name="T8" fmla="*/ 214 w 1612"/>
              <a:gd name="T9" fmla="*/ 472 h 1618"/>
              <a:gd name="T10" fmla="*/ 166 w 1612"/>
              <a:gd name="T11" fmla="*/ 328 h 1618"/>
              <a:gd name="T12" fmla="*/ 152 w 1612"/>
              <a:gd name="T13" fmla="*/ 276 h 1618"/>
              <a:gd name="T14" fmla="*/ 34 w 1612"/>
              <a:gd name="T15" fmla="*/ 0 h 1618"/>
              <a:gd name="T16" fmla="*/ 82 w 1612"/>
              <a:gd name="T17" fmla="*/ 294 h 1618"/>
              <a:gd name="T18" fmla="*/ 86 w 1612"/>
              <a:gd name="T19" fmla="*/ 308 h 1618"/>
              <a:gd name="T20" fmla="*/ 120 w 1612"/>
              <a:gd name="T21" fmla="*/ 414 h 1618"/>
              <a:gd name="T22" fmla="*/ 174 w 1612"/>
              <a:gd name="T23" fmla="*/ 550 h 1618"/>
              <a:gd name="T24" fmla="*/ 228 w 1612"/>
              <a:gd name="T25" fmla="*/ 662 h 1618"/>
              <a:gd name="T26" fmla="*/ 296 w 1612"/>
              <a:gd name="T27" fmla="*/ 788 h 1618"/>
              <a:gd name="T28" fmla="*/ 382 w 1612"/>
              <a:gd name="T29" fmla="*/ 926 h 1618"/>
              <a:gd name="T30" fmla="*/ 430 w 1612"/>
              <a:gd name="T31" fmla="*/ 998 h 1618"/>
              <a:gd name="T32" fmla="*/ 514 w 1612"/>
              <a:gd name="T33" fmla="*/ 1104 h 1618"/>
              <a:gd name="T34" fmla="*/ 602 w 1612"/>
              <a:gd name="T35" fmla="*/ 1196 h 1618"/>
              <a:gd name="T36" fmla="*/ 696 w 1612"/>
              <a:gd name="T37" fmla="*/ 1278 h 1618"/>
              <a:gd name="T38" fmla="*/ 794 w 1612"/>
              <a:gd name="T39" fmla="*/ 1348 h 1618"/>
              <a:gd name="T40" fmla="*/ 892 w 1612"/>
              <a:gd name="T41" fmla="*/ 1408 h 1618"/>
              <a:gd name="T42" fmla="*/ 990 w 1612"/>
              <a:gd name="T43" fmla="*/ 1458 h 1618"/>
              <a:gd name="T44" fmla="*/ 1086 w 1612"/>
              <a:gd name="T45" fmla="*/ 1500 h 1618"/>
              <a:gd name="T46" fmla="*/ 1180 w 1612"/>
              <a:gd name="T47" fmla="*/ 1534 h 1618"/>
              <a:gd name="T48" fmla="*/ 1268 w 1612"/>
              <a:gd name="T49" fmla="*/ 1560 h 1618"/>
              <a:gd name="T50" fmla="*/ 1424 w 1612"/>
              <a:gd name="T51" fmla="*/ 1596 h 1618"/>
              <a:gd name="T52" fmla="*/ 1540 w 1612"/>
              <a:gd name="T53" fmla="*/ 1612 h 1618"/>
              <a:gd name="T54" fmla="*/ 1612 w 1612"/>
              <a:gd name="T55" fmla="*/ 1618 h 1618"/>
              <a:gd name="T56" fmla="*/ 1580 w 1612"/>
              <a:gd name="T57" fmla="*/ 1616 h 1618"/>
              <a:gd name="T58" fmla="*/ 1488 w 1612"/>
              <a:gd name="T59" fmla="*/ 1606 h 1618"/>
              <a:gd name="T60" fmla="*/ 1354 w 1612"/>
              <a:gd name="T61" fmla="*/ 1578 h 1618"/>
              <a:gd name="T62" fmla="*/ 1230 w 1612"/>
              <a:gd name="T63" fmla="*/ 1544 h 1618"/>
              <a:gd name="T64" fmla="*/ 1142 w 1612"/>
              <a:gd name="T65" fmla="*/ 1512 h 1618"/>
              <a:gd name="T66" fmla="*/ 1048 w 1612"/>
              <a:gd name="T67" fmla="*/ 1474 h 1618"/>
              <a:gd name="T68" fmla="*/ 954 w 1612"/>
              <a:gd name="T69" fmla="*/ 1426 h 1618"/>
              <a:gd name="T70" fmla="*/ 858 w 1612"/>
              <a:gd name="T71" fmla="*/ 1368 h 1618"/>
              <a:gd name="T72" fmla="*/ 764 w 1612"/>
              <a:gd name="T73" fmla="*/ 1300 h 1618"/>
              <a:gd name="T74" fmla="*/ 672 w 1612"/>
              <a:gd name="T75" fmla="*/ 1220 h 1618"/>
              <a:gd name="T76" fmla="*/ 584 w 1612"/>
              <a:gd name="T77" fmla="*/ 1128 h 1618"/>
              <a:gd name="T78" fmla="*/ 502 w 1612"/>
              <a:gd name="T79" fmla="*/ 1024 h 1618"/>
              <a:gd name="T80" fmla="*/ 464 w 1612"/>
              <a:gd name="T81" fmla="*/ 966 h 1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lnTo>
                  <a:pt x="464" y="96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25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5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/>
      <p:bldP spid="15" grpId="0" animBg="1"/>
      <p:bldP spid="20" grpId="0"/>
      <p:bldP spid="21" grpId="0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E171522-3980-B1EF-C9EC-A0CD3A4CDF57}"/>
              </a:ext>
            </a:extLst>
          </p:cNvPr>
          <p:cNvSpPr/>
          <p:nvPr/>
        </p:nvSpPr>
        <p:spPr>
          <a:xfrm>
            <a:off x="457200" y="530225"/>
            <a:ext cx="14478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求 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b="1" i="1" dirty="0">
                <a:latin typeface="Times New Roman" panose="02020603050405020304"/>
                <a:ea typeface="华文中宋" panose="02010600040101010101" pitchFamily="2" charset="-122"/>
              </a:rPr>
              <a:t>f </a:t>
            </a:r>
            <a:r>
              <a:rPr kumimoji="1" lang="en-US" altLang="zh-CN" sz="2400" b="1" dirty="0">
                <a:latin typeface="Times New Roman" panose="02020603050405020304"/>
                <a:ea typeface="华文中宋" panose="02010600040101010101" pitchFamily="2" charset="-122"/>
              </a:rPr>
              <a:t>(</a:t>
            </a:r>
            <a:r>
              <a:rPr lang="en-US" altLang="zh-CN" sz="2400" b="1" i="1" dirty="0">
                <a:solidFill>
                  <a:srgbClr val="CC00CC"/>
                </a:solidFill>
                <a:latin typeface="Times New Roman" panose="02020603050405020304"/>
                <a:cs typeface="Arial" panose="020B0604020202020204" pitchFamily="34" charset="0"/>
                <a:sym typeface="Symbol" panose="05050102010706020507" pitchFamily="18" charset="2"/>
              </a:rPr>
              <a:t></a:t>
            </a:r>
            <a:r>
              <a:rPr lang="en-US" altLang="zh-CN" sz="2400" b="1" dirty="0">
                <a:latin typeface="Times New Roman" panose="02020603050405020304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dirty="0">
                <a:latin typeface="Times New Roman" panose="02020603050405020304"/>
                <a:ea typeface="华文中宋" panose="02010600040101010101" pitchFamily="2" charset="-122"/>
              </a:rPr>
              <a:t>)</a:t>
            </a:r>
            <a:r>
              <a:rPr kumimoji="1" lang="zh-CN" altLang="en-US" sz="2400" b="1" dirty="0">
                <a:latin typeface="Times New Roman" panose="02020603050405020304"/>
                <a:ea typeface="华文中宋" panose="02010600040101010101" pitchFamily="2" charset="-122"/>
              </a:rPr>
              <a:t> </a:t>
            </a:r>
            <a:r>
              <a:rPr kumimoji="1" lang="zh-CN" altLang="en-US" sz="2000" dirty="0">
                <a:solidFill>
                  <a:srgbClr val="000000"/>
                </a:solidFill>
                <a:latin typeface="+mn-ea"/>
                <a:ea typeface="+mn-ea"/>
              </a:rPr>
              <a:t>：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6018" name="矩形 5">
            <a:extLst>
              <a:ext uri="{FF2B5EF4-FFF2-40B4-BE49-F238E27FC236}">
                <a16:creationId xmlns:a16="http://schemas.microsoft.com/office/drawing/2014/main" id="{825184F7-6905-D8C0-89B1-B1B23DB87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14350"/>
            <a:ext cx="696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附页</a:t>
            </a:r>
            <a:endParaRPr lang="zh-CN" altLang="en-US">
              <a:solidFill>
                <a:srgbClr val="003399"/>
              </a:solidFill>
            </a:endParaRPr>
          </a:p>
        </p:txBody>
      </p:sp>
      <p:graphicFrame>
        <p:nvGraphicFramePr>
          <p:cNvPr id="86019" name="Object 9">
            <a:extLst>
              <a:ext uri="{FF2B5EF4-FFF2-40B4-BE49-F238E27FC236}">
                <a16:creationId xmlns:a16="http://schemas.microsoft.com/office/drawing/2014/main" id="{67EA2E4D-719E-5DC7-9A14-8465FB57F923}"/>
              </a:ext>
            </a:extLst>
          </p:cNvPr>
          <p:cNvGraphicFramePr>
            <a:graphicFrameLocks/>
          </p:cNvGraphicFramePr>
          <p:nvPr/>
        </p:nvGraphicFramePr>
        <p:xfrm>
          <a:off x="855663" y="1697038"/>
          <a:ext cx="7373937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686300" imgH="419100" progId="Equation.DSMT4">
                  <p:embed/>
                </p:oleObj>
              </mc:Choice>
              <mc:Fallback>
                <p:oleObj r:id="rId2" imgW="4686300" imgH="419100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1697038"/>
                        <a:ext cx="7373937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0" name="Object 14">
            <a:extLst>
              <a:ext uri="{FF2B5EF4-FFF2-40B4-BE49-F238E27FC236}">
                <a16:creationId xmlns:a16="http://schemas.microsoft.com/office/drawing/2014/main" id="{F93F6ADF-BD56-2CD9-5929-A7332DDD1AA0}"/>
              </a:ext>
            </a:extLst>
          </p:cNvPr>
          <p:cNvGraphicFramePr>
            <a:graphicFrameLocks/>
          </p:cNvGraphicFramePr>
          <p:nvPr/>
        </p:nvGraphicFramePr>
        <p:xfrm>
          <a:off x="831850" y="2443163"/>
          <a:ext cx="762635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087626" imgH="380835" progId="Equation.DSMT4">
                  <p:embed/>
                </p:oleObj>
              </mc:Choice>
              <mc:Fallback>
                <p:oleObj r:id="rId4" imgW="4087626" imgH="380835" progId="Equation.DSMT4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2443163"/>
                        <a:ext cx="7626350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16">
            <a:extLst>
              <a:ext uri="{FF2B5EF4-FFF2-40B4-BE49-F238E27FC236}">
                <a16:creationId xmlns:a16="http://schemas.microsoft.com/office/drawing/2014/main" id="{E65ED6A2-5146-F898-AFAD-1E8EA102FD34}"/>
              </a:ext>
            </a:extLst>
          </p:cNvPr>
          <p:cNvGraphicFramePr>
            <a:graphicFrameLocks/>
          </p:cNvGraphicFramePr>
          <p:nvPr/>
        </p:nvGraphicFramePr>
        <p:xfrm>
          <a:off x="1443038" y="3200400"/>
          <a:ext cx="6192837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708400" imgH="368300" progId="Equation.DSMT4">
                  <p:embed/>
                </p:oleObj>
              </mc:Choice>
              <mc:Fallback>
                <p:oleObj r:id="rId6" imgW="3708400" imgH="368300" progId="Equation.DSMT4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3200400"/>
                        <a:ext cx="6192837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8">
            <a:extLst>
              <a:ext uri="{FF2B5EF4-FFF2-40B4-BE49-F238E27FC236}">
                <a16:creationId xmlns:a16="http://schemas.microsoft.com/office/drawing/2014/main" id="{A628BD83-8C00-C345-8D75-117D063EE011}"/>
              </a:ext>
            </a:extLst>
          </p:cNvPr>
          <p:cNvGraphicFramePr>
            <a:graphicFrameLocks/>
          </p:cNvGraphicFramePr>
          <p:nvPr/>
        </p:nvGraphicFramePr>
        <p:xfrm>
          <a:off x="5564188" y="4670425"/>
          <a:ext cx="2970212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02618" imgH="1002865" progId="Equation.DSMT4">
                  <p:embed/>
                </p:oleObj>
              </mc:Choice>
              <mc:Fallback>
                <p:oleObj r:id="rId8" imgW="1802618" imgH="1002865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4188" y="4670425"/>
                        <a:ext cx="2970212" cy="1654175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 w="9525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19">
            <a:extLst>
              <a:ext uri="{FF2B5EF4-FFF2-40B4-BE49-F238E27FC236}">
                <a16:creationId xmlns:a16="http://schemas.microsoft.com/office/drawing/2014/main" id="{89E914CC-BA26-D3CA-8B6A-7A0B0E5C5DC7}"/>
              </a:ext>
            </a:extLst>
          </p:cNvPr>
          <p:cNvGraphicFramePr>
            <a:graphicFrameLocks/>
          </p:cNvGraphicFramePr>
          <p:nvPr/>
        </p:nvGraphicFramePr>
        <p:xfrm>
          <a:off x="1446213" y="3921125"/>
          <a:ext cx="3175000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86811" imgH="393529" progId="Equation.DSMT4">
                  <p:embed/>
                </p:oleObj>
              </mc:Choice>
              <mc:Fallback>
                <p:oleObj r:id="rId10" imgW="1586811" imgH="393529" progId="Equation.DSMT4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13" y="3921125"/>
                        <a:ext cx="3175000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Object 11">
            <a:extLst>
              <a:ext uri="{FF2B5EF4-FFF2-40B4-BE49-F238E27FC236}">
                <a16:creationId xmlns:a16="http://schemas.microsoft.com/office/drawing/2014/main" id="{3C347D01-1B47-BA27-E3ED-706FA00122F6}"/>
              </a:ext>
            </a:extLst>
          </p:cNvPr>
          <p:cNvGraphicFramePr>
            <a:graphicFrameLocks/>
          </p:cNvGraphicFramePr>
          <p:nvPr/>
        </p:nvGraphicFramePr>
        <p:xfrm>
          <a:off x="914400" y="5011738"/>
          <a:ext cx="350520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765300" imgH="508000" progId="Equation.DSMT4">
                  <p:embed/>
                </p:oleObj>
              </mc:Choice>
              <mc:Fallback>
                <p:oleObj r:id="rId12" imgW="1765300" imgH="5080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11738"/>
                        <a:ext cx="3505200" cy="1008062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5" name="Object 13">
            <a:extLst>
              <a:ext uri="{FF2B5EF4-FFF2-40B4-BE49-F238E27FC236}">
                <a16:creationId xmlns:a16="http://schemas.microsoft.com/office/drawing/2014/main" id="{FC3672CE-6D68-CAD5-D693-EACC8FAC11BF}"/>
              </a:ext>
            </a:extLst>
          </p:cNvPr>
          <p:cNvGraphicFramePr>
            <a:graphicFrameLocks/>
          </p:cNvGraphicFramePr>
          <p:nvPr/>
        </p:nvGraphicFramePr>
        <p:xfrm>
          <a:off x="4489450" y="4003675"/>
          <a:ext cx="7635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317225" imgH="253780" progId="Equation.DSMT4">
                  <p:embed/>
                </p:oleObj>
              </mc:Choice>
              <mc:Fallback>
                <p:oleObj r:id="rId14" imgW="317225" imgH="253780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9450" y="4003675"/>
                        <a:ext cx="7635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矩形 20">
            <a:extLst>
              <a:ext uri="{FF2B5EF4-FFF2-40B4-BE49-F238E27FC236}">
                <a16:creationId xmlns:a16="http://schemas.microsoft.com/office/drawing/2014/main" id="{853A6BF6-AB8A-7ADA-37FF-B45A344E7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044575"/>
            <a:ext cx="5562600" cy="461963"/>
          </a:xfrm>
          <a:prstGeom prst="rect">
            <a:avLst/>
          </a:prstGeom>
          <a:solidFill>
            <a:srgbClr val="E8E8E8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CC"/>
                </a:solidFill>
              </a:rPr>
              <a:t>∵</a:t>
            </a:r>
            <a:r>
              <a:rPr kumimoji="1" lang="en-US" altLang="zh-CN" sz="2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n(t)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是均值为</a:t>
            </a:r>
            <a:r>
              <a:rPr kumimoji="1" lang="en-US" altLang="zh-CN" sz="2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的高斯白噪声</a:t>
            </a:r>
            <a:r>
              <a:rPr lang="en-US" sz="2000" b="1" dirty="0">
                <a:solidFill>
                  <a:srgbClr val="0000CC"/>
                </a:solidFill>
                <a:latin typeface="+mn-ea"/>
                <a:ea typeface="+mn-ea"/>
              </a:rPr>
              <a:t> </a:t>
            </a:r>
            <a:r>
              <a:rPr lang="en-US" sz="2000" b="1" dirty="0">
                <a:solidFill>
                  <a:srgbClr val="0000CC"/>
                </a:solidFill>
              </a:rPr>
              <a:t>∴</a:t>
            </a:r>
            <a:r>
              <a:rPr lang="en-US" altLang="zh-CN" sz="2400" i="1" dirty="0">
                <a:solidFill>
                  <a:srgbClr val="CC00CC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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~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高斯分布</a:t>
            </a:r>
            <a:endParaRPr lang="zh-CN" altLang="en-US" b="1" dirty="0">
              <a:solidFill>
                <a:srgbClr val="003399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75B869-CBC5-0F94-8C1C-4D004C47CF17}"/>
              </a:ext>
            </a:extLst>
          </p:cNvPr>
          <p:cNvSpPr/>
          <p:nvPr/>
        </p:nvSpPr>
        <p:spPr>
          <a:xfrm>
            <a:off x="6096000" y="4267200"/>
            <a:ext cx="2227263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n(t)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的自相关函数</a:t>
            </a:r>
            <a:r>
              <a:rPr kumimoji="1" lang="zh-CN" altLang="en-US" b="1" dirty="0">
                <a:latin typeface="+mn-ea"/>
                <a:ea typeface="+mn-ea"/>
              </a:rPr>
              <a:t>：</a:t>
            </a:r>
            <a:endParaRPr lang="zh-CN" altLang="en-US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16E64C6-6E56-699F-E064-9AE8D9EA05A1}"/>
              </a:ext>
            </a:extLst>
          </p:cNvPr>
          <p:cNvSpPr/>
          <p:nvPr/>
        </p:nvSpPr>
        <p:spPr>
          <a:xfrm>
            <a:off x="685800" y="1066800"/>
            <a:ext cx="77724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同理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发送码元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“</a:t>
            </a:r>
            <a:r>
              <a:rPr lang="en-US" altLang="zh-CN" sz="2400" dirty="0">
                <a:solidFill>
                  <a:srgbClr val="99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”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时错判为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“</a:t>
            </a:r>
            <a:r>
              <a:rPr lang="en-US" altLang="zh-CN" sz="2400" dirty="0">
                <a:solidFill>
                  <a:srgbClr val="99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”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的概率为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：</a:t>
            </a:r>
          </a:p>
        </p:txBody>
      </p:sp>
      <p:graphicFrame>
        <p:nvGraphicFramePr>
          <p:cNvPr id="36" name="Object 4">
            <a:extLst>
              <a:ext uri="{FF2B5EF4-FFF2-40B4-BE49-F238E27FC236}">
                <a16:creationId xmlns:a16="http://schemas.microsoft.com/office/drawing/2014/main" id="{C9E8812E-A3CF-0622-794E-B436E40DE798}"/>
              </a:ext>
            </a:extLst>
          </p:cNvPr>
          <p:cNvGraphicFramePr>
            <a:graphicFrameLocks/>
          </p:cNvGraphicFramePr>
          <p:nvPr/>
        </p:nvGraphicFramePr>
        <p:xfrm>
          <a:off x="1497013" y="1466850"/>
          <a:ext cx="67056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275178" imgH="545863" progId="Equation.DSMT4">
                  <p:embed/>
                </p:oleObj>
              </mc:Choice>
              <mc:Fallback>
                <p:oleObj r:id="rId2" imgW="3275178" imgH="545863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1466850"/>
                        <a:ext cx="67056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5E6FD061-5202-0DF7-AFAF-F5B02C7D697C}"/>
              </a:ext>
            </a:extLst>
          </p:cNvPr>
          <p:cNvGraphicFramePr>
            <a:graphicFrameLocks/>
          </p:cNvGraphicFramePr>
          <p:nvPr/>
        </p:nvGraphicFramePr>
        <p:xfrm>
          <a:off x="2438400" y="2743200"/>
          <a:ext cx="45958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98700" imgH="419100" progId="Equation.DSMT4">
                  <p:embed/>
                </p:oleObj>
              </mc:Choice>
              <mc:Fallback>
                <p:oleObj r:id="rId4" imgW="2298700" imgH="41910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743200"/>
                        <a:ext cx="45958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矩形 8">
            <a:extLst>
              <a:ext uri="{FF2B5EF4-FFF2-40B4-BE49-F238E27FC236}">
                <a16:creationId xmlns:a16="http://schemas.microsoft.com/office/drawing/2014/main" id="{A5B2BF10-ED32-00BD-3EB6-A244ACFC1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667000"/>
            <a:ext cx="696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式中</a:t>
            </a:r>
          </a:p>
        </p:txBody>
      </p:sp>
      <p:sp>
        <p:nvSpPr>
          <p:cNvPr id="19464" name="矩形 9">
            <a:extLst>
              <a:ext uri="{FF2B5EF4-FFF2-40B4-BE49-F238E27FC236}">
                <a16:creationId xmlns:a16="http://schemas.microsoft.com/office/drawing/2014/main" id="{76740F3E-97AD-FB84-6713-3FF2362ED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67150"/>
            <a:ext cx="2236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总误码率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</a:p>
        </p:txBody>
      </p:sp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A4A40DD1-8D81-8152-B16C-9C911F496551}"/>
              </a:ext>
            </a:extLst>
          </p:cNvPr>
          <p:cNvGraphicFramePr>
            <a:graphicFrameLocks/>
          </p:cNvGraphicFramePr>
          <p:nvPr/>
        </p:nvGraphicFramePr>
        <p:xfrm>
          <a:off x="2635250" y="4473575"/>
          <a:ext cx="39179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54200" imgH="228600" progId="Equation.DSMT4">
                  <p:embed/>
                </p:oleObj>
              </mc:Choice>
              <mc:Fallback>
                <p:oleObj r:id="rId6" imgW="1854200" imgH="2286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0" y="4473575"/>
                        <a:ext cx="39179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7CFA2BEE-F1D3-1A29-EDB9-F1A85F73018A}"/>
              </a:ext>
            </a:extLst>
          </p:cNvPr>
          <p:cNvGraphicFramePr>
            <a:graphicFrameLocks/>
          </p:cNvGraphicFramePr>
          <p:nvPr/>
        </p:nvGraphicFramePr>
        <p:xfrm>
          <a:off x="1403350" y="5029200"/>
          <a:ext cx="6978650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300567" imgH="545863" progId="Equation.DSMT4">
                  <p:embed/>
                </p:oleObj>
              </mc:Choice>
              <mc:Fallback>
                <p:oleObj r:id="rId8" imgW="3300567" imgH="545863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029200"/>
                        <a:ext cx="6978650" cy="114458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463" grpId="0"/>
      <p:bldP spid="1946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9">
            <a:extLst>
              <a:ext uri="{FF2B5EF4-FFF2-40B4-BE49-F238E27FC236}">
                <a16:creationId xmlns:a16="http://schemas.microsoft.com/office/drawing/2014/main" id="{029021DD-4833-F400-9491-B33FCE310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19113"/>
            <a:ext cx="4495800" cy="5238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lvl="1">
              <a:buClr>
                <a:srgbClr val="FF0000"/>
              </a:buClr>
              <a:buSzPct val="83000"/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先验概率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误码率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的影响</a:t>
            </a:r>
          </a:p>
        </p:txBody>
      </p:sp>
      <p:graphicFrame>
        <p:nvGraphicFramePr>
          <p:cNvPr id="36" name="Object 6">
            <a:extLst>
              <a:ext uri="{FF2B5EF4-FFF2-40B4-BE49-F238E27FC236}">
                <a16:creationId xmlns:a16="http://schemas.microsoft.com/office/drawing/2014/main" id="{1055952B-E968-D620-FDDF-473634E0F9D1}"/>
              </a:ext>
            </a:extLst>
          </p:cNvPr>
          <p:cNvGraphicFramePr>
            <a:graphicFrameLocks/>
          </p:cNvGraphicFramePr>
          <p:nvPr/>
        </p:nvGraphicFramePr>
        <p:xfrm>
          <a:off x="1143000" y="4191000"/>
          <a:ext cx="41910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98700" imgH="419100" progId="Equation.DSMT4">
                  <p:embed/>
                </p:oleObj>
              </mc:Choice>
              <mc:Fallback>
                <p:oleObj r:id="rId2" imgW="2298700" imgH="41910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191000"/>
                        <a:ext cx="419100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E4A7A628-443E-864B-06D0-E71EC2AAF66F}"/>
              </a:ext>
            </a:extLst>
          </p:cNvPr>
          <p:cNvGraphicFramePr>
            <a:graphicFrameLocks/>
          </p:cNvGraphicFramePr>
          <p:nvPr/>
        </p:nvGraphicFramePr>
        <p:xfrm>
          <a:off x="1143000" y="3198813"/>
          <a:ext cx="419100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98700" imgH="419100" progId="Equation.DSMT4">
                  <p:embed/>
                </p:oleObj>
              </mc:Choice>
              <mc:Fallback>
                <p:oleObj r:id="rId4" imgW="2298700" imgH="419100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198813"/>
                        <a:ext cx="4191000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523F4A9-041D-5E09-B242-089B87037F4A}"/>
              </a:ext>
            </a:extLst>
          </p:cNvPr>
          <p:cNvSpPr/>
          <p:nvPr/>
        </p:nvSpPr>
        <p:spPr>
          <a:xfrm>
            <a:off x="609600" y="2509838"/>
            <a:ext cx="5181600" cy="46196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当先验概率 </a:t>
            </a:r>
            <a:r>
              <a:rPr kumimoji="1" lang="en-US" altLang="zh-CN" sz="2400" i="1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kumimoji="1" lang="en-US" altLang="zh-CN" sz="2400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(0) = 0 </a:t>
            </a:r>
            <a:r>
              <a:rPr kumimoji="1" lang="zh-CN" altLang="en-US" sz="24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及 </a:t>
            </a:r>
            <a:r>
              <a:rPr kumimoji="1" lang="en-US" altLang="zh-CN" sz="2400" i="1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kumimoji="1" lang="en-US" altLang="zh-CN" sz="2400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(1) = 1 </a:t>
            </a:r>
            <a:r>
              <a:rPr kumimoji="1" lang="zh-CN" altLang="en-US" sz="24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</a:t>
            </a:r>
            <a:r>
              <a:rPr kumimoji="1" lang="zh-CN" altLang="en-US" sz="2400" kern="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4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22D472A-44D5-7094-4A74-39272C65E7AE}"/>
              </a:ext>
            </a:extLst>
          </p:cNvPr>
          <p:cNvGraphicFramePr>
            <a:graphicFrameLocks/>
          </p:cNvGraphicFramePr>
          <p:nvPr/>
        </p:nvGraphicFramePr>
        <p:xfrm>
          <a:off x="5284788" y="3419475"/>
          <a:ext cx="660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29485" imgH="126725" progId="Equation.DSMT4">
                  <p:embed/>
                </p:oleObj>
              </mc:Choice>
              <mc:Fallback>
                <p:oleObj r:id="rId6" imgW="329485" imgH="126725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4788" y="3419475"/>
                        <a:ext cx="6604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EC1454ED-12E3-F9FC-4918-989BDF213661}"/>
              </a:ext>
            </a:extLst>
          </p:cNvPr>
          <p:cNvGraphicFramePr>
            <a:graphicFrameLocks/>
          </p:cNvGraphicFramePr>
          <p:nvPr/>
        </p:nvGraphicFramePr>
        <p:xfrm>
          <a:off x="5284788" y="4429125"/>
          <a:ext cx="533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66353" imgH="164885" progId="Equation.DSMT4">
                  <p:embed/>
                </p:oleObj>
              </mc:Choice>
              <mc:Fallback>
                <p:oleObj r:id="rId8" imgW="266353" imgH="164885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4788" y="4429125"/>
                        <a:ext cx="533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64F34FBC-9362-785C-DB18-CE14ECAC5475}"/>
              </a:ext>
            </a:extLst>
          </p:cNvPr>
          <p:cNvSpPr/>
          <p:nvPr/>
        </p:nvSpPr>
        <p:spPr>
          <a:xfrm>
            <a:off x="6019800" y="3867150"/>
            <a:ext cx="2438400" cy="4619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b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总误码率</a:t>
            </a:r>
            <a:r>
              <a:rPr kumimoji="1" lang="en-US" altLang="zh-CN" sz="2400" b="1" i="1" kern="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kumimoji="1" lang="en-US" altLang="zh-CN" sz="2400" b="1" kern="0" baseline="-250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0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2" name="Object 8">
            <a:extLst>
              <a:ext uri="{FF2B5EF4-FFF2-40B4-BE49-F238E27FC236}">
                <a16:creationId xmlns:a16="http://schemas.microsoft.com/office/drawing/2014/main" id="{655FD8CC-1A53-8EA6-7EEE-746225C26D24}"/>
              </a:ext>
            </a:extLst>
          </p:cNvPr>
          <p:cNvGraphicFramePr>
            <a:graphicFrameLocks/>
          </p:cNvGraphicFramePr>
          <p:nvPr/>
        </p:nvGraphicFramePr>
        <p:xfrm>
          <a:off x="1676400" y="1219200"/>
          <a:ext cx="60420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300567" imgH="545863" progId="Equation.DSMT4">
                  <p:embed/>
                </p:oleObj>
              </mc:Choice>
              <mc:Fallback>
                <p:oleObj r:id="rId10" imgW="3300567" imgH="545863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219200"/>
                        <a:ext cx="6042025" cy="9906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3B218A7D-3F97-4517-73FE-390678780DAB}"/>
              </a:ext>
            </a:extLst>
          </p:cNvPr>
          <p:cNvGraphicFramePr>
            <a:graphicFrameLocks/>
          </p:cNvGraphicFramePr>
          <p:nvPr/>
        </p:nvGraphicFramePr>
        <p:xfrm>
          <a:off x="3454400" y="5867400"/>
          <a:ext cx="787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93529" imgH="139639" progId="Equation.DSMT4">
                  <p:embed/>
                </p:oleObj>
              </mc:Choice>
              <mc:Fallback>
                <p:oleObj r:id="rId12" imgW="393529" imgH="139639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5867400"/>
                        <a:ext cx="787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D62DAEB0-F3A4-0494-A61C-AE3AB0F670D1}"/>
              </a:ext>
            </a:extLst>
          </p:cNvPr>
          <p:cNvGraphicFramePr>
            <a:graphicFrameLocks/>
          </p:cNvGraphicFramePr>
          <p:nvPr/>
        </p:nvGraphicFramePr>
        <p:xfrm>
          <a:off x="4927600" y="5791200"/>
          <a:ext cx="863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431052" imgH="177492" progId="Equation.DSMT4">
                  <p:embed/>
                </p:oleObj>
              </mc:Choice>
              <mc:Fallback>
                <p:oleObj r:id="rId14" imgW="431052" imgH="177492" progId="Equation.DSMT4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5791200"/>
                        <a:ext cx="863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eform 57">
            <a:extLst>
              <a:ext uri="{FF2B5EF4-FFF2-40B4-BE49-F238E27FC236}">
                <a16:creationId xmlns:a16="http://schemas.microsoft.com/office/drawing/2014/main" id="{E2315F6A-2870-6A62-9C04-5A994D232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900488"/>
            <a:ext cx="838200" cy="381000"/>
          </a:xfrm>
          <a:custGeom>
            <a:avLst/>
            <a:gdLst>
              <a:gd name="T0" fmla="*/ 4 w 46"/>
              <a:gd name="T1" fmla="*/ 0 h 43"/>
              <a:gd name="T2" fmla="*/ 35 w 46"/>
              <a:gd name="T3" fmla="*/ 15 h 43"/>
              <a:gd name="T4" fmla="*/ 30 w 46"/>
              <a:gd name="T5" fmla="*/ 6 h 43"/>
              <a:gd name="T6" fmla="*/ 46 w 46"/>
              <a:gd name="T7" fmla="*/ 22 h 43"/>
              <a:gd name="T8" fmla="*/ 27 w 46"/>
              <a:gd name="T9" fmla="*/ 40 h 43"/>
              <a:gd name="T10" fmla="*/ 34 w 46"/>
              <a:gd name="T11" fmla="*/ 30 h 43"/>
              <a:gd name="T12" fmla="*/ 0 w 46"/>
              <a:gd name="T13" fmla="*/ 43 h 43"/>
              <a:gd name="T14" fmla="*/ 4 w 46"/>
              <a:gd name="T15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6" h="43">
                <a:moveTo>
                  <a:pt x="4" y="0"/>
                </a:moveTo>
                <a:cubicBezTo>
                  <a:pt x="4" y="0"/>
                  <a:pt x="24" y="13"/>
                  <a:pt x="35" y="15"/>
                </a:cubicBezTo>
                <a:lnTo>
                  <a:pt x="30" y="6"/>
                </a:lnTo>
                <a:lnTo>
                  <a:pt x="46" y="22"/>
                </a:lnTo>
                <a:lnTo>
                  <a:pt x="27" y="40"/>
                </a:lnTo>
                <a:lnTo>
                  <a:pt x="34" y="30"/>
                </a:lnTo>
                <a:cubicBezTo>
                  <a:pt x="34" y="30"/>
                  <a:pt x="6" y="33"/>
                  <a:pt x="0" y="43"/>
                </a:cubicBezTo>
                <a:lnTo>
                  <a:pt x="4" y="0"/>
                </a:lnTo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97979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56B3E35-7283-579D-EB95-4F6259527EF3}"/>
              </a:ext>
            </a:extLst>
          </p:cNvPr>
          <p:cNvSpPr/>
          <p:nvPr/>
        </p:nvSpPr>
        <p:spPr>
          <a:xfrm>
            <a:off x="609600" y="5176838"/>
            <a:ext cx="5181600" cy="46196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当先验概率 </a:t>
            </a:r>
            <a:r>
              <a:rPr kumimoji="1" lang="en-US" altLang="zh-CN" sz="24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kumimoji="1" lang="en-US" altLang="zh-CN" sz="24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(0) = 1 </a:t>
            </a:r>
            <a:r>
              <a:rPr kumimoji="1"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及 </a:t>
            </a:r>
            <a:r>
              <a:rPr kumimoji="1" lang="en-US" altLang="zh-CN" sz="2400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kumimoji="1" lang="en-US" altLang="zh-CN" sz="24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(1) = 0 </a:t>
            </a:r>
            <a:r>
              <a:rPr kumimoji="1"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</a:t>
            </a:r>
            <a:r>
              <a:rPr kumimoji="1"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endParaRPr lang="zh-CN" altLang="en-US" sz="2400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1539336-5041-B5D9-2793-1693869EDBC2}"/>
              </a:ext>
            </a:extLst>
          </p:cNvPr>
          <p:cNvSpPr/>
          <p:nvPr/>
        </p:nvSpPr>
        <p:spPr>
          <a:xfrm>
            <a:off x="6024563" y="5176838"/>
            <a:ext cx="2438400" cy="4619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b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总误码率</a:t>
            </a:r>
            <a:r>
              <a:rPr kumimoji="1" lang="en-US" altLang="zh-CN" sz="2400" b="1" i="1" kern="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kumimoji="1" lang="en-US" altLang="zh-CN" sz="2400" b="1" kern="0" baseline="-250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0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1" grpId="0"/>
      <p:bldP spid="20" grpId="0" animBg="1"/>
      <p:bldP spid="25" grpId="0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1" name="Picture 11">
            <a:extLst>
              <a:ext uri="{FF2B5EF4-FFF2-40B4-BE49-F238E27FC236}">
                <a16:creationId xmlns:a16="http://schemas.microsoft.com/office/drawing/2014/main" id="{92ED3924-511D-FEB7-7DED-7262C83FC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5340350"/>
            <a:ext cx="7639050" cy="109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8">
            <a:extLst>
              <a:ext uri="{FF2B5EF4-FFF2-40B4-BE49-F238E27FC236}">
                <a16:creationId xmlns:a16="http://schemas.microsoft.com/office/drawing/2014/main" id="{7623746F-0A92-21CB-AF83-8311F78E8D71}"/>
              </a:ext>
            </a:extLst>
          </p:cNvPr>
          <p:cNvGraphicFramePr>
            <a:graphicFrameLocks/>
          </p:cNvGraphicFramePr>
          <p:nvPr/>
        </p:nvGraphicFramePr>
        <p:xfrm>
          <a:off x="1828800" y="2286000"/>
          <a:ext cx="60420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300567" imgH="545863" progId="Equation.DSMT4">
                  <p:embed/>
                </p:oleObj>
              </mc:Choice>
              <mc:Fallback>
                <p:oleObj r:id="rId3" imgW="3300567" imgH="545863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286000"/>
                        <a:ext cx="6042025" cy="9906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F59472F5-F727-B2E1-EBCC-884472DE3078}"/>
              </a:ext>
            </a:extLst>
          </p:cNvPr>
          <p:cNvSpPr/>
          <p:nvPr/>
        </p:nvSpPr>
        <p:spPr>
          <a:xfrm>
            <a:off x="685800" y="1108075"/>
            <a:ext cx="4876800" cy="4619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400" b="1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当先验概率 </a:t>
            </a:r>
            <a:r>
              <a:rPr kumimoji="1" lang="en-US" altLang="zh-CN" sz="2400" i="1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kumimoji="1" lang="en-US" altLang="zh-CN" sz="2400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(0) = </a:t>
            </a:r>
            <a:r>
              <a:rPr kumimoji="1" lang="en-US" altLang="zh-CN" sz="2400" i="1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kumimoji="1" lang="en-US" altLang="zh-CN" sz="2400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(1) = 1/2 </a:t>
            </a:r>
            <a:r>
              <a:rPr kumimoji="1" lang="zh-CN" altLang="en-US" sz="24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</a:t>
            </a:r>
            <a:r>
              <a:rPr kumimoji="1" lang="zh-CN" altLang="en-US" sz="2400" kern="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4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矩形 16">
            <a:extLst>
              <a:ext uri="{FF2B5EF4-FFF2-40B4-BE49-F238E27FC236}">
                <a16:creationId xmlns:a16="http://schemas.microsoft.com/office/drawing/2014/main" id="{110703BA-6AE2-10C8-9B36-4E81E390A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066800"/>
            <a:ext cx="1358900" cy="5238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i="1" dirty="0">
                <a:solidFill>
                  <a:srgbClr val="FF0000"/>
                </a:solidFill>
              </a:rPr>
              <a:t>a</a:t>
            </a:r>
            <a:r>
              <a:rPr lang="en-US" altLang="zh-CN" sz="2800" dirty="0">
                <a:solidFill>
                  <a:srgbClr val="FF0000"/>
                </a:solidFill>
              </a:rPr>
              <a:t> = </a:t>
            </a:r>
            <a:r>
              <a:rPr lang="en-US" altLang="zh-CN" sz="2800" i="1" dirty="0">
                <a:solidFill>
                  <a:srgbClr val="FF0000"/>
                </a:solidFill>
              </a:rPr>
              <a:t>b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89A26C-17D8-C266-353D-4ADAFAF97698}"/>
              </a:ext>
            </a:extLst>
          </p:cNvPr>
          <p:cNvSpPr/>
          <p:nvPr/>
        </p:nvSpPr>
        <p:spPr>
          <a:xfrm>
            <a:off x="609600" y="3429000"/>
            <a:ext cx="27432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可</a:t>
            </a:r>
            <a:r>
              <a:rPr lang="zh-CN" alt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简化为</a:t>
            </a:r>
            <a:r>
              <a:rPr lang="zh-CN" alt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：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21" name="Object 17">
            <a:extLst>
              <a:ext uri="{FF2B5EF4-FFF2-40B4-BE49-F238E27FC236}">
                <a16:creationId xmlns:a16="http://schemas.microsoft.com/office/drawing/2014/main" id="{7F501476-744C-648A-26E8-9B244BD9E729}"/>
              </a:ext>
            </a:extLst>
          </p:cNvPr>
          <p:cNvGraphicFramePr>
            <a:graphicFrameLocks/>
          </p:cNvGraphicFramePr>
          <p:nvPr/>
        </p:nvGraphicFramePr>
        <p:xfrm>
          <a:off x="1752600" y="3886200"/>
          <a:ext cx="305276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59866" imgH="545863" progId="Equation.DSMT4">
                  <p:embed/>
                </p:oleObj>
              </mc:Choice>
              <mc:Fallback>
                <p:oleObj r:id="rId5" imgW="1459866" imgH="545863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886200"/>
                        <a:ext cx="3052763" cy="11430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8">
            <a:extLst>
              <a:ext uri="{FF2B5EF4-FFF2-40B4-BE49-F238E27FC236}">
                <a16:creationId xmlns:a16="http://schemas.microsoft.com/office/drawing/2014/main" id="{304F05E5-3268-085B-9EF1-FD193D3B0E1E}"/>
              </a:ext>
            </a:extLst>
          </p:cNvPr>
          <p:cNvGraphicFramePr>
            <a:graphicFrameLocks/>
          </p:cNvGraphicFramePr>
          <p:nvPr/>
        </p:nvGraphicFramePr>
        <p:xfrm>
          <a:off x="5181600" y="4191000"/>
          <a:ext cx="3276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637589" imgH="393529" progId="Equation.DSMT4">
                  <p:embed/>
                </p:oleObj>
              </mc:Choice>
              <mc:Fallback>
                <p:oleObj r:id="rId7" imgW="1637589" imgH="393529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191000"/>
                        <a:ext cx="3276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Oval 18">
            <a:extLst>
              <a:ext uri="{FF2B5EF4-FFF2-40B4-BE49-F238E27FC236}">
                <a16:creationId xmlns:a16="http://schemas.microsoft.com/office/drawing/2014/main" id="{577E2BD2-F67E-0C9E-2920-9A831D924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13" y="5299075"/>
            <a:ext cx="1017587" cy="574675"/>
          </a:xfrm>
          <a:prstGeom prst="ellipse">
            <a:avLst/>
          </a:prstGeom>
          <a:solidFill>
            <a:srgbClr val="E8E8E8"/>
          </a:solidFill>
          <a:ln w="19050">
            <a:solidFill>
              <a:schemeClr val="bg1">
                <a:lumMod val="50000"/>
              </a:schemeClr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dirty="0">
                <a:solidFill>
                  <a:srgbClr val="99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solidFill>
                  <a:srgbClr val="99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可见：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F01A4A-C271-85D9-6465-2037EE1FB0D2}"/>
              </a:ext>
            </a:extLst>
          </p:cNvPr>
          <p:cNvSpPr/>
          <p:nvPr/>
        </p:nvSpPr>
        <p:spPr>
          <a:xfrm>
            <a:off x="609600" y="1809750"/>
            <a:ext cx="27432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这时，误码率</a:t>
            </a:r>
            <a:r>
              <a:rPr lang="zh-CN" alt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：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7" grpId="0" animBg="1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9">
            <a:extLst>
              <a:ext uri="{FF2B5EF4-FFF2-40B4-BE49-F238E27FC236}">
                <a16:creationId xmlns:a16="http://schemas.microsoft.com/office/drawing/2014/main" id="{5838D0EB-9146-40FC-B509-824C76957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57200"/>
            <a:ext cx="5562600" cy="5238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lvl="1">
              <a:buClr>
                <a:srgbClr val="FF0000"/>
              </a:buClr>
              <a:buSzPct val="83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1" i="1" kern="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kumimoji="1" lang="en-US" altLang="zh-CN" sz="2800" b="1" kern="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(0)=</a:t>
            </a:r>
            <a:r>
              <a:rPr kumimoji="1" lang="en-US" altLang="zh-CN" sz="2800" b="1" i="1" kern="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kumimoji="1" lang="en-US" altLang="zh-CN" sz="2800" b="1" kern="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(1)=1/2 </a:t>
            </a:r>
            <a:r>
              <a:rPr kumimoji="1" lang="zh-CN" altLang="en-US" sz="28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误码率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</a:p>
        </p:txBody>
      </p:sp>
      <p:graphicFrame>
        <p:nvGraphicFramePr>
          <p:cNvPr id="195589" name="Object 3">
            <a:extLst>
              <a:ext uri="{FF2B5EF4-FFF2-40B4-BE49-F238E27FC236}">
                <a16:creationId xmlns:a16="http://schemas.microsoft.com/office/drawing/2014/main" id="{4D182A42-46C1-E70E-1281-A833F3ED0C22}"/>
              </a:ext>
            </a:extLst>
          </p:cNvPr>
          <p:cNvGraphicFramePr>
            <a:graphicFrameLocks/>
          </p:cNvGraphicFramePr>
          <p:nvPr/>
        </p:nvGraphicFramePr>
        <p:xfrm>
          <a:off x="1438275" y="5630863"/>
          <a:ext cx="14573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47138" imgH="203024" progId="Equation.DSMT4">
                  <p:embed/>
                </p:oleObj>
              </mc:Choice>
              <mc:Fallback>
                <p:oleObj r:id="rId3" imgW="647138" imgH="203024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5630863"/>
                        <a:ext cx="14573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5">
            <a:extLst>
              <a:ext uri="{FF2B5EF4-FFF2-40B4-BE49-F238E27FC236}">
                <a16:creationId xmlns:a16="http://schemas.microsoft.com/office/drawing/2014/main" id="{44115811-529B-EEEE-D678-F973187290A4}"/>
              </a:ext>
            </a:extLst>
          </p:cNvPr>
          <p:cNvGraphicFramePr>
            <a:graphicFrameLocks/>
          </p:cNvGraphicFramePr>
          <p:nvPr/>
        </p:nvGraphicFramePr>
        <p:xfrm>
          <a:off x="2667000" y="4432300"/>
          <a:ext cx="178911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64781" imgH="330057" progId="Equation.DSMT4">
                  <p:embed/>
                </p:oleObj>
              </mc:Choice>
              <mc:Fallback>
                <p:oleObj r:id="rId5" imgW="964781" imgH="330057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432300"/>
                        <a:ext cx="1789113" cy="6111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5">
            <a:extLst>
              <a:ext uri="{FF2B5EF4-FFF2-40B4-BE49-F238E27FC236}">
                <a16:creationId xmlns:a16="http://schemas.microsoft.com/office/drawing/2014/main" id="{63B08E39-A9DA-F2D4-ED42-F57E85AA24AB}"/>
              </a:ext>
            </a:extLst>
          </p:cNvPr>
          <p:cNvGraphicFramePr>
            <a:graphicFrameLocks/>
          </p:cNvGraphicFramePr>
          <p:nvPr/>
        </p:nvGraphicFramePr>
        <p:xfrm>
          <a:off x="5029200" y="4419600"/>
          <a:ext cx="18145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52087" imgH="330057" progId="Equation.DSMT4">
                  <p:embed/>
                </p:oleObj>
              </mc:Choice>
              <mc:Fallback>
                <p:oleObj r:id="rId7" imgW="952087" imgH="330057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419600"/>
                        <a:ext cx="1814513" cy="6286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B1CA2CC6-6A37-B1A0-ECE9-F0FB0B015453}"/>
              </a:ext>
            </a:extLst>
          </p:cNvPr>
          <p:cNvSpPr/>
          <p:nvPr/>
        </p:nvSpPr>
        <p:spPr>
          <a:xfrm>
            <a:off x="3165475" y="5329238"/>
            <a:ext cx="3516313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当 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=  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</a:t>
            </a:r>
            <a:r>
              <a:rPr lang="zh-CN" altLang="en-US" sz="2400" b="1" dirty="0"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lang="zh-CN" altLang="en-US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＝ 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37A971-54D7-FD00-F2F4-D5B2D37C8871}"/>
              </a:ext>
            </a:extLst>
          </p:cNvPr>
          <p:cNvSpPr/>
          <p:nvPr/>
        </p:nvSpPr>
        <p:spPr>
          <a:xfrm>
            <a:off x="3165475" y="5862638"/>
            <a:ext cx="361632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当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=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</a:t>
            </a:r>
            <a:r>
              <a:rPr lang="zh-CN" altLang="en-US" sz="2400" b="1" dirty="0"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lang="zh-CN" altLang="en-US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＝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3CB04A6D-568C-3599-178B-3EE55183D51C}"/>
              </a:ext>
            </a:extLst>
          </p:cNvPr>
          <p:cNvSpPr/>
          <p:nvPr/>
        </p:nvSpPr>
        <p:spPr bwMode="auto">
          <a:xfrm>
            <a:off x="2971800" y="5557838"/>
            <a:ext cx="228600" cy="609600"/>
          </a:xfrm>
          <a:prstGeom prst="leftBrace">
            <a:avLst>
              <a:gd name="adj1" fmla="val 27191"/>
              <a:gd name="adj2" fmla="val 50000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 sz="2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E404184-84C8-4540-ACAB-A83572870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3050" y="3532188"/>
            <a:ext cx="15240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200" b="1" i="1">
                <a:solidFill>
                  <a:srgbClr val="003399"/>
                </a:solidFill>
              </a:rPr>
              <a:t>E</a:t>
            </a:r>
            <a:r>
              <a:rPr lang="en-US" altLang="zh-CN" sz="2200" b="1" baseline="-25000">
                <a:solidFill>
                  <a:srgbClr val="003399"/>
                </a:solidFill>
              </a:rPr>
              <a:t>0</a:t>
            </a:r>
            <a:r>
              <a:rPr lang="en-US" altLang="zh-CN" sz="2200" b="1">
                <a:solidFill>
                  <a:srgbClr val="003399"/>
                </a:solidFill>
              </a:rPr>
              <a:t>=</a:t>
            </a:r>
            <a:r>
              <a:rPr lang="en-US" altLang="zh-CN" sz="2200" b="1" i="1">
                <a:solidFill>
                  <a:srgbClr val="003399"/>
                </a:solidFill>
              </a:rPr>
              <a:t>E</a:t>
            </a:r>
            <a:r>
              <a:rPr lang="en-US" altLang="zh-CN" sz="2200" b="1" baseline="-25000">
                <a:solidFill>
                  <a:srgbClr val="003399"/>
                </a:solidFill>
              </a:rPr>
              <a:t>1</a:t>
            </a:r>
            <a:r>
              <a:rPr lang="en-US" altLang="zh-CN" sz="2200" b="1">
                <a:solidFill>
                  <a:srgbClr val="003399"/>
                </a:solidFill>
              </a:rPr>
              <a:t>=</a:t>
            </a:r>
            <a:r>
              <a:rPr lang="en-US" altLang="zh-CN" sz="2200" b="1" i="1">
                <a:solidFill>
                  <a:srgbClr val="003399"/>
                </a:solidFill>
              </a:rPr>
              <a:t>E</a:t>
            </a:r>
            <a:r>
              <a:rPr lang="en-US" altLang="zh-CN" sz="2200" b="1" baseline="-25000">
                <a:solidFill>
                  <a:srgbClr val="003399"/>
                </a:solidFill>
              </a:rPr>
              <a:t>b</a:t>
            </a:r>
            <a:endParaRPr lang="zh-CN" altLang="en-US" b="1">
              <a:solidFill>
                <a:srgbClr val="003399"/>
              </a:solidFill>
            </a:endParaRPr>
          </a:p>
        </p:txBody>
      </p:sp>
      <p:sp>
        <p:nvSpPr>
          <p:cNvPr id="19" name="Freeform 57">
            <a:extLst>
              <a:ext uri="{FF2B5EF4-FFF2-40B4-BE49-F238E27FC236}">
                <a16:creationId xmlns:a16="http://schemas.microsoft.com/office/drawing/2014/main" id="{46BE1453-08A8-94C9-BFF8-1C7E5F4A7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650" y="3048000"/>
            <a:ext cx="838200" cy="603250"/>
          </a:xfrm>
          <a:custGeom>
            <a:avLst/>
            <a:gdLst>
              <a:gd name="T0" fmla="*/ 4 w 46"/>
              <a:gd name="T1" fmla="*/ 0 h 43"/>
              <a:gd name="T2" fmla="*/ 35 w 46"/>
              <a:gd name="T3" fmla="*/ 15 h 43"/>
              <a:gd name="T4" fmla="*/ 30 w 46"/>
              <a:gd name="T5" fmla="*/ 6 h 43"/>
              <a:gd name="T6" fmla="*/ 46 w 46"/>
              <a:gd name="T7" fmla="*/ 22 h 43"/>
              <a:gd name="T8" fmla="*/ 27 w 46"/>
              <a:gd name="T9" fmla="*/ 40 h 43"/>
              <a:gd name="T10" fmla="*/ 34 w 46"/>
              <a:gd name="T11" fmla="*/ 30 h 43"/>
              <a:gd name="T12" fmla="*/ 0 w 46"/>
              <a:gd name="T13" fmla="*/ 43 h 43"/>
              <a:gd name="T14" fmla="*/ 4 w 46"/>
              <a:gd name="T15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6" h="43">
                <a:moveTo>
                  <a:pt x="4" y="0"/>
                </a:moveTo>
                <a:cubicBezTo>
                  <a:pt x="4" y="0"/>
                  <a:pt x="24" y="13"/>
                  <a:pt x="35" y="15"/>
                </a:cubicBezTo>
                <a:lnTo>
                  <a:pt x="30" y="6"/>
                </a:lnTo>
                <a:lnTo>
                  <a:pt x="46" y="22"/>
                </a:lnTo>
                <a:lnTo>
                  <a:pt x="27" y="40"/>
                </a:lnTo>
                <a:lnTo>
                  <a:pt x="34" y="30"/>
                </a:lnTo>
                <a:cubicBezTo>
                  <a:pt x="34" y="30"/>
                  <a:pt x="6" y="33"/>
                  <a:pt x="0" y="43"/>
                </a:cubicBezTo>
                <a:lnTo>
                  <a:pt x="4" y="0"/>
                </a:lnTo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97979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F0A69D-EDB6-EDD6-FC1C-11F8F668D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2273300"/>
            <a:ext cx="48006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为此</a:t>
            </a:r>
            <a:r>
              <a:rPr lang="zh-CN" altLang="en-US" sz="2000" dirty="0">
                <a:latin typeface="+mn-ea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zh-CN" altLang="en-US" sz="2000" dirty="0">
                <a:latin typeface="+mn-ea"/>
              </a:rPr>
              <a:t> </a:t>
            </a:r>
            <a:r>
              <a:rPr lang="en-US" altLang="zh-CN" sz="20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0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0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0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互相关系数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61F616-3F99-79FF-2F1D-43F595202385}"/>
              </a:ext>
            </a:extLst>
          </p:cNvPr>
          <p:cNvSpPr/>
          <p:nvPr/>
        </p:nvSpPr>
        <p:spPr>
          <a:xfrm>
            <a:off x="685800" y="1143000"/>
            <a:ext cx="25146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互相关系数 </a:t>
            </a:r>
            <a:r>
              <a:rPr lang="en-US" altLang="zh-CN" sz="2800" b="1" i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</a:t>
            </a:r>
            <a:endParaRPr lang="zh-CN" altLang="en-US" sz="2800" b="1" i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21522" name="Picture 18">
            <a:extLst>
              <a:ext uri="{FF2B5EF4-FFF2-40B4-BE49-F238E27FC236}">
                <a16:creationId xmlns:a16="http://schemas.microsoft.com/office/drawing/2014/main" id="{2C0ED6A8-F610-ED92-F56B-B986656FC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2" b="3423"/>
          <a:stretch>
            <a:fillRect/>
          </a:stretch>
        </p:blipFill>
        <p:spPr bwMode="auto">
          <a:xfrm>
            <a:off x="838200" y="1651000"/>
            <a:ext cx="8001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3" name="Picture 19">
            <a:extLst>
              <a:ext uri="{FF2B5EF4-FFF2-40B4-BE49-F238E27FC236}">
                <a16:creationId xmlns:a16="http://schemas.microsoft.com/office/drawing/2014/main" id="{63C1411E-C813-BA1B-9A02-75F394B3D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06"/>
          <a:stretch>
            <a:fillRect/>
          </a:stretch>
        </p:blipFill>
        <p:spPr bwMode="auto">
          <a:xfrm>
            <a:off x="5588000" y="2778125"/>
            <a:ext cx="28067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4C706D9-4AE4-763F-458D-F0B3CF827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071"/>
          <a:stretch>
            <a:fillRect/>
          </a:stretch>
        </p:blipFill>
        <p:spPr bwMode="auto">
          <a:xfrm>
            <a:off x="1252538" y="2762250"/>
            <a:ext cx="28448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  <p:bldP spid="14" grpId="0" animBg="1"/>
      <p:bldP spid="18" grpId="0"/>
      <p:bldP spid="19" grpId="0" animBg="1"/>
      <p:bldP spid="15" grpId="0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1" name="Object 2">
            <a:extLst>
              <a:ext uri="{FF2B5EF4-FFF2-40B4-BE49-F238E27FC236}">
                <a16:creationId xmlns:a16="http://schemas.microsoft.com/office/drawing/2014/main" id="{42DDC8B2-8C91-9C55-3203-BE1ECA33B2A5}"/>
              </a:ext>
            </a:extLst>
          </p:cNvPr>
          <p:cNvGraphicFramePr>
            <a:graphicFrameLocks/>
          </p:cNvGraphicFramePr>
          <p:nvPr/>
        </p:nvGraphicFramePr>
        <p:xfrm>
          <a:off x="1676400" y="1681163"/>
          <a:ext cx="29718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59866" imgH="545863" progId="Equation.DSMT4">
                  <p:embed/>
                </p:oleObj>
              </mc:Choice>
              <mc:Fallback>
                <p:oleObj r:id="rId2" imgW="1459866" imgH="545863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81163"/>
                        <a:ext cx="2971800" cy="11112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2" name="Object 3">
            <a:extLst>
              <a:ext uri="{FF2B5EF4-FFF2-40B4-BE49-F238E27FC236}">
                <a16:creationId xmlns:a16="http://schemas.microsoft.com/office/drawing/2014/main" id="{E09F93AC-C320-DE71-5585-3C3EAF144AFB}"/>
              </a:ext>
            </a:extLst>
          </p:cNvPr>
          <p:cNvGraphicFramePr>
            <a:graphicFrameLocks/>
          </p:cNvGraphicFramePr>
          <p:nvPr/>
        </p:nvGraphicFramePr>
        <p:xfrm>
          <a:off x="5181600" y="1371600"/>
          <a:ext cx="33528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37589" imgH="393529" progId="Equation.DSMT4">
                  <p:embed/>
                </p:oleObj>
              </mc:Choice>
              <mc:Fallback>
                <p:oleObj r:id="rId4" imgW="1637589" imgH="393529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371600"/>
                        <a:ext cx="33528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2CD6F4A8-9A34-A87D-91A1-B3BFCFA6DFB1}"/>
              </a:ext>
            </a:extLst>
          </p:cNvPr>
          <p:cNvGraphicFramePr>
            <a:graphicFrameLocks/>
          </p:cNvGraphicFramePr>
          <p:nvPr/>
        </p:nvGraphicFramePr>
        <p:xfrm>
          <a:off x="5410200" y="22860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99753" imgH="228501" progId="Equation.DSMT4">
                  <p:embed/>
                </p:oleObj>
              </mc:Choice>
              <mc:Fallback>
                <p:oleObj r:id="rId6" imgW="799753" imgH="228501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286000"/>
                        <a:ext cx="160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矩形 16">
            <a:extLst>
              <a:ext uri="{FF2B5EF4-FFF2-40B4-BE49-F238E27FC236}">
                <a16:creationId xmlns:a16="http://schemas.microsoft.com/office/drawing/2014/main" id="{40176D77-84D8-9852-625A-BDB0A6B7D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476750"/>
            <a:ext cx="55626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5000"/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式中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zh-CN" altLang="en-US" sz="2000" dirty="0"/>
              <a:t> </a:t>
            </a:r>
            <a:r>
              <a:rPr lang="en-US" altLang="zh-CN" sz="2000" i="1" dirty="0" err="1"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en-US" altLang="zh-CN" sz="2000" i="1" baseline="-25000" dirty="0" err="1"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en-US" altLang="zh-CN" sz="2000" dirty="0">
                <a:ea typeface="微软雅黑" panose="020B0503020204020204" pitchFamily="34" charset="-122"/>
                <a:cs typeface="Arial" panose="020B0604020202020204" pitchFamily="34" charset="0"/>
              </a:rPr>
              <a:t> — </a:t>
            </a: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码元能量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；</a:t>
            </a:r>
            <a:r>
              <a:rPr lang="en-US" altLang="zh-CN" sz="2000" i="1" dirty="0"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000" baseline="-25000" dirty="0"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000" dirty="0"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ea typeface="微软雅黑" panose="020B0503020204020204" pitchFamily="34" charset="-122"/>
                <a:cs typeface="Arial" panose="020B0604020202020204" pitchFamily="34" charset="0"/>
              </a:rPr>
              <a:t>—</a:t>
            </a:r>
            <a:r>
              <a:rPr lang="en-US" altLang="zh-CN" sz="2000" dirty="0"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噪声功率谱密度。</a:t>
            </a:r>
          </a:p>
        </p:txBody>
      </p:sp>
      <p:sp>
        <p:nvSpPr>
          <p:cNvPr id="26635" name="矩形 17">
            <a:extLst>
              <a:ext uri="{FF2B5EF4-FFF2-40B4-BE49-F238E27FC236}">
                <a16:creationId xmlns:a16="http://schemas.microsoft.com/office/drawing/2014/main" id="{2591EA21-CB6A-A8CE-7454-2545BB8E1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138488"/>
            <a:ext cx="2971800" cy="912812"/>
          </a:xfrm>
          <a:prstGeom prst="rect">
            <a:avLst/>
          </a:prstGeom>
          <a:solidFill>
            <a:srgbClr val="E8E8E8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等概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等能  二进制 确知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数字信号的误码率的最小值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D791DE-F088-A6A1-4331-57AC6C03A44C}"/>
              </a:ext>
            </a:extLst>
          </p:cNvPr>
          <p:cNvSpPr/>
          <p:nvPr/>
        </p:nvSpPr>
        <p:spPr>
          <a:xfrm>
            <a:off x="609600" y="990600"/>
            <a:ext cx="28194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误码率 </a:t>
            </a:r>
            <a:r>
              <a:rPr kumimoji="1" lang="en-US" altLang="zh-CN" sz="2800" b="1" i="1" dirty="0" err="1">
                <a:solidFill>
                  <a:srgbClr val="FF0000"/>
                </a:solidFill>
                <a:ea typeface="华文中宋" panose="02010600040101010101" pitchFamily="2" charset="-122"/>
              </a:rPr>
              <a:t>P</a:t>
            </a:r>
            <a:r>
              <a:rPr kumimoji="1" lang="en-US" altLang="zh-CN" sz="2800" b="1" baseline="-25000" dirty="0" err="1">
                <a:solidFill>
                  <a:srgbClr val="FF0000"/>
                </a:solidFill>
                <a:ea typeface="华文中宋" panose="02010600040101010101" pitchFamily="2" charset="-122"/>
              </a:rPr>
              <a:t>e</a:t>
            </a:r>
            <a:r>
              <a:rPr kumimoji="1" lang="en-US" altLang="zh-CN" sz="2800" b="1" baseline="-25000" dirty="0">
                <a:solidFill>
                  <a:srgbClr val="FF0000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800" b="1" i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  <a:sym typeface="Symbol" panose="05050102010706020507" pitchFamily="18" charset="2"/>
              </a:rPr>
              <a:t></a:t>
            </a:r>
            <a:endParaRPr lang="zh-CN" altLang="en-US" sz="2800" b="1" i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6" name="Freeform 57">
            <a:extLst>
              <a:ext uri="{FF2B5EF4-FFF2-40B4-BE49-F238E27FC236}">
                <a16:creationId xmlns:a16="http://schemas.microsoft.com/office/drawing/2014/main" id="{BD1F3927-04CA-3F0E-A173-BB912E375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429000"/>
            <a:ext cx="609600" cy="533400"/>
          </a:xfrm>
          <a:custGeom>
            <a:avLst/>
            <a:gdLst>
              <a:gd name="T0" fmla="*/ 4 w 46"/>
              <a:gd name="T1" fmla="*/ 0 h 43"/>
              <a:gd name="T2" fmla="*/ 35 w 46"/>
              <a:gd name="T3" fmla="*/ 15 h 43"/>
              <a:gd name="T4" fmla="*/ 30 w 46"/>
              <a:gd name="T5" fmla="*/ 6 h 43"/>
              <a:gd name="T6" fmla="*/ 46 w 46"/>
              <a:gd name="T7" fmla="*/ 22 h 43"/>
              <a:gd name="T8" fmla="*/ 27 w 46"/>
              <a:gd name="T9" fmla="*/ 40 h 43"/>
              <a:gd name="T10" fmla="*/ 34 w 46"/>
              <a:gd name="T11" fmla="*/ 30 h 43"/>
              <a:gd name="T12" fmla="*/ 0 w 46"/>
              <a:gd name="T13" fmla="*/ 43 h 43"/>
              <a:gd name="T14" fmla="*/ 4 w 46"/>
              <a:gd name="T15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6" h="43">
                <a:moveTo>
                  <a:pt x="4" y="0"/>
                </a:moveTo>
                <a:cubicBezTo>
                  <a:pt x="4" y="0"/>
                  <a:pt x="24" y="13"/>
                  <a:pt x="35" y="15"/>
                </a:cubicBezTo>
                <a:lnTo>
                  <a:pt x="30" y="6"/>
                </a:lnTo>
                <a:lnTo>
                  <a:pt x="46" y="22"/>
                </a:lnTo>
                <a:lnTo>
                  <a:pt x="27" y="40"/>
                </a:lnTo>
                <a:lnTo>
                  <a:pt x="34" y="30"/>
                </a:lnTo>
                <a:cubicBezTo>
                  <a:pt x="34" y="30"/>
                  <a:pt x="6" y="33"/>
                  <a:pt x="0" y="43"/>
                </a:cubicBezTo>
                <a:lnTo>
                  <a:pt x="4" y="0"/>
                </a:lnTo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97979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A98314-53E0-FC45-0494-13B095693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024438"/>
            <a:ext cx="6049963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65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当</a:t>
            </a:r>
            <a:r>
              <a:rPr kumimoji="1" lang="zh-CN" altLang="en-US" sz="20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i="1" dirty="0" err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kumimoji="1" lang="en-US" altLang="zh-CN" sz="2400" baseline="-25000" dirty="0" err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kumimoji="1" lang="en-US" altLang="zh-CN" sz="240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/n</a:t>
            </a:r>
            <a:r>
              <a:rPr kumimoji="1" lang="en-US" altLang="zh-CN" sz="2400" baseline="-2500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一定时</a:t>
            </a:r>
            <a:r>
              <a:rPr kumimoji="1" lang="zh-CN" altLang="en-US" sz="2000" b="1" dirty="0">
                <a:solidFill>
                  <a:srgbClr val="003399"/>
                </a:solidFill>
                <a:latin typeface="+mn-ea"/>
                <a:ea typeface="+mn-ea"/>
              </a:rPr>
              <a:t>，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en-US" altLang="zh-CN" sz="2400" b="1" baseline="-25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en-US" altLang="zh-CN" sz="24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是相关系数 </a:t>
            </a:r>
            <a:r>
              <a:rPr kumimoji="1" lang="el-GR" altLang="zh-CN" sz="24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ρ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的函数。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8003F59D-EAA6-AC7F-1252-98B40E014433}"/>
              </a:ext>
            </a:extLst>
          </p:cNvPr>
          <p:cNvSpPr>
            <a:spLocks noEditPoints="1" noChangeArrowheads="1"/>
          </p:cNvSpPr>
          <p:nvPr/>
        </p:nvSpPr>
        <p:spPr bwMode="auto">
          <a:xfrm flipV="1">
            <a:off x="5661025" y="5024438"/>
            <a:ext cx="477838" cy="381000"/>
          </a:xfrm>
          <a:custGeom>
            <a:avLst/>
            <a:gdLst>
              <a:gd name="T0" fmla="*/ 0 w 728"/>
              <a:gd name="T1" fmla="*/ 590 h 604"/>
              <a:gd name="T2" fmla="*/ 6 w 728"/>
              <a:gd name="T3" fmla="*/ 582 h 604"/>
              <a:gd name="T4" fmla="*/ 718 w 728"/>
              <a:gd name="T5" fmla="*/ 0 h 604"/>
              <a:gd name="T6" fmla="*/ 656 w 728"/>
              <a:gd name="T7" fmla="*/ 216 h 604"/>
              <a:gd name="T8" fmla="*/ 626 w 728"/>
              <a:gd name="T9" fmla="*/ 324 h 604"/>
              <a:gd name="T10" fmla="*/ 588 w 728"/>
              <a:gd name="T11" fmla="*/ 418 h 604"/>
              <a:gd name="T12" fmla="*/ 542 w 728"/>
              <a:gd name="T13" fmla="*/ 494 h 604"/>
              <a:gd name="T14" fmla="*/ 504 w 728"/>
              <a:gd name="T15" fmla="*/ 536 h 604"/>
              <a:gd name="T16" fmla="*/ 470 w 728"/>
              <a:gd name="T17" fmla="*/ 562 h 604"/>
              <a:gd name="T18" fmla="*/ 420 w 728"/>
              <a:gd name="T19" fmla="*/ 586 h 604"/>
              <a:gd name="T20" fmla="*/ 364 w 728"/>
              <a:gd name="T21" fmla="*/ 598 h 604"/>
              <a:gd name="T22" fmla="*/ 306 w 728"/>
              <a:gd name="T23" fmla="*/ 592 h 604"/>
              <a:gd name="T24" fmla="*/ 278 w 728"/>
              <a:gd name="T25" fmla="*/ 582 h 604"/>
              <a:gd name="T26" fmla="*/ 198 w 728"/>
              <a:gd name="T27" fmla="*/ 554 h 604"/>
              <a:gd name="T28" fmla="*/ 124 w 728"/>
              <a:gd name="T29" fmla="*/ 540 h 604"/>
              <a:gd name="T30" fmla="*/ 92 w 728"/>
              <a:gd name="T31" fmla="*/ 540 h 604"/>
              <a:gd name="T32" fmla="*/ 62 w 728"/>
              <a:gd name="T33" fmla="*/ 546 h 604"/>
              <a:gd name="T34" fmla="*/ 36 w 728"/>
              <a:gd name="T35" fmla="*/ 556 h 604"/>
              <a:gd name="T36" fmla="*/ 12 w 728"/>
              <a:gd name="T37" fmla="*/ 574 h 604"/>
              <a:gd name="T38" fmla="*/ 46 w 728"/>
              <a:gd name="T39" fmla="*/ 552 h 604"/>
              <a:gd name="T40" fmla="*/ 70 w 728"/>
              <a:gd name="T41" fmla="*/ 544 h 604"/>
              <a:gd name="T42" fmla="*/ 100 w 728"/>
              <a:gd name="T43" fmla="*/ 542 h 604"/>
              <a:gd name="T44" fmla="*/ 134 w 728"/>
              <a:gd name="T45" fmla="*/ 544 h 604"/>
              <a:gd name="T46" fmla="*/ 174 w 728"/>
              <a:gd name="T47" fmla="*/ 550 h 604"/>
              <a:gd name="T48" fmla="*/ 222 w 728"/>
              <a:gd name="T49" fmla="*/ 564 h 604"/>
              <a:gd name="T50" fmla="*/ 276 w 728"/>
              <a:gd name="T51" fmla="*/ 586 h 604"/>
              <a:gd name="T52" fmla="*/ 322 w 728"/>
              <a:gd name="T53" fmla="*/ 600 h 604"/>
              <a:gd name="T54" fmla="*/ 376 w 728"/>
              <a:gd name="T55" fmla="*/ 604 h 604"/>
              <a:gd name="T56" fmla="*/ 434 w 728"/>
              <a:gd name="T57" fmla="*/ 592 h 604"/>
              <a:gd name="T58" fmla="*/ 498 w 728"/>
              <a:gd name="T59" fmla="*/ 560 h 604"/>
              <a:gd name="T60" fmla="*/ 526 w 728"/>
              <a:gd name="T61" fmla="*/ 538 h 604"/>
              <a:gd name="T62" fmla="*/ 554 w 728"/>
              <a:gd name="T63" fmla="*/ 508 h 604"/>
              <a:gd name="T64" fmla="*/ 606 w 728"/>
              <a:gd name="T65" fmla="*/ 430 h 604"/>
              <a:gd name="T66" fmla="*/ 650 w 728"/>
              <a:gd name="T67" fmla="*/ 332 h 604"/>
              <a:gd name="T68" fmla="*/ 684 w 728"/>
              <a:gd name="T69" fmla="*/ 220 h 604"/>
              <a:gd name="T70" fmla="*/ 718 w 728"/>
              <a:gd name="T71" fmla="*/ 0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rgbClr val="0000CC"/>
              </a:solidFill>
            </a:endParaRPr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A57129E0-4073-9EDF-D076-F0EAF89B796B}"/>
              </a:ext>
            </a:extLst>
          </p:cNvPr>
          <p:cNvSpPr>
            <a:spLocks noEditPoints="1" noChangeArrowheads="1"/>
          </p:cNvSpPr>
          <p:nvPr/>
        </p:nvSpPr>
        <p:spPr bwMode="auto">
          <a:xfrm flipV="1">
            <a:off x="3865563" y="5024438"/>
            <a:ext cx="477837" cy="381000"/>
          </a:xfrm>
          <a:custGeom>
            <a:avLst/>
            <a:gdLst>
              <a:gd name="T0" fmla="*/ 0 w 728"/>
              <a:gd name="T1" fmla="*/ 590 h 604"/>
              <a:gd name="T2" fmla="*/ 6 w 728"/>
              <a:gd name="T3" fmla="*/ 582 h 604"/>
              <a:gd name="T4" fmla="*/ 718 w 728"/>
              <a:gd name="T5" fmla="*/ 0 h 604"/>
              <a:gd name="T6" fmla="*/ 656 w 728"/>
              <a:gd name="T7" fmla="*/ 216 h 604"/>
              <a:gd name="T8" fmla="*/ 626 w 728"/>
              <a:gd name="T9" fmla="*/ 324 h 604"/>
              <a:gd name="T10" fmla="*/ 588 w 728"/>
              <a:gd name="T11" fmla="*/ 418 h 604"/>
              <a:gd name="T12" fmla="*/ 542 w 728"/>
              <a:gd name="T13" fmla="*/ 494 h 604"/>
              <a:gd name="T14" fmla="*/ 504 w 728"/>
              <a:gd name="T15" fmla="*/ 536 h 604"/>
              <a:gd name="T16" fmla="*/ 470 w 728"/>
              <a:gd name="T17" fmla="*/ 562 h 604"/>
              <a:gd name="T18" fmla="*/ 420 w 728"/>
              <a:gd name="T19" fmla="*/ 586 h 604"/>
              <a:gd name="T20" fmla="*/ 364 w 728"/>
              <a:gd name="T21" fmla="*/ 598 h 604"/>
              <a:gd name="T22" fmla="*/ 306 w 728"/>
              <a:gd name="T23" fmla="*/ 592 h 604"/>
              <a:gd name="T24" fmla="*/ 278 w 728"/>
              <a:gd name="T25" fmla="*/ 582 h 604"/>
              <a:gd name="T26" fmla="*/ 198 w 728"/>
              <a:gd name="T27" fmla="*/ 554 h 604"/>
              <a:gd name="T28" fmla="*/ 124 w 728"/>
              <a:gd name="T29" fmla="*/ 540 h 604"/>
              <a:gd name="T30" fmla="*/ 92 w 728"/>
              <a:gd name="T31" fmla="*/ 540 h 604"/>
              <a:gd name="T32" fmla="*/ 62 w 728"/>
              <a:gd name="T33" fmla="*/ 546 h 604"/>
              <a:gd name="T34" fmla="*/ 36 w 728"/>
              <a:gd name="T35" fmla="*/ 556 h 604"/>
              <a:gd name="T36" fmla="*/ 12 w 728"/>
              <a:gd name="T37" fmla="*/ 574 h 604"/>
              <a:gd name="T38" fmla="*/ 46 w 728"/>
              <a:gd name="T39" fmla="*/ 552 h 604"/>
              <a:gd name="T40" fmla="*/ 70 w 728"/>
              <a:gd name="T41" fmla="*/ 544 h 604"/>
              <a:gd name="T42" fmla="*/ 100 w 728"/>
              <a:gd name="T43" fmla="*/ 542 h 604"/>
              <a:gd name="T44" fmla="*/ 134 w 728"/>
              <a:gd name="T45" fmla="*/ 544 h 604"/>
              <a:gd name="T46" fmla="*/ 174 w 728"/>
              <a:gd name="T47" fmla="*/ 550 h 604"/>
              <a:gd name="T48" fmla="*/ 222 w 728"/>
              <a:gd name="T49" fmla="*/ 564 h 604"/>
              <a:gd name="T50" fmla="*/ 276 w 728"/>
              <a:gd name="T51" fmla="*/ 586 h 604"/>
              <a:gd name="T52" fmla="*/ 322 w 728"/>
              <a:gd name="T53" fmla="*/ 600 h 604"/>
              <a:gd name="T54" fmla="*/ 376 w 728"/>
              <a:gd name="T55" fmla="*/ 604 h 604"/>
              <a:gd name="T56" fmla="*/ 434 w 728"/>
              <a:gd name="T57" fmla="*/ 592 h 604"/>
              <a:gd name="T58" fmla="*/ 498 w 728"/>
              <a:gd name="T59" fmla="*/ 560 h 604"/>
              <a:gd name="T60" fmla="*/ 526 w 728"/>
              <a:gd name="T61" fmla="*/ 538 h 604"/>
              <a:gd name="T62" fmla="*/ 554 w 728"/>
              <a:gd name="T63" fmla="*/ 508 h 604"/>
              <a:gd name="T64" fmla="*/ 606 w 728"/>
              <a:gd name="T65" fmla="*/ 430 h 604"/>
              <a:gd name="T66" fmla="*/ 650 w 728"/>
              <a:gd name="T67" fmla="*/ 332 h 604"/>
              <a:gd name="T68" fmla="*/ 684 w 728"/>
              <a:gd name="T69" fmla="*/ 220 h 604"/>
              <a:gd name="T70" fmla="*/ 718 w 728"/>
              <a:gd name="T71" fmla="*/ 0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solidFill>
                <a:srgbClr val="0000CC"/>
              </a:solidFill>
            </a:endParaRPr>
          </a:p>
        </p:txBody>
      </p:sp>
      <p:sp>
        <p:nvSpPr>
          <p:cNvPr id="22" name="矩形 16">
            <a:extLst>
              <a:ext uri="{FF2B5EF4-FFF2-40B4-BE49-F238E27FC236}">
                <a16:creationId xmlns:a16="http://schemas.microsoft.com/office/drawing/2014/main" id="{6EFFE7D5-CCF5-E799-63DA-9A0AB59BD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818188"/>
            <a:ext cx="70866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5000"/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                         </a:t>
            </a:r>
            <a:r>
              <a:rPr lang="zh-CN" altLang="en-US" sz="16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         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相当于</a:t>
            </a:r>
            <a:r>
              <a:rPr lang="zh-CN" altLang="en-US" sz="2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信噪功率比</a:t>
            </a:r>
            <a:r>
              <a:rPr lang="zh-CN" altLang="en-US" sz="2000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en-US" sz="2000" dirty="0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E3099E99-2263-4636-1560-CF655B662D2E}"/>
              </a:ext>
            </a:extLst>
          </p:cNvPr>
          <p:cNvGraphicFramePr>
            <a:graphicFrameLocks/>
          </p:cNvGraphicFramePr>
          <p:nvPr/>
        </p:nvGraphicFramePr>
        <p:xfrm>
          <a:off x="1730375" y="5638800"/>
          <a:ext cx="4165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081896" imgH="431613" progId="Equation.DSMT4">
                  <p:embed/>
                </p:oleObj>
              </mc:Choice>
              <mc:Fallback>
                <p:oleObj r:id="rId8" imgW="2081896" imgH="431613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75" y="5638800"/>
                        <a:ext cx="41656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43" name="Picture 15">
            <a:extLst>
              <a:ext uri="{FF2B5EF4-FFF2-40B4-BE49-F238E27FC236}">
                <a16:creationId xmlns:a16="http://schemas.microsoft.com/office/drawing/2014/main" id="{A8F19172-5400-C774-66E1-D2815F63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10"/>
          <a:stretch>
            <a:fillRect/>
          </a:stretch>
        </p:blipFill>
        <p:spPr bwMode="auto">
          <a:xfrm>
            <a:off x="1519238" y="3117850"/>
            <a:ext cx="3448050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4" grpId="0"/>
      <p:bldP spid="26635" grpId="0" animBg="1"/>
      <p:bldP spid="13" grpId="0"/>
      <p:bldP spid="16" grpId="0" animBg="1"/>
      <p:bldP spid="17" grpId="0"/>
      <p:bldP spid="18" grpId="0" animBg="1"/>
      <p:bldP spid="20" grpId="0" animBg="1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34">
            <a:extLst>
              <a:ext uri="{FF2B5EF4-FFF2-40B4-BE49-F238E27FC236}">
                <a16:creationId xmlns:a16="http://schemas.microsoft.com/office/drawing/2014/main" id="{149BE8F7-5284-C88D-9BC2-6E8BF17BC0D1}"/>
              </a:ext>
            </a:extLst>
          </p:cNvPr>
          <p:cNvSpPr/>
          <p:nvPr/>
        </p:nvSpPr>
        <p:spPr bwMode="auto">
          <a:xfrm>
            <a:off x="2362200" y="519113"/>
            <a:ext cx="2819400" cy="914400"/>
          </a:xfrm>
          <a:prstGeom prst="round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BCC18792-6591-C3D4-E2EA-69981E3F8D21}"/>
              </a:ext>
            </a:extLst>
          </p:cNvPr>
          <p:cNvSpPr/>
          <p:nvPr/>
        </p:nvSpPr>
        <p:spPr bwMode="auto">
          <a:xfrm>
            <a:off x="5653088" y="492125"/>
            <a:ext cx="2209800" cy="914400"/>
          </a:xfrm>
          <a:prstGeom prst="round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3EA7083-6275-1BF2-DCBA-E5113780681F}"/>
              </a:ext>
            </a:extLst>
          </p:cNvPr>
          <p:cNvGraphicFramePr>
            <a:graphicFrameLocks noGrp="1"/>
          </p:cNvGraphicFramePr>
          <p:nvPr/>
        </p:nvGraphicFramePr>
        <p:xfrm>
          <a:off x="1854200" y="1730375"/>
          <a:ext cx="6096000" cy="3521075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856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altLang="zh-CN"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46473" marB="4647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altLang="zh-CN" sz="2000" b="1" i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endParaRPr lang="zh-CN" altLang="en-US"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46473" marB="4647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6473" marB="4647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27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 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46473" marB="4647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altLang="zh-CN" sz="2000" b="1" i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46473" marB="46473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T="46473" marB="4647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4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zh-C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46473" marB="4647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46473" marB="4647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6473" marB="4647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300">
                <a:tc>
                  <a:txBody>
                    <a:bodyPr/>
                    <a:lstStyle/>
                    <a:p>
                      <a:pPr>
                        <a:lnSpc>
                          <a:spcPts val="3500"/>
                        </a:lnSpc>
                      </a:pPr>
                      <a:endParaRPr lang="zh-CN" alt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46473" marB="4647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T="46473" marB="4647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6473" marB="4647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4062" name="Object 30">
            <a:extLst>
              <a:ext uri="{FF2B5EF4-FFF2-40B4-BE49-F238E27FC236}">
                <a16:creationId xmlns:a16="http://schemas.microsoft.com/office/drawing/2014/main" id="{DBDEA9A9-C3B9-8CBD-D4EF-1649F0901A83}"/>
              </a:ext>
            </a:extLst>
          </p:cNvPr>
          <p:cNvGraphicFramePr>
            <a:graphicFrameLocks/>
          </p:cNvGraphicFramePr>
          <p:nvPr/>
        </p:nvGraphicFramePr>
        <p:xfrm>
          <a:off x="5207000" y="1781175"/>
          <a:ext cx="23669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72561" imgH="571252" progId="Equation.DSMT4">
                  <p:embed/>
                </p:oleObj>
              </mc:Choice>
              <mc:Fallback>
                <p:oleObj r:id="rId2" imgW="1472561" imgH="571252" progId="Equation.DSMT4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0" y="1781175"/>
                        <a:ext cx="236696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8" name="Object 16">
            <a:extLst>
              <a:ext uri="{FF2B5EF4-FFF2-40B4-BE49-F238E27FC236}">
                <a16:creationId xmlns:a16="http://schemas.microsoft.com/office/drawing/2014/main" id="{F94D2F2E-5114-4A9E-E436-03C6B67476D6}"/>
              </a:ext>
            </a:extLst>
          </p:cNvPr>
          <p:cNvGraphicFramePr>
            <a:graphicFrameLocks/>
          </p:cNvGraphicFramePr>
          <p:nvPr/>
        </p:nvGraphicFramePr>
        <p:xfrm>
          <a:off x="5359400" y="4778375"/>
          <a:ext cx="10668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58800" imgH="228600" progId="Equation.3">
                  <p:embed/>
                </p:oleObj>
              </mc:Choice>
              <mc:Fallback>
                <p:oleObj r:id="rId4" imgW="558800" imgH="228600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0" y="4778375"/>
                        <a:ext cx="10668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7" name="Object 25">
            <a:extLst>
              <a:ext uri="{FF2B5EF4-FFF2-40B4-BE49-F238E27FC236}">
                <a16:creationId xmlns:a16="http://schemas.microsoft.com/office/drawing/2014/main" id="{575553C8-921D-F1E1-B15D-C899FE0F26B7}"/>
              </a:ext>
            </a:extLst>
          </p:cNvPr>
          <p:cNvGraphicFramePr>
            <a:graphicFrameLocks/>
          </p:cNvGraphicFramePr>
          <p:nvPr/>
        </p:nvGraphicFramePr>
        <p:xfrm>
          <a:off x="5354638" y="3830638"/>
          <a:ext cx="24384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80588" imgH="507780" progId="Equation.3">
                  <p:embed/>
                </p:oleObj>
              </mc:Choice>
              <mc:Fallback>
                <p:oleObj r:id="rId6" imgW="1180588" imgH="507780" progId="Equation.3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4638" y="3830638"/>
                        <a:ext cx="243840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3" name="Object 31">
            <a:extLst>
              <a:ext uri="{FF2B5EF4-FFF2-40B4-BE49-F238E27FC236}">
                <a16:creationId xmlns:a16="http://schemas.microsoft.com/office/drawing/2014/main" id="{60F579F0-CE57-20AC-15D2-12F4F311D462}"/>
              </a:ext>
            </a:extLst>
          </p:cNvPr>
          <p:cNvGraphicFramePr>
            <a:graphicFrameLocks/>
          </p:cNvGraphicFramePr>
          <p:nvPr/>
        </p:nvGraphicFramePr>
        <p:xfrm>
          <a:off x="5408613" y="2819400"/>
          <a:ext cx="22860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06500" imgH="508000" progId="Equation.DSMT4">
                  <p:embed/>
                </p:oleObj>
              </mc:Choice>
              <mc:Fallback>
                <p:oleObj r:id="rId8" imgW="1206500" imgH="508000" progId="Equation.DSMT4">
                  <p:embed/>
                  <p:pic>
                    <p:nvPicPr>
                      <p:cNvPr id="0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8613" y="2819400"/>
                        <a:ext cx="22860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3" name="Object 6">
            <a:extLst>
              <a:ext uri="{FF2B5EF4-FFF2-40B4-BE49-F238E27FC236}">
                <a16:creationId xmlns:a16="http://schemas.microsoft.com/office/drawing/2014/main" id="{0B9656EA-9105-2D5C-F40C-7E09367F1EB3}"/>
              </a:ext>
            </a:extLst>
          </p:cNvPr>
          <p:cNvGraphicFramePr>
            <a:graphicFrameLocks/>
          </p:cNvGraphicFramePr>
          <p:nvPr/>
        </p:nvGraphicFramePr>
        <p:xfrm>
          <a:off x="2286000" y="547688"/>
          <a:ext cx="281940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828007" imgH="571252" progId="Equation.DSMT4">
                  <p:embed/>
                </p:oleObj>
              </mc:Choice>
              <mc:Fallback>
                <p:oleObj r:id="rId10" imgW="1828007" imgH="571252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47688"/>
                        <a:ext cx="2819400" cy="88106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4" name="Object 7">
            <a:extLst>
              <a:ext uri="{FF2B5EF4-FFF2-40B4-BE49-F238E27FC236}">
                <a16:creationId xmlns:a16="http://schemas.microsoft.com/office/drawing/2014/main" id="{32F9C022-BE1E-53CE-AB63-7BAC0D7AA52B}"/>
              </a:ext>
            </a:extLst>
          </p:cNvPr>
          <p:cNvGraphicFramePr>
            <a:graphicFrameLocks/>
          </p:cNvGraphicFramePr>
          <p:nvPr/>
        </p:nvGraphicFramePr>
        <p:xfrm>
          <a:off x="5653088" y="442913"/>
          <a:ext cx="2133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193282" imgH="545863" progId="Equation.DSMT4">
                  <p:embed/>
                </p:oleObj>
              </mc:Choice>
              <mc:Fallback>
                <p:oleObj r:id="rId12" imgW="1193282" imgH="545863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8" y="442913"/>
                        <a:ext cx="2133600" cy="9779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57">
            <a:extLst>
              <a:ext uri="{FF2B5EF4-FFF2-40B4-BE49-F238E27FC236}">
                <a16:creationId xmlns:a16="http://schemas.microsoft.com/office/drawing/2014/main" id="{584850F0-BEAE-FBA8-F90B-5B573368E136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5562600"/>
            <a:ext cx="990600" cy="609600"/>
            <a:chOff x="2500299" y="3214687"/>
            <a:chExt cx="990606" cy="609605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CAA7659B-9D12-A627-CBBB-A3790E0FB6C5}"/>
                </a:ext>
              </a:extLst>
            </p:cNvPr>
            <p:cNvSpPr/>
            <p:nvPr/>
          </p:nvSpPr>
          <p:spPr bwMode="auto">
            <a:xfrm>
              <a:off x="2500299" y="3214687"/>
              <a:ext cx="990606" cy="609605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6">
                  <a:lumMod val="40000"/>
                  <a:lumOff val="6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9FA4125-27D3-676C-EA33-A0D6113D0B60}"/>
                </a:ext>
              </a:extLst>
            </p:cNvPr>
            <p:cNvSpPr/>
            <p:nvPr/>
          </p:nvSpPr>
          <p:spPr>
            <a:xfrm>
              <a:off x="2576499" y="3286126"/>
              <a:ext cx="803280" cy="4619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kern="0" dirty="0">
                  <a:solidFill>
                    <a:srgbClr val="003399"/>
                  </a:solidFill>
                  <a:latin typeface="宋体" panose="02010600030101010101" pitchFamily="2" charset="-122"/>
                </a:rPr>
                <a:t>归纳</a:t>
              </a:r>
              <a:endParaRPr lang="zh-CN" altLang="en-US" sz="2400" b="1" dirty="0">
                <a:solidFill>
                  <a:srgbClr val="003399"/>
                </a:solidFill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6D934756-1318-F550-6A10-941810C33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293938"/>
            <a:ext cx="1439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ea typeface="微软雅黑" panose="020B0503020204020204" pitchFamily="34" charset="-122"/>
              </a:rPr>
              <a:t> </a:t>
            </a:r>
            <a:r>
              <a:rPr lang="en-US" altLang="zh-CN" sz="2000" b="1">
                <a:solidFill>
                  <a:srgbClr val="003399"/>
                </a:solidFill>
                <a:ea typeface="微软雅黑" panose="020B0503020204020204" pitchFamily="34" charset="-122"/>
              </a:rPr>
              <a:t>2PSK</a:t>
            </a:r>
            <a:r>
              <a:rPr lang="zh-CN" altLang="en-US" sz="2000" b="1">
                <a:solidFill>
                  <a:srgbClr val="003399"/>
                </a:solidFill>
                <a:ea typeface="微软雅黑" panose="020B0503020204020204" pitchFamily="34" charset="-122"/>
              </a:rPr>
              <a:t>信号</a:t>
            </a:r>
            <a:endParaRPr lang="zh-CN" altLang="en-US" sz="2000"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2D12C54-36AB-3A7F-48DD-9C82A21ED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813" y="3332163"/>
            <a:ext cx="1566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3399"/>
                </a:solidFill>
                <a:ea typeface="微软雅黑" panose="020B0503020204020204" pitchFamily="34" charset="-122"/>
              </a:rPr>
              <a:t>2FSK</a:t>
            </a:r>
            <a:r>
              <a:rPr lang="en-US" altLang="zh-CN" sz="2000" b="1">
                <a:solidFill>
                  <a:srgbClr val="000000"/>
                </a:solidFill>
                <a:ea typeface="微软雅黑" panose="020B0503020204020204" pitchFamily="34" charset="-122"/>
              </a:rPr>
              <a:t>   </a:t>
            </a:r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</a:rPr>
              <a:t>等能</a:t>
            </a: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48D00A-E7FA-2A4C-102E-4F9D65872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3989388"/>
            <a:ext cx="178117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3399"/>
                </a:solidFill>
                <a:ea typeface="微软雅黑" panose="020B0503020204020204" pitchFamily="34" charset="-122"/>
              </a:rPr>
              <a:t>2ASK  </a:t>
            </a:r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</a:rPr>
              <a:t>非等能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DE4BFE9-4E52-2A55-4DD4-B74B88C78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2011363"/>
            <a:ext cx="928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l-GR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ρ</a:t>
            </a:r>
            <a:r>
              <a:rPr lang="en-US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 = -</a:t>
            </a:r>
            <a:r>
              <a:rPr lang="en-US" altLang="zh-CN" sz="2000" b="1">
                <a:solidFill>
                  <a:srgbClr val="FF0000"/>
                </a:solidFill>
                <a:ea typeface="微软雅黑" panose="020B0503020204020204" pitchFamily="34" charset="-122"/>
              </a:rPr>
              <a:t>1</a:t>
            </a: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D346C87-FA4B-A1C5-0FC7-471EF9454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3055938"/>
            <a:ext cx="842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l-GR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ρ</a:t>
            </a:r>
            <a:r>
              <a:rPr lang="en-US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 = </a:t>
            </a:r>
            <a:r>
              <a:rPr lang="en-US" altLang="zh-CN" sz="2000" b="1">
                <a:solidFill>
                  <a:srgbClr val="FF0000"/>
                </a:solidFill>
                <a:ea typeface="微软雅黑" panose="020B0503020204020204" pitchFamily="34" charset="-122"/>
              </a:rPr>
              <a:t>0</a:t>
            </a: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C544B6A-FD5E-F62C-2B1C-0F63D55AF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3989388"/>
            <a:ext cx="842962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l-GR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ρ</a:t>
            </a:r>
            <a:r>
              <a:rPr lang="en-US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 = </a:t>
            </a:r>
            <a:r>
              <a:rPr lang="en-US" altLang="zh-CN" sz="2000" b="1">
                <a:solidFill>
                  <a:srgbClr val="FF0000"/>
                </a:solidFill>
                <a:ea typeface="微软雅黑" panose="020B0503020204020204" pitchFamily="34" charset="-122"/>
              </a:rPr>
              <a:t>0</a:t>
            </a: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BB75D54-BF99-0AD3-69C9-CDA5B95FE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4751388"/>
            <a:ext cx="842962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l-GR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ρ</a:t>
            </a:r>
            <a:r>
              <a:rPr lang="en-US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 = </a:t>
            </a:r>
            <a:r>
              <a:rPr lang="en-US" altLang="zh-CN" sz="2000" b="1">
                <a:solidFill>
                  <a:srgbClr val="FF0000"/>
                </a:solidFill>
                <a:ea typeface="微软雅黑" panose="020B0503020204020204" pitchFamily="34" charset="-122"/>
              </a:rPr>
              <a:t>1</a:t>
            </a: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7188090-88E4-9A4C-468C-04A6A9B57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7213" y="1716088"/>
            <a:ext cx="18002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</a:rPr>
              <a:t>当</a:t>
            </a:r>
            <a:r>
              <a:rPr lang="en-US" altLang="zh-CN" sz="2000" b="1" i="1">
                <a:solidFill>
                  <a:srgbClr val="000000"/>
                </a:solidFill>
                <a:ea typeface="微软雅黑" panose="020B0503020204020204" pitchFamily="34" charset="-122"/>
              </a:rPr>
              <a:t>s</a:t>
            </a:r>
            <a:r>
              <a:rPr lang="en-US" altLang="zh-CN" sz="2000" b="1" baseline="-25000">
                <a:solidFill>
                  <a:srgbClr val="000000"/>
                </a:solidFill>
                <a:ea typeface="微软雅黑" panose="020B0503020204020204" pitchFamily="34" charset="-122"/>
              </a:rPr>
              <a:t>1</a:t>
            </a:r>
            <a:r>
              <a:rPr lang="en-US" altLang="zh-CN" sz="2000" b="1">
                <a:solidFill>
                  <a:srgbClr val="000000"/>
                </a:solidFill>
                <a:ea typeface="微软雅黑" panose="020B0503020204020204" pitchFamily="34" charset="-122"/>
              </a:rPr>
              <a:t>(t) = </a:t>
            </a:r>
            <a:r>
              <a:rPr lang="en-US" altLang="zh-CN" sz="2000" b="1">
                <a:solidFill>
                  <a:srgbClr val="FF0000"/>
                </a:solidFill>
                <a:ea typeface="微软雅黑" panose="020B0503020204020204" pitchFamily="34" charset="-122"/>
              </a:rPr>
              <a:t>-</a:t>
            </a:r>
            <a:r>
              <a:rPr lang="en-US" altLang="zh-CN" sz="2000" b="1" i="1">
                <a:solidFill>
                  <a:srgbClr val="000000"/>
                </a:solidFill>
                <a:ea typeface="微软雅黑" panose="020B0503020204020204" pitchFamily="34" charset="-122"/>
              </a:rPr>
              <a:t>s</a:t>
            </a:r>
            <a:r>
              <a:rPr lang="en-US" altLang="zh-CN" sz="2000" b="1" baseline="-25000">
                <a:solidFill>
                  <a:srgbClr val="000000"/>
                </a:solidFill>
                <a:ea typeface="微软雅黑" panose="020B0503020204020204" pitchFamily="34" charset="-122"/>
              </a:rPr>
              <a:t>2</a:t>
            </a:r>
            <a:r>
              <a:rPr lang="en-US" altLang="zh-CN" sz="2000" b="1">
                <a:solidFill>
                  <a:srgbClr val="000000"/>
                </a:solidFill>
                <a:ea typeface="微软雅黑" panose="020B0503020204020204" pitchFamily="34" charset="-122"/>
              </a:rPr>
              <a:t>(t)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EAA9FC8-F3B0-FF80-A174-93E5DCB1D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013" y="2827338"/>
            <a:ext cx="2262187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000000"/>
                </a:solidFill>
                <a:ea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</a:rPr>
              <a:t>当两种码元正交</a:t>
            </a:r>
            <a:r>
              <a:rPr lang="en-US" altLang="zh-CN" sz="2000">
                <a:solidFill>
                  <a:srgbClr val="000000"/>
                </a:solidFill>
                <a:ea typeface="微软雅黑" panose="020B0503020204020204" pitchFamily="34" charset="-122"/>
              </a:rPr>
              <a:t>   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A849CF2-DFC1-E980-0421-3AD79445E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013" y="4657725"/>
            <a:ext cx="1785937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 b="1">
                <a:solidFill>
                  <a:srgbClr val="000000"/>
                </a:solidFill>
                <a:ea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</a:rPr>
              <a:t>当</a:t>
            </a:r>
            <a:r>
              <a:rPr lang="en-US" altLang="zh-CN" sz="2000" b="1" i="1">
                <a:solidFill>
                  <a:srgbClr val="000000"/>
                </a:solidFill>
                <a:ea typeface="微软雅黑" panose="020B0503020204020204" pitchFamily="34" charset="-122"/>
              </a:rPr>
              <a:t>s</a:t>
            </a:r>
            <a:r>
              <a:rPr lang="en-US" altLang="zh-CN" sz="2000" b="1" baseline="-25000">
                <a:solidFill>
                  <a:srgbClr val="000000"/>
                </a:solidFill>
                <a:ea typeface="微软雅黑" panose="020B0503020204020204" pitchFamily="34" charset="-122"/>
              </a:rPr>
              <a:t>1</a:t>
            </a:r>
            <a:r>
              <a:rPr lang="en-US" altLang="zh-CN" sz="2000" b="1">
                <a:solidFill>
                  <a:srgbClr val="000000"/>
                </a:solidFill>
                <a:ea typeface="微软雅黑" panose="020B0503020204020204" pitchFamily="34" charset="-122"/>
              </a:rPr>
              <a:t>(t) = </a:t>
            </a:r>
            <a:r>
              <a:rPr lang="en-US" altLang="zh-CN" sz="2000" b="1" i="1">
                <a:solidFill>
                  <a:srgbClr val="000000"/>
                </a:solidFill>
                <a:ea typeface="微软雅黑" panose="020B0503020204020204" pitchFamily="34" charset="-122"/>
              </a:rPr>
              <a:t>s</a:t>
            </a:r>
            <a:r>
              <a:rPr lang="en-US" altLang="zh-CN" sz="2000" b="1" baseline="-25000">
                <a:solidFill>
                  <a:srgbClr val="000000"/>
                </a:solidFill>
                <a:ea typeface="微软雅黑" panose="020B0503020204020204" pitchFamily="34" charset="-122"/>
              </a:rPr>
              <a:t>2</a:t>
            </a:r>
            <a:r>
              <a:rPr lang="en-US" altLang="zh-CN" sz="2000" b="1">
                <a:solidFill>
                  <a:srgbClr val="000000"/>
                </a:solidFill>
                <a:ea typeface="微软雅黑" panose="020B0503020204020204" pitchFamily="34" charset="-122"/>
              </a:rPr>
              <a:t>(t)</a:t>
            </a:r>
            <a:endParaRPr lang="zh-CN" altLang="en-US" sz="200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3" name="组合 57">
            <a:extLst>
              <a:ext uri="{FF2B5EF4-FFF2-40B4-BE49-F238E27FC236}">
                <a16:creationId xmlns:a16="http://schemas.microsoft.com/office/drawing/2014/main" id="{243DFC24-9B57-6081-98E8-5A7209699DA4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685800"/>
            <a:ext cx="1189038" cy="609600"/>
            <a:chOff x="2500299" y="3214687"/>
            <a:chExt cx="1189012" cy="60960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1C8C388C-04FC-FE8C-9F47-0DD9D18E0DB8}"/>
                </a:ext>
              </a:extLst>
            </p:cNvPr>
            <p:cNvSpPr/>
            <p:nvPr/>
          </p:nvSpPr>
          <p:spPr bwMode="auto">
            <a:xfrm>
              <a:off x="2500299" y="3214687"/>
              <a:ext cx="990578" cy="609605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6">
                  <a:lumMod val="40000"/>
                  <a:lumOff val="6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021BD20-C87E-6EE3-9179-39847B726DA5}"/>
                </a:ext>
              </a:extLst>
            </p:cNvPr>
            <p:cNvSpPr/>
            <p:nvPr/>
          </p:nvSpPr>
          <p:spPr>
            <a:xfrm>
              <a:off x="2576497" y="3286126"/>
              <a:ext cx="1112814" cy="4619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kern="0" dirty="0">
                  <a:solidFill>
                    <a:srgbClr val="FF0000"/>
                  </a:solidFill>
                  <a:latin typeface="宋体" panose="02010600030101010101" pitchFamily="2" charset="-122"/>
                </a:rPr>
                <a:t>讨论：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3603" name="Picture 51">
            <a:extLst>
              <a:ext uri="{FF2B5EF4-FFF2-40B4-BE49-F238E27FC236}">
                <a16:creationId xmlns:a16="http://schemas.microsoft.com/office/drawing/2014/main" id="{DA259027-4336-EBF8-154B-87ED3E540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/>
          <a:srcRect r="5392"/>
          <a:stretch>
            <a:fillRect/>
          </a:stretch>
        </p:blipFill>
        <p:spPr bwMode="auto">
          <a:xfrm>
            <a:off x="1711325" y="5429250"/>
            <a:ext cx="6238875" cy="99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1000"/>
                                        <p:tgtEl>
                                          <p:spTgt spid="2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3" name="矩形 7">
            <a:extLst>
              <a:ext uri="{FF2B5EF4-FFF2-40B4-BE49-F238E27FC236}">
                <a16:creationId xmlns:a16="http://schemas.microsoft.com/office/drawing/2014/main" id="{CCC7D6C6-2FE4-ECBE-A14B-2ED6F7D27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3238"/>
            <a:ext cx="8001000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式中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lang="en-US" altLang="zh-CN" sz="20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进制数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；</a:t>
            </a:r>
            <a:r>
              <a:rPr lang="en-US" altLang="zh-CN" sz="24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en-US" altLang="zh-CN" sz="20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en-US" altLang="zh-CN" sz="20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进制码元能量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；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单边噪声功率谱密度。</a:t>
            </a:r>
          </a:p>
        </p:txBody>
      </p:sp>
      <p:graphicFrame>
        <p:nvGraphicFramePr>
          <p:cNvPr id="56326" name="Object 6">
            <a:extLst>
              <a:ext uri="{FF2B5EF4-FFF2-40B4-BE49-F238E27FC236}">
                <a16:creationId xmlns:a16="http://schemas.microsoft.com/office/drawing/2014/main" id="{B4262B4D-FD22-C78F-878B-899F95B31B47}"/>
              </a:ext>
            </a:extLst>
          </p:cNvPr>
          <p:cNvGraphicFramePr>
            <a:graphicFrameLocks/>
          </p:cNvGraphicFramePr>
          <p:nvPr/>
        </p:nvGraphicFramePr>
        <p:xfrm>
          <a:off x="3806825" y="3963988"/>
          <a:ext cx="1984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90170" imgH="228501" progId="Equation.3">
                  <p:embed/>
                </p:oleObj>
              </mc:Choice>
              <mc:Fallback>
                <p:oleObj r:id="rId2" imgW="990170" imgH="228501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825" y="3963988"/>
                        <a:ext cx="1984375" cy="4572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999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8">
            <a:extLst>
              <a:ext uri="{FF2B5EF4-FFF2-40B4-BE49-F238E27FC236}">
                <a16:creationId xmlns:a16="http://schemas.microsoft.com/office/drawing/2014/main" id="{08AA6F96-B6D4-0B47-6FE1-277D1AF5C51B}"/>
              </a:ext>
            </a:extLst>
          </p:cNvPr>
          <p:cNvGraphicFramePr>
            <a:graphicFrameLocks/>
          </p:cNvGraphicFramePr>
          <p:nvPr/>
        </p:nvGraphicFramePr>
        <p:xfrm>
          <a:off x="3581400" y="5411788"/>
          <a:ext cx="2514600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47172" imgH="444307" progId="Equation.3">
                  <p:embed/>
                </p:oleObj>
              </mc:Choice>
              <mc:Fallback>
                <p:oleObj r:id="rId4" imgW="1447172" imgH="44430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411788"/>
                        <a:ext cx="2514600" cy="912812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999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矩形 12">
            <a:extLst>
              <a:ext uri="{FF2B5EF4-FFF2-40B4-BE49-F238E27FC236}">
                <a16:creationId xmlns:a16="http://schemas.microsoft.com/office/drawing/2014/main" id="{208FEB06-1F08-EA0C-C122-9CB560DDA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95813"/>
            <a:ext cx="5467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rgbClr val="0000CC"/>
                </a:solidFill>
              </a:rPr>
              <a:t>∵</a:t>
            </a:r>
            <a:r>
              <a:rPr lang="zh-CN" altLang="en-US" sz="2000">
                <a:ea typeface="微软雅黑" panose="020B0503020204020204" pitchFamily="34" charset="-122"/>
              </a:rPr>
              <a:t>一个</a:t>
            </a:r>
            <a:r>
              <a:rPr lang="en-US" altLang="zh-CN" sz="2000" b="1" i="1">
                <a:ea typeface="微软雅黑" panose="020B0503020204020204" pitchFamily="34" charset="-122"/>
              </a:rPr>
              <a:t>M </a:t>
            </a:r>
            <a:r>
              <a:rPr lang="zh-CN" altLang="en-US" sz="2000">
                <a:ea typeface="微软雅黑" panose="020B0503020204020204" pitchFamily="34" charset="-122"/>
              </a:rPr>
              <a:t>进制码元中含有 </a:t>
            </a:r>
            <a:r>
              <a:rPr lang="en-US" altLang="zh-CN" sz="2000" b="1" i="1">
                <a:solidFill>
                  <a:srgbClr val="003399"/>
                </a:solidFill>
                <a:ea typeface="微软雅黑" panose="020B0503020204020204" pitchFamily="34" charset="-122"/>
              </a:rPr>
              <a:t>k =</a:t>
            </a:r>
            <a:r>
              <a:rPr lang="en-US" altLang="zh-CN" sz="2000" b="1">
                <a:solidFill>
                  <a:srgbClr val="003399"/>
                </a:solidFill>
                <a:ea typeface="微软雅黑" panose="020B0503020204020204" pitchFamily="34" charset="-122"/>
              </a:rPr>
              <a:t>log</a:t>
            </a:r>
            <a:r>
              <a:rPr lang="en-US" altLang="zh-CN" sz="2000" b="1" baseline="-25000">
                <a:solidFill>
                  <a:srgbClr val="003399"/>
                </a:solidFill>
                <a:ea typeface="微软雅黑" panose="020B0503020204020204" pitchFamily="34" charset="-122"/>
              </a:rPr>
              <a:t>2</a:t>
            </a:r>
            <a:r>
              <a:rPr lang="en-US" altLang="zh-CN" sz="2000" b="1" i="1">
                <a:solidFill>
                  <a:srgbClr val="003399"/>
                </a:solidFill>
                <a:ea typeface="微软雅黑" panose="020B0503020204020204" pitchFamily="34" charset="-122"/>
              </a:rPr>
              <a:t>M</a:t>
            </a:r>
            <a:r>
              <a:rPr lang="zh-CN" altLang="en-US" sz="2000" b="1" i="1">
                <a:solidFill>
                  <a:srgbClr val="003399"/>
                </a:solidFill>
                <a:ea typeface="微软雅黑" panose="020B0503020204020204" pitchFamily="34" charset="-122"/>
              </a:rPr>
              <a:t> </a:t>
            </a:r>
            <a:r>
              <a:rPr lang="zh-CN" altLang="en-US" sz="2000">
                <a:ea typeface="微软雅黑" panose="020B0503020204020204" pitchFamily="34" charset="-122"/>
              </a:rPr>
              <a:t>比特。 </a:t>
            </a:r>
            <a:endParaRPr lang="zh-CN" altLang="en-US" sz="2000" b="1">
              <a:solidFill>
                <a:srgbClr val="003399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9B5DCF-2295-AD4E-29B4-941D1A2F32C9}"/>
              </a:ext>
            </a:extLst>
          </p:cNvPr>
          <p:cNvSpPr/>
          <p:nvPr/>
        </p:nvSpPr>
        <p:spPr>
          <a:xfrm>
            <a:off x="609600" y="1279525"/>
            <a:ext cx="78486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若不同码元的信号正交、等概、等能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则其最佳接收机的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误码率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12" name="矩形 19">
            <a:extLst>
              <a:ext uri="{FF2B5EF4-FFF2-40B4-BE49-F238E27FC236}">
                <a16:creationId xmlns:a16="http://schemas.microsoft.com/office/drawing/2014/main" id="{03A946F1-BFC7-57CC-E4C2-B3F6BD0F6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01650"/>
            <a:ext cx="5029200" cy="522288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lvl="1">
              <a:buClr>
                <a:srgbClr val="FF0000"/>
              </a:buClr>
              <a:buSzPct val="83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多进制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通信系统的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误码率</a:t>
            </a:r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4A54C41F-7D81-5FB5-2AB0-5F60EE976E34}"/>
              </a:ext>
            </a:extLst>
          </p:cNvPr>
          <p:cNvGraphicFramePr>
            <a:graphicFrameLocks/>
          </p:cNvGraphicFramePr>
          <p:nvPr/>
        </p:nvGraphicFramePr>
        <p:xfrm>
          <a:off x="1676400" y="1831975"/>
          <a:ext cx="56515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022600" imgH="609600" progId="Equation.DSMT4">
                  <p:embed/>
                </p:oleObj>
              </mc:Choice>
              <mc:Fallback>
                <p:oleObj r:id="rId6" imgW="3022600" imgH="6096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831975"/>
                        <a:ext cx="5651500" cy="113982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F6FB2F12-96A7-FC41-9F53-032AC0916068}"/>
              </a:ext>
            </a:extLst>
          </p:cNvPr>
          <p:cNvSpPr/>
          <p:nvPr/>
        </p:nvSpPr>
        <p:spPr>
          <a:xfrm>
            <a:off x="636588" y="3868738"/>
            <a:ext cx="24384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每个比特的能量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7A9DEA7-C306-44E4-5203-A57F81A05021}"/>
              </a:ext>
            </a:extLst>
          </p:cNvPr>
          <p:cNvSpPr/>
          <p:nvPr/>
        </p:nvSpPr>
        <p:spPr>
          <a:xfrm>
            <a:off x="617538" y="5106988"/>
            <a:ext cx="28956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每个比特的信噪比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3" grpId="0"/>
      <p:bldP spid="27654" grpId="0"/>
      <p:bldP spid="11" grpId="0"/>
      <p:bldP spid="12" grpId="0"/>
      <p:bldP spid="14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493BB06F-8DEF-4AB4-1B52-E44C01B6737E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914400"/>
            <a:ext cx="4379913" cy="5410200"/>
            <a:chOff x="5747" y="7728"/>
            <a:chExt cx="4513" cy="5469"/>
          </a:xfrm>
        </p:grpSpPr>
        <p:grpSp>
          <p:nvGrpSpPr>
            <p:cNvPr id="95234" name="Group 7">
              <a:extLst>
                <a:ext uri="{FF2B5EF4-FFF2-40B4-BE49-F238E27FC236}">
                  <a16:creationId xmlns:a16="http://schemas.microsoft.com/office/drawing/2014/main" id="{00A5E4F9-3284-6B79-DE42-B4860291AE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47" y="7728"/>
              <a:ext cx="4513" cy="5469"/>
              <a:chOff x="5747" y="5853"/>
              <a:chExt cx="4513" cy="5469"/>
            </a:xfrm>
          </p:grpSpPr>
          <p:pic>
            <p:nvPicPr>
              <p:cNvPr id="95235" name="Picture 8" descr="多进制最佳误码率">
                <a:extLst>
                  <a:ext uri="{FF2B5EF4-FFF2-40B4-BE49-F238E27FC236}">
                    <a16:creationId xmlns:a16="http://schemas.microsoft.com/office/drawing/2014/main" id="{11306E0B-6FE9-FD7C-310C-78DA487004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68" y="5853"/>
                <a:ext cx="4292" cy="5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236" name="Text Box 9">
                <a:extLst>
                  <a:ext uri="{FF2B5EF4-FFF2-40B4-BE49-F238E27FC236}">
                    <a16:creationId xmlns:a16="http://schemas.microsoft.com/office/drawing/2014/main" id="{8C1B023A-FA1C-6A1E-0259-366B99B5D0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47" y="8010"/>
                <a:ext cx="568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 i="1">
                    <a:solidFill>
                      <a:srgbClr val="FF0000"/>
                    </a:solidFill>
                  </a:rPr>
                  <a:t>P</a:t>
                </a:r>
                <a:r>
                  <a:rPr lang="en-US" altLang="zh-CN" sz="2000" i="1" baseline="-25000">
                    <a:solidFill>
                      <a:srgbClr val="FF0000"/>
                    </a:solidFill>
                  </a:rPr>
                  <a:t>e</a:t>
                </a:r>
                <a:endParaRPr lang="en-US" altLang="zh-CN" sz="20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95237" name="Group 10">
                <a:extLst>
                  <a:ext uri="{FF2B5EF4-FFF2-40B4-BE49-F238E27FC236}">
                    <a16:creationId xmlns:a16="http://schemas.microsoft.com/office/drawing/2014/main" id="{7C28C460-3CE5-5EE5-836A-DEE43157D6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6" y="10641"/>
                <a:ext cx="778" cy="450"/>
                <a:chOff x="7026" y="11331"/>
                <a:chExt cx="778" cy="450"/>
              </a:xfrm>
            </p:grpSpPr>
            <p:sp>
              <p:nvSpPr>
                <p:cNvPr id="95238" name="Text Box 11">
                  <a:extLst>
                    <a:ext uri="{FF2B5EF4-FFF2-40B4-BE49-F238E27FC236}">
                      <a16:creationId xmlns:a16="http://schemas.microsoft.com/office/drawing/2014/main" id="{64172271-55B4-C7FB-6CC1-C49F788616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26" y="11391"/>
                  <a:ext cx="778" cy="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0.693</a:t>
                  </a:r>
                  <a:endParaRPr lang="en-US" altLang="zh-CN" sz="36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5239" name="Line 12">
                  <a:extLst>
                    <a:ext uri="{FF2B5EF4-FFF2-40B4-BE49-F238E27FC236}">
                      <a16:creationId xmlns:a16="http://schemas.microsoft.com/office/drawing/2014/main" id="{C9A14EAD-32F6-E58A-60FF-A526E6FD85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497" y="11331"/>
                  <a:ext cx="123" cy="29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5240" name="Text Box 13">
                <a:extLst>
                  <a:ext uri="{FF2B5EF4-FFF2-40B4-BE49-F238E27FC236}">
                    <a16:creationId xmlns:a16="http://schemas.microsoft.com/office/drawing/2014/main" id="{FC451BDC-37C6-CD65-8E82-D618AC9D4D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74" y="10857"/>
                <a:ext cx="935" cy="4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 i="1">
                    <a:solidFill>
                      <a:srgbClr val="FF0000"/>
                    </a:solidFill>
                  </a:rPr>
                  <a:t>E</a:t>
                </a:r>
                <a:r>
                  <a:rPr lang="en-US" altLang="zh-CN" sz="2000" i="1" baseline="-25000">
                    <a:solidFill>
                      <a:srgbClr val="FF0000"/>
                    </a:solidFill>
                  </a:rPr>
                  <a:t>b</a:t>
                </a:r>
                <a:r>
                  <a:rPr lang="en-US" altLang="zh-CN" sz="2000">
                    <a:solidFill>
                      <a:srgbClr val="FF0000"/>
                    </a:solidFill>
                  </a:rPr>
                  <a:t>/</a:t>
                </a:r>
                <a:r>
                  <a:rPr lang="en-US" altLang="zh-CN" sz="2000" i="1">
                    <a:solidFill>
                      <a:srgbClr val="FF0000"/>
                    </a:solidFill>
                  </a:rPr>
                  <a:t>n</a:t>
                </a:r>
                <a:r>
                  <a:rPr lang="en-US" altLang="zh-CN" sz="2000" baseline="-25000">
                    <a:solidFill>
                      <a:srgbClr val="FF0000"/>
                    </a:solidFill>
                  </a:rPr>
                  <a:t>0</a:t>
                </a:r>
                <a:endParaRPr lang="en-US" altLang="zh-CN" sz="36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95241" name="Line 14">
                <a:extLst>
                  <a:ext uri="{FF2B5EF4-FFF2-40B4-BE49-F238E27FC236}">
                    <a16:creationId xmlns:a16="http://schemas.microsoft.com/office/drawing/2014/main" id="{219263E2-B6D7-A63E-BD13-664F4EA90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94" y="8850"/>
                <a:ext cx="314" cy="2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5242" name="Line 15">
              <a:extLst>
                <a:ext uri="{FF2B5EF4-FFF2-40B4-BE49-F238E27FC236}">
                  <a16:creationId xmlns:a16="http://schemas.microsoft.com/office/drawing/2014/main" id="{E34AA06D-D883-6DAC-DBCC-4E4780A8D5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22" y="7857"/>
              <a:ext cx="2" cy="460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1126DCCC-1C17-A054-C347-752331B696D1}"/>
              </a:ext>
            </a:extLst>
          </p:cNvPr>
          <p:cNvSpPr/>
          <p:nvPr/>
        </p:nvSpPr>
        <p:spPr>
          <a:xfrm>
            <a:off x="609600" y="1143000"/>
            <a:ext cx="35814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误码率</a:t>
            </a:r>
            <a:r>
              <a:rPr lang="en-US" altLang="zh-CN" sz="2000" b="1" i="1" dirty="0" err="1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en-US" altLang="zh-CN" sz="2000" b="1" i="1" baseline="-25000" dirty="0" err="1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en-US" altLang="zh-CN" sz="2000" b="1" i="1" dirty="0" err="1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en-US" altLang="zh-CN" sz="2000" b="1" i="1" baseline="-25000" dirty="0" err="1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en-US" altLang="zh-CN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20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000" b="1" baseline="-2500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关系曲线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pic>
        <p:nvPicPr>
          <p:cNvPr id="129038" name="Picture 14">
            <a:extLst>
              <a:ext uri="{FF2B5EF4-FFF2-40B4-BE49-F238E27FC236}">
                <a16:creationId xmlns:a16="http://schemas.microsoft.com/office/drawing/2014/main" id="{AADDC303-99EC-2A9F-0E8E-83F2F69F4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r="3550"/>
          <a:stretch>
            <a:fillRect/>
          </a:stretch>
        </p:blipFill>
        <p:spPr bwMode="auto">
          <a:xfrm>
            <a:off x="779463" y="2095500"/>
            <a:ext cx="3214687" cy="349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0"/>
                                        <p:tgtEl>
                                          <p:spTgt spid="12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E6518714-E2EF-0160-F1CE-CD452E21A77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57400" y="3140075"/>
            <a:ext cx="6148388" cy="144621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defTabSz="802005" eaLnBrk="0" hangingPunct="0">
              <a:spcBef>
                <a:spcPct val="20000"/>
              </a:spcBef>
              <a:defRPr/>
            </a:pPr>
            <a:r>
              <a:rPr lang="zh-CN" altLang="en-US" sz="4000" b="1" kern="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随相</a:t>
            </a: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</a:t>
            </a:r>
            <a:r>
              <a:rPr lang="en-US" altLang="zh-CN" sz="4000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最佳接收</a:t>
            </a:r>
            <a:endParaRPr lang="en-US" altLang="zh-CN" sz="4000" b="1" kern="0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02005" eaLnBrk="0" hangingPunct="0">
              <a:spcBef>
                <a:spcPct val="20000"/>
              </a:spcBef>
              <a:defRPr/>
            </a:pPr>
            <a:r>
              <a:rPr lang="en-US" altLang="zh-CN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endParaRPr lang="en-GB" sz="4000" b="1" noProof="1">
              <a:solidFill>
                <a:srgbClr val="99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043" name="矩形 4">
            <a:extLst>
              <a:ext uri="{FF2B5EF4-FFF2-40B4-BE49-F238E27FC236}">
                <a16:creationId xmlns:a16="http://schemas.microsoft.com/office/drawing/2014/main" id="{93136C47-5168-A61B-507F-5E090C09A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546225" cy="646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3600" b="1" u="sng" dirty="0">
                <a:solidFill>
                  <a:srgbClr val="800080"/>
                </a:solidFill>
                <a:latin typeface="+mn-ea"/>
                <a:ea typeface="+mn-ea"/>
              </a:rPr>
              <a:t>§</a:t>
            </a:r>
            <a:r>
              <a:rPr lang="en-US" altLang="en-US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lang="en-US" altLang="zh-CN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.5  </a:t>
            </a:r>
            <a:endParaRPr lang="zh-CN" altLang="en-US" sz="3600" b="1" u="sng" dirty="0">
              <a:solidFill>
                <a:srgbClr val="800080"/>
              </a:solidFill>
            </a:endParaRPr>
          </a:p>
        </p:txBody>
      </p:sp>
      <p:sp>
        <p:nvSpPr>
          <p:cNvPr id="112646" name="矩形 5">
            <a:extLst>
              <a:ext uri="{FF2B5EF4-FFF2-40B4-BE49-F238E27FC236}">
                <a16:creationId xmlns:a16="http://schemas.microsoft.com/office/drawing/2014/main" id="{E82D6966-D4BC-B8D3-7289-37035BA4C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267200"/>
            <a:ext cx="572452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相位带有随机性的接收信号称为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随相信号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264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5">
            <a:extLst>
              <a:ext uri="{FF2B5EF4-FFF2-40B4-BE49-F238E27FC236}">
                <a16:creationId xmlns:a16="http://schemas.microsoft.com/office/drawing/2014/main" id="{EA839F10-F710-E076-C727-55A7782EB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995961-BFA5-EED5-D62F-60B1310AA7E0}"/>
              </a:ext>
            </a:extLst>
          </p:cNvPr>
          <p:cNvSpPr/>
          <p:nvPr/>
        </p:nvSpPr>
        <p:spPr>
          <a:xfrm>
            <a:off x="685800" y="1917700"/>
            <a:ext cx="43434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设发送的</a:t>
            </a:r>
            <a:r>
              <a:rPr kumimoji="1" lang="zh-CN" altLang="en-US" sz="2000" kern="0" dirty="0">
                <a:solidFill>
                  <a:srgbClr val="99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随相</a:t>
            </a: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信号码元为</a:t>
            </a: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：</a:t>
            </a:r>
          </a:p>
        </p:txBody>
      </p:sp>
      <p:graphicFrame>
        <p:nvGraphicFramePr>
          <p:cNvPr id="16" name="Object 7">
            <a:extLst>
              <a:ext uri="{FF2B5EF4-FFF2-40B4-BE49-F238E27FC236}">
                <a16:creationId xmlns:a16="http://schemas.microsoft.com/office/drawing/2014/main" id="{AB74EC92-B03D-AEEA-3104-C7BA74D63035}"/>
              </a:ext>
            </a:extLst>
          </p:cNvPr>
          <p:cNvGraphicFramePr>
            <a:graphicFrameLocks/>
          </p:cNvGraphicFramePr>
          <p:nvPr/>
        </p:nvGraphicFramePr>
        <p:xfrm>
          <a:off x="1905000" y="5257800"/>
          <a:ext cx="24241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67893" imgH="330057" progId="Equation.DSMT4">
                  <p:embed/>
                </p:oleObj>
              </mc:Choice>
              <mc:Fallback>
                <p:oleObj r:id="rId2" imgW="1167893" imgH="330057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257800"/>
                        <a:ext cx="2424113" cy="685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7">
            <a:extLst>
              <a:ext uri="{FF2B5EF4-FFF2-40B4-BE49-F238E27FC236}">
                <a16:creationId xmlns:a16="http://schemas.microsoft.com/office/drawing/2014/main" id="{0D6F6A5F-F058-1BEF-6F47-2D913CD477B3}"/>
              </a:ext>
            </a:extLst>
          </p:cNvPr>
          <p:cNvGraphicFramePr>
            <a:graphicFrameLocks/>
          </p:cNvGraphicFramePr>
          <p:nvPr/>
        </p:nvGraphicFramePr>
        <p:xfrm>
          <a:off x="4652963" y="5257800"/>
          <a:ext cx="23717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42504" imgH="330057" progId="Equation.DSMT4">
                  <p:embed/>
                </p:oleObj>
              </mc:Choice>
              <mc:Fallback>
                <p:oleObj r:id="rId4" imgW="1142504" imgH="330057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3" y="5257800"/>
                        <a:ext cx="2371725" cy="685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8">
            <a:extLst>
              <a:ext uri="{FF2B5EF4-FFF2-40B4-BE49-F238E27FC236}">
                <a16:creationId xmlns:a16="http://schemas.microsoft.com/office/drawing/2014/main" id="{9D7F08C5-8955-A3C4-BE51-6C070B20D627}"/>
              </a:ext>
            </a:extLst>
          </p:cNvPr>
          <p:cNvGraphicFramePr>
            <a:graphicFrameLocks/>
          </p:cNvGraphicFramePr>
          <p:nvPr/>
        </p:nvGraphicFramePr>
        <p:xfrm>
          <a:off x="7315200" y="5365750"/>
          <a:ext cx="39528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90417" imgH="228501" progId="Equation.DSMT4">
                  <p:embed/>
                </p:oleObj>
              </mc:Choice>
              <mc:Fallback>
                <p:oleObj r:id="rId6" imgW="190417" imgH="228501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5365750"/>
                        <a:ext cx="395288" cy="4746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5" name="矩形 20">
            <a:extLst>
              <a:ext uri="{FF2B5EF4-FFF2-40B4-BE49-F238E27FC236}">
                <a16:creationId xmlns:a16="http://schemas.microsoft.com/office/drawing/2014/main" id="{778D574B-CBB7-FF4C-C708-FEEFDFD21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365750"/>
            <a:ext cx="363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ea typeface="华文中宋" panose="02010600040101010101" pitchFamily="2" charset="-122"/>
              </a:rPr>
              <a:t>=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8686" name="矩形 21">
            <a:extLst>
              <a:ext uri="{FF2B5EF4-FFF2-40B4-BE49-F238E27FC236}">
                <a16:creationId xmlns:a16="http://schemas.microsoft.com/office/drawing/2014/main" id="{8B91532B-461D-5C8F-4BCC-AAF1194C6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1663" y="5365750"/>
            <a:ext cx="363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ea typeface="华文中宋" panose="02010600040101010101" pitchFamily="2" charset="-122"/>
              </a:rPr>
              <a:t>=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FE2EBF-750D-F0A5-C709-EB820B066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391150"/>
            <a:ext cx="1149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Clr>
                <a:srgbClr val="7F7F7F"/>
              </a:buClr>
              <a:buSzPct val="65000"/>
              <a:buFont typeface="Wingdings" panose="05000000000000000000" pitchFamily="2" charset="2"/>
              <a:buChar char="l"/>
            </a:pP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等能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：</a:t>
            </a: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99FBF4C-B6AB-7DDF-865B-140ACFC3F40B}"/>
              </a:ext>
            </a:extLst>
          </p:cNvPr>
          <p:cNvSpPr/>
          <p:nvPr/>
        </p:nvSpPr>
        <p:spPr>
          <a:xfrm>
            <a:off x="533400" y="504825"/>
            <a:ext cx="7924800" cy="5238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最佳接收机</a:t>
            </a:r>
            <a:r>
              <a:rPr kumimoji="1"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altLang="en-US" sz="2800" b="1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618" name="Picture 18">
            <a:extLst>
              <a:ext uri="{FF2B5EF4-FFF2-40B4-BE49-F238E27FC236}">
                <a16:creationId xmlns:a16="http://schemas.microsoft.com/office/drawing/2014/main" id="{6065FDB7-74B7-5041-84A0-7F8D5CDC5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17600"/>
            <a:ext cx="7512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9" name="Picture 19">
            <a:extLst>
              <a:ext uri="{FF2B5EF4-FFF2-40B4-BE49-F238E27FC236}">
                <a16:creationId xmlns:a16="http://schemas.microsoft.com/office/drawing/2014/main" id="{35DCF341-0F79-139E-3660-469CAB274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25" y="2566988"/>
            <a:ext cx="3749675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20" name="Picture 20">
            <a:extLst>
              <a:ext uri="{FF2B5EF4-FFF2-40B4-BE49-F238E27FC236}">
                <a16:creationId xmlns:a16="http://schemas.microsoft.com/office/drawing/2014/main" id="{94CF8E09-06D1-8031-D9A2-6B283F841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01"/>
          <a:stretch>
            <a:fillRect/>
          </a:stretch>
        </p:blipFill>
        <p:spPr bwMode="auto">
          <a:xfrm>
            <a:off x="889000" y="4584700"/>
            <a:ext cx="79105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F6FBF99-358B-8686-B26E-7C584F197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667"/>
          <a:stretch>
            <a:fillRect/>
          </a:stretch>
        </p:blipFill>
        <p:spPr bwMode="auto">
          <a:xfrm>
            <a:off x="896938" y="3917950"/>
            <a:ext cx="79105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8685" grpId="0"/>
      <p:bldP spid="28686" grpId="0"/>
      <p:bldP spid="23" grpId="0"/>
      <p:bldP spid="1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5">
            <a:extLst>
              <a:ext uri="{FF2B5EF4-FFF2-40B4-BE49-F238E27FC236}">
                <a16:creationId xmlns:a16="http://schemas.microsoft.com/office/drawing/2014/main" id="{523F3692-CECF-0613-ABF9-D22158DD4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98306" name="Rectangle 7">
            <a:extLst>
              <a:ext uri="{FF2B5EF4-FFF2-40B4-BE49-F238E27FC236}">
                <a16:creationId xmlns:a16="http://schemas.microsoft.com/office/drawing/2014/main" id="{2C77C09E-0BBB-4219-7328-99F8CC43C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05C474-0828-7DDD-2F7C-9F0CD80D02A6}"/>
              </a:ext>
            </a:extLst>
          </p:cNvPr>
          <p:cNvSpPr/>
          <p:nvPr/>
        </p:nvSpPr>
        <p:spPr>
          <a:xfrm>
            <a:off x="533400" y="2849563"/>
            <a:ext cx="7772400" cy="5032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2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对于</a:t>
            </a:r>
            <a:r>
              <a:rPr lang="zh-CN" altLang="en-US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随机相位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的接收信号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上式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中的 </a:t>
            </a:r>
            <a:r>
              <a:rPr lang="en-US" altLang="zh-CN" sz="20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lang="en-US" altLang="zh-CN" sz="2000" b="1" baseline="-2500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en-US" altLang="zh-CN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 </a:t>
            </a:r>
            <a:r>
              <a:rPr lang="en-US" altLang="zh-CN" sz="20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lang="en-US" altLang="zh-CN" sz="2000" b="1" baseline="-2500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en-US" altLang="zh-CN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可分别表示为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：</a:t>
            </a:r>
            <a:endParaRPr lang="zh-CN" altLang="en-US" sz="2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59398" name="Object 6">
            <a:extLst>
              <a:ext uri="{FF2B5EF4-FFF2-40B4-BE49-F238E27FC236}">
                <a16:creationId xmlns:a16="http://schemas.microsoft.com/office/drawing/2014/main" id="{8341EE81-609E-FD9A-B7FB-10A78BA717F6}"/>
              </a:ext>
            </a:extLst>
          </p:cNvPr>
          <p:cNvGraphicFramePr>
            <a:graphicFrameLocks/>
          </p:cNvGraphicFramePr>
          <p:nvPr/>
        </p:nvGraphicFramePr>
        <p:xfrm>
          <a:off x="3048000" y="3344863"/>
          <a:ext cx="337502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30400" imgH="330200" progId="Equation.3">
                  <p:embed/>
                </p:oleObj>
              </mc:Choice>
              <mc:Fallback>
                <p:oleObj r:id="rId2" imgW="1930400" imgH="3302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344863"/>
                        <a:ext cx="337502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0" name="Object 8">
            <a:extLst>
              <a:ext uri="{FF2B5EF4-FFF2-40B4-BE49-F238E27FC236}">
                <a16:creationId xmlns:a16="http://schemas.microsoft.com/office/drawing/2014/main" id="{DC712314-DB46-BEF8-28A5-3B31289ED033}"/>
              </a:ext>
            </a:extLst>
          </p:cNvPr>
          <p:cNvGraphicFramePr>
            <a:graphicFrameLocks/>
          </p:cNvGraphicFramePr>
          <p:nvPr/>
        </p:nvGraphicFramePr>
        <p:xfrm>
          <a:off x="3057525" y="3960813"/>
          <a:ext cx="33289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54200" imgH="330200" progId="Equation.3">
                  <p:embed/>
                </p:oleObj>
              </mc:Choice>
              <mc:Fallback>
                <p:oleObj r:id="rId4" imgW="1854200" imgH="33020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3960813"/>
                        <a:ext cx="3328988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F49147F4-7DF9-A0C8-DA1B-783763809C48}"/>
              </a:ext>
            </a:extLst>
          </p:cNvPr>
          <p:cNvSpPr/>
          <p:nvPr/>
        </p:nvSpPr>
        <p:spPr>
          <a:xfrm>
            <a:off x="1363663" y="3808413"/>
            <a:ext cx="15176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计算见附录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15A3713C-E368-FF46-99D1-409600EE1A9E}"/>
              </a:ext>
            </a:extLst>
          </p:cNvPr>
          <p:cNvSpPr/>
          <p:nvPr/>
        </p:nvSpPr>
        <p:spPr bwMode="auto">
          <a:xfrm>
            <a:off x="2819400" y="3657600"/>
            <a:ext cx="187325" cy="609600"/>
          </a:xfrm>
          <a:prstGeom prst="leftBrace">
            <a:avLst>
              <a:gd name="adj1" fmla="val 27191"/>
              <a:gd name="adj2" fmla="val 50000"/>
            </a:avLst>
          </a:prstGeom>
          <a:noFill/>
          <a:ln w="9525">
            <a:solidFill>
              <a:schemeClr val="bg1">
                <a:lumMod val="50000"/>
              </a:schemeClr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 sz="2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A96F8C-60BF-27BB-29B2-1E350F48252D}"/>
              </a:ext>
            </a:extLst>
          </p:cNvPr>
          <p:cNvSpPr/>
          <p:nvPr/>
        </p:nvSpPr>
        <p:spPr bwMode="auto">
          <a:xfrm>
            <a:off x="3021013" y="3360738"/>
            <a:ext cx="3429000" cy="1143000"/>
          </a:xfrm>
          <a:prstGeom prst="rect">
            <a:avLst/>
          </a:prstGeom>
          <a:noFill/>
          <a:ln w="19050" cap="flat" cmpd="sng" algn="ctr">
            <a:solidFill>
              <a:srgbClr val="990099"/>
            </a:solidFill>
            <a:prstDash val="dash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32783" name="Freeform 12">
            <a:extLst>
              <a:ext uri="{FF2B5EF4-FFF2-40B4-BE49-F238E27FC236}">
                <a16:creationId xmlns:a16="http://schemas.microsoft.com/office/drawing/2014/main" id="{6E33F123-14B7-8B46-992C-A2B5EB9B8336}"/>
              </a:ext>
            </a:extLst>
          </p:cNvPr>
          <p:cNvSpPr>
            <a:spLocks noEditPoints="1" noChangeArrowheads="1"/>
          </p:cNvSpPr>
          <p:nvPr/>
        </p:nvSpPr>
        <p:spPr bwMode="auto">
          <a:xfrm rot="-2011888">
            <a:off x="3214688" y="2760663"/>
            <a:ext cx="809625" cy="650875"/>
          </a:xfrm>
          <a:custGeom>
            <a:avLst/>
            <a:gdLst>
              <a:gd name="T0" fmla="*/ 0 w 728"/>
              <a:gd name="T1" fmla="*/ 590 h 604"/>
              <a:gd name="T2" fmla="*/ 6 w 728"/>
              <a:gd name="T3" fmla="*/ 582 h 604"/>
              <a:gd name="T4" fmla="*/ 718 w 728"/>
              <a:gd name="T5" fmla="*/ 0 h 604"/>
              <a:gd name="T6" fmla="*/ 656 w 728"/>
              <a:gd name="T7" fmla="*/ 216 h 604"/>
              <a:gd name="T8" fmla="*/ 626 w 728"/>
              <a:gd name="T9" fmla="*/ 324 h 604"/>
              <a:gd name="T10" fmla="*/ 588 w 728"/>
              <a:gd name="T11" fmla="*/ 418 h 604"/>
              <a:gd name="T12" fmla="*/ 542 w 728"/>
              <a:gd name="T13" fmla="*/ 494 h 604"/>
              <a:gd name="T14" fmla="*/ 504 w 728"/>
              <a:gd name="T15" fmla="*/ 536 h 604"/>
              <a:gd name="T16" fmla="*/ 470 w 728"/>
              <a:gd name="T17" fmla="*/ 562 h 604"/>
              <a:gd name="T18" fmla="*/ 420 w 728"/>
              <a:gd name="T19" fmla="*/ 586 h 604"/>
              <a:gd name="T20" fmla="*/ 364 w 728"/>
              <a:gd name="T21" fmla="*/ 598 h 604"/>
              <a:gd name="T22" fmla="*/ 306 w 728"/>
              <a:gd name="T23" fmla="*/ 592 h 604"/>
              <a:gd name="T24" fmla="*/ 278 w 728"/>
              <a:gd name="T25" fmla="*/ 582 h 604"/>
              <a:gd name="T26" fmla="*/ 198 w 728"/>
              <a:gd name="T27" fmla="*/ 554 h 604"/>
              <a:gd name="T28" fmla="*/ 124 w 728"/>
              <a:gd name="T29" fmla="*/ 540 h 604"/>
              <a:gd name="T30" fmla="*/ 92 w 728"/>
              <a:gd name="T31" fmla="*/ 540 h 604"/>
              <a:gd name="T32" fmla="*/ 62 w 728"/>
              <a:gd name="T33" fmla="*/ 546 h 604"/>
              <a:gd name="T34" fmla="*/ 36 w 728"/>
              <a:gd name="T35" fmla="*/ 556 h 604"/>
              <a:gd name="T36" fmla="*/ 12 w 728"/>
              <a:gd name="T37" fmla="*/ 574 h 604"/>
              <a:gd name="T38" fmla="*/ 46 w 728"/>
              <a:gd name="T39" fmla="*/ 552 h 604"/>
              <a:gd name="T40" fmla="*/ 70 w 728"/>
              <a:gd name="T41" fmla="*/ 544 h 604"/>
              <a:gd name="T42" fmla="*/ 100 w 728"/>
              <a:gd name="T43" fmla="*/ 542 h 604"/>
              <a:gd name="T44" fmla="*/ 134 w 728"/>
              <a:gd name="T45" fmla="*/ 544 h 604"/>
              <a:gd name="T46" fmla="*/ 174 w 728"/>
              <a:gd name="T47" fmla="*/ 550 h 604"/>
              <a:gd name="T48" fmla="*/ 222 w 728"/>
              <a:gd name="T49" fmla="*/ 564 h 604"/>
              <a:gd name="T50" fmla="*/ 276 w 728"/>
              <a:gd name="T51" fmla="*/ 586 h 604"/>
              <a:gd name="T52" fmla="*/ 322 w 728"/>
              <a:gd name="T53" fmla="*/ 600 h 604"/>
              <a:gd name="T54" fmla="*/ 376 w 728"/>
              <a:gd name="T55" fmla="*/ 604 h 604"/>
              <a:gd name="T56" fmla="*/ 434 w 728"/>
              <a:gd name="T57" fmla="*/ 592 h 604"/>
              <a:gd name="T58" fmla="*/ 498 w 728"/>
              <a:gd name="T59" fmla="*/ 560 h 604"/>
              <a:gd name="T60" fmla="*/ 526 w 728"/>
              <a:gd name="T61" fmla="*/ 538 h 604"/>
              <a:gd name="T62" fmla="*/ 554 w 728"/>
              <a:gd name="T63" fmla="*/ 508 h 604"/>
              <a:gd name="T64" fmla="*/ 606 w 728"/>
              <a:gd name="T65" fmla="*/ 430 h 604"/>
              <a:gd name="T66" fmla="*/ 650 w 728"/>
              <a:gd name="T67" fmla="*/ 332 h 604"/>
              <a:gd name="T68" fmla="*/ 684 w 728"/>
              <a:gd name="T69" fmla="*/ 220 h 604"/>
              <a:gd name="T70" fmla="*/ 718 w 728"/>
              <a:gd name="T71" fmla="*/ 0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4" name="矩形 21">
            <a:extLst>
              <a:ext uri="{FF2B5EF4-FFF2-40B4-BE49-F238E27FC236}">
                <a16:creationId xmlns:a16="http://schemas.microsoft.com/office/drawing/2014/main" id="{E0D31D16-81DA-E2BE-84E6-153ABCE5C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575" y="2547938"/>
            <a:ext cx="6461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990099"/>
                </a:solidFill>
                <a:ea typeface="微软雅黑" panose="020B0503020204020204" pitchFamily="34" charset="-122"/>
              </a:rPr>
              <a:t>代入</a:t>
            </a:r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2D5A6EF7-A58B-E1A0-AAF7-7E34675318E6}"/>
              </a:ext>
            </a:extLst>
          </p:cNvPr>
          <p:cNvSpPr/>
          <p:nvPr/>
        </p:nvSpPr>
        <p:spPr bwMode="auto">
          <a:xfrm rot="1856738" flipH="1" flipV="1">
            <a:off x="6310313" y="2393950"/>
            <a:ext cx="1397000" cy="2460625"/>
          </a:xfrm>
          <a:custGeom>
            <a:avLst/>
            <a:gdLst>
              <a:gd name="T0" fmla="*/ 464 w 1612"/>
              <a:gd name="T1" fmla="*/ 966 h 1618"/>
              <a:gd name="T2" fmla="*/ 378 w 1612"/>
              <a:gd name="T3" fmla="*/ 822 h 1618"/>
              <a:gd name="T4" fmla="*/ 310 w 1612"/>
              <a:gd name="T5" fmla="*/ 690 h 1618"/>
              <a:gd name="T6" fmla="*/ 256 w 1612"/>
              <a:gd name="T7" fmla="*/ 572 h 1618"/>
              <a:gd name="T8" fmla="*/ 214 w 1612"/>
              <a:gd name="T9" fmla="*/ 472 h 1618"/>
              <a:gd name="T10" fmla="*/ 166 w 1612"/>
              <a:gd name="T11" fmla="*/ 328 h 1618"/>
              <a:gd name="T12" fmla="*/ 152 w 1612"/>
              <a:gd name="T13" fmla="*/ 276 h 1618"/>
              <a:gd name="T14" fmla="*/ 34 w 1612"/>
              <a:gd name="T15" fmla="*/ 0 h 1618"/>
              <a:gd name="T16" fmla="*/ 82 w 1612"/>
              <a:gd name="T17" fmla="*/ 294 h 1618"/>
              <a:gd name="T18" fmla="*/ 86 w 1612"/>
              <a:gd name="T19" fmla="*/ 308 h 1618"/>
              <a:gd name="T20" fmla="*/ 120 w 1612"/>
              <a:gd name="T21" fmla="*/ 414 h 1618"/>
              <a:gd name="T22" fmla="*/ 174 w 1612"/>
              <a:gd name="T23" fmla="*/ 550 h 1618"/>
              <a:gd name="T24" fmla="*/ 228 w 1612"/>
              <a:gd name="T25" fmla="*/ 662 h 1618"/>
              <a:gd name="T26" fmla="*/ 296 w 1612"/>
              <a:gd name="T27" fmla="*/ 788 h 1618"/>
              <a:gd name="T28" fmla="*/ 382 w 1612"/>
              <a:gd name="T29" fmla="*/ 926 h 1618"/>
              <a:gd name="T30" fmla="*/ 430 w 1612"/>
              <a:gd name="T31" fmla="*/ 998 h 1618"/>
              <a:gd name="T32" fmla="*/ 514 w 1612"/>
              <a:gd name="T33" fmla="*/ 1104 h 1618"/>
              <a:gd name="T34" fmla="*/ 602 w 1612"/>
              <a:gd name="T35" fmla="*/ 1196 h 1618"/>
              <a:gd name="T36" fmla="*/ 696 w 1612"/>
              <a:gd name="T37" fmla="*/ 1278 h 1618"/>
              <a:gd name="T38" fmla="*/ 794 w 1612"/>
              <a:gd name="T39" fmla="*/ 1348 h 1618"/>
              <a:gd name="T40" fmla="*/ 892 w 1612"/>
              <a:gd name="T41" fmla="*/ 1408 h 1618"/>
              <a:gd name="T42" fmla="*/ 990 w 1612"/>
              <a:gd name="T43" fmla="*/ 1458 h 1618"/>
              <a:gd name="T44" fmla="*/ 1086 w 1612"/>
              <a:gd name="T45" fmla="*/ 1500 h 1618"/>
              <a:gd name="T46" fmla="*/ 1180 w 1612"/>
              <a:gd name="T47" fmla="*/ 1534 h 1618"/>
              <a:gd name="T48" fmla="*/ 1268 w 1612"/>
              <a:gd name="T49" fmla="*/ 1560 h 1618"/>
              <a:gd name="T50" fmla="*/ 1424 w 1612"/>
              <a:gd name="T51" fmla="*/ 1596 h 1618"/>
              <a:gd name="T52" fmla="*/ 1540 w 1612"/>
              <a:gd name="T53" fmla="*/ 1612 h 1618"/>
              <a:gd name="T54" fmla="*/ 1612 w 1612"/>
              <a:gd name="T55" fmla="*/ 1618 h 1618"/>
              <a:gd name="T56" fmla="*/ 1580 w 1612"/>
              <a:gd name="T57" fmla="*/ 1616 h 1618"/>
              <a:gd name="T58" fmla="*/ 1488 w 1612"/>
              <a:gd name="T59" fmla="*/ 1606 h 1618"/>
              <a:gd name="T60" fmla="*/ 1354 w 1612"/>
              <a:gd name="T61" fmla="*/ 1578 h 1618"/>
              <a:gd name="T62" fmla="*/ 1230 w 1612"/>
              <a:gd name="T63" fmla="*/ 1544 h 1618"/>
              <a:gd name="T64" fmla="*/ 1142 w 1612"/>
              <a:gd name="T65" fmla="*/ 1512 h 1618"/>
              <a:gd name="T66" fmla="*/ 1048 w 1612"/>
              <a:gd name="T67" fmla="*/ 1474 h 1618"/>
              <a:gd name="T68" fmla="*/ 954 w 1612"/>
              <a:gd name="T69" fmla="*/ 1426 h 1618"/>
              <a:gd name="T70" fmla="*/ 858 w 1612"/>
              <a:gd name="T71" fmla="*/ 1368 h 1618"/>
              <a:gd name="T72" fmla="*/ 764 w 1612"/>
              <a:gd name="T73" fmla="*/ 1300 h 1618"/>
              <a:gd name="T74" fmla="*/ 672 w 1612"/>
              <a:gd name="T75" fmla="*/ 1220 h 1618"/>
              <a:gd name="T76" fmla="*/ 584 w 1612"/>
              <a:gd name="T77" fmla="*/ 1128 h 1618"/>
              <a:gd name="T78" fmla="*/ 502 w 1612"/>
              <a:gd name="T79" fmla="*/ 1024 h 1618"/>
              <a:gd name="T80" fmla="*/ 464 w 1612"/>
              <a:gd name="T81" fmla="*/ 966 h 1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lnTo>
                  <a:pt x="464" y="96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FF17B6-D6BC-96F4-DD64-E02AB687954D}"/>
              </a:ext>
            </a:extLst>
          </p:cNvPr>
          <p:cNvSpPr/>
          <p:nvPr/>
        </p:nvSpPr>
        <p:spPr>
          <a:xfrm>
            <a:off x="609600" y="4781550"/>
            <a:ext cx="54864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则可得</a:t>
            </a:r>
            <a:r>
              <a:rPr lang="zh-CN" altLang="en-US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随相信号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en-US" sz="20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最佳接收</a:t>
            </a:r>
            <a:r>
              <a:rPr lang="zh-CN" altLang="en-US" sz="2000" b="1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判决规则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1F169B7-49F1-2C92-837F-20EB85E191C7}"/>
              </a:ext>
            </a:extLst>
          </p:cNvPr>
          <p:cNvSpPr/>
          <p:nvPr/>
        </p:nvSpPr>
        <p:spPr>
          <a:xfrm>
            <a:off x="561975" y="1066800"/>
            <a:ext cx="72390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我们知道，</a:t>
            </a:r>
            <a:r>
              <a:rPr lang="zh-CN" altLang="en-US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确知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信号的最佳接收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判决规则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pic>
        <p:nvPicPr>
          <p:cNvPr id="26647" name="Picture 23">
            <a:extLst>
              <a:ext uri="{FF2B5EF4-FFF2-40B4-BE49-F238E27FC236}">
                <a16:creationId xmlns:a16="http://schemas.microsoft.com/office/drawing/2014/main" id="{53C1DB34-36C7-2BD3-7C18-846BED3F4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75" b="3142"/>
          <a:stretch>
            <a:fillRect/>
          </a:stretch>
        </p:blipFill>
        <p:spPr bwMode="auto">
          <a:xfrm>
            <a:off x="2816225" y="5295900"/>
            <a:ext cx="388937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961689FF-7A5F-A796-BA38-31107A52F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648"/>
          <a:stretch>
            <a:fillRect/>
          </a:stretch>
        </p:blipFill>
        <p:spPr bwMode="auto">
          <a:xfrm>
            <a:off x="2794000" y="1473200"/>
            <a:ext cx="38893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0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2000"/>
                                        <p:tgtEl>
                                          <p:spTgt spid="2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8" grpId="0" animBg="1"/>
      <p:bldP spid="19" grpId="0" animBg="1"/>
      <p:bldP spid="32783" grpId="0" animBg="1"/>
      <p:bldP spid="32784" grpId="0"/>
      <p:bldP spid="24" grpId="0" animBg="1"/>
      <p:bldP spid="25" grpId="0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702" name="Picture 22">
            <a:extLst>
              <a:ext uri="{FF2B5EF4-FFF2-40B4-BE49-F238E27FC236}">
                <a16:creationId xmlns:a16="http://schemas.microsoft.com/office/drawing/2014/main" id="{2C1513D1-78E0-B53E-AE0D-0B2447C6C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600" y="2616200"/>
            <a:ext cx="5461000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0" name="Rectangle 5">
            <a:extLst>
              <a:ext uri="{FF2B5EF4-FFF2-40B4-BE49-F238E27FC236}">
                <a16:creationId xmlns:a16="http://schemas.microsoft.com/office/drawing/2014/main" id="{F10A0BC5-81B1-B2C6-D737-5F8C6DCF6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99331" name="Rectangle 7">
            <a:extLst>
              <a:ext uri="{FF2B5EF4-FFF2-40B4-BE49-F238E27FC236}">
                <a16:creationId xmlns:a16="http://schemas.microsoft.com/office/drawing/2014/main" id="{30D75800-8A1C-9931-DAD2-A020985F4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199696" name="Object 4">
            <a:extLst>
              <a:ext uri="{FF2B5EF4-FFF2-40B4-BE49-F238E27FC236}">
                <a16:creationId xmlns:a16="http://schemas.microsoft.com/office/drawing/2014/main" id="{CD51E9AB-F492-0EFD-FC5E-32FA176CB370}"/>
              </a:ext>
            </a:extLst>
          </p:cNvPr>
          <p:cNvGraphicFramePr>
            <a:graphicFrameLocks/>
          </p:cNvGraphicFramePr>
          <p:nvPr/>
        </p:nvGraphicFramePr>
        <p:xfrm>
          <a:off x="887413" y="1084263"/>
          <a:ext cx="193198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00918" imgH="253780" progId="Equation.DSMT4">
                  <p:embed/>
                </p:oleObj>
              </mc:Choice>
              <mc:Fallback>
                <p:oleObj r:id="rId3" imgW="900918" imgH="25378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1084263"/>
                        <a:ext cx="1931987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">
            <a:extLst>
              <a:ext uri="{FF2B5EF4-FFF2-40B4-BE49-F238E27FC236}">
                <a16:creationId xmlns:a16="http://schemas.microsoft.com/office/drawing/2014/main" id="{A0F89C25-69B7-D605-4234-DA4BC355C103}"/>
              </a:ext>
            </a:extLst>
          </p:cNvPr>
          <p:cNvGraphicFramePr>
            <a:graphicFrameLocks/>
          </p:cNvGraphicFramePr>
          <p:nvPr/>
        </p:nvGraphicFramePr>
        <p:xfrm>
          <a:off x="887413" y="1770063"/>
          <a:ext cx="1905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88229" imgH="253780" progId="Equation.DSMT4">
                  <p:embed/>
                </p:oleObj>
              </mc:Choice>
              <mc:Fallback>
                <p:oleObj r:id="rId5" imgW="888229" imgH="25378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1770063"/>
                        <a:ext cx="19050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>
            <a:extLst>
              <a:ext uri="{FF2B5EF4-FFF2-40B4-BE49-F238E27FC236}">
                <a16:creationId xmlns:a16="http://schemas.microsoft.com/office/drawing/2014/main" id="{49A8DFCD-F363-7F1A-1946-AF7290917084}"/>
              </a:ext>
            </a:extLst>
          </p:cNvPr>
          <p:cNvGraphicFramePr>
            <a:graphicFrameLocks/>
          </p:cNvGraphicFramePr>
          <p:nvPr/>
        </p:nvGraphicFramePr>
        <p:xfrm>
          <a:off x="3036888" y="1035050"/>
          <a:ext cx="26130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193282" imgH="291973" progId="Equation.DSMT4">
                  <p:embed/>
                </p:oleObj>
              </mc:Choice>
              <mc:Fallback>
                <p:oleObj r:id="rId7" imgW="1193282" imgH="291973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1035050"/>
                        <a:ext cx="261302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8">
            <a:extLst>
              <a:ext uri="{FF2B5EF4-FFF2-40B4-BE49-F238E27FC236}">
                <a16:creationId xmlns:a16="http://schemas.microsoft.com/office/drawing/2014/main" id="{56CB72A6-2103-6703-8E9D-44C5547F4EC4}"/>
              </a:ext>
            </a:extLst>
          </p:cNvPr>
          <p:cNvGraphicFramePr>
            <a:graphicFrameLocks/>
          </p:cNvGraphicFramePr>
          <p:nvPr/>
        </p:nvGraphicFramePr>
        <p:xfrm>
          <a:off x="5943600" y="1004888"/>
          <a:ext cx="24733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129810" imgH="291973" progId="Equation.DSMT4">
                  <p:embed/>
                </p:oleObj>
              </mc:Choice>
              <mc:Fallback>
                <p:oleObj r:id="rId9" imgW="1129810" imgH="291973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004888"/>
                        <a:ext cx="247332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6">
            <a:extLst>
              <a:ext uri="{FF2B5EF4-FFF2-40B4-BE49-F238E27FC236}">
                <a16:creationId xmlns:a16="http://schemas.microsoft.com/office/drawing/2014/main" id="{D1FA5589-C5A3-A399-C6DE-07619587C258}"/>
              </a:ext>
            </a:extLst>
          </p:cNvPr>
          <p:cNvGraphicFramePr>
            <a:graphicFrameLocks/>
          </p:cNvGraphicFramePr>
          <p:nvPr/>
        </p:nvGraphicFramePr>
        <p:xfrm>
          <a:off x="3036888" y="1720850"/>
          <a:ext cx="2557462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167893" imgH="291973" progId="Equation.DSMT4">
                  <p:embed/>
                </p:oleObj>
              </mc:Choice>
              <mc:Fallback>
                <p:oleObj r:id="rId11" imgW="1167893" imgH="291973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1720850"/>
                        <a:ext cx="2557462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7">
            <a:extLst>
              <a:ext uri="{FF2B5EF4-FFF2-40B4-BE49-F238E27FC236}">
                <a16:creationId xmlns:a16="http://schemas.microsoft.com/office/drawing/2014/main" id="{8BF9EACE-AF46-13D6-A891-D9488758C6BD}"/>
              </a:ext>
            </a:extLst>
          </p:cNvPr>
          <p:cNvGraphicFramePr>
            <a:graphicFrameLocks/>
          </p:cNvGraphicFramePr>
          <p:nvPr/>
        </p:nvGraphicFramePr>
        <p:xfrm>
          <a:off x="5957888" y="1738313"/>
          <a:ext cx="2417762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104421" imgH="291973" progId="Equation.DSMT4">
                  <p:embed/>
                </p:oleObj>
              </mc:Choice>
              <mc:Fallback>
                <p:oleObj r:id="rId13" imgW="1104421" imgH="291973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7888" y="1738313"/>
                        <a:ext cx="2417762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>
            <a:extLst>
              <a:ext uri="{FF2B5EF4-FFF2-40B4-BE49-F238E27FC236}">
                <a16:creationId xmlns:a16="http://schemas.microsoft.com/office/drawing/2014/main" id="{55247393-2B72-00F3-9E05-AE4F3BF0F871}"/>
              </a:ext>
            </a:extLst>
          </p:cNvPr>
          <p:cNvSpPr/>
          <p:nvPr/>
        </p:nvSpPr>
        <p:spPr>
          <a:xfrm>
            <a:off x="533400" y="2641600"/>
            <a:ext cx="2590800" cy="10160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二进制随相信号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0000CC"/>
              </a:buClr>
              <a:buSzPct val="65000"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最佳接收机结构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98ABA3-5EEF-DC32-CF69-86192D1C0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625" y="4176713"/>
            <a:ext cx="838200" cy="45720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/>
            <a:endParaRPr lang="zh-CN" altLang="en-US"/>
          </a:p>
        </p:txBody>
      </p:sp>
      <p:pic>
        <p:nvPicPr>
          <p:cNvPr id="27665" name="Picture 17">
            <a:extLst>
              <a:ext uri="{FF2B5EF4-FFF2-40B4-BE49-F238E27FC236}">
                <a16:creationId xmlns:a16="http://schemas.microsoft.com/office/drawing/2014/main" id="{F2FA95DD-BACE-7077-B227-559C50F0A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4851400"/>
            <a:ext cx="23082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9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9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423" name="Object 7">
            <a:extLst>
              <a:ext uri="{FF2B5EF4-FFF2-40B4-BE49-F238E27FC236}">
                <a16:creationId xmlns:a16="http://schemas.microsoft.com/office/drawing/2014/main" id="{E9BA6F51-C721-F12D-1C40-4D3DBC01FD8E}"/>
              </a:ext>
            </a:extLst>
          </p:cNvPr>
          <p:cNvGraphicFramePr>
            <a:graphicFrameLocks/>
          </p:cNvGraphicFramePr>
          <p:nvPr/>
        </p:nvGraphicFramePr>
        <p:xfrm>
          <a:off x="1743075" y="2362200"/>
          <a:ext cx="610552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84514" imgH="393529" progId="Equation.DSMT4">
                  <p:embed/>
                </p:oleObj>
              </mc:Choice>
              <mc:Fallback>
                <p:oleObj r:id="rId2" imgW="3884514" imgH="393529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2362200"/>
                        <a:ext cx="610552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3">
            <a:extLst>
              <a:ext uri="{FF2B5EF4-FFF2-40B4-BE49-F238E27FC236}">
                <a16:creationId xmlns:a16="http://schemas.microsoft.com/office/drawing/2014/main" id="{460991A3-FC08-FFFB-FE6D-AE3ABDA2C070}"/>
              </a:ext>
            </a:extLst>
          </p:cNvPr>
          <p:cNvGrpSpPr>
            <a:grpSpLocks/>
          </p:cNvGrpSpPr>
          <p:nvPr/>
        </p:nvGrpSpPr>
        <p:grpSpPr bwMode="auto">
          <a:xfrm>
            <a:off x="1138238" y="3048000"/>
            <a:ext cx="2671762" cy="452438"/>
            <a:chOff x="910591" y="3249304"/>
            <a:chExt cx="2672526" cy="452438"/>
          </a:xfrm>
        </p:grpSpPr>
        <p:graphicFrame>
          <p:nvGraphicFramePr>
            <p:cNvPr id="100355" name="Object 8">
              <a:extLst>
                <a:ext uri="{FF2B5EF4-FFF2-40B4-BE49-F238E27FC236}">
                  <a16:creationId xmlns:a16="http://schemas.microsoft.com/office/drawing/2014/main" id="{7D65AE1F-8521-58EA-3898-C76CFE0C396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770680" y="3249304"/>
            <a:ext cx="1139825" cy="452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96641" imgH="241195" progId="Equation.DSMT4">
                    <p:embed/>
                  </p:oleObj>
                </mc:Choice>
                <mc:Fallback>
                  <p:oleObj r:id="rId4" imgW="596641" imgH="241195" progId="Equation.DSMT4">
                    <p:embed/>
                    <p:pic>
                      <p:nvPicPr>
                        <p:cNvPr id="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0680" y="3249304"/>
                          <a:ext cx="1139825" cy="452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8427" name="Rectangle 11">
              <a:extLst>
                <a:ext uri="{FF2B5EF4-FFF2-40B4-BE49-F238E27FC236}">
                  <a16:creationId xmlns:a16="http://schemas.microsoft.com/office/drawing/2014/main" id="{8942AE6E-6255-A292-14FE-3EFBC588D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591" y="3276292"/>
              <a:ext cx="2672526" cy="4000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buClr>
                  <a:schemeClr val="accent2"/>
                </a:buClr>
                <a:buSzPct val="60000"/>
                <a:defRPr/>
              </a:pPr>
              <a:r>
                <a:rPr kumimoji="1" lang="zh-CN" altLang="en-US" sz="2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当发送                时</a:t>
              </a:r>
              <a:r>
                <a:rPr kumimoji="1" lang="zh-CN" altLang="en-US" sz="2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：</a:t>
              </a:r>
            </a:p>
          </p:txBody>
        </p:sp>
      </p:grpSp>
      <p:sp>
        <p:nvSpPr>
          <p:cNvPr id="188431" name="Rectangle 15">
            <a:extLst>
              <a:ext uri="{FF2B5EF4-FFF2-40B4-BE49-F238E27FC236}">
                <a16:creationId xmlns:a16="http://schemas.microsoft.com/office/drawing/2014/main" id="{1EA80039-79FB-F1F8-4C4B-3AE6AB7DE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705350"/>
            <a:ext cx="54308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60000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2FSK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包络检波的分析方法和结论，可得：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922F04-BC6F-3064-0F35-1B31410BB405}"/>
              </a:ext>
            </a:extLst>
          </p:cNvPr>
          <p:cNvSpPr/>
          <p:nvPr/>
        </p:nvSpPr>
        <p:spPr>
          <a:xfrm>
            <a:off x="533400" y="519113"/>
            <a:ext cx="6096000" cy="5238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随相信号最佳接收机的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误码率</a:t>
            </a:r>
            <a:endParaRPr lang="zh-CN" altLang="en-US" sz="2800" dirty="0">
              <a:solidFill>
                <a:srgbClr val="003399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EE739F79-10F3-1B8F-8CAA-40B90F86C02F}"/>
              </a:ext>
            </a:extLst>
          </p:cNvPr>
          <p:cNvGraphicFramePr>
            <a:graphicFrameLocks/>
          </p:cNvGraphicFramePr>
          <p:nvPr/>
        </p:nvGraphicFramePr>
        <p:xfrm>
          <a:off x="2438400" y="1230313"/>
          <a:ext cx="374332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54200" imgH="228600" progId="Equation.DSMT4">
                  <p:embed/>
                </p:oleObj>
              </mc:Choice>
              <mc:Fallback>
                <p:oleObj r:id="rId6" imgW="1854200" imgH="2286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230313"/>
                        <a:ext cx="374332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9B2D617B-07DD-4963-EF8F-8AA745121BC8}"/>
              </a:ext>
            </a:extLst>
          </p:cNvPr>
          <p:cNvSpPr/>
          <p:nvPr/>
        </p:nvSpPr>
        <p:spPr>
          <a:xfrm>
            <a:off x="685800" y="1828800"/>
            <a:ext cx="56388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发送码元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“</a:t>
            </a:r>
            <a:r>
              <a:rPr lang="en-US" altLang="zh-CN" sz="2000" b="1" dirty="0">
                <a:solidFill>
                  <a:srgbClr val="9900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”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时错判为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“</a:t>
            </a:r>
            <a:r>
              <a:rPr lang="en-US" altLang="zh-CN" sz="2000" b="1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”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的概率为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graphicFrame>
        <p:nvGraphicFramePr>
          <p:cNvPr id="20" name="Object 5">
            <a:extLst>
              <a:ext uri="{FF2B5EF4-FFF2-40B4-BE49-F238E27FC236}">
                <a16:creationId xmlns:a16="http://schemas.microsoft.com/office/drawing/2014/main" id="{19ED5E0F-6DB7-B6C3-77E8-963CD6D48858}"/>
              </a:ext>
            </a:extLst>
          </p:cNvPr>
          <p:cNvGraphicFramePr>
            <a:graphicFrameLocks/>
          </p:cNvGraphicFramePr>
          <p:nvPr/>
        </p:nvGraphicFramePr>
        <p:xfrm>
          <a:off x="3200400" y="5791200"/>
          <a:ext cx="30480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20227" imgH="228501" progId="Equation.DSMT4">
                  <p:embed/>
                </p:oleObj>
              </mc:Choice>
              <mc:Fallback>
                <p:oleObj r:id="rId8" imgW="1320227" imgH="228501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791200"/>
                        <a:ext cx="30480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07C6A644-4E1C-B42A-4C69-850B9B95D42E}"/>
              </a:ext>
            </a:extLst>
          </p:cNvPr>
          <p:cNvSpPr/>
          <p:nvPr/>
        </p:nvSpPr>
        <p:spPr>
          <a:xfrm>
            <a:off x="685800" y="5410200"/>
            <a:ext cx="25908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先验概率相等时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6E85D67A-BEA2-4AD2-1948-EB5DBDEE124B}"/>
              </a:ext>
            </a:extLst>
          </p:cNvPr>
          <p:cNvGraphicFramePr>
            <a:graphicFrameLocks/>
          </p:cNvGraphicFramePr>
          <p:nvPr/>
        </p:nvGraphicFramePr>
        <p:xfrm>
          <a:off x="5221288" y="4953000"/>
          <a:ext cx="23225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193282" imgH="495085" progId="Equation.DSMT4">
                  <p:embed/>
                </p:oleObj>
              </mc:Choice>
              <mc:Fallback>
                <p:oleObj r:id="rId10" imgW="1193282" imgH="495085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1288" y="4953000"/>
                        <a:ext cx="232251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2">
            <a:extLst>
              <a:ext uri="{FF2B5EF4-FFF2-40B4-BE49-F238E27FC236}">
                <a16:creationId xmlns:a16="http://schemas.microsoft.com/office/drawing/2014/main" id="{B64AC69D-493C-DA57-9647-DB6AFEED1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011613"/>
            <a:ext cx="5791200" cy="461962"/>
          </a:xfrm>
          <a:prstGeom prst="rect">
            <a:avLst/>
          </a:prstGeom>
          <a:solidFill>
            <a:srgbClr val="E8E8E8"/>
          </a:solidFill>
          <a:ln w="9525">
            <a:solidFill>
              <a:schemeClr val="bg1">
                <a:lumMod val="85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buClr>
                <a:schemeClr val="bg1">
                  <a:lumMod val="50000"/>
                </a:schemeClr>
              </a:buClr>
              <a:buSzPct val="65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下支路</a:t>
            </a:r>
            <a:r>
              <a:rPr kumimoji="1" lang="zh-CN" altLang="en-US" sz="2000" dirty="0">
                <a:latin typeface="+mn-ea"/>
                <a:ea typeface="+mn-ea"/>
              </a:rPr>
              <a:t>：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噪声</a:t>
            </a:r>
            <a:r>
              <a:rPr kumimoji="1" lang="zh-CN" altLang="en-US" sz="2000" dirty="0">
                <a:latin typeface="+mn-ea"/>
                <a:ea typeface="+mn-ea"/>
              </a:rPr>
              <a:t>，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sz="2000" b="1" dirty="0">
                <a:solidFill>
                  <a:srgbClr val="0000CC"/>
                </a:solidFill>
              </a:rPr>
              <a:t>∴</a:t>
            </a:r>
            <a:r>
              <a:rPr lang="en-US" sz="2400" b="1" dirty="0">
                <a:solidFill>
                  <a:srgbClr val="0000CC"/>
                </a:solidFill>
              </a:rPr>
              <a:t> </a:t>
            </a:r>
            <a:r>
              <a:rPr kumimoji="1" lang="en-US" altLang="zh-CN" sz="2400" b="1" i="1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1" lang="en-US" altLang="zh-CN" sz="2000" b="1" dirty="0">
                <a:latin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kumimoji="1" lang="en-US" altLang="zh-CN" sz="20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en-US" altLang="zh-CN" sz="2000" b="1" dirty="0">
                <a:latin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~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瑞利分布</a:t>
            </a:r>
          </a:p>
        </p:txBody>
      </p:sp>
      <p:sp>
        <p:nvSpPr>
          <p:cNvPr id="188428" name="Rectangle 12">
            <a:extLst>
              <a:ext uri="{FF2B5EF4-FFF2-40B4-BE49-F238E27FC236}">
                <a16:creationId xmlns:a16="http://schemas.microsoft.com/office/drawing/2014/main" id="{2AC53481-B618-918E-475D-8631D2B56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505200"/>
            <a:ext cx="5791200" cy="496888"/>
          </a:xfrm>
          <a:prstGeom prst="rect">
            <a:avLst/>
          </a:prstGeom>
          <a:solidFill>
            <a:srgbClr val="E8E8E8"/>
          </a:solidFill>
          <a:ln w="9525">
            <a:solidFill>
              <a:schemeClr val="bg1">
                <a:lumMod val="85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65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上支路</a:t>
            </a:r>
            <a:r>
              <a:rPr kumimoji="1" lang="zh-CN" altLang="en-US" sz="2000" dirty="0">
                <a:latin typeface="+mn-ea"/>
                <a:ea typeface="+mn-ea"/>
              </a:rPr>
              <a:t>：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噪声</a:t>
            </a:r>
            <a:r>
              <a:rPr kumimoji="1" lang="zh-CN" altLang="en-US" sz="2000" dirty="0">
                <a:latin typeface="+mn-ea"/>
                <a:ea typeface="+mn-ea"/>
              </a:rPr>
              <a:t>，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2000" b="1" dirty="0">
                <a:solidFill>
                  <a:srgbClr val="0000CC"/>
                </a:solidFill>
              </a:rPr>
              <a:t>∴  </a:t>
            </a:r>
            <a:r>
              <a:rPr kumimoji="1" lang="en-US" altLang="zh-CN" sz="2400" b="1" i="1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1" lang="en-US" altLang="zh-CN" sz="2000" b="1" dirty="0">
                <a:latin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kumimoji="1" lang="en-US" altLang="zh-CN" sz="20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kumimoji="1" lang="en-US" altLang="zh-CN" sz="2000" b="1" dirty="0">
                <a:latin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kumimoji="1"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~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广义瑞利分布</a:t>
            </a:r>
            <a:endParaRPr kumimoji="1" lang="zh-CN" altLang="en-US" sz="2000" dirty="0">
              <a:latin typeface="+mn-ea"/>
              <a:ea typeface="+mn-ea"/>
            </a:endParaRPr>
          </a:p>
        </p:txBody>
      </p:sp>
      <p:sp>
        <p:nvSpPr>
          <p:cNvPr id="21" name="Freeform 10">
            <a:extLst>
              <a:ext uri="{FF2B5EF4-FFF2-40B4-BE49-F238E27FC236}">
                <a16:creationId xmlns:a16="http://schemas.microsoft.com/office/drawing/2014/main" id="{346B226C-E2E5-5D30-FEDA-EF58BF4C6154}"/>
              </a:ext>
            </a:extLst>
          </p:cNvPr>
          <p:cNvSpPr/>
          <p:nvPr/>
        </p:nvSpPr>
        <p:spPr bwMode="auto">
          <a:xfrm rot="2197080" flipH="1" flipV="1">
            <a:off x="7340600" y="3025775"/>
            <a:ext cx="1052513" cy="1865313"/>
          </a:xfrm>
          <a:custGeom>
            <a:avLst/>
            <a:gdLst>
              <a:gd name="T0" fmla="*/ 464 w 1612"/>
              <a:gd name="T1" fmla="*/ 966 h 1618"/>
              <a:gd name="T2" fmla="*/ 378 w 1612"/>
              <a:gd name="T3" fmla="*/ 822 h 1618"/>
              <a:gd name="T4" fmla="*/ 310 w 1612"/>
              <a:gd name="T5" fmla="*/ 690 h 1618"/>
              <a:gd name="T6" fmla="*/ 256 w 1612"/>
              <a:gd name="T7" fmla="*/ 572 h 1618"/>
              <a:gd name="T8" fmla="*/ 214 w 1612"/>
              <a:gd name="T9" fmla="*/ 472 h 1618"/>
              <a:gd name="T10" fmla="*/ 166 w 1612"/>
              <a:gd name="T11" fmla="*/ 328 h 1618"/>
              <a:gd name="T12" fmla="*/ 152 w 1612"/>
              <a:gd name="T13" fmla="*/ 276 h 1618"/>
              <a:gd name="T14" fmla="*/ 34 w 1612"/>
              <a:gd name="T15" fmla="*/ 0 h 1618"/>
              <a:gd name="T16" fmla="*/ 82 w 1612"/>
              <a:gd name="T17" fmla="*/ 294 h 1618"/>
              <a:gd name="T18" fmla="*/ 86 w 1612"/>
              <a:gd name="T19" fmla="*/ 308 h 1618"/>
              <a:gd name="T20" fmla="*/ 120 w 1612"/>
              <a:gd name="T21" fmla="*/ 414 h 1618"/>
              <a:gd name="T22" fmla="*/ 174 w 1612"/>
              <a:gd name="T23" fmla="*/ 550 h 1618"/>
              <a:gd name="T24" fmla="*/ 228 w 1612"/>
              <a:gd name="T25" fmla="*/ 662 h 1618"/>
              <a:gd name="T26" fmla="*/ 296 w 1612"/>
              <a:gd name="T27" fmla="*/ 788 h 1618"/>
              <a:gd name="T28" fmla="*/ 382 w 1612"/>
              <a:gd name="T29" fmla="*/ 926 h 1618"/>
              <a:gd name="T30" fmla="*/ 430 w 1612"/>
              <a:gd name="T31" fmla="*/ 998 h 1618"/>
              <a:gd name="T32" fmla="*/ 514 w 1612"/>
              <a:gd name="T33" fmla="*/ 1104 h 1618"/>
              <a:gd name="T34" fmla="*/ 602 w 1612"/>
              <a:gd name="T35" fmla="*/ 1196 h 1618"/>
              <a:gd name="T36" fmla="*/ 696 w 1612"/>
              <a:gd name="T37" fmla="*/ 1278 h 1618"/>
              <a:gd name="T38" fmla="*/ 794 w 1612"/>
              <a:gd name="T39" fmla="*/ 1348 h 1618"/>
              <a:gd name="T40" fmla="*/ 892 w 1612"/>
              <a:gd name="T41" fmla="*/ 1408 h 1618"/>
              <a:gd name="T42" fmla="*/ 990 w 1612"/>
              <a:gd name="T43" fmla="*/ 1458 h 1618"/>
              <a:gd name="T44" fmla="*/ 1086 w 1612"/>
              <a:gd name="T45" fmla="*/ 1500 h 1618"/>
              <a:gd name="T46" fmla="*/ 1180 w 1612"/>
              <a:gd name="T47" fmla="*/ 1534 h 1618"/>
              <a:gd name="T48" fmla="*/ 1268 w 1612"/>
              <a:gd name="T49" fmla="*/ 1560 h 1618"/>
              <a:gd name="T50" fmla="*/ 1424 w 1612"/>
              <a:gd name="T51" fmla="*/ 1596 h 1618"/>
              <a:gd name="T52" fmla="*/ 1540 w 1612"/>
              <a:gd name="T53" fmla="*/ 1612 h 1618"/>
              <a:gd name="T54" fmla="*/ 1612 w 1612"/>
              <a:gd name="T55" fmla="*/ 1618 h 1618"/>
              <a:gd name="T56" fmla="*/ 1580 w 1612"/>
              <a:gd name="T57" fmla="*/ 1616 h 1618"/>
              <a:gd name="T58" fmla="*/ 1488 w 1612"/>
              <a:gd name="T59" fmla="*/ 1606 h 1618"/>
              <a:gd name="T60" fmla="*/ 1354 w 1612"/>
              <a:gd name="T61" fmla="*/ 1578 h 1618"/>
              <a:gd name="T62" fmla="*/ 1230 w 1612"/>
              <a:gd name="T63" fmla="*/ 1544 h 1618"/>
              <a:gd name="T64" fmla="*/ 1142 w 1612"/>
              <a:gd name="T65" fmla="*/ 1512 h 1618"/>
              <a:gd name="T66" fmla="*/ 1048 w 1612"/>
              <a:gd name="T67" fmla="*/ 1474 h 1618"/>
              <a:gd name="T68" fmla="*/ 954 w 1612"/>
              <a:gd name="T69" fmla="*/ 1426 h 1618"/>
              <a:gd name="T70" fmla="*/ 858 w 1612"/>
              <a:gd name="T71" fmla="*/ 1368 h 1618"/>
              <a:gd name="T72" fmla="*/ 764 w 1612"/>
              <a:gd name="T73" fmla="*/ 1300 h 1618"/>
              <a:gd name="T74" fmla="*/ 672 w 1612"/>
              <a:gd name="T75" fmla="*/ 1220 h 1618"/>
              <a:gd name="T76" fmla="*/ 584 w 1612"/>
              <a:gd name="T77" fmla="*/ 1128 h 1618"/>
              <a:gd name="T78" fmla="*/ 502 w 1612"/>
              <a:gd name="T79" fmla="*/ 1024 h 1618"/>
              <a:gd name="T80" fmla="*/ 464 w 1612"/>
              <a:gd name="T81" fmla="*/ 966 h 1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lnTo>
                  <a:pt x="464" y="96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8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31" grpId="0"/>
      <p:bldP spid="16" grpId="0"/>
      <p:bldP spid="18" grpId="0"/>
      <p:bldP spid="23" grpId="0"/>
      <p:bldP spid="19" grpId="0" animBg="1"/>
      <p:bldP spid="188428" grpId="0" animBg="1"/>
      <p:bldP spid="2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CD91447C-9FF4-8396-3448-1E4D957B5FA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57400" y="3140075"/>
            <a:ext cx="6148388" cy="144621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defTabSz="802005" eaLnBrk="0" hangingPunct="0">
              <a:spcBef>
                <a:spcPct val="20000"/>
              </a:spcBef>
              <a:defRPr/>
            </a:pPr>
            <a:r>
              <a:rPr lang="zh-CN" altLang="en-US" sz="4000" b="1" kern="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起伏</a:t>
            </a: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</a:t>
            </a:r>
            <a:r>
              <a:rPr lang="en-US" altLang="zh-CN" sz="4000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最佳接收</a:t>
            </a:r>
            <a:endParaRPr lang="en-US" altLang="zh-CN" sz="4000" b="1" kern="0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02005" eaLnBrk="0" hangingPunct="0">
              <a:spcBef>
                <a:spcPct val="20000"/>
              </a:spcBef>
              <a:defRPr/>
            </a:pPr>
            <a:r>
              <a:rPr lang="en-US" altLang="zh-CN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endParaRPr lang="en-GB" sz="4000" b="1" noProof="1">
              <a:solidFill>
                <a:srgbClr val="99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043" name="矩形 4">
            <a:extLst>
              <a:ext uri="{FF2B5EF4-FFF2-40B4-BE49-F238E27FC236}">
                <a16:creationId xmlns:a16="http://schemas.microsoft.com/office/drawing/2014/main" id="{CC5100D5-C331-3FDD-BD0F-66ECC2669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546225" cy="646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3600" b="1" u="sng" dirty="0">
                <a:solidFill>
                  <a:srgbClr val="800080"/>
                </a:solidFill>
                <a:latin typeface="+mn-ea"/>
                <a:ea typeface="+mn-ea"/>
              </a:rPr>
              <a:t>§</a:t>
            </a:r>
            <a:r>
              <a:rPr lang="en-US" altLang="en-US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lang="en-US" altLang="zh-CN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.6  </a:t>
            </a:r>
            <a:endParaRPr lang="zh-CN" altLang="en-US" sz="3600" b="1" u="sng" dirty="0">
              <a:solidFill>
                <a:srgbClr val="80008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E53B1F-B97B-A1E5-C724-4C19FE27E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4267200"/>
            <a:ext cx="5772150" cy="46196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幅度和相位均带有随机性的接收信号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5">
            <a:extLst>
              <a:ext uri="{FF2B5EF4-FFF2-40B4-BE49-F238E27FC236}">
                <a16:creationId xmlns:a16="http://schemas.microsoft.com/office/drawing/2014/main" id="{C507305A-EF03-9DB4-5A36-BA608CB3B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46095" name="Rectangle 15">
            <a:extLst>
              <a:ext uri="{FF2B5EF4-FFF2-40B4-BE49-F238E27FC236}">
                <a16:creationId xmlns:a16="http://schemas.microsoft.com/office/drawing/2014/main" id="{4F6CCE3D-C0BB-313D-77AF-1222C5C9D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675" y="5838825"/>
            <a:ext cx="7772400" cy="5349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55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φ</a:t>
            </a:r>
            <a:r>
              <a:rPr kumimoji="1" lang="en-US" altLang="zh-CN" sz="24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 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和</a:t>
            </a:r>
            <a:r>
              <a:rPr kumimoji="1" lang="zh-CN" altLang="en-US" sz="24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φ</a:t>
            </a:r>
            <a:r>
              <a:rPr kumimoji="1" lang="en-US" altLang="zh-CN" sz="24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 </a:t>
            </a:r>
            <a:r>
              <a:rPr kumimoji="1"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[ 0, 2</a:t>
            </a:r>
            <a:r>
              <a:rPr kumimoji="1"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kumimoji="1"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] </a:t>
            </a:r>
            <a:r>
              <a:rPr kumimoji="1"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内服从均匀分布</a:t>
            </a:r>
            <a:r>
              <a:rPr kumimoji="1" lang="en-US" altLang="zh-CN" sz="2000" dirty="0">
                <a:latin typeface="+mn-ea"/>
                <a:ea typeface="+mn-ea"/>
                <a:cs typeface="Arial" panose="020B0604020202020204" pitchFamily="34" charset="0"/>
              </a:rPr>
              <a:t>: </a:t>
            </a:r>
            <a:r>
              <a:rPr kumimoji="1"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kumimoji="1"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1"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φ</a:t>
            </a:r>
            <a:r>
              <a:rPr kumimoji="1" lang="en-US" altLang="zh-CN" sz="24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kumimoji="1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kumimoji="1"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1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φ</a:t>
            </a:r>
            <a:r>
              <a:rPr kumimoji="1" lang="en-US" altLang="zh-CN" sz="24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1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)=1/2</a:t>
            </a:r>
            <a:r>
              <a:rPr kumimoji="1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 </a:t>
            </a:r>
            <a:endParaRPr kumimoji="1" lang="zh-CN" altLang="en-US" sz="24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32F477-B030-9D46-FC26-DA30B6A475D1}"/>
              </a:ext>
            </a:extLst>
          </p:cNvPr>
          <p:cNvSpPr/>
          <p:nvPr/>
        </p:nvSpPr>
        <p:spPr>
          <a:xfrm>
            <a:off x="533400" y="519113"/>
            <a:ext cx="7924800" cy="5222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最佳接收机</a:t>
            </a:r>
            <a:r>
              <a:rPr kumimoji="1"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altLang="en-US" sz="2800" b="1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7D4508-F0F2-ACC9-6044-0BC510408391}"/>
              </a:ext>
            </a:extLst>
          </p:cNvPr>
          <p:cNvSpPr/>
          <p:nvPr/>
        </p:nvSpPr>
        <p:spPr>
          <a:xfrm>
            <a:off x="762000" y="1733550"/>
            <a:ext cx="43434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设发送的</a:t>
            </a:r>
            <a:r>
              <a:rPr kumimoji="1" lang="zh-CN" altLang="en-US" sz="2000" kern="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起伏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信号码元为</a:t>
            </a:r>
            <a:r>
              <a:rPr kumimoji="1" lang="zh-CN" altLang="en-US" sz="2000" kern="0" dirty="0">
                <a:solidFill>
                  <a:srgbClr val="000000"/>
                </a:solidFill>
                <a:latin typeface="+mn-ea"/>
                <a:ea typeface="+mn-ea"/>
              </a:rPr>
              <a:t>：</a:t>
            </a: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45B72C96-106F-2FB0-A0FB-296756634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429000"/>
            <a:ext cx="7772400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lvl="2" eaLnBrk="0" hangingPunct="0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55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4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000" b="1" i="1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000" b="1" i="1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是由于多径效应引起的随机起伏振幅，服从瑞利分布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kumimoji="1" lang="zh-CN" altLang="en-US" sz="2400" dirty="0">
              <a:solidFill>
                <a:srgbClr val="990099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CDAACA44-3B5D-56D8-37A1-ED75601D4E27}"/>
              </a:ext>
            </a:extLst>
          </p:cNvPr>
          <p:cNvGraphicFramePr>
            <a:graphicFrameLocks/>
          </p:cNvGraphicFramePr>
          <p:nvPr/>
        </p:nvGraphicFramePr>
        <p:xfrm>
          <a:off x="2743200" y="2286000"/>
          <a:ext cx="4064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40701" imgH="482391" progId="Equation.DSMT4">
                  <p:embed/>
                </p:oleObj>
              </mc:Choice>
              <mc:Fallback>
                <p:oleObj r:id="rId2" imgW="1840701" imgH="482391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86000"/>
                        <a:ext cx="4064000" cy="1066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7616FBCE-56FB-A44A-5126-277B615F0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988" y="5181600"/>
            <a:ext cx="5789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式中，</a:t>
            </a:r>
            <a:r>
              <a:rPr lang="en-US" altLang="zh-CN" sz="2400" b="1" baseline="3000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                         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为信号</a:t>
            </a:r>
            <a:r>
              <a:rPr lang="en-US" altLang="zh-CN" sz="2000" i="1"/>
              <a:t>s</a:t>
            </a:r>
            <a:r>
              <a:rPr lang="en-US" altLang="zh-CN" sz="2000" i="1" baseline="-25000"/>
              <a:t>i</a:t>
            </a:r>
            <a:r>
              <a:rPr lang="en-US" altLang="zh-CN" sz="2000"/>
              <a:t>(</a:t>
            </a:r>
            <a:r>
              <a:rPr lang="en-US" altLang="zh-CN" sz="2000" i="1"/>
              <a:t>t</a:t>
            </a:r>
            <a:r>
              <a:rPr lang="en-US" altLang="zh-CN" sz="2000"/>
              <a:t>, </a:t>
            </a:r>
            <a:r>
              <a:rPr lang="en-US" altLang="zh-CN" sz="2000" i="1">
                <a:sym typeface="Symbol" panose="05050102010706020507" pitchFamily="18" charset="2"/>
              </a:rPr>
              <a:t></a:t>
            </a:r>
            <a:r>
              <a:rPr lang="en-US" altLang="zh-CN" sz="2000" i="1" baseline="-25000"/>
              <a:t>i</a:t>
            </a:r>
            <a:r>
              <a:rPr lang="en-US" altLang="zh-CN" sz="2000"/>
              <a:t>, </a:t>
            </a:r>
            <a:r>
              <a:rPr lang="en-US" altLang="zh-CN" sz="2000" i="1"/>
              <a:t>A</a:t>
            </a:r>
            <a:r>
              <a:rPr lang="en-US" altLang="zh-CN" sz="2000" i="1" baseline="-25000"/>
              <a:t>i</a:t>
            </a:r>
            <a:r>
              <a:rPr lang="en-US" altLang="zh-CN" sz="2000"/>
              <a:t>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的功率。</a:t>
            </a:r>
          </a:p>
        </p:txBody>
      </p:sp>
      <p:graphicFrame>
        <p:nvGraphicFramePr>
          <p:cNvPr id="21" name="Object 3">
            <a:extLst>
              <a:ext uri="{FF2B5EF4-FFF2-40B4-BE49-F238E27FC236}">
                <a16:creationId xmlns:a16="http://schemas.microsoft.com/office/drawing/2014/main" id="{4F0034F3-3D9D-A9FD-FC77-96DF987E0AC9}"/>
              </a:ext>
            </a:extLst>
          </p:cNvPr>
          <p:cNvGraphicFramePr>
            <a:graphicFrameLocks/>
          </p:cNvGraphicFramePr>
          <p:nvPr/>
        </p:nvGraphicFramePr>
        <p:xfrm>
          <a:off x="2362200" y="4038600"/>
          <a:ext cx="50292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27759" imgH="482391" progId="Equation.DSMT4">
                  <p:embed/>
                </p:oleObj>
              </mc:Choice>
              <mc:Fallback>
                <p:oleObj r:id="rId4" imgW="2627759" imgH="482391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038600"/>
                        <a:ext cx="5029200" cy="9239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">
            <a:extLst>
              <a:ext uri="{FF2B5EF4-FFF2-40B4-BE49-F238E27FC236}">
                <a16:creationId xmlns:a16="http://schemas.microsoft.com/office/drawing/2014/main" id="{708E99B6-7481-04D8-DD93-5B44CCD58C70}"/>
              </a:ext>
            </a:extLst>
          </p:cNvPr>
          <p:cNvGraphicFramePr>
            <a:graphicFrameLocks/>
          </p:cNvGraphicFramePr>
          <p:nvPr/>
        </p:nvGraphicFramePr>
        <p:xfrm>
          <a:off x="2397125" y="5146675"/>
          <a:ext cx="187007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01309" imgH="241195" progId="Equation.DSMT4">
                  <p:embed/>
                </p:oleObj>
              </mc:Choice>
              <mc:Fallback>
                <p:oleObj r:id="rId6" imgW="901309" imgH="241195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25" y="5146675"/>
                        <a:ext cx="1870075" cy="5000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EA755ED6-2A68-9324-8639-EBE59C29359E}"/>
              </a:ext>
            </a:extLst>
          </p:cNvPr>
          <p:cNvSpPr/>
          <p:nvPr/>
        </p:nvSpPr>
        <p:spPr>
          <a:xfrm>
            <a:off x="914400" y="1081088"/>
            <a:ext cx="70104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80000"/>
              <a:defRPr/>
            </a:pPr>
            <a:r>
              <a:rPr kumimoji="1" lang="en-US" altLang="zh-CN" sz="24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 </a:t>
            </a:r>
            <a:r>
              <a:rPr kumimoji="1" lang="zh-CN" altLang="en-US" sz="20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以</a:t>
            </a:r>
            <a:r>
              <a:rPr kumimoji="1" lang="zh-CN" altLang="en-US" sz="2000" b="1" kern="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等概、等能、正交、</a:t>
            </a:r>
            <a:r>
              <a:rPr kumimoji="1" lang="zh-CN" altLang="en-US" sz="2000" b="1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幅度</a:t>
            </a:r>
            <a:r>
              <a:rPr kumimoji="1" lang="zh-CN" altLang="en-US" sz="20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kumimoji="1" lang="zh-CN" altLang="en-US" sz="2000" b="1" kern="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相位</a:t>
            </a:r>
            <a:r>
              <a:rPr kumimoji="1" lang="zh-CN" altLang="en-US" sz="20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随机</a:t>
            </a:r>
            <a:r>
              <a:rPr kumimoji="1" lang="zh-CN" altLang="en-US" sz="20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kumimoji="1" lang="zh-CN" altLang="en-US" sz="2400" kern="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kern="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2FSK </a:t>
            </a:r>
            <a:r>
              <a:rPr kumimoji="1" lang="zh-CN" altLang="en-US" sz="20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为例</a:t>
            </a:r>
            <a:r>
              <a:rPr kumimoji="1" lang="zh-CN" altLang="en-US" sz="2000" kern="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5" grpId="0"/>
      <p:bldP spid="10" grpId="0"/>
      <p:bldP spid="11" grpId="0"/>
      <p:bldP spid="24" grpId="0"/>
      <p:bldP spid="20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C5D3CD4-3F23-2E9C-3583-5B33DF901F95}"/>
              </a:ext>
            </a:extLst>
          </p:cNvPr>
          <p:cNvSpPr/>
          <p:nvPr/>
        </p:nvSpPr>
        <p:spPr>
          <a:xfrm>
            <a:off x="1066800" y="2357438"/>
            <a:ext cx="716280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概率密度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lang="en-US" altLang="zh-CN" sz="2400" b="1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分别表示为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graphicFrame>
        <p:nvGraphicFramePr>
          <p:cNvPr id="65540" name="Object 4">
            <a:extLst>
              <a:ext uri="{FF2B5EF4-FFF2-40B4-BE49-F238E27FC236}">
                <a16:creationId xmlns:a16="http://schemas.microsoft.com/office/drawing/2014/main" id="{36BAAADB-99E4-DF8B-5F4F-9571409A69E1}"/>
              </a:ext>
            </a:extLst>
          </p:cNvPr>
          <p:cNvGraphicFramePr>
            <a:graphicFrameLocks/>
          </p:cNvGraphicFramePr>
          <p:nvPr/>
        </p:nvGraphicFramePr>
        <p:xfrm>
          <a:off x="2046288" y="3140075"/>
          <a:ext cx="567055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18177" imgH="330057" progId="Equation.3">
                  <p:embed/>
                </p:oleObj>
              </mc:Choice>
              <mc:Fallback>
                <p:oleObj r:id="rId2" imgW="2818177" imgH="330057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288" y="3140075"/>
                        <a:ext cx="567055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2" name="Object 6">
            <a:extLst>
              <a:ext uri="{FF2B5EF4-FFF2-40B4-BE49-F238E27FC236}">
                <a16:creationId xmlns:a16="http://schemas.microsoft.com/office/drawing/2014/main" id="{54B45D96-2BF0-7BF9-63B9-748666BFBAEF}"/>
              </a:ext>
            </a:extLst>
          </p:cNvPr>
          <p:cNvGraphicFramePr>
            <a:graphicFrameLocks/>
          </p:cNvGraphicFramePr>
          <p:nvPr/>
        </p:nvGraphicFramePr>
        <p:xfrm>
          <a:off x="2000250" y="4191000"/>
          <a:ext cx="56689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754704" imgH="330057" progId="Equation.3">
                  <p:embed/>
                </p:oleObj>
              </mc:Choice>
              <mc:Fallback>
                <p:oleObj r:id="rId4" imgW="2754704" imgH="330057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4191000"/>
                        <a:ext cx="56689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矩形 4">
            <a:extLst>
              <a:ext uri="{FF2B5EF4-FFF2-40B4-BE49-F238E27FC236}">
                <a16:creationId xmlns:a16="http://schemas.microsoft.com/office/drawing/2014/main" id="{0B005D54-0CCC-6369-455C-114A747B2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391150"/>
            <a:ext cx="5314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经过繁复的计算，以上两式的计算结果如下：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9AEBE9-504C-F3C9-E507-08242C27E0FF}"/>
              </a:ext>
            </a:extLst>
          </p:cNvPr>
          <p:cNvSpPr/>
          <p:nvPr/>
        </p:nvSpPr>
        <p:spPr>
          <a:xfrm>
            <a:off x="762000" y="1066800"/>
            <a:ext cx="72390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接收矢量 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的概率密度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34823" name="矩形 13">
            <a:extLst>
              <a:ext uri="{FF2B5EF4-FFF2-40B4-BE49-F238E27FC236}">
                <a16:creationId xmlns:a16="http://schemas.microsoft.com/office/drawing/2014/main" id="{9731373A-E920-870A-6C28-0F21C0FB8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213" y="1731963"/>
            <a:ext cx="66294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ea typeface="微软雅黑" panose="020B0503020204020204" pitchFamily="34" charset="-122"/>
              </a:rPr>
              <a:t>由于 </a:t>
            </a:r>
            <a:r>
              <a:rPr lang="en-US" altLang="zh-CN" sz="2000" b="1" i="1">
                <a:solidFill>
                  <a:srgbClr val="FF0000"/>
                </a:solidFill>
                <a:ea typeface="微软雅黑" panose="020B0503020204020204" pitchFamily="34" charset="-122"/>
              </a:rPr>
              <a:t>r </a:t>
            </a:r>
            <a:r>
              <a:rPr lang="zh-CN" altLang="en-US" sz="2000">
                <a:ea typeface="微软雅黑" panose="020B0503020204020204" pitchFamily="34" charset="-122"/>
              </a:rPr>
              <a:t>不但具有随机相位，还具有随机起伏的振幅，故其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4821" grpId="0"/>
      <p:bldP spid="10" grpId="0"/>
      <p:bldP spid="3482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>
            <a:extLst>
              <a:ext uri="{FF2B5EF4-FFF2-40B4-BE49-F238E27FC236}">
                <a16:creationId xmlns:a16="http://schemas.microsoft.com/office/drawing/2014/main" id="{FBF87940-01AD-A90E-D727-933527321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962400"/>
            <a:ext cx="609600" cy="685800"/>
          </a:xfrm>
          <a:prstGeom prst="ellipse">
            <a:avLst/>
          </a:prstGeom>
          <a:solidFill>
            <a:srgbClr val="E8E8E8"/>
          </a:solidFill>
          <a:ln w="9525">
            <a:solidFill>
              <a:srgbClr val="FF0000"/>
            </a:solidFill>
            <a:prstDash val="sysDash"/>
            <a:round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145415" name="Object 4">
            <a:extLst>
              <a:ext uri="{FF2B5EF4-FFF2-40B4-BE49-F238E27FC236}">
                <a16:creationId xmlns:a16="http://schemas.microsoft.com/office/drawing/2014/main" id="{B1039E61-B8AF-6B25-BDE5-C57239B9324B}"/>
              </a:ext>
            </a:extLst>
          </p:cNvPr>
          <p:cNvGraphicFramePr>
            <a:graphicFrameLocks/>
          </p:cNvGraphicFramePr>
          <p:nvPr/>
        </p:nvGraphicFramePr>
        <p:xfrm>
          <a:off x="2133600" y="1096963"/>
          <a:ext cx="457200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34230" imgH="431613" progId="Equation.DSMT4">
                  <p:embed/>
                </p:oleObj>
              </mc:Choice>
              <mc:Fallback>
                <p:oleObj r:id="rId2" imgW="2234230" imgH="431613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096963"/>
                        <a:ext cx="457200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0989BBDD-791B-B3AF-0FE2-E404C7B26D8E}"/>
              </a:ext>
            </a:extLst>
          </p:cNvPr>
          <p:cNvGraphicFramePr>
            <a:graphicFrameLocks/>
          </p:cNvGraphicFramePr>
          <p:nvPr/>
        </p:nvGraphicFramePr>
        <p:xfrm>
          <a:off x="2133600" y="2163763"/>
          <a:ext cx="457200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34230" imgH="431613" progId="Equation.DSMT4">
                  <p:embed/>
                </p:oleObj>
              </mc:Choice>
              <mc:Fallback>
                <p:oleObj r:id="rId4" imgW="2234230" imgH="431613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163763"/>
                        <a:ext cx="457200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5" name="矩形 11">
            <a:extLst>
              <a:ext uri="{FF2B5EF4-FFF2-40B4-BE49-F238E27FC236}">
                <a16:creationId xmlns:a16="http://schemas.microsoft.com/office/drawing/2014/main" id="{514AD2C2-E206-5444-3EAC-0F1018969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352800"/>
            <a:ext cx="7543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>
                <a:ea typeface="微软雅黑" panose="020B0503020204020204" pitchFamily="34" charset="-122"/>
              </a:rPr>
              <a:t>可见，比较 </a:t>
            </a:r>
            <a:r>
              <a:rPr lang="en-US" altLang="zh-CN" sz="2400" b="1" i="1">
                <a:ea typeface="微软雅黑" panose="020B0503020204020204" pitchFamily="34" charset="-122"/>
              </a:rPr>
              <a:t>f</a:t>
            </a:r>
            <a:r>
              <a:rPr lang="en-US" altLang="zh-CN" sz="2400" b="1" baseline="-25000">
                <a:ea typeface="微软雅黑" panose="020B0503020204020204" pitchFamily="34" charset="-122"/>
              </a:rPr>
              <a:t>0</a:t>
            </a:r>
            <a:r>
              <a:rPr lang="en-US" altLang="zh-CN" sz="2400" b="1">
                <a:ea typeface="微软雅黑" panose="020B0503020204020204" pitchFamily="34" charset="-122"/>
              </a:rPr>
              <a:t>(</a:t>
            </a:r>
            <a:r>
              <a:rPr lang="en-US" altLang="zh-CN" sz="2400" b="1" i="1">
                <a:ea typeface="微软雅黑" panose="020B0503020204020204" pitchFamily="34" charset="-122"/>
              </a:rPr>
              <a:t>r</a:t>
            </a:r>
            <a:r>
              <a:rPr lang="en-US" altLang="zh-CN" sz="2400" b="1">
                <a:ea typeface="微软雅黑" panose="020B0503020204020204" pitchFamily="34" charset="-122"/>
              </a:rPr>
              <a:t>) </a:t>
            </a:r>
            <a:r>
              <a:rPr lang="zh-CN" altLang="en-US" sz="2000">
                <a:ea typeface="微软雅黑" panose="020B0503020204020204" pitchFamily="34" charset="-122"/>
              </a:rPr>
              <a:t>和 </a:t>
            </a:r>
            <a:r>
              <a:rPr lang="en-US" altLang="zh-CN" sz="2400" b="1" i="1">
                <a:ea typeface="微软雅黑" panose="020B0503020204020204" pitchFamily="34" charset="-122"/>
              </a:rPr>
              <a:t>f</a:t>
            </a:r>
            <a:r>
              <a:rPr lang="en-US" altLang="zh-CN" sz="2400" b="1" baseline="-25000">
                <a:ea typeface="微软雅黑" panose="020B0503020204020204" pitchFamily="34" charset="-122"/>
              </a:rPr>
              <a:t>1</a:t>
            </a:r>
            <a:r>
              <a:rPr lang="en-US" altLang="zh-CN" sz="2400" b="1">
                <a:ea typeface="微软雅黑" panose="020B0503020204020204" pitchFamily="34" charset="-122"/>
              </a:rPr>
              <a:t>(</a:t>
            </a:r>
            <a:r>
              <a:rPr lang="en-US" altLang="zh-CN" sz="2400" b="1" i="1">
                <a:ea typeface="微软雅黑" panose="020B0503020204020204" pitchFamily="34" charset="-122"/>
              </a:rPr>
              <a:t>r</a:t>
            </a:r>
            <a:r>
              <a:rPr lang="en-US" altLang="zh-CN" sz="2400" b="1">
                <a:ea typeface="微软雅黑" panose="020B0503020204020204" pitchFamily="34" charset="-122"/>
              </a:rPr>
              <a:t>) </a:t>
            </a:r>
            <a:r>
              <a:rPr lang="zh-CN" altLang="en-US" sz="2000">
                <a:ea typeface="微软雅黑" panose="020B0503020204020204" pitchFamily="34" charset="-122"/>
              </a:rPr>
              <a:t>仍可化为比较 </a:t>
            </a:r>
            <a:r>
              <a:rPr lang="en-US" altLang="zh-CN" sz="2400" i="1">
                <a:ea typeface="微软雅黑" panose="020B0503020204020204" pitchFamily="34" charset="-122"/>
              </a:rPr>
              <a:t>M</a:t>
            </a:r>
            <a:r>
              <a:rPr lang="en-US" altLang="zh-CN" sz="2400" baseline="-25000">
                <a:ea typeface="微软雅黑" panose="020B0503020204020204" pitchFamily="34" charset="-122"/>
              </a:rPr>
              <a:t>0</a:t>
            </a:r>
            <a:r>
              <a:rPr lang="en-US" altLang="zh-CN" sz="2400" baseline="30000">
                <a:ea typeface="微软雅黑" panose="020B0503020204020204" pitchFamily="34" charset="-122"/>
              </a:rPr>
              <a:t>2 </a:t>
            </a:r>
            <a:r>
              <a:rPr lang="zh-CN" altLang="en-US" sz="2000">
                <a:ea typeface="微软雅黑" panose="020B0503020204020204" pitchFamily="34" charset="-122"/>
              </a:rPr>
              <a:t>和 </a:t>
            </a:r>
            <a:r>
              <a:rPr lang="en-US" altLang="zh-CN" sz="2400" i="1">
                <a:ea typeface="微软雅黑" panose="020B0503020204020204" pitchFamily="34" charset="-122"/>
              </a:rPr>
              <a:t>M</a:t>
            </a:r>
            <a:r>
              <a:rPr lang="en-US" altLang="zh-CN" sz="2400" baseline="-25000">
                <a:ea typeface="微软雅黑" panose="020B0503020204020204" pitchFamily="34" charset="-122"/>
              </a:rPr>
              <a:t>1</a:t>
            </a:r>
            <a:r>
              <a:rPr lang="en-US" altLang="zh-CN" sz="2400" baseline="30000">
                <a:ea typeface="微软雅黑" panose="020B0503020204020204" pitchFamily="34" charset="-122"/>
              </a:rPr>
              <a:t>2   </a:t>
            </a:r>
            <a:r>
              <a:rPr lang="zh-CN" altLang="en-US" sz="2000">
                <a:ea typeface="微软雅黑" panose="020B0503020204020204" pitchFamily="34" charset="-122"/>
              </a:rPr>
              <a:t>的大小。</a:t>
            </a:r>
          </a:p>
        </p:txBody>
      </p:sp>
      <p:sp>
        <p:nvSpPr>
          <p:cNvPr id="39942" name="矩形 12">
            <a:extLst>
              <a:ext uri="{FF2B5EF4-FFF2-40B4-BE49-F238E27FC236}">
                <a16:creationId xmlns:a16="http://schemas.microsoft.com/office/drawing/2014/main" id="{EDC24947-FFD4-E83C-6A9A-0C9A48A8B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095750"/>
            <a:ext cx="7696200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因此，起伏信号最佳接收机的 结构 和随相信号最佳接收机的一样。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F34986-9590-2B8D-22C6-C47A9B0E81EC}"/>
              </a:ext>
            </a:extLst>
          </p:cNvPr>
          <p:cNvSpPr/>
          <p:nvPr/>
        </p:nvSpPr>
        <p:spPr>
          <a:xfrm>
            <a:off x="838200" y="4876800"/>
            <a:ext cx="1219200" cy="5540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式中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D9D60906-2A14-4F24-4BB8-45F546F03CA0}"/>
              </a:ext>
            </a:extLst>
          </p:cNvPr>
          <p:cNvGraphicFramePr>
            <a:graphicFrameLocks/>
          </p:cNvGraphicFramePr>
          <p:nvPr/>
        </p:nvGraphicFramePr>
        <p:xfrm>
          <a:off x="1905000" y="4827588"/>
          <a:ext cx="2971800" cy="142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62978" imgH="799753" progId="Equation.DSMT4">
                  <p:embed/>
                </p:oleObj>
              </mc:Choice>
              <mc:Fallback>
                <p:oleObj r:id="rId6" imgW="1662978" imgH="799753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827588"/>
                        <a:ext cx="2971800" cy="142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FB6E7F06-2CC4-2FF7-A1CF-E26EEA434A9C}"/>
              </a:ext>
            </a:extLst>
          </p:cNvPr>
          <p:cNvSpPr/>
          <p:nvPr/>
        </p:nvSpPr>
        <p:spPr>
          <a:xfrm>
            <a:off x="5410200" y="5029200"/>
            <a:ext cx="2743200" cy="1016000"/>
          </a:xfrm>
          <a:prstGeom prst="rect">
            <a:avLst/>
          </a:prstGeom>
          <a:solidFill>
            <a:srgbClr val="E8E8E8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6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400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－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噪声功率谱密度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36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2400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sz="2400" baseline="30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－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噪声功率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975FBA-7BF3-8BA4-895E-CB4389CEA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3397250"/>
            <a:ext cx="1795462" cy="369888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E0A5D8-BE23-F09D-EFDC-45F5FA25A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9275" y="3384550"/>
            <a:ext cx="1476375" cy="369888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5845" grpId="0"/>
      <p:bldP spid="39942" grpId="0"/>
      <p:bldP spid="15" grpId="0"/>
      <p:bldP spid="17" grpId="0" animBg="1"/>
      <p:bldP spid="10" grpId="0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矩形 1">
            <a:extLst>
              <a:ext uri="{FF2B5EF4-FFF2-40B4-BE49-F238E27FC236}">
                <a16:creationId xmlns:a16="http://schemas.microsoft.com/office/drawing/2014/main" id="{C72111F0-DEB3-9310-D9D9-E9EE71E8E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" y="1276350"/>
            <a:ext cx="31242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起伏信号的误码率为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3" name="组合 16">
            <a:extLst>
              <a:ext uri="{FF2B5EF4-FFF2-40B4-BE49-F238E27FC236}">
                <a16:creationId xmlns:a16="http://schemas.microsoft.com/office/drawing/2014/main" id="{8C056E64-4169-E83E-2116-64EBC84AE1E0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014663"/>
            <a:ext cx="4572000" cy="414337"/>
            <a:chOff x="381000" y="2881952"/>
            <a:chExt cx="4572000" cy="413758"/>
          </a:xfrm>
        </p:grpSpPr>
        <p:sp>
          <p:nvSpPr>
            <p:cNvPr id="40966" name="矩形 4">
              <a:extLst>
                <a:ext uri="{FF2B5EF4-FFF2-40B4-BE49-F238E27FC236}">
                  <a16:creationId xmlns:a16="http://schemas.microsoft.com/office/drawing/2014/main" id="{53B71EA8-3091-F0A9-3F8E-04CC16539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2896219"/>
              <a:ext cx="4572000" cy="3994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  <a:defRPr/>
              </a:pPr>
              <a:r>
                <a:rPr lang="zh-CN" altLang="en-US" sz="2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式中</a:t>
              </a:r>
              <a:r>
                <a:rPr lang="zh-CN" altLang="en-US" sz="2000" dirty="0">
                  <a:latin typeface="+mn-ea"/>
                  <a:ea typeface="+mn-ea"/>
                  <a:cs typeface="Arial" panose="020B0604020202020204" pitchFamily="34" charset="0"/>
                </a:rPr>
                <a:t>，  </a:t>
              </a:r>
              <a:r>
                <a:rPr lang="zh-CN" altLang="en-US" sz="2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为接收码元的统计平均能量。</a:t>
              </a:r>
            </a:p>
          </p:txBody>
        </p:sp>
        <p:graphicFrame>
          <p:nvGraphicFramePr>
            <p:cNvPr id="105476" name="Object 6">
              <a:extLst>
                <a:ext uri="{FF2B5EF4-FFF2-40B4-BE49-F238E27FC236}">
                  <a16:creationId xmlns:a16="http://schemas.microsoft.com/office/drawing/2014/main" id="{9E4C028A-C9E5-6ACC-7039-1696F307D4E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219200" y="2881952"/>
            <a:ext cx="311150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64885" imgH="190252" progId="Equation.3">
                    <p:embed/>
                  </p:oleObj>
                </mc:Choice>
                <mc:Fallback>
                  <p:oleObj r:id="rId2" imgW="164885" imgH="190252" progId="Equation.3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200" y="2881952"/>
                          <a:ext cx="311150" cy="360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B11AD021-5590-7CA1-F866-0DFC0F491FFB}"/>
              </a:ext>
            </a:extLst>
          </p:cNvPr>
          <p:cNvSpPr/>
          <p:nvPr/>
        </p:nvSpPr>
        <p:spPr>
          <a:xfrm>
            <a:off x="533400" y="546100"/>
            <a:ext cx="3200400" cy="5238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误码率</a:t>
            </a:r>
            <a:endParaRPr lang="zh-CN" altLang="en-US" sz="2800" b="1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" name="Object 7">
            <a:extLst>
              <a:ext uri="{FF2B5EF4-FFF2-40B4-BE49-F238E27FC236}">
                <a16:creationId xmlns:a16="http://schemas.microsoft.com/office/drawing/2014/main" id="{8BBA1457-F51B-88EC-9F8C-ED68DDD033D1}"/>
              </a:ext>
            </a:extLst>
          </p:cNvPr>
          <p:cNvGraphicFramePr>
            <a:graphicFrameLocks/>
          </p:cNvGraphicFramePr>
          <p:nvPr/>
        </p:nvGraphicFramePr>
        <p:xfrm>
          <a:off x="2057400" y="1936750"/>
          <a:ext cx="1817688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88614" imgH="393529" progId="Equation.DSMT4">
                  <p:embed/>
                </p:oleObj>
              </mc:Choice>
              <mc:Fallback>
                <p:oleObj r:id="rId4" imgW="888614" imgH="393529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36750"/>
                        <a:ext cx="1817688" cy="8064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15">
            <a:extLst>
              <a:ext uri="{FF2B5EF4-FFF2-40B4-BE49-F238E27FC236}">
                <a16:creationId xmlns:a16="http://schemas.microsoft.com/office/drawing/2014/main" id="{52DF6A98-B87B-EA4B-60A8-B258D6F24F7B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1066800"/>
            <a:ext cx="3048000" cy="4038600"/>
            <a:chOff x="5562599" y="1756833"/>
            <a:chExt cx="3200401" cy="4262966"/>
          </a:xfrm>
        </p:grpSpPr>
        <p:grpSp>
          <p:nvGrpSpPr>
            <p:cNvPr id="105480" name="Group 8">
              <a:extLst>
                <a:ext uri="{FF2B5EF4-FFF2-40B4-BE49-F238E27FC236}">
                  <a16:creationId xmlns:a16="http://schemas.microsoft.com/office/drawing/2014/main" id="{C693E6F0-A2BA-E981-CF68-9883AE0F1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599" y="1756833"/>
              <a:ext cx="3200401" cy="4262966"/>
              <a:chOff x="3250" y="1107"/>
              <a:chExt cx="2112" cy="2809"/>
            </a:xfrm>
          </p:grpSpPr>
          <p:pic>
            <p:nvPicPr>
              <p:cNvPr id="105481" name="Picture 6" descr="衰落误码率">
                <a:extLst>
                  <a:ext uri="{FF2B5EF4-FFF2-40B4-BE49-F238E27FC236}">
                    <a16:creationId xmlns:a16="http://schemas.microsoft.com/office/drawing/2014/main" id="{FB6D5974-020C-991F-DEE2-52867F6151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31" t="1852" r="9619"/>
              <a:stretch>
                <a:fillRect/>
              </a:stretch>
            </p:blipFill>
            <p:spPr bwMode="auto">
              <a:xfrm>
                <a:off x="3250" y="1107"/>
                <a:ext cx="2112" cy="28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5482" name="Text Box 7">
                <a:extLst>
                  <a:ext uri="{FF2B5EF4-FFF2-40B4-BE49-F238E27FC236}">
                    <a16:creationId xmlns:a16="http://schemas.microsoft.com/office/drawing/2014/main" id="{32B7AF00-0C2B-0455-05AB-E4920E68F5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62" y="3349"/>
                <a:ext cx="116" cy="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just"/>
                <a:endParaRPr lang="zh-CN" altLang="zh-CN" sz="4800"/>
              </a:p>
            </p:txBody>
          </p:sp>
        </p:grpSp>
        <p:graphicFrame>
          <p:nvGraphicFramePr>
            <p:cNvPr id="105483" name="Object 13">
              <a:extLst>
                <a:ext uri="{FF2B5EF4-FFF2-40B4-BE49-F238E27FC236}">
                  <a16:creationId xmlns:a16="http://schemas.microsoft.com/office/drawing/2014/main" id="{9451A0E8-0472-2598-D933-2B6C1494E1A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6705600" y="5562600"/>
            <a:ext cx="1262529" cy="412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59541" imgH="215619" progId="Equation.DSMT4">
                    <p:embed/>
                  </p:oleObj>
                </mc:Choice>
                <mc:Fallback>
                  <p:oleObj r:id="rId7" imgW="659541" imgH="215619" progId="Equation.DSMT4">
                    <p:embed/>
                    <p:pic>
                      <p:nvPicPr>
                        <p:cNvPr id="0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05600" y="5562600"/>
                          <a:ext cx="1262529" cy="41275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84" name="Object 14">
              <a:extLst>
                <a:ext uri="{FF2B5EF4-FFF2-40B4-BE49-F238E27FC236}">
                  <a16:creationId xmlns:a16="http://schemas.microsoft.com/office/drawing/2014/main" id="{28B87645-8372-FD11-D95F-899018EE1DC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712156" y="1828800"/>
            <a:ext cx="3429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52268" imgH="203024" progId="Equation.DSMT4">
                    <p:embed/>
                  </p:oleObj>
                </mc:Choice>
                <mc:Fallback>
                  <p:oleObj r:id="rId9" imgW="152268" imgH="203024" progId="Equation.DSMT4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2156" y="1828800"/>
                          <a:ext cx="342900" cy="45720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2B52FDA5-AD71-0985-F438-3EAD4399C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191000"/>
            <a:ext cx="2746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</a:rPr>
              <a:t> 由误码率曲线看出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：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40967" name="矩形 6">
            <a:extLst>
              <a:ext uri="{FF2B5EF4-FFF2-40B4-BE49-F238E27FC236}">
                <a16:creationId xmlns:a16="http://schemas.microsoft.com/office/drawing/2014/main" id="{481076D3-4CA7-DEC2-4CBE-723F333B7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724400"/>
            <a:ext cx="5105400" cy="15255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lvl="1">
              <a:lnSpc>
                <a:spcPts val="3900"/>
              </a:lnSpc>
              <a:buClr>
                <a:schemeClr val="bg1">
                  <a:lumMod val="50000"/>
                </a:schemeClr>
              </a:buClr>
              <a:buSzPct val="65000"/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有多径衰落时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性能随</a:t>
            </a:r>
            <a:r>
              <a:rPr lang="en-US" altLang="zh-CN" sz="2000" b="1" i="1" dirty="0" err="1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en-US" altLang="zh-CN" sz="2000" b="1" baseline="-25000" dirty="0" err="1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下降而迅速变坏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；</a:t>
            </a:r>
            <a:endParaRPr lang="en-US" altLang="zh-CN" sz="2000" dirty="0">
              <a:latin typeface="+mn-ea"/>
              <a:ea typeface="+mn-ea"/>
              <a:cs typeface="Arial" panose="020B0604020202020204" pitchFamily="34" charset="0"/>
            </a:endParaRPr>
          </a:p>
          <a:p>
            <a:pPr marL="0" lvl="1">
              <a:lnSpc>
                <a:spcPts val="3900"/>
              </a:lnSpc>
              <a:buClr>
                <a:schemeClr val="bg1">
                  <a:lumMod val="50000"/>
                </a:schemeClr>
              </a:buClr>
              <a:buSzPct val="65000"/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当 </a:t>
            </a:r>
            <a:r>
              <a:rPr lang="en-US" altLang="zh-CN" sz="2000" b="1" i="1" dirty="0" err="1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en-US" altLang="zh-CN" sz="2000" b="1" baseline="-25000" dirty="0" err="1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en-US" altLang="zh-CN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=10</a:t>
            </a:r>
            <a:r>
              <a:rPr lang="en-US" altLang="zh-CN" sz="2000" b="1" baseline="30000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-2 </a:t>
            </a:r>
            <a:r>
              <a:rPr lang="en-US" altLang="zh-CN" sz="2000" b="1" baseline="3000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衰落使性能下降约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 dB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；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1">
              <a:lnSpc>
                <a:spcPts val="3900"/>
              </a:lnSpc>
              <a:buClr>
                <a:schemeClr val="bg1">
                  <a:lumMod val="50000"/>
                </a:schemeClr>
              </a:buClr>
              <a:buSzPct val="65000"/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当 </a:t>
            </a:r>
            <a:r>
              <a:rPr lang="en-US" altLang="zh-CN" sz="2000" b="1" i="1" dirty="0" err="1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en-US" altLang="zh-CN" sz="2000" b="1" baseline="-25000" dirty="0" err="1">
                <a:solidFill>
                  <a:srgbClr val="003399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en-US" altLang="zh-CN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=10</a:t>
            </a:r>
            <a:r>
              <a:rPr lang="en-US" altLang="zh-CN" sz="2000" b="1" baseline="30000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-3 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下降约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 dB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  <p:bldP spid="11" grpId="0"/>
      <p:bldP spid="18" grpId="0"/>
      <p:bldP spid="4096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2D8700F7-0FAF-854D-17C7-2904E637F67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57400" y="3140075"/>
            <a:ext cx="6148388" cy="29241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defTabSz="802005" eaLnBrk="0" hangingPunct="0">
              <a:spcBef>
                <a:spcPct val="20000"/>
              </a:spcBef>
              <a:defRPr/>
            </a:pPr>
            <a:r>
              <a:rPr lang="zh-CN" altLang="en-US" sz="40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实际接收机 </a:t>
            </a:r>
            <a:r>
              <a:rPr lang="en-US" altLang="zh-CN" sz="40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40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最佳接收机   </a:t>
            </a:r>
            <a:endParaRPr lang="en-US" altLang="zh-CN" sz="40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02005" eaLnBrk="0" hangingPunct="0">
              <a:spcBef>
                <a:spcPct val="20000"/>
              </a:spcBef>
              <a:defRPr/>
            </a:pPr>
            <a:r>
              <a:rPr lang="en-US" altLang="zh-CN" sz="40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40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性能比较</a:t>
            </a:r>
          </a:p>
          <a:p>
            <a:pPr defTabSz="802005" eaLnBrk="0" hangingPunct="0">
              <a:spcBef>
                <a:spcPct val="20000"/>
              </a:spcBef>
              <a:defRPr/>
            </a:pPr>
            <a:endParaRPr lang="en-US" altLang="zh-CN" sz="4000" b="1" kern="0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02005" eaLnBrk="0" hangingPunct="0">
              <a:spcBef>
                <a:spcPct val="20000"/>
              </a:spcBef>
              <a:defRPr/>
            </a:pPr>
            <a:r>
              <a:rPr lang="en-US" altLang="zh-CN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endParaRPr lang="en-GB" sz="4000" b="1" noProof="1">
              <a:solidFill>
                <a:srgbClr val="99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043" name="矩形 4">
            <a:extLst>
              <a:ext uri="{FF2B5EF4-FFF2-40B4-BE49-F238E27FC236}">
                <a16:creationId xmlns:a16="http://schemas.microsoft.com/office/drawing/2014/main" id="{BE1490D4-5B4E-C7A1-0EE3-99C65177A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546225" cy="646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3600" b="1" u="sng" dirty="0">
                <a:solidFill>
                  <a:srgbClr val="800080"/>
                </a:solidFill>
                <a:latin typeface="+mn-ea"/>
                <a:ea typeface="+mn-ea"/>
              </a:rPr>
              <a:t>§</a:t>
            </a:r>
            <a:r>
              <a:rPr lang="en-US" altLang="en-US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lang="en-US" altLang="zh-CN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.7  </a:t>
            </a:r>
            <a:endParaRPr lang="zh-CN" altLang="en-US" sz="3600" b="1" u="sng" dirty="0">
              <a:solidFill>
                <a:srgbClr val="80008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30" name="Picture 38">
            <a:extLst>
              <a:ext uri="{FF2B5EF4-FFF2-40B4-BE49-F238E27FC236}">
                <a16:creationId xmlns:a16="http://schemas.microsoft.com/office/drawing/2014/main" id="{638218D2-7C83-DAA4-5C91-63EDE1D73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103313"/>
            <a:ext cx="723423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7890" name="Object 17">
            <a:extLst>
              <a:ext uri="{FF2B5EF4-FFF2-40B4-BE49-F238E27FC236}">
                <a16:creationId xmlns:a16="http://schemas.microsoft.com/office/drawing/2014/main" id="{2E338D70-9821-C2A5-8E19-A82FCD9F3198}"/>
              </a:ext>
            </a:extLst>
          </p:cNvPr>
          <p:cNvGraphicFramePr>
            <a:graphicFrameLocks/>
          </p:cNvGraphicFramePr>
          <p:nvPr/>
        </p:nvGraphicFramePr>
        <p:xfrm>
          <a:off x="3733800" y="2185988"/>
          <a:ext cx="14509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48975" imgH="393529" progId="Equation.3">
                  <p:embed/>
                </p:oleObj>
              </mc:Choice>
              <mc:Fallback>
                <p:oleObj r:id="rId3" imgW="748975" imgH="393529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185988"/>
                        <a:ext cx="14509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16">
            <a:extLst>
              <a:ext uri="{FF2B5EF4-FFF2-40B4-BE49-F238E27FC236}">
                <a16:creationId xmlns:a16="http://schemas.microsoft.com/office/drawing/2014/main" id="{216D3500-B4DD-D193-C2B1-0B6DAC75CE8F}"/>
              </a:ext>
            </a:extLst>
          </p:cNvPr>
          <p:cNvGraphicFramePr>
            <a:graphicFrameLocks/>
          </p:cNvGraphicFramePr>
          <p:nvPr/>
        </p:nvGraphicFramePr>
        <p:xfrm>
          <a:off x="5868988" y="2184400"/>
          <a:ext cx="1900237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02865" imgH="393529" progId="Equation.3">
                  <p:embed/>
                </p:oleObj>
              </mc:Choice>
              <mc:Fallback>
                <p:oleObj r:id="rId5" imgW="1002865" imgH="393529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988" y="2184400"/>
                        <a:ext cx="1900237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13">
            <a:extLst>
              <a:ext uri="{FF2B5EF4-FFF2-40B4-BE49-F238E27FC236}">
                <a16:creationId xmlns:a16="http://schemas.microsoft.com/office/drawing/2014/main" id="{E19445BB-76FC-5519-5434-3523A2995826}"/>
              </a:ext>
            </a:extLst>
          </p:cNvPr>
          <p:cNvGraphicFramePr>
            <a:graphicFrameLocks/>
          </p:cNvGraphicFramePr>
          <p:nvPr/>
        </p:nvGraphicFramePr>
        <p:xfrm>
          <a:off x="3733800" y="3106738"/>
          <a:ext cx="1500188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48975" imgH="393529" progId="Equation.3">
                  <p:embed/>
                </p:oleObj>
              </mc:Choice>
              <mc:Fallback>
                <p:oleObj r:id="rId7" imgW="748975" imgH="393529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106738"/>
                        <a:ext cx="1500188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12">
            <a:extLst>
              <a:ext uri="{FF2B5EF4-FFF2-40B4-BE49-F238E27FC236}">
                <a16:creationId xmlns:a16="http://schemas.microsoft.com/office/drawing/2014/main" id="{C12094AC-7E8D-7CF0-8A78-5540907C92EA}"/>
              </a:ext>
            </a:extLst>
          </p:cNvPr>
          <p:cNvGraphicFramePr>
            <a:graphicFrameLocks/>
          </p:cNvGraphicFramePr>
          <p:nvPr/>
        </p:nvGraphicFramePr>
        <p:xfrm>
          <a:off x="5867400" y="3143250"/>
          <a:ext cx="190023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002865" imgH="393529" progId="Equation.3">
                  <p:embed/>
                </p:oleObj>
              </mc:Choice>
              <mc:Fallback>
                <p:oleObj r:id="rId9" imgW="1002865" imgH="393529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143250"/>
                        <a:ext cx="190023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9">
            <a:extLst>
              <a:ext uri="{FF2B5EF4-FFF2-40B4-BE49-F238E27FC236}">
                <a16:creationId xmlns:a16="http://schemas.microsoft.com/office/drawing/2014/main" id="{EF2747B2-D70F-E487-21C8-1601A1323A1E}"/>
              </a:ext>
            </a:extLst>
          </p:cNvPr>
          <p:cNvGraphicFramePr>
            <a:graphicFrameLocks/>
          </p:cNvGraphicFramePr>
          <p:nvPr/>
        </p:nvGraphicFramePr>
        <p:xfrm>
          <a:off x="3733800" y="4103688"/>
          <a:ext cx="1150938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583947" imgH="393529" progId="Equation.3">
                  <p:embed/>
                </p:oleObj>
              </mc:Choice>
              <mc:Fallback>
                <p:oleObj r:id="rId11" imgW="583947" imgH="393529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103688"/>
                        <a:ext cx="1150938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9" name="Object 8">
            <a:extLst>
              <a:ext uri="{FF2B5EF4-FFF2-40B4-BE49-F238E27FC236}">
                <a16:creationId xmlns:a16="http://schemas.microsoft.com/office/drawing/2014/main" id="{FDA74513-157F-1B50-AB21-D7F36656CD82}"/>
              </a:ext>
            </a:extLst>
          </p:cNvPr>
          <p:cNvGraphicFramePr>
            <a:graphicFrameLocks/>
          </p:cNvGraphicFramePr>
          <p:nvPr/>
        </p:nvGraphicFramePr>
        <p:xfrm>
          <a:off x="5868988" y="4078288"/>
          <a:ext cx="1900237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914400" imgH="393700" progId="Equation.3">
                  <p:embed/>
                </p:oleObj>
              </mc:Choice>
              <mc:Fallback>
                <p:oleObj r:id="rId13" imgW="914400" imgH="39370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988" y="4078288"/>
                        <a:ext cx="1900237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42" name="Rectangle 21">
            <a:extLst>
              <a:ext uri="{FF2B5EF4-FFF2-40B4-BE49-F238E27FC236}">
                <a16:creationId xmlns:a16="http://schemas.microsoft.com/office/drawing/2014/main" id="{4F724D5C-17F3-5269-718D-B9237F134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3" y="14287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接收机的</a:t>
            </a:r>
            <a:r>
              <a:rPr lang="en-US" altLang="zh-CN" sz="2000" b="1" i="1">
                <a:ea typeface="微软雅黑" panose="020B0503020204020204" pitchFamily="34" charset="-122"/>
              </a:rPr>
              <a:t>P</a:t>
            </a:r>
            <a:r>
              <a:rPr lang="en-US" altLang="zh-CN" sz="2000" b="1" baseline="-25000">
                <a:ea typeface="微软雅黑" panose="020B0503020204020204" pitchFamily="34" charset="-122"/>
              </a:rPr>
              <a:t>e</a:t>
            </a:r>
          </a:p>
        </p:txBody>
      </p:sp>
      <p:sp>
        <p:nvSpPr>
          <p:cNvPr id="37943" name="Rectangle 23">
            <a:extLst>
              <a:ext uri="{FF2B5EF4-FFF2-40B4-BE49-F238E27FC236}">
                <a16:creationId xmlns:a16="http://schemas.microsoft.com/office/drawing/2014/main" id="{8844685C-54CA-101F-AA38-4752073F9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0" y="1428750"/>
            <a:ext cx="1993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最佳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接收机的 </a:t>
            </a:r>
            <a:r>
              <a:rPr lang="en-US" altLang="zh-CN" sz="2000" b="1" i="1">
                <a:ea typeface="微软雅黑" panose="020B0503020204020204" pitchFamily="34" charset="-122"/>
              </a:rPr>
              <a:t>P</a:t>
            </a:r>
            <a:r>
              <a:rPr lang="en-US" altLang="zh-CN" sz="2000" b="1" baseline="-25000">
                <a:ea typeface="微软雅黑" panose="020B0503020204020204" pitchFamily="34" charset="-122"/>
              </a:rPr>
              <a:t>e</a:t>
            </a:r>
          </a:p>
        </p:txBody>
      </p:sp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CDAD0CBD-2AAD-683E-DE2F-544FC96F4B9E}"/>
              </a:ext>
            </a:extLst>
          </p:cNvPr>
          <p:cNvGraphicFramePr>
            <a:graphicFrameLocks/>
          </p:cNvGraphicFramePr>
          <p:nvPr/>
        </p:nvGraphicFramePr>
        <p:xfrm>
          <a:off x="3751263" y="4975225"/>
          <a:ext cx="15716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825500" imgH="393700" progId="Equation.3">
                  <p:embed/>
                </p:oleObj>
              </mc:Choice>
              <mc:Fallback>
                <p:oleObj r:id="rId15" imgW="825500" imgH="39370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263" y="4975225"/>
                        <a:ext cx="157162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48AABABD-4CBE-DF59-0D29-3AE5BF4E91CE}"/>
              </a:ext>
            </a:extLst>
          </p:cNvPr>
          <p:cNvGraphicFramePr>
            <a:graphicFrameLocks/>
          </p:cNvGraphicFramePr>
          <p:nvPr/>
        </p:nvGraphicFramePr>
        <p:xfrm>
          <a:off x="5867400" y="5030788"/>
          <a:ext cx="2014538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079032" imgH="393529" progId="Equation.3">
                  <p:embed/>
                </p:oleObj>
              </mc:Choice>
              <mc:Fallback>
                <p:oleObj r:id="rId17" imgW="1079032" imgH="393529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030788"/>
                        <a:ext cx="2014538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3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42" grpId="0"/>
      <p:bldP spid="3794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5">
            <a:extLst>
              <a:ext uri="{FF2B5EF4-FFF2-40B4-BE49-F238E27FC236}">
                <a16:creationId xmlns:a16="http://schemas.microsoft.com/office/drawing/2014/main" id="{03F140CC-2A3E-02AE-FACE-ABE05568F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08546" name="Rectangle 7">
            <a:extLst>
              <a:ext uri="{FF2B5EF4-FFF2-40B4-BE49-F238E27FC236}">
                <a16:creationId xmlns:a16="http://schemas.microsoft.com/office/drawing/2014/main" id="{2EA0CBF1-5E47-6F42-40D5-D5E2D409B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58374" name="Object 6">
            <a:extLst>
              <a:ext uri="{FF2B5EF4-FFF2-40B4-BE49-F238E27FC236}">
                <a16:creationId xmlns:a16="http://schemas.microsoft.com/office/drawing/2014/main" id="{DC0A13D5-3891-12BA-31BD-73CE533AC748}"/>
              </a:ext>
            </a:extLst>
          </p:cNvPr>
          <p:cNvGraphicFramePr>
            <a:graphicFrameLocks/>
          </p:cNvGraphicFramePr>
          <p:nvPr/>
        </p:nvGraphicFramePr>
        <p:xfrm>
          <a:off x="3505200" y="1295400"/>
          <a:ext cx="16541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34725" imgH="228501" progId="Equation.DSMT4">
                  <p:embed/>
                </p:oleObj>
              </mc:Choice>
              <mc:Fallback>
                <p:oleObj r:id="rId2" imgW="634725" imgH="228501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295400"/>
                        <a:ext cx="16541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8" name="Rectangle 9">
            <a:extLst>
              <a:ext uri="{FF2B5EF4-FFF2-40B4-BE49-F238E27FC236}">
                <a16:creationId xmlns:a16="http://schemas.microsoft.com/office/drawing/2014/main" id="{169A218B-7B8B-384A-14E9-5C84797D9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58376" name="Object 8">
            <a:extLst>
              <a:ext uri="{FF2B5EF4-FFF2-40B4-BE49-F238E27FC236}">
                <a16:creationId xmlns:a16="http://schemas.microsoft.com/office/drawing/2014/main" id="{0F43C388-06E6-92C3-FABE-05CBD4550A0B}"/>
              </a:ext>
            </a:extLst>
          </p:cNvPr>
          <p:cNvGraphicFramePr>
            <a:graphicFrameLocks/>
          </p:cNvGraphicFramePr>
          <p:nvPr/>
        </p:nvGraphicFramePr>
        <p:xfrm>
          <a:off x="1676400" y="2709863"/>
          <a:ext cx="2809875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25142" imgH="431613" progId="Equation.DSMT4">
                  <p:embed/>
                </p:oleObj>
              </mc:Choice>
              <mc:Fallback>
                <p:oleObj r:id="rId4" imgW="825142" imgH="431613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709863"/>
                        <a:ext cx="2809875" cy="11128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0" name="Rectangle 11">
            <a:extLst>
              <a:ext uri="{FF2B5EF4-FFF2-40B4-BE49-F238E27FC236}">
                <a16:creationId xmlns:a16="http://schemas.microsoft.com/office/drawing/2014/main" id="{FACC9E09-F893-CAC8-C441-976F66D88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58378" name="Object 10">
            <a:extLst>
              <a:ext uri="{FF2B5EF4-FFF2-40B4-BE49-F238E27FC236}">
                <a16:creationId xmlns:a16="http://schemas.microsoft.com/office/drawing/2014/main" id="{007D293E-322A-103C-0468-9F5D4568EAA8}"/>
              </a:ext>
            </a:extLst>
          </p:cNvPr>
          <p:cNvGraphicFramePr>
            <a:graphicFrameLocks/>
          </p:cNvGraphicFramePr>
          <p:nvPr/>
        </p:nvGraphicFramePr>
        <p:xfrm>
          <a:off x="5005388" y="2749550"/>
          <a:ext cx="292417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79032" imgH="622030" progId="Equation.DSMT4">
                  <p:embed/>
                </p:oleObj>
              </mc:Choice>
              <mc:Fallback>
                <p:oleObj r:id="rId6" imgW="1079032" imgH="62203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5388" y="2749550"/>
                        <a:ext cx="2924175" cy="1447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2" name="Rectangle 14">
            <a:extLst>
              <a:ext uri="{FF2B5EF4-FFF2-40B4-BE49-F238E27FC236}">
                <a16:creationId xmlns:a16="http://schemas.microsoft.com/office/drawing/2014/main" id="{EC4AB629-165C-07C3-499A-66E8D7B03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368800"/>
            <a:ext cx="3800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2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b="1" baseline="-25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相同的条件下，</a:t>
            </a:r>
          </a:p>
        </p:txBody>
      </p:sp>
      <p:graphicFrame>
        <p:nvGraphicFramePr>
          <p:cNvPr id="58386" name="Object 18">
            <a:extLst>
              <a:ext uri="{FF2B5EF4-FFF2-40B4-BE49-F238E27FC236}">
                <a16:creationId xmlns:a16="http://schemas.microsoft.com/office/drawing/2014/main" id="{12F38828-5023-FD35-68AC-35CDF83A444C}"/>
              </a:ext>
            </a:extLst>
          </p:cNvPr>
          <p:cNvGraphicFramePr>
            <a:graphicFrameLocks/>
          </p:cNvGraphicFramePr>
          <p:nvPr/>
        </p:nvGraphicFramePr>
        <p:xfrm>
          <a:off x="2462213" y="4987925"/>
          <a:ext cx="1325562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34725" imgH="495085" progId="Equation.DSMT4">
                  <p:embed/>
                </p:oleObj>
              </mc:Choice>
              <mc:Fallback>
                <p:oleObj r:id="rId8" imgW="634725" imgH="495085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213" y="4987925"/>
                        <a:ext cx="1325562" cy="103187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80808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7" name="Object 19">
            <a:extLst>
              <a:ext uri="{FF2B5EF4-FFF2-40B4-BE49-F238E27FC236}">
                <a16:creationId xmlns:a16="http://schemas.microsoft.com/office/drawing/2014/main" id="{FE6E895E-3973-8F3C-B482-9AB4FB698B19}"/>
              </a:ext>
            </a:extLst>
          </p:cNvPr>
          <p:cNvGraphicFramePr>
            <a:graphicFrameLocks/>
          </p:cNvGraphicFramePr>
          <p:nvPr/>
        </p:nvGraphicFramePr>
        <p:xfrm>
          <a:off x="5059363" y="4899025"/>
          <a:ext cx="1312862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10891" imgH="495085" progId="Equation.DSMT4">
                  <p:embed/>
                </p:oleObj>
              </mc:Choice>
              <mc:Fallback>
                <p:oleObj r:id="rId10" imgW="710891" imgH="495085" progId="Equation.DSMT4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363" y="4899025"/>
                        <a:ext cx="1312862" cy="107473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80808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8" name="Rectangle 20">
            <a:extLst>
              <a:ext uri="{FF2B5EF4-FFF2-40B4-BE49-F238E27FC236}">
                <a16:creationId xmlns:a16="http://schemas.microsoft.com/office/drawing/2014/main" id="{1845B73B-B9B0-306A-7450-BBF2CFDD8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209800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>
                <a:ea typeface="华文中宋" panose="02010600040101010101" pitchFamily="2" charset="-122"/>
              </a:rPr>
              <a:t>最佳接收机：</a:t>
            </a:r>
          </a:p>
        </p:txBody>
      </p:sp>
      <p:sp>
        <p:nvSpPr>
          <p:cNvPr id="58389" name="Rectangle 21">
            <a:extLst>
              <a:ext uri="{FF2B5EF4-FFF2-40B4-BE49-F238E27FC236}">
                <a16:creationId xmlns:a16="http://schemas.microsoft.com/office/drawing/2014/main" id="{9210BD3A-0DAA-E53E-A7F5-B297E91A8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222500"/>
            <a:ext cx="1804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实际接收机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</a:p>
        </p:txBody>
      </p:sp>
      <p:sp>
        <p:nvSpPr>
          <p:cNvPr id="58392" name="Oval 24">
            <a:extLst>
              <a:ext uri="{FF2B5EF4-FFF2-40B4-BE49-F238E27FC236}">
                <a16:creationId xmlns:a16="http://schemas.microsoft.com/office/drawing/2014/main" id="{9F3EAB03-F366-EC3C-5377-B2F135F8C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984500"/>
            <a:ext cx="381000" cy="533400"/>
          </a:xfrm>
          <a:prstGeom prst="ellipse">
            <a:avLst/>
          </a:prstGeom>
          <a:noFill/>
          <a:ln w="12700">
            <a:solidFill>
              <a:srgbClr val="990099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58393" name="Oval 25">
            <a:extLst>
              <a:ext uri="{FF2B5EF4-FFF2-40B4-BE49-F238E27FC236}">
                <a16:creationId xmlns:a16="http://schemas.microsoft.com/office/drawing/2014/main" id="{3FFDB337-6724-4972-6A38-D4499E9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679700"/>
            <a:ext cx="533400" cy="1066800"/>
          </a:xfrm>
          <a:prstGeom prst="ellipse">
            <a:avLst/>
          </a:prstGeom>
          <a:noFill/>
          <a:ln w="12700">
            <a:solidFill>
              <a:srgbClr val="990099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grpSp>
        <p:nvGrpSpPr>
          <p:cNvPr id="2" name="组合 57">
            <a:extLst>
              <a:ext uri="{FF2B5EF4-FFF2-40B4-BE49-F238E27FC236}">
                <a16:creationId xmlns:a16="http://schemas.microsoft.com/office/drawing/2014/main" id="{227B0204-63A7-CC20-9DC6-067949C288D0}"/>
              </a:ext>
            </a:extLst>
          </p:cNvPr>
          <p:cNvGrpSpPr/>
          <p:nvPr/>
        </p:nvGrpSpPr>
        <p:grpSpPr bwMode="auto">
          <a:xfrm>
            <a:off x="762000" y="1066800"/>
            <a:ext cx="1203325" cy="685800"/>
            <a:chOff x="2500299" y="3214687"/>
            <a:chExt cx="1203527" cy="68580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139A7DBF-F451-CBF6-4549-460C37AE02A4}"/>
                </a:ext>
              </a:extLst>
            </p:cNvPr>
            <p:cNvSpPr/>
            <p:nvPr/>
          </p:nvSpPr>
          <p:spPr bwMode="auto">
            <a:xfrm>
              <a:off x="2500299" y="3214687"/>
              <a:ext cx="1066979" cy="685806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6">
                  <a:lumMod val="40000"/>
                  <a:lumOff val="6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822B4E0-DCBA-C1F1-2E5D-B599290B0CA3}"/>
                </a:ext>
              </a:extLst>
            </p:cNvPr>
            <p:cNvSpPr/>
            <p:nvPr/>
          </p:nvSpPr>
          <p:spPr>
            <a:xfrm>
              <a:off x="2590802" y="3328988"/>
              <a:ext cx="1113024" cy="461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kern="0" dirty="0">
                  <a:solidFill>
                    <a:srgbClr val="99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</a:t>
              </a:r>
              <a:r>
                <a:rPr lang="zh-CN" altLang="en-US" sz="2400" b="1" kern="0" dirty="0">
                  <a:solidFill>
                    <a:srgbClr val="990099"/>
                  </a:solidFill>
                  <a:latin typeface="宋体" panose="02010600030101010101" pitchFamily="2" charset="-122"/>
                </a:rPr>
                <a:t>：</a:t>
              </a:r>
              <a:endParaRPr lang="zh-CN" altLang="en-US" sz="2400" b="1" dirty="0">
                <a:solidFill>
                  <a:srgbClr val="990099"/>
                </a:solidFill>
              </a:endParaRPr>
            </a:p>
          </p:txBody>
        </p:sp>
      </p:grpSp>
      <p:sp>
        <p:nvSpPr>
          <p:cNvPr id="27" name="Freeform 57">
            <a:extLst>
              <a:ext uri="{FF2B5EF4-FFF2-40B4-BE49-F238E27FC236}">
                <a16:creationId xmlns:a16="http://schemas.microsoft.com/office/drawing/2014/main" id="{D74996B5-43AE-C14C-26E4-0EF450821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5032375"/>
            <a:ext cx="1223963" cy="785813"/>
          </a:xfrm>
          <a:custGeom>
            <a:avLst/>
            <a:gdLst>
              <a:gd name="T0" fmla="*/ 4 w 46"/>
              <a:gd name="T1" fmla="*/ 0 h 43"/>
              <a:gd name="T2" fmla="*/ 35 w 46"/>
              <a:gd name="T3" fmla="*/ 15 h 43"/>
              <a:gd name="T4" fmla="*/ 30 w 46"/>
              <a:gd name="T5" fmla="*/ 6 h 43"/>
              <a:gd name="T6" fmla="*/ 46 w 46"/>
              <a:gd name="T7" fmla="*/ 22 h 43"/>
              <a:gd name="T8" fmla="*/ 27 w 46"/>
              <a:gd name="T9" fmla="*/ 40 h 43"/>
              <a:gd name="T10" fmla="*/ 34 w 46"/>
              <a:gd name="T11" fmla="*/ 30 h 43"/>
              <a:gd name="T12" fmla="*/ 0 w 46"/>
              <a:gd name="T13" fmla="*/ 43 h 43"/>
              <a:gd name="T14" fmla="*/ 4 w 46"/>
              <a:gd name="T15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6" h="43">
                <a:moveTo>
                  <a:pt x="4" y="0"/>
                </a:moveTo>
                <a:cubicBezTo>
                  <a:pt x="4" y="0"/>
                  <a:pt x="24" y="13"/>
                  <a:pt x="35" y="15"/>
                </a:cubicBezTo>
                <a:lnTo>
                  <a:pt x="30" y="6"/>
                </a:lnTo>
                <a:lnTo>
                  <a:pt x="46" y="22"/>
                </a:lnTo>
                <a:lnTo>
                  <a:pt x="27" y="40"/>
                </a:lnTo>
                <a:lnTo>
                  <a:pt x="34" y="30"/>
                </a:lnTo>
                <a:cubicBezTo>
                  <a:pt x="34" y="30"/>
                  <a:pt x="6" y="33"/>
                  <a:pt x="0" y="43"/>
                </a:cubicBezTo>
                <a:lnTo>
                  <a:pt x="4" y="0"/>
                </a:lnTo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97979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83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8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8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8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8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5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3" dur="2000"/>
                                        <p:tgtEl>
                                          <p:spTgt spid="5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6" dur="2000"/>
                                        <p:tgtEl>
                                          <p:spTgt spid="5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5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5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82" grpId="0"/>
      <p:bldP spid="58388" grpId="0"/>
      <p:bldP spid="58389" grpId="0"/>
      <p:bldP spid="58392" grpId="0" animBg="1"/>
      <p:bldP spid="58393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5">
            <a:extLst>
              <a:ext uri="{FF2B5EF4-FFF2-40B4-BE49-F238E27FC236}">
                <a16:creationId xmlns:a16="http://schemas.microsoft.com/office/drawing/2014/main" id="{5E193ED9-F716-3E35-ED75-679A103CD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09570" name="Rectangle 7">
            <a:extLst>
              <a:ext uri="{FF2B5EF4-FFF2-40B4-BE49-F238E27FC236}">
                <a16:creationId xmlns:a16="http://schemas.microsoft.com/office/drawing/2014/main" id="{0D07277A-7E87-8820-A803-BB96993B6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09571" name="Rectangle 9">
            <a:extLst>
              <a:ext uri="{FF2B5EF4-FFF2-40B4-BE49-F238E27FC236}">
                <a16:creationId xmlns:a16="http://schemas.microsoft.com/office/drawing/2014/main" id="{8E63B730-4F9E-B7CC-AFD8-80AD7E914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59400" name="Object 8">
            <a:extLst>
              <a:ext uri="{FF2B5EF4-FFF2-40B4-BE49-F238E27FC236}">
                <a16:creationId xmlns:a16="http://schemas.microsoft.com/office/drawing/2014/main" id="{3300107E-9B5B-213B-B742-14AB3A5C6455}"/>
              </a:ext>
            </a:extLst>
          </p:cNvPr>
          <p:cNvGraphicFramePr>
            <a:graphicFrameLocks/>
          </p:cNvGraphicFramePr>
          <p:nvPr/>
        </p:nvGraphicFramePr>
        <p:xfrm>
          <a:off x="2290763" y="1295400"/>
          <a:ext cx="106203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69696" imgH="431613" progId="Equation.3">
                  <p:embed/>
                </p:oleObj>
              </mc:Choice>
              <mc:Fallback>
                <p:oleObj r:id="rId2" imgW="469696" imgH="431613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763" y="1295400"/>
                        <a:ext cx="106203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3" name="Rectangle 11">
            <a:extLst>
              <a:ext uri="{FF2B5EF4-FFF2-40B4-BE49-F238E27FC236}">
                <a16:creationId xmlns:a16="http://schemas.microsoft.com/office/drawing/2014/main" id="{224C80DF-9372-1183-2512-132885E9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09574" name="Rectangle 13">
            <a:extLst>
              <a:ext uri="{FF2B5EF4-FFF2-40B4-BE49-F238E27FC236}">
                <a16:creationId xmlns:a16="http://schemas.microsoft.com/office/drawing/2014/main" id="{770BC008-0449-5D79-7BF7-0303F3D4D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09575" name="Rectangle 15">
            <a:extLst>
              <a:ext uri="{FF2B5EF4-FFF2-40B4-BE49-F238E27FC236}">
                <a16:creationId xmlns:a16="http://schemas.microsoft.com/office/drawing/2014/main" id="{A5F702F8-86AA-FCEF-071F-34D4A8FE0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59406" name="Object 14">
            <a:extLst>
              <a:ext uri="{FF2B5EF4-FFF2-40B4-BE49-F238E27FC236}">
                <a16:creationId xmlns:a16="http://schemas.microsoft.com/office/drawing/2014/main" id="{5535E106-439A-F4AF-B0F7-EA8A8E406C26}"/>
              </a:ext>
            </a:extLst>
          </p:cNvPr>
          <p:cNvGraphicFramePr>
            <a:graphicFrameLocks/>
          </p:cNvGraphicFramePr>
          <p:nvPr/>
        </p:nvGraphicFramePr>
        <p:xfrm>
          <a:off x="3668713" y="1295400"/>
          <a:ext cx="127000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72808" imgH="520474" progId="Equation.3">
                  <p:embed/>
                </p:oleObj>
              </mc:Choice>
              <mc:Fallback>
                <p:oleObj r:id="rId4" imgW="672808" imgH="520474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1295400"/>
                        <a:ext cx="1270000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B8969644-7564-9222-12ED-3CE665C6FDA1}"/>
              </a:ext>
            </a:extLst>
          </p:cNvPr>
          <p:cNvSpPr/>
          <p:nvPr/>
        </p:nvSpPr>
        <p:spPr>
          <a:xfrm>
            <a:off x="1905000" y="2362200"/>
            <a:ext cx="65532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最佳接收机与实际接收机性能相同。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9F8C2D-3785-20FB-8D86-5AA7C32EF9A4}"/>
              </a:ext>
            </a:extLst>
          </p:cNvPr>
          <p:cNvSpPr/>
          <p:nvPr/>
        </p:nvSpPr>
        <p:spPr>
          <a:xfrm>
            <a:off x="609600" y="1371600"/>
            <a:ext cx="14160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kumimoji="1" lang="zh-CN" altLang="en-US" sz="2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极限时：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CDDBC4C-546D-C71B-F437-61DED5701D6A}"/>
              </a:ext>
            </a:extLst>
          </p:cNvPr>
          <p:cNvSpPr/>
          <p:nvPr/>
        </p:nvSpPr>
        <p:spPr>
          <a:xfrm>
            <a:off x="609600" y="3043238"/>
            <a:ext cx="141605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kumimoji="1" lang="zh-CN" altLang="en-US" sz="2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实际上：</a:t>
            </a:r>
          </a:p>
        </p:txBody>
      </p:sp>
      <p:graphicFrame>
        <p:nvGraphicFramePr>
          <p:cNvPr id="23" name="Object 17">
            <a:extLst>
              <a:ext uri="{FF2B5EF4-FFF2-40B4-BE49-F238E27FC236}">
                <a16:creationId xmlns:a16="http://schemas.microsoft.com/office/drawing/2014/main" id="{D05C930F-961C-DB7D-9BA3-9FA20E3FBA68}"/>
              </a:ext>
            </a:extLst>
          </p:cNvPr>
          <p:cNvGraphicFramePr>
            <a:graphicFrameLocks/>
          </p:cNvGraphicFramePr>
          <p:nvPr/>
        </p:nvGraphicFramePr>
        <p:xfrm>
          <a:off x="2286000" y="3429000"/>
          <a:ext cx="1062038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69696" imgH="431613" progId="Equation.3">
                  <p:embed/>
                </p:oleObj>
              </mc:Choice>
              <mc:Fallback>
                <p:oleObj r:id="rId6" imgW="469696" imgH="431613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429000"/>
                        <a:ext cx="1062038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6210BD36-7ED3-58BB-177E-BC4F2B5D4409}"/>
              </a:ext>
            </a:extLst>
          </p:cNvPr>
          <p:cNvSpPr/>
          <p:nvPr/>
        </p:nvSpPr>
        <p:spPr>
          <a:xfrm>
            <a:off x="1905000" y="4643438"/>
            <a:ext cx="6553200" cy="4619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kumimoji="1"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最佳接收机</a:t>
            </a:r>
            <a:r>
              <a:rPr kumimoji="1"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优于</a:t>
            </a:r>
            <a:r>
              <a:rPr kumimoji="1"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实际接收机的性能。</a:t>
            </a:r>
          </a:p>
        </p:txBody>
      </p:sp>
      <p:graphicFrame>
        <p:nvGraphicFramePr>
          <p:cNvPr id="25" name="Object 18">
            <a:extLst>
              <a:ext uri="{FF2B5EF4-FFF2-40B4-BE49-F238E27FC236}">
                <a16:creationId xmlns:a16="http://schemas.microsoft.com/office/drawing/2014/main" id="{584F85D0-8024-99B1-C23F-6AA515310FF2}"/>
              </a:ext>
            </a:extLst>
          </p:cNvPr>
          <p:cNvGraphicFramePr>
            <a:graphicFrameLocks/>
          </p:cNvGraphicFramePr>
          <p:nvPr/>
        </p:nvGraphicFramePr>
        <p:xfrm>
          <a:off x="3657600" y="3421063"/>
          <a:ext cx="12954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58558" imgH="431613" progId="Equation.3">
                  <p:embed/>
                </p:oleObj>
              </mc:Choice>
              <mc:Fallback>
                <p:oleObj r:id="rId8" imgW="558558" imgH="431613" progId="Equation.3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421063"/>
                        <a:ext cx="12954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8" name="Object 20">
            <a:extLst>
              <a:ext uri="{FF2B5EF4-FFF2-40B4-BE49-F238E27FC236}">
                <a16:creationId xmlns:a16="http://schemas.microsoft.com/office/drawing/2014/main" id="{BDE7EC8F-18AF-124D-601D-86D04205B4EC}"/>
              </a:ext>
            </a:extLst>
          </p:cNvPr>
          <p:cNvGraphicFramePr>
            <a:graphicFrameLocks/>
          </p:cNvGraphicFramePr>
          <p:nvPr/>
        </p:nvGraphicFramePr>
        <p:xfrm>
          <a:off x="5638800" y="1447800"/>
          <a:ext cx="14287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22030" imgH="241195" progId="Equation.3">
                  <p:embed/>
                </p:oleObj>
              </mc:Choice>
              <mc:Fallback>
                <p:oleObj r:id="rId10" imgW="622030" imgH="241195" progId="Equation.3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447800"/>
                        <a:ext cx="14287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1">
            <a:extLst>
              <a:ext uri="{FF2B5EF4-FFF2-40B4-BE49-F238E27FC236}">
                <a16:creationId xmlns:a16="http://schemas.microsoft.com/office/drawing/2014/main" id="{9E8C129F-E8B3-C1ED-B8B4-8AC2CC5F9F56}"/>
              </a:ext>
            </a:extLst>
          </p:cNvPr>
          <p:cNvGraphicFramePr>
            <a:graphicFrameLocks/>
          </p:cNvGraphicFramePr>
          <p:nvPr/>
        </p:nvGraphicFramePr>
        <p:xfrm>
          <a:off x="5657850" y="3581400"/>
          <a:ext cx="14287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22030" imgH="241195" progId="Equation.3">
                  <p:embed/>
                </p:oleObj>
              </mc:Choice>
              <mc:Fallback>
                <p:oleObj r:id="rId12" imgW="622030" imgH="241195" progId="Equation.3">
                  <p:embed/>
                  <p:pic>
                    <p:nvPicPr>
                      <p:cNvPr id="0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850" y="3581400"/>
                        <a:ext cx="14287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93CA3FBB-4134-091C-CA47-F907AD65A30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57400" y="3140075"/>
            <a:ext cx="6148388" cy="144621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defTabSz="802005" eaLnBrk="0" hangingPunct="0">
              <a:spcBef>
                <a:spcPct val="20000"/>
              </a:spcBef>
              <a:defRPr/>
            </a:pP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</a:t>
            </a:r>
            <a:r>
              <a:rPr lang="en-US" altLang="zh-CN" sz="3200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lang="zh-CN" altLang="en-US" sz="4000" b="1" kern="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</a:t>
            </a: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滤波接收</a:t>
            </a:r>
            <a:endParaRPr lang="en-US" altLang="zh-CN" sz="4000" b="1" kern="0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02005" eaLnBrk="0" hangingPunct="0">
              <a:spcBef>
                <a:spcPct val="20000"/>
              </a:spcBef>
              <a:defRPr/>
            </a:pPr>
            <a:r>
              <a:rPr lang="en-US" altLang="zh-CN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endParaRPr lang="en-GB" sz="4000" b="1" noProof="1">
              <a:solidFill>
                <a:srgbClr val="99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043" name="矩形 4">
            <a:extLst>
              <a:ext uri="{FF2B5EF4-FFF2-40B4-BE49-F238E27FC236}">
                <a16:creationId xmlns:a16="http://schemas.microsoft.com/office/drawing/2014/main" id="{F979E04D-4876-5CA7-F9D7-B8B029F26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546225" cy="646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3600" b="1" u="sng" dirty="0">
                <a:solidFill>
                  <a:srgbClr val="800080"/>
                </a:solidFill>
                <a:latin typeface="+mn-ea"/>
                <a:ea typeface="+mn-ea"/>
              </a:rPr>
              <a:t>§</a:t>
            </a:r>
            <a:r>
              <a:rPr lang="en-US" altLang="en-US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lang="en-US" altLang="zh-CN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.8  </a:t>
            </a:r>
            <a:endParaRPr lang="zh-CN" altLang="en-US" sz="3600" b="1" u="sng" dirty="0">
              <a:solidFill>
                <a:srgbClr val="800080"/>
              </a:solidFill>
            </a:endParaRPr>
          </a:p>
        </p:txBody>
      </p:sp>
      <p:sp>
        <p:nvSpPr>
          <p:cNvPr id="12" name="矩形 5">
            <a:extLst>
              <a:ext uri="{FF2B5EF4-FFF2-40B4-BE49-F238E27FC236}">
                <a16:creationId xmlns:a16="http://schemas.microsoft.com/office/drawing/2014/main" id="{E0952069-2C34-68E4-F797-1D25FE7F2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191000"/>
            <a:ext cx="3505200" cy="46196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何谓匹配滤波器？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F6207B-67B2-C2E5-4441-9B87737C8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724400"/>
            <a:ext cx="4267200" cy="46196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如何设计匹配滤波器？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59BEAE-0229-C30E-F496-1BAFB9C62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284788"/>
            <a:ext cx="3657600" cy="461962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匹配滤波器的应用？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2" name="Rectangle 14">
            <a:extLst>
              <a:ext uri="{FF2B5EF4-FFF2-40B4-BE49-F238E27FC236}">
                <a16:creationId xmlns:a16="http://schemas.microsoft.com/office/drawing/2014/main" id="{EFDEF1BC-FEA6-8BC6-F3CD-DD32E71AD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662363"/>
            <a:ext cx="7848600" cy="461962"/>
          </a:xfrm>
          <a:prstGeom prst="rect">
            <a:avLst/>
          </a:prstGeom>
          <a:solidFill>
            <a:srgbClr val="E8E8E8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如何设计</a:t>
            </a:r>
            <a:r>
              <a:rPr kumimoji="1" lang="en-US" altLang="zh-CN" sz="2400" i="1" dirty="0">
                <a:solidFill>
                  <a:srgbClr val="CC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</a:t>
            </a:r>
            <a:r>
              <a:rPr kumimoji="1" lang="en-US" altLang="zh-CN" sz="2400" dirty="0">
                <a:solidFill>
                  <a:srgbClr val="CC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kumimoji="1" lang="zh-CN" alt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？ 使其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输出信噪比</a:t>
            </a:r>
            <a:r>
              <a:rPr lang="zh-CN" altLang="en-US" sz="24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b="1" i="1" dirty="0" err="1">
                <a:solidFill>
                  <a:srgbClr val="9900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kumimoji="1" lang="en-US" altLang="zh-CN" sz="2400" b="1" baseline="-25000" dirty="0" err="1">
                <a:solidFill>
                  <a:srgbClr val="9900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</a:t>
            </a:r>
            <a:r>
              <a:rPr kumimoji="1" lang="en-US" altLang="zh-CN" sz="2400" b="1" dirty="0">
                <a:solidFill>
                  <a:srgbClr val="9900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在抽样时刻 </a:t>
            </a:r>
            <a:r>
              <a:rPr kumimoji="1"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1"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 </a:t>
            </a:r>
            <a:r>
              <a:rPr kumimoji="1" lang="zh-CN" alt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有最大值。</a:t>
            </a:r>
          </a:p>
        </p:txBody>
      </p:sp>
      <p:sp>
        <p:nvSpPr>
          <p:cNvPr id="111618" name="Rectangle 5">
            <a:extLst>
              <a:ext uri="{FF2B5EF4-FFF2-40B4-BE49-F238E27FC236}">
                <a16:creationId xmlns:a16="http://schemas.microsoft.com/office/drawing/2014/main" id="{EE821C92-2B19-4249-AD0E-3BD361529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11619" name="Rectangle 7">
            <a:extLst>
              <a:ext uri="{FF2B5EF4-FFF2-40B4-BE49-F238E27FC236}">
                <a16:creationId xmlns:a16="http://schemas.microsoft.com/office/drawing/2014/main" id="{EBA56203-A8DD-3CF8-FBD1-5D12290D8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11620" name="Rectangle 9">
            <a:extLst>
              <a:ext uri="{FF2B5EF4-FFF2-40B4-BE49-F238E27FC236}">
                <a16:creationId xmlns:a16="http://schemas.microsoft.com/office/drawing/2014/main" id="{DC480B4B-C115-06CB-522B-66CAA3D1F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11621" name="Rectangle 11">
            <a:extLst>
              <a:ext uri="{FF2B5EF4-FFF2-40B4-BE49-F238E27FC236}">
                <a16:creationId xmlns:a16="http://schemas.microsoft.com/office/drawing/2014/main" id="{F7558832-FE56-065D-E264-EE6B33FDF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2301" name="Oval 13">
            <a:extLst>
              <a:ext uri="{FF2B5EF4-FFF2-40B4-BE49-F238E27FC236}">
                <a16:creationId xmlns:a16="http://schemas.microsoft.com/office/drawing/2014/main" id="{41571996-CC7C-10A4-D08D-A06BE73EA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990600" cy="57467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969696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99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研究：</a:t>
            </a:r>
          </a:p>
        </p:txBody>
      </p:sp>
      <p:sp>
        <p:nvSpPr>
          <p:cNvPr id="12305" name="Rectangle 17">
            <a:extLst>
              <a:ext uri="{FF2B5EF4-FFF2-40B4-BE49-F238E27FC236}">
                <a16:creationId xmlns:a16="http://schemas.microsoft.com/office/drawing/2014/main" id="{FAFE41DA-D069-8478-F202-D8C6A8139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69913"/>
            <a:ext cx="5486400" cy="461962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匹配滤波器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传输特性 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i="1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kumimoji="1"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</a:t>
            </a:r>
            <a:r>
              <a:rPr kumimoji="1"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00" name="Rectangle 12">
            <a:extLst>
              <a:ext uri="{FF2B5EF4-FFF2-40B4-BE49-F238E27FC236}">
                <a16:creationId xmlns:a16="http://schemas.microsoft.com/office/drawing/2014/main" id="{B52C43F6-4910-9DEA-363C-1DA8317BA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88" y="628650"/>
            <a:ext cx="1585912" cy="369888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13" name="矩形 5">
            <a:extLst>
              <a:ext uri="{FF2B5EF4-FFF2-40B4-BE49-F238E27FC236}">
                <a16:creationId xmlns:a16="http://schemas.microsoft.com/office/drawing/2014/main" id="{3C7D106B-A0F4-69EE-440B-256F3A9B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125538"/>
            <a:ext cx="7772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是一种能在</a:t>
            </a:r>
            <a:r>
              <a:rPr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抽样时刻上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获得</a:t>
            </a:r>
            <a:r>
              <a:rPr lang="zh-CN" altLang="en-US" sz="2000" dirty="0">
                <a:solidFill>
                  <a:srgbClr val="99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最大输出信噪比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滤波器。 </a:t>
            </a:r>
          </a:p>
        </p:txBody>
      </p:sp>
      <p:pic>
        <p:nvPicPr>
          <p:cNvPr id="45070" name="Picture 14">
            <a:extLst>
              <a:ext uri="{FF2B5EF4-FFF2-40B4-BE49-F238E27FC236}">
                <a16:creationId xmlns:a16="http://schemas.microsoft.com/office/drawing/2014/main" id="{A9E964A6-4150-147C-FE5C-B7A0670B1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814513"/>
            <a:ext cx="5070475" cy="121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38BB19E-A524-B5DE-9E69-FE47BE9D19DE}"/>
              </a:ext>
            </a:extLst>
          </p:cNvPr>
          <p:cNvSpPr/>
          <p:nvPr/>
        </p:nvSpPr>
        <p:spPr bwMode="auto">
          <a:xfrm>
            <a:off x="3803650" y="2043113"/>
            <a:ext cx="838200" cy="5334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C18D55-6F68-BC9B-CDE6-2EF831912194}"/>
              </a:ext>
            </a:extLst>
          </p:cNvPr>
          <p:cNvSpPr/>
          <p:nvPr/>
        </p:nvSpPr>
        <p:spPr>
          <a:xfrm>
            <a:off x="5222875" y="2295525"/>
            <a:ext cx="5334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800" b="1" i="1" dirty="0" err="1">
                <a:solidFill>
                  <a:srgbClr val="990099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kumimoji="1" lang="en-US" altLang="zh-CN" sz="2800" b="1" baseline="-25000" dirty="0" err="1">
                <a:solidFill>
                  <a:srgbClr val="990099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o</a:t>
            </a:r>
            <a:r>
              <a:rPr kumimoji="1" lang="en-US" altLang="zh-CN" sz="2800" b="1" dirty="0">
                <a:solidFill>
                  <a:srgbClr val="CC0000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zh-CN" altLang="en-US" sz="2800" b="1" dirty="0">
              <a:latin typeface="+mn-lt"/>
            </a:endParaRPr>
          </a:p>
        </p:txBody>
      </p:sp>
      <p:sp>
        <p:nvSpPr>
          <p:cNvPr id="12306" name="Rectangle 18">
            <a:extLst>
              <a:ext uri="{FF2B5EF4-FFF2-40B4-BE49-F238E27FC236}">
                <a16:creationId xmlns:a16="http://schemas.microsoft.com/office/drawing/2014/main" id="{964E67BC-2BB9-E318-44AE-E45B2D864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675" y="3028950"/>
            <a:ext cx="3006725" cy="40005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数字信号接收等效原理图</a:t>
            </a:r>
          </a:p>
        </p:txBody>
      </p:sp>
      <p:graphicFrame>
        <p:nvGraphicFramePr>
          <p:cNvPr id="70660" name="Object 4">
            <a:extLst>
              <a:ext uri="{FF2B5EF4-FFF2-40B4-BE49-F238E27FC236}">
                <a16:creationId xmlns:a16="http://schemas.microsoft.com/office/drawing/2014/main" id="{2E854724-FCDA-F020-C57F-7108A84F0EF6}"/>
              </a:ext>
            </a:extLst>
          </p:cNvPr>
          <p:cNvGraphicFramePr>
            <a:graphicFrameLocks/>
          </p:cNvGraphicFramePr>
          <p:nvPr/>
        </p:nvGraphicFramePr>
        <p:xfrm>
          <a:off x="2819400" y="5432425"/>
          <a:ext cx="40386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64472" imgH="215619" progId="Equation.3">
                  <p:embed/>
                </p:oleObj>
              </mc:Choice>
              <mc:Fallback>
                <p:oleObj r:id="rId3" imgW="1864472" imgH="21561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432425"/>
                        <a:ext cx="4038600" cy="46672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E8BB54E9-367C-40AC-B369-506132882249}"/>
              </a:ext>
            </a:extLst>
          </p:cNvPr>
          <p:cNvSpPr/>
          <p:nvPr/>
        </p:nvSpPr>
        <p:spPr>
          <a:xfrm>
            <a:off x="685800" y="4343400"/>
            <a:ext cx="7772400" cy="9906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5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假设输入信号码元</a:t>
            </a:r>
            <a:r>
              <a:rPr lang="en-US" altLang="zh-CN" sz="20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0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 </a:t>
            </a:r>
            <a:r>
              <a:rPr lang="en-US" altLang="zh-CN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的频谱密度函数为</a:t>
            </a:r>
            <a:r>
              <a:rPr lang="en-US" altLang="zh-CN" sz="20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 </a:t>
            </a:r>
            <a:r>
              <a:rPr lang="en-US" altLang="zh-CN" sz="2400" b="1" i="1" dirty="0">
                <a:solidFill>
                  <a:srgbClr val="003399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f </a:t>
            </a:r>
            <a:r>
              <a:rPr lang="en-US" altLang="zh-CN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；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信道高斯白噪声</a:t>
            </a:r>
            <a:r>
              <a:rPr lang="en-US" altLang="zh-CN" sz="24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4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的双边功率谱密度为</a:t>
            </a:r>
            <a:r>
              <a:rPr lang="en-US" altLang="zh-CN" sz="20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400" b="1" baseline="-2500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24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/2</a:t>
            </a:r>
            <a:r>
              <a:rPr lang="zh-CN" altLang="en-US" sz="2000" dirty="0">
                <a:solidFill>
                  <a:srgbClr val="003399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；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滤波器的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  <a:endParaRPr lang="zh-CN" altLang="en-US" sz="20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B63DFBF-181D-2340-21FD-9C16A64D1006}"/>
              </a:ext>
            </a:extLst>
          </p:cNvPr>
          <p:cNvSpPr/>
          <p:nvPr/>
        </p:nvSpPr>
        <p:spPr>
          <a:xfrm>
            <a:off x="1074738" y="6051550"/>
            <a:ext cx="1211262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4" dur="10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2" grpId="0" animBg="1"/>
      <p:bldP spid="12301" grpId="0" animBg="1"/>
      <p:bldP spid="12305" grpId="0"/>
      <p:bldP spid="12300" grpId="0" animBg="1"/>
      <p:bldP spid="13" grpId="0"/>
      <p:bldP spid="18" grpId="0" animBg="1"/>
      <p:bldP spid="18" grpId="1" animBg="1"/>
      <p:bldP spid="19" grpId="0"/>
      <p:bldP spid="12306" grpId="0"/>
      <p:bldP spid="12306" grpId="1"/>
      <p:bldP spid="23" grpId="0"/>
      <p:bldP spid="2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5">
            <a:extLst>
              <a:ext uri="{FF2B5EF4-FFF2-40B4-BE49-F238E27FC236}">
                <a16:creationId xmlns:a16="http://schemas.microsoft.com/office/drawing/2014/main" id="{B91E13AB-BEE7-936C-D913-4A91B7EA8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12642" name="Rectangle 7">
            <a:extLst>
              <a:ext uri="{FF2B5EF4-FFF2-40B4-BE49-F238E27FC236}">
                <a16:creationId xmlns:a16="http://schemas.microsoft.com/office/drawing/2014/main" id="{EAD2E92F-9409-9546-D044-AD974E931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12643" name="Rectangle 9">
            <a:extLst>
              <a:ext uri="{FF2B5EF4-FFF2-40B4-BE49-F238E27FC236}">
                <a16:creationId xmlns:a16="http://schemas.microsoft.com/office/drawing/2014/main" id="{C2346F95-DC6D-81E0-742D-480A6A105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12644" name="Rectangle 11">
            <a:extLst>
              <a:ext uri="{FF2B5EF4-FFF2-40B4-BE49-F238E27FC236}">
                <a16:creationId xmlns:a16="http://schemas.microsoft.com/office/drawing/2014/main" id="{C1BC42BC-BB90-8D32-FE4A-10F7F715E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46082" name="Object 16">
            <a:extLst>
              <a:ext uri="{FF2B5EF4-FFF2-40B4-BE49-F238E27FC236}">
                <a16:creationId xmlns:a16="http://schemas.microsoft.com/office/drawing/2014/main" id="{796BDF2D-B59D-54D7-AC87-D0CABF7F81B7}"/>
              </a:ext>
            </a:extLst>
          </p:cNvPr>
          <p:cNvGraphicFramePr>
            <a:graphicFrameLocks/>
          </p:cNvGraphicFramePr>
          <p:nvPr/>
        </p:nvGraphicFramePr>
        <p:xfrm>
          <a:off x="2079625" y="2106613"/>
          <a:ext cx="59213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08594" imgH="330057" progId="Equation.DSMT4">
                  <p:embed/>
                </p:oleObj>
              </mc:Choice>
              <mc:Fallback>
                <p:oleObj r:id="rId2" imgW="3008594" imgH="330057" progId="Equation.DSMT4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2106613"/>
                        <a:ext cx="5921375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6F96A2BE-DCE3-5C4D-4986-89CC78271CA5}"/>
              </a:ext>
            </a:extLst>
          </p:cNvPr>
          <p:cNvSpPr/>
          <p:nvPr/>
        </p:nvSpPr>
        <p:spPr>
          <a:xfrm>
            <a:off x="708025" y="1676400"/>
            <a:ext cx="24923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输出信号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FCEBB1-7495-FDD4-22A8-B34A89429C63}"/>
              </a:ext>
            </a:extLst>
          </p:cNvPr>
          <p:cNvSpPr/>
          <p:nvPr/>
        </p:nvSpPr>
        <p:spPr>
          <a:xfrm>
            <a:off x="688975" y="2971800"/>
            <a:ext cx="274955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输出噪声平均功率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46092" name="矩形 21">
            <a:extLst>
              <a:ext uri="{FF2B5EF4-FFF2-40B4-BE49-F238E27FC236}">
                <a16:creationId xmlns:a16="http://schemas.microsoft.com/office/drawing/2014/main" id="{FC5E4292-4AE8-3730-AB5D-748BB7F90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419600"/>
            <a:ext cx="7608887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因此，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抽样时刻 </a:t>
            </a:r>
            <a:r>
              <a:rPr kumimoji="1" lang="en-US" altLang="zh-CN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1" lang="en-US" altLang="zh-CN" sz="24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上，输出信号瞬时功率与噪声平均功率之比</a:t>
            </a: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000" dirty="0">
              <a:cs typeface="Arial" panose="020B0604020202020204" pitchFamily="34" charset="0"/>
            </a:endParaRP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0DD92AC0-88AC-9BDE-1470-43DF722456D8}"/>
              </a:ext>
            </a:extLst>
          </p:cNvPr>
          <p:cNvGraphicFramePr>
            <a:graphicFrameLocks/>
          </p:cNvGraphicFramePr>
          <p:nvPr/>
        </p:nvGraphicFramePr>
        <p:xfrm>
          <a:off x="3095625" y="1143000"/>
          <a:ext cx="3762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79600" imgH="228600" progId="Equation.3">
                  <p:embed/>
                </p:oleObj>
              </mc:Choice>
              <mc:Fallback>
                <p:oleObj r:id="rId4" imgW="1879600" imgH="2286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1143000"/>
                        <a:ext cx="37623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3A7ADD2-F8CB-A017-87F6-F38341D21DAF}"/>
              </a:ext>
            </a:extLst>
          </p:cNvPr>
          <p:cNvCxnSpPr/>
          <p:nvPr/>
        </p:nvCxnSpPr>
        <p:spPr bwMode="auto">
          <a:xfrm>
            <a:off x="3948113" y="1600200"/>
            <a:ext cx="5334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3ED3C59-755A-CB0A-5E83-2A61D96D9AD2}"/>
              </a:ext>
            </a:extLst>
          </p:cNvPr>
          <p:cNvCxnSpPr/>
          <p:nvPr/>
        </p:nvCxnSpPr>
        <p:spPr bwMode="auto">
          <a:xfrm>
            <a:off x="4800600" y="1600200"/>
            <a:ext cx="5334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37905" name="Picture 17">
            <a:extLst>
              <a:ext uri="{FF2B5EF4-FFF2-40B4-BE49-F238E27FC236}">
                <a16:creationId xmlns:a16="http://schemas.microsoft.com/office/drawing/2014/main" id="{89D3B315-96BD-646E-F4A0-241169738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47"/>
          <a:stretch>
            <a:fillRect/>
          </a:stretch>
        </p:blipFill>
        <p:spPr bwMode="auto">
          <a:xfrm>
            <a:off x="2216150" y="4940300"/>
            <a:ext cx="5114925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0354EE-45E4-4445-1482-58609D8B7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029"/>
          <a:stretch>
            <a:fillRect/>
          </a:stretch>
        </p:blipFill>
        <p:spPr bwMode="auto">
          <a:xfrm>
            <a:off x="2257425" y="3384550"/>
            <a:ext cx="5114925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4609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10" name="Object 17">
            <a:extLst>
              <a:ext uri="{FF2B5EF4-FFF2-40B4-BE49-F238E27FC236}">
                <a16:creationId xmlns:a16="http://schemas.microsoft.com/office/drawing/2014/main" id="{60D87F23-2BF3-BEEC-38A2-16031E0DC6BC}"/>
              </a:ext>
            </a:extLst>
          </p:cNvPr>
          <p:cNvGraphicFramePr>
            <a:graphicFrameLocks/>
          </p:cNvGraphicFramePr>
          <p:nvPr/>
        </p:nvGraphicFramePr>
        <p:xfrm>
          <a:off x="1905000" y="5002213"/>
          <a:ext cx="4922838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01900" imgH="698500" progId="Equation.DSMT4">
                  <p:embed/>
                </p:oleObj>
              </mc:Choice>
              <mc:Fallback>
                <p:oleObj r:id="rId2" imgW="2501900" imgH="698500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002213"/>
                        <a:ext cx="4922838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66" name="Rectangle 5">
            <a:extLst>
              <a:ext uri="{FF2B5EF4-FFF2-40B4-BE49-F238E27FC236}">
                <a16:creationId xmlns:a16="http://schemas.microsoft.com/office/drawing/2014/main" id="{2FA08099-AAE0-0670-0233-EFDF6F8C9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13667" name="Rectangle 7">
            <a:extLst>
              <a:ext uri="{FF2B5EF4-FFF2-40B4-BE49-F238E27FC236}">
                <a16:creationId xmlns:a16="http://schemas.microsoft.com/office/drawing/2014/main" id="{BDC4DEE7-C50F-A611-5520-3EB16C01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14342" name="Object 6">
            <a:extLst>
              <a:ext uri="{FF2B5EF4-FFF2-40B4-BE49-F238E27FC236}">
                <a16:creationId xmlns:a16="http://schemas.microsoft.com/office/drawing/2014/main" id="{125E89B4-4B60-F19C-DE3A-A0DED027C88D}"/>
              </a:ext>
            </a:extLst>
          </p:cNvPr>
          <p:cNvGraphicFramePr>
            <a:graphicFrameLocks/>
          </p:cNvGraphicFramePr>
          <p:nvPr/>
        </p:nvGraphicFramePr>
        <p:xfrm>
          <a:off x="1916113" y="2998788"/>
          <a:ext cx="5462587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032667" imgH="406048" progId="Equation.DSMT4">
                  <p:embed/>
                </p:oleObj>
              </mc:Choice>
              <mc:Fallback>
                <p:oleObj r:id="rId4" imgW="3032667" imgH="406048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2998788"/>
                        <a:ext cx="5462587" cy="792162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8B8B8B"/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>
            <a:extLst>
              <a:ext uri="{FF2B5EF4-FFF2-40B4-BE49-F238E27FC236}">
                <a16:creationId xmlns:a16="http://schemas.microsoft.com/office/drawing/2014/main" id="{917025CD-22C2-9DC8-BDBF-95F0391C152A}"/>
              </a:ext>
            </a:extLst>
          </p:cNvPr>
          <p:cNvGraphicFramePr>
            <a:graphicFrameLocks/>
          </p:cNvGraphicFramePr>
          <p:nvPr/>
        </p:nvGraphicFramePr>
        <p:xfrm>
          <a:off x="4343400" y="533400"/>
          <a:ext cx="74453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93359" imgH="203024" progId="Equation.DSMT4">
                  <p:embed/>
                </p:oleObj>
              </mc:Choice>
              <mc:Fallback>
                <p:oleObj r:id="rId6" imgW="393359" imgH="203024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33400"/>
                        <a:ext cx="744538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>
            <a:extLst>
              <a:ext uri="{FF2B5EF4-FFF2-40B4-BE49-F238E27FC236}">
                <a16:creationId xmlns:a16="http://schemas.microsoft.com/office/drawing/2014/main" id="{2E0F3A00-7672-4C23-F3F2-51AB016E7060}"/>
              </a:ext>
            </a:extLst>
          </p:cNvPr>
          <p:cNvGraphicFramePr>
            <a:graphicFrameLocks/>
          </p:cNvGraphicFramePr>
          <p:nvPr/>
        </p:nvGraphicFramePr>
        <p:xfrm>
          <a:off x="5368925" y="482600"/>
          <a:ext cx="72866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55292" imgH="203024" progId="Equation.DSMT4">
                  <p:embed/>
                </p:oleObj>
              </mc:Choice>
              <mc:Fallback>
                <p:oleObj r:id="rId8" imgW="355292" imgH="203024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8925" y="482600"/>
                        <a:ext cx="72866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Text Box 12">
            <a:extLst>
              <a:ext uri="{FF2B5EF4-FFF2-40B4-BE49-F238E27FC236}">
                <a16:creationId xmlns:a16="http://schemas.microsoft.com/office/drawing/2014/main" id="{2C283F21-1482-8845-79D7-3B9B510BE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33650"/>
            <a:ext cx="4495800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利用施瓦兹（</a:t>
            </a:r>
            <a:r>
              <a:rPr kumimoji="1"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Schwartz</a:t>
            </a:r>
            <a:r>
              <a:rPr kumimoji="1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不等式：</a:t>
            </a:r>
          </a:p>
        </p:txBody>
      </p:sp>
      <p:sp>
        <p:nvSpPr>
          <p:cNvPr id="14349" name="Text Box 13">
            <a:extLst>
              <a:ext uri="{FF2B5EF4-FFF2-40B4-BE49-F238E27FC236}">
                <a16:creationId xmlns:a16="http://schemas.microsoft.com/office/drawing/2014/main" id="{968EC612-0669-1ACC-1B98-537429E1C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044950"/>
            <a:ext cx="2743200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”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成立的条件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：</a:t>
            </a:r>
          </a:p>
        </p:txBody>
      </p:sp>
      <p:sp>
        <p:nvSpPr>
          <p:cNvPr id="14353" name="AutoShape 17">
            <a:extLst>
              <a:ext uri="{FF2B5EF4-FFF2-40B4-BE49-F238E27FC236}">
                <a16:creationId xmlns:a16="http://schemas.microsoft.com/office/drawing/2014/main" id="{21BE3F6A-108C-290F-CBCC-AB3855864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017588"/>
            <a:ext cx="1371600" cy="609600"/>
          </a:xfrm>
          <a:prstGeom prst="wedgeRoundRectCallout">
            <a:avLst>
              <a:gd name="adj1" fmla="val 8491"/>
              <a:gd name="adj2" fmla="val -81407"/>
              <a:gd name="adj3" fmla="val 16667"/>
            </a:avLst>
          </a:prstGeom>
          <a:noFill/>
          <a:ln w="3175">
            <a:solidFill>
              <a:schemeClr val="accent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eaLnBrk="0" hangingPunct="0"/>
            <a:endParaRPr lang="zh-CN" altLang="zh-CN"/>
          </a:p>
        </p:txBody>
      </p:sp>
      <p:sp>
        <p:nvSpPr>
          <p:cNvPr id="14354" name="AutoShape 18">
            <a:extLst>
              <a:ext uri="{FF2B5EF4-FFF2-40B4-BE49-F238E27FC236}">
                <a16:creationId xmlns:a16="http://schemas.microsoft.com/office/drawing/2014/main" id="{3DFC4A48-2675-894F-8130-5E5D18AF5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1039813"/>
            <a:ext cx="762000" cy="560387"/>
          </a:xfrm>
          <a:prstGeom prst="wedgeRoundRectCallout">
            <a:avLst>
              <a:gd name="adj1" fmla="val -8588"/>
              <a:gd name="adj2" fmla="val -87111"/>
              <a:gd name="adj3" fmla="val 16667"/>
            </a:avLst>
          </a:prstGeom>
          <a:noFill/>
          <a:ln w="3175">
            <a:solidFill>
              <a:srgbClr val="CC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eaLnBrk="0" hangingPunct="0"/>
            <a:endParaRPr lang="zh-CN" altLang="zh-CN"/>
          </a:p>
        </p:txBody>
      </p:sp>
      <p:graphicFrame>
        <p:nvGraphicFramePr>
          <p:cNvPr id="113675" name="Object 16">
            <a:extLst>
              <a:ext uri="{FF2B5EF4-FFF2-40B4-BE49-F238E27FC236}">
                <a16:creationId xmlns:a16="http://schemas.microsoft.com/office/drawing/2014/main" id="{BBBFA6F4-0892-A19D-C2C3-62AC31490BD6}"/>
              </a:ext>
            </a:extLst>
          </p:cNvPr>
          <p:cNvGraphicFramePr>
            <a:graphicFrameLocks/>
          </p:cNvGraphicFramePr>
          <p:nvPr/>
        </p:nvGraphicFramePr>
        <p:xfrm>
          <a:off x="1957388" y="914400"/>
          <a:ext cx="499745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538898" imgH="774364" progId="Equation.DSMT4">
                  <p:embed/>
                </p:oleObj>
              </mc:Choice>
              <mc:Fallback>
                <p:oleObj r:id="rId10" imgW="2538898" imgH="774364" progId="Equation.DSMT4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7388" y="914400"/>
                        <a:ext cx="499745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8" name="椭圆 17">
            <a:extLst>
              <a:ext uri="{FF2B5EF4-FFF2-40B4-BE49-F238E27FC236}">
                <a16:creationId xmlns:a16="http://schemas.microsoft.com/office/drawing/2014/main" id="{AF738E2B-D459-28BA-D376-18C9FB346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5611813"/>
            <a:ext cx="1752600" cy="838200"/>
          </a:xfrm>
          <a:prstGeom prst="ellipse">
            <a:avLst/>
          </a:prstGeom>
          <a:noFill/>
          <a:ln w="9525">
            <a:solidFill>
              <a:srgbClr val="0070C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47119" name="椭圆 18">
            <a:extLst>
              <a:ext uri="{FF2B5EF4-FFF2-40B4-BE49-F238E27FC236}">
                <a16:creationId xmlns:a16="http://schemas.microsoft.com/office/drawing/2014/main" id="{5EE20DD6-8FFB-5B1F-B4A6-0EB349BEF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876800"/>
            <a:ext cx="1752600" cy="838200"/>
          </a:xfrm>
          <a:prstGeom prst="ellipse">
            <a:avLst/>
          </a:prstGeom>
          <a:noFill/>
          <a:ln w="9525">
            <a:solidFill>
              <a:srgbClr val="0070C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20" name="Object 18">
            <a:extLst>
              <a:ext uri="{FF2B5EF4-FFF2-40B4-BE49-F238E27FC236}">
                <a16:creationId xmlns:a16="http://schemas.microsoft.com/office/drawing/2014/main" id="{76727A23-865B-9347-4C85-951F2171C7A3}"/>
              </a:ext>
            </a:extLst>
          </p:cNvPr>
          <p:cNvGraphicFramePr>
            <a:graphicFrameLocks/>
          </p:cNvGraphicFramePr>
          <p:nvPr/>
        </p:nvGraphicFramePr>
        <p:xfrm>
          <a:off x="4597400" y="4051300"/>
          <a:ext cx="20288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990170" imgH="228501" progId="Equation.DSMT4">
                  <p:embed/>
                </p:oleObj>
              </mc:Choice>
              <mc:Fallback>
                <p:oleObj r:id="rId12" imgW="990170" imgH="228501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400" y="4051300"/>
                        <a:ext cx="20288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10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0" dur="10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8" grpId="0"/>
      <p:bldP spid="14349" grpId="0"/>
      <p:bldP spid="14353" grpId="0" animBg="1"/>
      <p:bldP spid="14354" grpId="0" animBg="1"/>
      <p:bldP spid="47118" grpId="0" animBg="1"/>
      <p:bldP spid="471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5">
            <a:extLst>
              <a:ext uri="{FF2B5EF4-FFF2-40B4-BE49-F238E27FC236}">
                <a16:creationId xmlns:a16="http://schemas.microsoft.com/office/drawing/2014/main" id="{AEA770FF-EEA6-5681-8861-10F6E4A24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14690" name="Rectangle 7">
            <a:extLst>
              <a:ext uri="{FF2B5EF4-FFF2-40B4-BE49-F238E27FC236}">
                <a16:creationId xmlns:a16="http://schemas.microsoft.com/office/drawing/2014/main" id="{3DA37DE1-9F75-6E87-2650-EE69D965B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14691" name="Rectangle 9">
            <a:extLst>
              <a:ext uri="{FF2B5EF4-FFF2-40B4-BE49-F238E27FC236}">
                <a16:creationId xmlns:a16="http://schemas.microsoft.com/office/drawing/2014/main" id="{660D60BE-410C-772B-9FEF-7CBFED01C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14692" name="Rectangle 11">
            <a:extLst>
              <a:ext uri="{FF2B5EF4-FFF2-40B4-BE49-F238E27FC236}">
                <a16:creationId xmlns:a16="http://schemas.microsoft.com/office/drawing/2014/main" id="{2A353512-E8A4-808F-EC88-EC5698C6B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15377" name="Object 17">
            <a:extLst>
              <a:ext uri="{FF2B5EF4-FFF2-40B4-BE49-F238E27FC236}">
                <a16:creationId xmlns:a16="http://schemas.microsoft.com/office/drawing/2014/main" id="{51A8967F-49D7-C71F-12BA-55BC2EDC51CE}"/>
              </a:ext>
            </a:extLst>
          </p:cNvPr>
          <p:cNvGraphicFramePr>
            <a:graphicFrameLocks/>
          </p:cNvGraphicFramePr>
          <p:nvPr/>
        </p:nvGraphicFramePr>
        <p:xfrm>
          <a:off x="3352800" y="4267200"/>
          <a:ext cx="1562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72808" imgH="431613" progId="Equation.DSMT4">
                  <p:embed/>
                </p:oleObj>
              </mc:Choice>
              <mc:Fallback>
                <p:oleObj r:id="rId2" imgW="672808" imgH="431613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267200"/>
                        <a:ext cx="1562100" cy="9144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8" name="Object 18">
            <a:extLst>
              <a:ext uri="{FF2B5EF4-FFF2-40B4-BE49-F238E27FC236}">
                <a16:creationId xmlns:a16="http://schemas.microsoft.com/office/drawing/2014/main" id="{EEAB149D-D8E2-E36C-04AF-C782B5271A1F}"/>
              </a:ext>
            </a:extLst>
          </p:cNvPr>
          <p:cNvGraphicFramePr>
            <a:graphicFrameLocks/>
          </p:cNvGraphicFramePr>
          <p:nvPr/>
        </p:nvGraphicFramePr>
        <p:xfrm>
          <a:off x="2605088" y="3352800"/>
          <a:ext cx="31623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22400" imgH="228600" progId="Equation.DSMT4">
                  <p:embed/>
                </p:oleObj>
              </mc:Choice>
              <mc:Fallback>
                <p:oleObj r:id="rId4" imgW="1422400" imgH="228600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3352800"/>
                        <a:ext cx="3162300" cy="50958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9" name="Rectangle 19">
            <a:extLst>
              <a:ext uri="{FF2B5EF4-FFF2-40B4-BE49-F238E27FC236}">
                <a16:creationId xmlns:a16="http://schemas.microsoft.com/office/drawing/2014/main" id="{46CC0C7D-E74C-AD25-0867-4E92F4622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3276600"/>
            <a:ext cx="121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当且仅当</a:t>
            </a:r>
          </a:p>
        </p:txBody>
      </p:sp>
      <p:graphicFrame>
        <p:nvGraphicFramePr>
          <p:cNvPr id="48132" name="Object 19">
            <a:extLst>
              <a:ext uri="{FF2B5EF4-FFF2-40B4-BE49-F238E27FC236}">
                <a16:creationId xmlns:a16="http://schemas.microsoft.com/office/drawing/2014/main" id="{4ED7997D-F71B-CBD3-EAE7-18E458415E77}"/>
              </a:ext>
            </a:extLst>
          </p:cNvPr>
          <p:cNvGraphicFramePr>
            <a:graphicFrameLocks/>
          </p:cNvGraphicFramePr>
          <p:nvPr/>
        </p:nvGraphicFramePr>
        <p:xfrm>
          <a:off x="2005013" y="1101725"/>
          <a:ext cx="23241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80588" imgH="545863" progId="Equation.DSMT4">
                  <p:embed/>
                </p:oleObj>
              </mc:Choice>
              <mc:Fallback>
                <p:oleObj r:id="rId6" imgW="1180588" imgH="545863" progId="Equation.DSMT4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3" y="1101725"/>
                        <a:ext cx="232410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5C717012-EC1F-DFB1-8CD7-CB651A5BBE65}"/>
              </a:ext>
            </a:extLst>
          </p:cNvPr>
          <p:cNvSpPr/>
          <p:nvPr/>
        </p:nvSpPr>
        <p:spPr>
          <a:xfrm>
            <a:off x="658813" y="2362200"/>
            <a:ext cx="95408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式中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</a:p>
        </p:txBody>
      </p:sp>
      <p:graphicFrame>
        <p:nvGraphicFramePr>
          <p:cNvPr id="48133" name="Object 20">
            <a:extLst>
              <a:ext uri="{FF2B5EF4-FFF2-40B4-BE49-F238E27FC236}">
                <a16:creationId xmlns:a16="http://schemas.microsoft.com/office/drawing/2014/main" id="{5FA92C49-D316-0EC6-DCFF-A6EBE3D8CCE9}"/>
              </a:ext>
            </a:extLst>
          </p:cNvPr>
          <p:cNvGraphicFramePr>
            <a:graphicFrameLocks/>
          </p:cNvGraphicFramePr>
          <p:nvPr/>
        </p:nvGraphicFramePr>
        <p:xfrm>
          <a:off x="1758950" y="2312988"/>
          <a:ext cx="38798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069202" imgH="330057" progId="Equation.DSMT4">
                  <p:embed/>
                </p:oleObj>
              </mc:Choice>
              <mc:Fallback>
                <p:oleObj r:id="rId8" imgW="2069202" imgH="330057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950" y="2312988"/>
                        <a:ext cx="3879850" cy="619125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>
            <a:extLst>
              <a:ext uri="{FF2B5EF4-FFF2-40B4-BE49-F238E27FC236}">
                <a16:creationId xmlns:a16="http://schemas.microsoft.com/office/drawing/2014/main" id="{425A4614-89E5-3D17-5817-178EC3E00B9A}"/>
              </a:ext>
            </a:extLst>
          </p:cNvPr>
          <p:cNvGraphicFramePr>
            <a:graphicFrameLocks/>
          </p:cNvGraphicFramePr>
          <p:nvPr/>
        </p:nvGraphicFramePr>
        <p:xfrm>
          <a:off x="4724400" y="1284288"/>
          <a:ext cx="1524000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74364" imgH="431613" progId="Equation.DSMT4">
                  <p:embed/>
                </p:oleObj>
              </mc:Choice>
              <mc:Fallback>
                <p:oleObj r:id="rId10" imgW="774364" imgH="431613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284288"/>
                        <a:ext cx="1524000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23">
            <a:extLst>
              <a:ext uri="{FF2B5EF4-FFF2-40B4-BE49-F238E27FC236}">
                <a16:creationId xmlns:a16="http://schemas.microsoft.com/office/drawing/2014/main" id="{C86E96AF-8C24-B944-83C1-AD47F5C69506}"/>
              </a:ext>
            </a:extLst>
          </p:cNvPr>
          <p:cNvGraphicFramePr>
            <a:graphicFrameLocks/>
          </p:cNvGraphicFramePr>
          <p:nvPr/>
        </p:nvGraphicFramePr>
        <p:xfrm>
          <a:off x="6629400" y="3429000"/>
          <a:ext cx="1519238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888229" imgH="203024" progId="Equation.DSMT4">
                  <p:embed/>
                </p:oleObj>
              </mc:Choice>
              <mc:Fallback>
                <p:oleObj r:id="rId12" imgW="888229" imgH="203024" progId="Equation.DSMT4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429000"/>
                        <a:ext cx="1519238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24">
            <a:extLst>
              <a:ext uri="{FF2B5EF4-FFF2-40B4-BE49-F238E27FC236}">
                <a16:creationId xmlns:a16="http://schemas.microsoft.com/office/drawing/2014/main" id="{596234DF-7725-6C31-DECF-708C36AB13C2}"/>
              </a:ext>
            </a:extLst>
          </p:cNvPr>
          <p:cNvGraphicFramePr>
            <a:graphicFrameLocks/>
          </p:cNvGraphicFramePr>
          <p:nvPr/>
        </p:nvGraphicFramePr>
        <p:xfrm>
          <a:off x="6629400" y="3886200"/>
          <a:ext cx="2019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180588" imgH="228501" progId="Equation.DSMT4">
                  <p:embed/>
                </p:oleObj>
              </mc:Choice>
              <mc:Fallback>
                <p:oleObj r:id="rId14" imgW="1180588" imgH="228501" progId="Equation.DSMT4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886200"/>
                        <a:ext cx="2019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9">
            <a:extLst>
              <a:ext uri="{FF2B5EF4-FFF2-40B4-BE49-F238E27FC236}">
                <a16:creationId xmlns:a16="http://schemas.microsoft.com/office/drawing/2014/main" id="{AB887EFE-452D-5955-573A-D20D4BE53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191000"/>
            <a:ext cx="2238375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zh-CN" altLang="en-US" sz="20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</a:t>
            </a:r>
            <a:r>
              <a:rPr kumimoji="1" lang="zh-CN" altLang="en-US" sz="20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最大信噪比</a:t>
            </a:r>
            <a:r>
              <a:rPr kumimoji="1" lang="zh-CN" altLang="en-US" sz="2000" b="1" dirty="0">
                <a:solidFill>
                  <a:srgbClr val="003399"/>
                </a:solidFill>
                <a:latin typeface="+mn-ea"/>
                <a:ea typeface="+mn-ea"/>
              </a:rPr>
              <a:t>：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00A65F1-0BC4-BAB4-B45A-9EBA59D1809C}"/>
              </a:ext>
            </a:extLst>
          </p:cNvPr>
          <p:cNvSpPr/>
          <p:nvPr/>
        </p:nvSpPr>
        <p:spPr>
          <a:xfrm>
            <a:off x="609600" y="5395913"/>
            <a:ext cx="7924800" cy="1016000"/>
          </a:xfrm>
          <a:prstGeom prst="rect">
            <a:avLst/>
          </a:prstGeom>
          <a:solidFill>
            <a:srgbClr val="E8E8E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600"/>
              </a:lnSpc>
              <a:defRPr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H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即为最佳接收滤波器的传输特性。它等于输入信号码元频谱</a:t>
            </a:r>
            <a:r>
              <a:rPr kumimoji="1" lang="en-US" altLang="zh-CN" sz="2000" b="1" i="1" dirty="0">
                <a:solidFill>
                  <a:srgbClr val="003399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S</a:t>
            </a:r>
            <a:r>
              <a:rPr kumimoji="1" lang="en-US" altLang="zh-CN" sz="2000" b="1" dirty="0">
                <a:solidFill>
                  <a:srgbClr val="003399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(</a:t>
            </a:r>
            <a:r>
              <a:rPr kumimoji="1" lang="en-US" altLang="zh-CN" sz="2400" b="1" i="1" dirty="0">
                <a:solidFill>
                  <a:srgbClr val="003399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f </a:t>
            </a:r>
            <a:r>
              <a:rPr kumimoji="1" lang="en-US" altLang="zh-CN" sz="2000" b="1" dirty="0">
                <a:solidFill>
                  <a:srgbClr val="003399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endParaRPr lang="en-US" altLang="zh-CN" sz="20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3600"/>
              </a:lnSpc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的复共軛。故称此滤波器为</a:t>
            </a:r>
            <a:r>
              <a:rPr lang="zh-CN" altLang="en-US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匹配滤波器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15382" name="AutoShape 22">
            <a:extLst>
              <a:ext uri="{FF2B5EF4-FFF2-40B4-BE49-F238E27FC236}">
                <a16:creationId xmlns:a16="http://schemas.microsoft.com/office/drawing/2014/main" id="{2C401FA4-A836-39EC-89CD-7411B2BD2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828800"/>
            <a:ext cx="2286000" cy="1295400"/>
          </a:xfrm>
          <a:prstGeom prst="cloudCallout">
            <a:avLst>
              <a:gd name="adj1" fmla="val -85817"/>
              <a:gd name="adj2" fmla="val 10663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0" hangingPunct="0">
              <a:lnSpc>
                <a:spcPts val="2900"/>
              </a:lnSpc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输入信号码元的能量</a:t>
            </a:r>
            <a:endParaRPr kumimoji="1"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>
              <a:defRPr/>
            </a:pP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02FB4F-B458-8D84-9DC3-3CC8CEBB2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0738" y="4419600"/>
            <a:ext cx="121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ea typeface="微软雅黑" panose="020B0503020204020204" pitchFamily="34" charset="-122"/>
              </a:rPr>
              <a:t>互为共轭</a:t>
            </a:r>
            <a:endParaRPr lang="zh-CN" altLang="en-US">
              <a:ea typeface="微软雅黑" panose="020B0503020204020204" pitchFamily="34" charset="-122"/>
            </a:endParaRPr>
          </a:p>
        </p:txBody>
      </p:sp>
      <p:grpSp>
        <p:nvGrpSpPr>
          <p:cNvPr id="2" name="组合 18">
            <a:extLst>
              <a:ext uri="{FF2B5EF4-FFF2-40B4-BE49-F238E27FC236}">
                <a16:creationId xmlns:a16="http://schemas.microsoft.com/office/drawing/2014/main" id="{1DE3F932-8793-D52E-7BAD-A54C2B6E8CE9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3657600"/>
            <a:ext cx="304800" cy="533400"/>
            <a:chOff x="6434215" y="488963"/>
            <a:chExt cx="1149436" cy="2160175"/>
          </a:xfrm>
        </p:grpSpPr>
        <p:sp>
          <p:nvSpPr>
            <p:cNvPr id="114707" name="Freeform 10">
              <a:extLst>
                <a:ext uri="{FF2B5EF4-FFF2-40B4-BE49-F238E27FC236}">
                  <a16:creationId xmlns:a16="http://schemas.microsoft.com/office/drawing/2014/main" id="{0C63368F-18C4-7821-D5A8-258F2E6787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68405" flipH="1" flipV="1">
              <a:off x="6434215" y="706126"/>
              <a:ext cx="1149436" cy="1943012"/>
            </a:xfrm>
            <a:custGeom>
              <a:avLst/>
              <a:gdLst>
                <a:gd name="T0" fmla="*/ 464 w 1612"/>
                <a:gd name="T1" fmla="*/ 966 h 1618"/>
                <a:gd name="T2" fmla="*/ 378 w 1612"/>
                <a:gd name="T3" fmla="*/ 822 h 1618"/>
                <a:gd name="T4" fmla="*/ 310 w 1612"/>
                <a:gd name="T5" fmla="*/ 690 h 1618"/>
                <a:gd name="T6" fmla="*/ 256 w 1612"/>
                <a:gd name="T7" fmla="*/ 572 h 1618"/>
                <a:gd name="T8" fmla="*/ 214 w 1612"/>
                <a:gd name="T9" fmla="*/ 472 h 1618"/>
                <a:gd name="T10" fmla="*/ 166 w 1612"/>
                <a:gd name="T11" fmla="*/ 328 h 1618"/>
                <a:gd name="T12" fmla="*/ 152 w 1612"/>
                <a:gd name="T13" fmla="*/ 276 h 1618"/>
                <a:gd name="T14" fmla="*/ 34 w 1612"/>
                <a:gd name="T15" fmla="*/ 0 h 1618"/>
                <a:gd name="T16" fmla="*/ 82 w 1612"/>
                <a:gd name="T17" fmla="*/ 294 h 1618"/>
                <a:gd name="T18" fmla="*/ 98 w 1612"/>
                <a:gd name="T19" fmla="*/ 350 h 1618"/>
                <a:gd name="T20" fmla="*/ 152 w 1612"/>
                <a:gd name="T21" fmla="*/ 500 h 1618"/>
                <a:gd name="T22" fmla="*/ 200 w 1612"/>
                <a:gd name="T23" fmla="*/ 604 h 1618"/>
                <a:gd name="T24" fmla="*/ 260 w 1612"/>
                <a:gd name="T25" fmla="*/ 722 h 1618"/>
                <a:gd name="T26" fmla="*/ 336 w 1612"/>
                <a:gd name="T27" fmla="*/ 856 h 1618"/>
                <a:gd name="T28" fmla="*/ 430 w 1612"/>
                <a:gd name="T29" fmla="*/ 998 h 1618"/>
                <a:gd name="T30" fmla="*/ 514 w 1612"/>
                <a:gd name="T31" fmla="*/ 1104 h 1618"/>
                <a:gd name="T32" fmla="*/ 602 w 1612"/>
                <a:gd name="T33" fmla="*/ 1196 h 1618"/>
                <a:gd name="T34" fmla="*/ 696 w 1612"/>
                <a:gd name="T35" fmla="*/ 1278 h 1618"/>
                <a:gd name="T36" fmla="*/ 794 w 1612"/>
                <a:gd name="T37" fmla="*/ 1348 h 1618"/>
                <a:gd name="T38" fmla="*/ 892 w 1612"/>
                <a:gd name="T39" fmla="*/ 1408 h 1618"/>
                <a:gd name="T40" fmla="*/ 990 w 1612"/>
                <a:gd name="T41" fmla="*/ 1458 h 1618"/>
                <a:gd name="T42" fmla="*/ 1086 w 1612"/>
                <a:gd name="T43" fmla="*/ 1500 h 1618"/>
                <a:gd name="T44" fmla="*/ 1180 w 1612"/>
                <a:gd name="T45" fmla="*/ 1534 h 1618"/>
                <a:gd name="T46" fmla="*/ 1268 w 1612"/>
                <a:gd name="T47" fmla="*/ 1560 h 1618"/>
                <a:gd name="T48" fmla="*/ 1424 w 1612"/>
                <a:gd name="T49" fmla="*/ 1596 h 1618"/>
                <a:gd name="T50" fmla="*/ 1540 w 1612"/>
                <a:gd name="T51" fmla="*/ 1612 h 1618"/>
                <a:gd name="T52" fmla="*/ 1612 w 1612"/>
                <a:gd name="T53" fmla="*/ 1618 h 1618"/>
                <a:gd name="T54" fmla="*/ 1540 w 1612"/>
                <a:gd name="T55" fmla="*/ 1612 h 1618"/>
                <a:gd name="T56" fmla="*/ 1426 w 1612"/>
                <a:gd name="T57" fmla="*/ 1594 h 1618"/>
                <a:gd name="T58" fmla="*/ 1274 w 1612"/>
                <a:gd name="T59" fmla="*/ 1558 h 1618"/>
                <a:gd name="T60" fmla="*/ 1186 w 1612"/>
                <a:gd name="T61" fmla="*/ 1530 h 1618"/>
                <a:gd name="T62" fmla="*/ 1096 w 1612"/>
                <a:gd name="T63" fmla="*/ 1494 h 1618"/>
                <a:gd name="T64" fmla="*/ 1002 w 1612"/>
                <a:gd name="T65" fmla="*/ 1450 h 1618"/>
                <a:gd name="T66" fmla="*/ 906 w 1612"/>
                <a:gd name="T67" fmla="*/ 1398 h 1618"/>
                <a:gd name="T68" fmla="*/ 810 w 1612"/>
                <a:gd name="T69" fmla="*/ 1336 h 1618"/>
                <a:gd name="T70" fmla="*/ 718 w 1612"/>
                <a:gd name="T71" fmla="*/ 1262 h 1618"/>
                <a:gd name="T72" fmla="*/ 626 w 1612"/>
                <a:gd name="T73" fmla="*/ 1176 h 1618"/>
                <a:gd name="T74" fmla="*/ 542 w 1612"/>
                <a:gd name="T75" fmla="*/ 1078 h 1618"/>
                <a:gd name="T76" fmla="*/ 464 w 1612"/>
                <a:gd name="T77" fmla="*/ 966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12" h="1618">
                  <a:moveTo>
                    <a:pt x="464" y="966"/>
                  </a:moveTo>
                  <a:lnTo>
                    <a:pt x="464" y="966"/>
                  </a:lnTo>
                  <a:lnTo>
                    <a:pt x="418" y="892"/>
                  </a:lnTo>
                  <a:lnTo>
                    <a:pt x="378" y="822"/>
                  </a:lnTo>
                  <a:lnTo>
                    <a:pt x="342" y="754"/>
                  </a:lnTo>
                  <a:lnTo>
                    <a:pt x="310" y="690"/>
                  </a:lnTo>
                  <a:lnTo>
                    <a:pt x="280" y="630"/>
                  </a:lnTo>
                  <a:lnTo>
                    <a:pt x="256" y="572"/>
                  </a:lnTo>
                  <a:lnTo>
                    <a:pt x="234" y="520"/>
                  </a:lnTo>
                  <a:lnTo>
                    <a:pt x="214" y="472"/>
                  </a:lnTo>
                  <a:lnTo>
                    <a:pt x="184" y="390"/>
                  </a:lnTo>
                  <a:lnTo>
                    <a:pt x="166" y="328"/>
                  </a:lnTo>
                  <a:lnTo>
                    <a:pt x="156" y="290"/>
                  </a:lnTo>
                  <a:lnTo>
                    <a:pt x="152" y="276"/>
                  </a:lnTo>
                  <a:lnTo>
                    <a:pt x="244" y="300"/>
                  </a:lnTo>
                  <a:lnTo>
                    <a:pt x="34" y="0"/>
                  </a:lnTo>
                  <a:lnTo>
                    <a:pt x="0" y="396"/>
                  </a:lnTo>
                  <a:lnTo>
                    <a:pt x="82" y="294"/>
                  </a:lnTo>
                  <a:lnTo>
                    <a:pt x="86" y="308"/>
                  </a:lnTo>
                  <a:lnTo>
                    <a:pt x="98" y="350"/>
                  </a:lnTo>
                  <a:lnTo>
                    <a:pt x="120" y="414"/>
                  </a:lnTo>
                  <a:lnTo>
                    <a:pt x="152" y="500"/>
                  </a:lnTo>
                  <a:lnTo>
                    <a:pt x="174" y="550"/>
                  </a:lnTo>
                  <a:lnTo>
                    <a:pt x="200" y="604"/>
                  </a:lnTo>
                  <a:lnTo>
                    <a:pt x="228" y="662"/>
                  </a:lnTo>
                  <a:lnTo>
                    <a:pt x="260" y="722"/>
                  </a:lnTo>
                  <a:lnTo>
                    <a:pt x="296" y="788"/>
                  </a:lnTo>
                  <a:lnTo>
                    <a:pt x="336" y="856"/>
                  </a:lnTo>
                  <a:lnTo>
                    <a:pt x="382" y="926"/>
                  </a:lnTo>
                  <a:lnTo>
                    <a:pt x="430" y="998"/>
                  </a:lnTo>
                  <a:lnTo>
                    <a:pt x="472" y="1052"/>
                  </a:lnTo>
                  <a:lnTo>
                    <a:pt x="514" y="1104"/>
                  </a:lnTo>
                  <a:lnTo>
                    <a:pt x="558" y="1152"/>
                  </a:lnTo>
                  <a:lnTo>
                    <a:pt x="602" y="1196"/>
                  </a:lnTo>
                  <a:lnTo>
                    <a:pt x="650" y="1238"/>
                  </a:lnTo>
                  <a:lnTo>
                    <a:pt x="696" y="1278"/>
                  </a:lnTo>
                  <a:lnTo>
                    <a:pt x="744" y="1314"/>
                  </a:lnTo>
                  <a:lnTo>
                    <a:pt x="794" y="1348"/>
                  </a:lnTo>
                  <a:lnTo>
                    <a:pt x="842" y="1380"/>
                  </a:lnTo>
                  <a:lnTo>
                    <a:pt x="892" y="1408"/>
                  </a:lnTo>
                  <a:lnTo>
                    <a:pt x="942" y="1434"/>
                  </a:lnTo>
                  <a:lnTo>
                    <a:pt x="990" y="1458"/>
                  </a:lnTo>
                  <a:lnTo>
                    <a:pt x="1038" y="1480"/>
                  </a:lnTo>
                  <a:lnTo>
                    <a:pt x="1086" y="1500"/>
                  </a:lnTo>
                  <a:lnTo>
                    <a:pt x="1134" y="1518"/>
                  </a:lnTo>
                  <a:lnTo>
                    <a:pt x="1180" y="1534"/>
                  </a:lnTo>
                  <a:lnTo>
                    <a:pt x="1224" y="1548"/>
                  </a:lnTo>
                  <a:lnTo>
                    <a:pt x="1268" y="1560"/>
                  </a:lnTo>
                  <a:lnTo>
                    <a:pt x="1350" y="1580"/>
                  </a:lnTo>
                  <a:lnTo>
                    <a:pt x="1424" y="1596"/>
                  </a:lnTo>
                  <a:lnTo>
                    <a:pt x="1486" y="1606"/>
                  </a:lnTo>
                  <a:lnTo>
                    <a:pt x="1540" y="1612"/>
                  </a:lnTo>
                  <a:lnTo>
                    <a:pt x="1578" y="1616"/>
                  </a:lnTo>
                  <a:lnTo>
                    <a:pt x="1612" y="1618"/>
                  </a:lnTo>
                  <a:lnTo>
                    <a:pt x="1580" y="1616"/>
                  </a:lnTo>
                  <a:lnTo>
                    <a:pt x="1540" y="1612"/>
                  </a:lnTo>
                  <a:lnTo>
                    <a:pt x="1488" y="1606"/>
                  </a:lnTo>
                  <a:lnTo>
                    <a:pt x="1426" y="1594"/>
                  </a:lnTo>
                  <a:lnTo>
                    <a:pt x="1354" y="1578"/>
                  </a:lnTo>
                  <a:lnTo>
                    <a:pt x="1274" y="1558"/>
                  </a:lnTo>
                  <a:lnTo>
                    <a:pt x="1230" y="1544"/>
                  </a:lnTo>
                  <a:lnTo>
                    <a:pt x="1186" y="1530"/>
                  </a:lnTo>
                  <a:lnTo>
                    <a:pt x="1142" y="1512"/>
                  </a:lnTo>
                  <a:lnTo>
                    <a:pt x="1096" y="1494"/>
                  </a:lnTo>
                  <a:lnTo>
                    <a:pt x="1048" y="1474"/>
                  </a:lnTo>
                  <a:lnTo>
                    <a:pt x="1002" y="1450"/>
                  </a:lnTo>
                  <a:lnTo>
                    <a:pt x="954" y="1426"/>
                  </a:lnTo>
                  <a:lnTo>
                    <a:pt x="906" y="1398"/>
                  </a:lnTo>
                  <a:lnTo>
                    <a:pt x="858" y="1368"/>
                  </a:lnTo>
                  <a:lnTo>
                    <a:pt x="810" y="1336"/>
                  </a:lnTo>
                  <a:lnTo>
                    <a:pt x="764" y="1300"/>
                  </a:lnTo>
                  <a:lnTo>
                    <a:pt x="718" y="1262"/>
                  </a:lnTo>
                  <a:lnTo>
                    <a:pt x="672" y="1220"/>
                  </a:lnTo>
                  <a:lnTo>
                    <a:pt x="626" y="1176"/>
                  </a:lnTo>
                  <a:lnTo>
                    <a:pt x="584" y="1128"/>
                  </a:lnTo>
                  <a:lnTo>
                    <a:pt x="542" y="1078"/>
                  </a:lnTo>
                  <a:lnTo>
                    <a:pt x="502" y="1024"/>
                  </a:lnTo>
                  <a:lnTo>
                    <a:pt x="464" y="966"/>
                  </a:lnTo>
                  <a:close/>
                </a:path>
              </a:pathLst>
            </a:custGeom>
            <a:solidFill>
              <a:srgbClr val="99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08" name="Freeform 10">
              <a:extLst>
                <a:ext uri="{FF2B5EF4-FFF2-40B4-BE49-F238E27FC236}">
                  <a16:creationId xmlns:a16="http://schemas.microsoft.com/office/drawing/2014/main" id="{A722EB23-B3AC-711E-8A02-0BDE8CE9B8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75293" flipV="1">
              <a:off x="6581068" y="488963"/>
              <a:ext cx="946874" cy="1943012"/>
            </a:xfrm>
            <a:custGeom>
              <a:avLst/>
              <a:gdLst>
                <a:gd name="T0" fmla="*/ 464 w 1612"/>
                <a:gd name="T1" fmla="*/ 966 h 1618"/>
                <a:gd name="T2" fmla="*/ 378 w 1612"/>
                <a:gd name="T3" fmla="*/ 822 h 1618"/>
                <a:gd name="T4" fmla="*/ 310 w 1612"/>
                <a:gd name="T5" fmla="*/ 690 h 1618"/>
                <a:gd name="T6" fmla="*/ 256 w 1612"/>
                <a:gd name="T7" fmla="*/ 572 h 1618"/>
                <a:gd name="T8" fmla="*/ 214 w 1612"/>
                <a:gd name="T9" fmla="*/ 472 h 1618"/>
                <a:gd name="T10" fmla="*/ 166 w 1612"/>
                <a:gd name="T11" fmla="*/ 328 h 1618"/>
                <a:gd name="T12" fmla="*/ 152 w 1612"/>
                <a:gd name="T13" fmla="*/ 276 h 1618"/>
                <a:gd name="T14" fmla="*/ 34 w 1612"/>
                <a:gd name="T15" fmla="*/ 0 h 1618"/>
                <a:gd name="T16" fmla="*/ 82 w 1612"/>
                <a:gd name="T17" fmla="*/ 294 h 1618"/>
                <a:gd name="T18" fmla="*/ 98 w 1612"/>
                <a:gd name="T19" fmla="*/ 350 h 1618"/>
                <a:gd name="T20" fmla="*/ 152 w 1612"/>
                <a:gd name="T21" fmla="*/ 500 h 1618"/>
                <a:gd name="T22" fmla="*/ 200 w 1612"/>
                <a:gd name="T23" fmla="*/ 604 h 1618"/>
                <a:gd name="T24" fmla="*/ 260 w 1612"/>
                <a:gd name="T25" fmla="*/ 722 h 1618"/>
                <a:gd name="T26" fmla="*/ 336 w 1612"/>
                <a:gd name="T27" fmla="*/ 856 h 1618"/>
                <a:gd name="T28" fmla="*/ 430 w 1612"/>
                <a:gd name="T29" fmla="*/ 998 h 1618"/>
                <a:gd name="T30" fmla="*/ 514 w 1612"/>
                <a:gd name="T31" fmla="*/ 1104 h 1618"/>
                <a:gd name="T32" fmla="*/ 602 w 1612"/>
                <a:gd name="T33" fmla="*/ 1196 h 1618"/>
                <a:gd name="T34" fmla="*/ 696 w 1612"/>
                <a:gd name="T35" fmla="*/ 1278 h 1618"/>
                <a:gd name="T36" fmla="*/ 794 w 1612"/>
                <a:gd name="T37" fmla="*/ 1348 h 1618"/>
                <a:gd name="T38" fmla="*/ 892 w 1612"/>
                <a:gd name="T39" fmla="*/ 1408 h 1618"/>
                <a:gd name="T40" fmla="*/ 990 w 1612"/>
                <a:gd name="T41" fmla="*/ 1458 h 1618"/>
                <a:gd name="T42" fmla="*/ 1086 w 1612"/>
                <a:gd name="T43" fmla="*/ 1500 h 1618"/>
                <a:gd name="T44" fmla="*/ 1180 w 1612"/>
                <a:gd name="T45" fmla="*/ 1534 h 1618"/>
                <a:gd name="T46" fmla="*/ 1268 w 1612"/>
                <a:gd name="T47" fmla="*/ 1560 h 1618"/>
                <a:gd name="T48" fmla="*/ 1424 w 1612"/>
                <a:gd name="T49" fmla="*/ 1596 h 1618"/>
                <a:gd name="T50" fmla="*/ 1540 w 1612"/>
                <a:gd name="T51" fmla="*/ 1612 h 1618"/>
                <a:gd name="T52" fmla="*/ 1612 w 1612"/>
                <a:gd name="T53" fmla="*/ 1618 h 1618"/>
                <a:gd name="T54" fmla="*/ 1540 w 1612"/>
                <a:gd name="T55" fmla="*/ 1612 h 1618"/>
                <a:gd name="T56" fmla="*/ 1426 w 1612"/>
                <a:gd name="T57" fmla="*/ 1594 h 1618"/>
                <a:gd name="T58" fmla="*/ 1274 w 1612"/>
                <a:gd name="T59" fmla="*/ 1558 h 1618"/>
                <a:gd name="T60" fmla="*/ 1186 w 1612"/>
                <a:gd name="T61" fmla="*/ 1530 h 1618"/>
                <a:gd name="T62" fmla="*/ 1096 w 1612"/>
                <a:gd name="T63" fmla="*/ 1494 h 1618"/>
                <a:gd name="T64" fmla="*/ 1002 w 1612"/>
                <a:gd name="T65" fmla="*/ 1450 h 1618"/>
                <a:gd name="T66" fmla="*/ 906 w 1612"/>
                <a:gd name="T67" fmla="*/ 1398 h 1618"/>
                <a:gd name="T68" fmla="*/ 810 w 1612"/>
                <a:gd name="T69" fmla="*/ 1336 h 1618"/>
                <a:gd name="T70" fmla="*/ 718 w 1612"/>
                <a:gd name="T71" fmla="*/ 1262 h 1618"/>
                <a:gd name="T72" fmla="*/ 626 w 1612"/>
                <a:gd name="T73" fmla="*/ 1176 h 1618"/>
                <a:gd name="T74" fmla="*/ 542 w 1612"/>
                <a:gd name="T75" fmla="*/ 1078 h 1618"/>
                <a:gd name="T76" fmla="*/ 464 w 1612"/>
                <a:gd name="T77" fmla="*/ 966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12" h="1618">
                  <a:moveTo>
                    <a:pt x="464" y="966"/>
                  </a:moveTo>
                  <a:lnTo>
                    <a:pt x="464" y="966"/>
                  </a:lnTo>
                  <a:lnTo>
                    <a:pt x="418" y="892"/>
                  </a:lnTo>
                  <a:lnTo>
                    <a:pt x="378" y="822"/>
                  </a:lnTo>
                  <a:lnTo>
                    <a:pt x="342" y="754"/>
                  </a:lnTo>
                  <a:lnTo>
                    <a:pt x="310" y="690"/>
                  </a:lnTo>
                  <a:lnTo>
                    <a:pt x="280" y="630"/>
                  </a:lnTo>
                  <a:lnTo>
                    <a:pt x="256" y="572"/>
                  </a:lnTo>
                  <a:lnTo>
                    <a:pt x="234" y="520"/>
                  </a:lnTo>
                  <a:lnTo>
                    <a:pt x="214" y="472"/>
                  </a:lnTo>
                  <a:lnTo>
                    <a:pt x="184" y="390"/>
                  </a:lnTo>
                  <a:lnTo>
                    <a:pt x="166" y="328"/>
                  </a:lnTo>
                  <a:lnTo>
                    <a:pt x="156" y="290"/>
                  </a:lnTo>
                  <a:lnTo>
                    <a:pt x="152" y="276"/>
                  </a:lnTo>
                  <a:lnTo>
                    <a:pt x="244" y="300"/>
                  </a:lnTo>
                  <a:lnTo>
                    <a:pt x="34" y="0"/>
                  </a:lnTo>
                  <a:lnTo>
                    <a:pt x="0" y="396"/>
                  </a:lnTo>
                  <a:lnTo>
                    <a:pt x="82" y="294"/>
                  </a:lnTo>
                  <a:lnTo>
                    <a:pt x="86" y="308"/>
                  </a:lnTo>
                  <a:lnTo>
                    <a:pt x="98" y="350"/>
                  </a:lnTo>
                  <a:lnTo>
                    <a:pt x="120" y="414"/>
                  </a:lnTo>
                  <a:lnTo>
                    <a:pt x="152" y="500"/>
                  </a:lnTo>
                  <a:lnTo>
                    <a:pt x="174" y="550"/>
                  </a:lnTo>
                  <a:lnTo>
                    <a:pt x="200" y="604"/>
                  </a:lnTo>
                  <a:lnTo>
                    <a:pt x="228" y="662"/>
                  </a:lnTo>
                  <a:lnTo>
                    <a:pt x="260" y="722"/>
                  </a:lnTo>
                  <a:lnTo>
                    <a:pt x="296" y="788"/>
                  </a:lnTo>
                  <a:lnTo>
                    <a:pt x="336" y="856"/>
                  </a:lnTo>
                  <a:lnTo>
                    <a:pt x="382" y="926"/>
                  </a:lnTo>
                  <a:lnTo>
                    <a:pt x="430" y="998"/>
                  </a:lnTo>
                  <a:lnTo>
                    <a:pt x="472" y="1052"/>
                  </a:lnTo>
                  <a:lnTo>
                    <a:pt x="514" y="1104"/>
                  </a:lnTo>
                  <a:lnTo>
                    <a:pt x="558" y="1152"/>
                  </a:lnTo>
                  <a:lnTo>
                    <a:pt x="602" y="1196"/>
                  </a:lnTo>
                  <a:lnTo>
                    <a:pt x="650" y="1238"/>
                  </a:lnTo>
                  <a:lnTo>
                    <a:pt x="696" y="1278"/>
                  </a:lnTo>
                  <a:lnTo>
                    <a:pt x="744" y="1314"/>
                  </a:lnTo>
                  <a:lnTo>
                    <a:pt x="794" y="1348"/>
                  </a:lnTo>
                  <a:lnTo>
                    <a:pt x="842" y="1380"/>
                  </a:lnTo>
                  <a:lnTo>
                    <a:pt x="892" y="1408"/>
                  </a:lnTo>
                  <a:lnTo>
                    <a:pt x="942" y="1434"/>
                  </a:lnTo>
                  <a:lnTo>
                    <a:pt x="990" y="1458"/>
                  </a:lnTo>
                  <a:lnTo>
                    <a:pt x="1038" y="1480"/>
                  </a:lnTo>
                  <a:lnTo>
                    <a:pt x="1086" y="1500"/>
                  </a:lnTo>
                  <a:lnTo>
                    <a:pt x="1134" y="1518"/>
                  </a:lnTo>
                  <a:lnTo>
                    <a:pt x="1180" y="1534"/>
                  </a:lnTo>
                  <a:lnTo>
                    <a:pt x="1224" y="1548"/>
                  </a:lnTo>
                  <a:lnTo>
                    <a:pt x="1268" y="1560"/>
                  </a:lnTo>
                  <a:lnTo>
                    <a:pt x="1350" y="1580"/>
                  </a:lnTo>
                  <a:lnTo>
                    <a:pt x="1424" y="1596"/>
                  </a:lnTo>
                  <a:lnTo>
                    <a:pt x="1486" y="1606"/>
                  </a:lnTo>
                  <a:lnTo>
                    <a:pt x="1540" y="1612"/>
                  </a:lnTo>
                  <a:lnTo>
                    <a:pt x="1578" y="1616"/>
                  </a:lnTo>
                  <a:lnTo>
                    <a:pt x="1612" y="1618"/>
                  </a:lnTo>
                  <a:lnTo>
                    <a:pt x="1580" y="1616"/>
                  </a:lnTo>
                  <a:lnTo>
                    <a:pt x="1540" y="1612"/>
                  </a:lnTo>
                  <a:lnTo>
                    <a:pt x="1488" y="1606"/>
                  </a:lnTo>
                  <a:lnTo>
                    <a:pt x="1426" y="1594"/>
                  </a:lnTo>
                  <a:lnTo>
                    <a:pt x="1354" y="1578"/>
                  </a:lnTo>
                  <a:lnTo>
                    <a:pt x="1274" y="1558"/>
                  </a:lnTo>
                  <a:lnTo>
                    <a:pt x="1230" y="1544"/>
                  </a:lnTo>
                  <a:lnTo>
                    <a:pt x="1186" y="1530"/>
                  </a:lnTo>
                  <a:lnTo>
                    <a:pt x="1142" y="1512"/>
                  </a:lnTo>
                  <a:lnTo>
                    <a:pt x="1096" y="1494"/>
                  </a:lnTo>
                  <a:lnTo>
                    <a:pt x="1048" y="1474"/>
                  </a:lnTo>
                  <a:lnTo>
                    <a:pt x="1002" y="1450"/>
                  </a:lnTo>
                  <a:lnTo>
                    <a:pt x="954" y="1426"/>
                  </a:lnTo>
                  <a:lnTo>
                    <a:pt x="906" y="1398"/>
                  </a:lnTo>
                  <a:lnTo>
                    <a:pt x="858" y="1368"/>
                  </a:lnTo>
                  <a:lnTo>
                    <a:pt x="810" y="1336"/>
                  </a:lnTo>
                  <a:lnTo>
                    <a:pt x="764" y="1300"/>
                  </a:lnTo>
                  <a:lnTo>
                    <a:pt x="718" y="1262"/>
                  </a:lnTo>
                  <a:lnTo>
                    <a:pt x="672" y="1220"/>
                  </a:lnTo>
                  <a:lnTo>
                    <a:pt x="626" y="1176"/>
                  </a:lnTo>
                  <a:lnTo>
                    <a:pt x="584" y="1128"/>
                  </a:lnTo>
                  <a:lnTo>
                    <a:pt x="542" y="1078"/>
                  </a:lnTo>
                  <a:lnTo>
                    <a:pt x="502" y="1024"/>
                  </a:lnTo>
                  <a:lnTo>
                    <a:pt x="464" y="966"/>
                  </a:lnTo>
                  <a:close/>
                </a:path>
              </a:pathLst>
            </a:custGeom>
            <a:solidFill>
              <a:srgbClr val="99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9" grpId="0"/>
      <p:bldP spid="21" grpId="0"/>
      <p:bldP spid="28" grpId="0"/>
      <p:bldP spid="29" grpId="0" animBg="1"/>
      <p:bldP spid="15382" grpId="0" animBg="1"/>
      <p:bldP spid="1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9" name="Picture 19">
            <a:extLst>
              <a:ext uri="{FF2B5EF4-FFF2-40B4-BE49-F238E27FC236}">
                <a16:creationId xmlns:a16="http://schemas.microsoft.com/office/drawing/2014/main" id="{3BDD19CD-E930-478E-F990-25AF9745E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5695950"/>
            <a:ext cx="760095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4" name="Rectangle 5">
            <a:extLst>
              <a:ext uri="{FF2B5EF4-FFF2-40B4-BE49-F238E27FC236}">
                <a16:creationId xmlns:a16="http://schemas.microsoft.com/office/drawing/2014/main" id="{B79991E1-3F2A-FF19-12EF-C6F3AD55E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15715" name="Rectangle 7">
            <a:extLst>
              <a:ext uri="{FF2B5EF4-FFF2-40B4-BE49-F238E27FC236}">
                <a16:creationId xmlns:a16="http://schemas.microsoft.com/office/drawing/2014/main" id="{D166E18D-9C39-87F4-A7C0-6E8D3CF48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17414" name="Object 6">
            <a:extLst>
              <a:ext uri="{FF2B5EF4-FFF2-40B4-BE49-F238E27FC236}">
                <a16:creationId xmlns:a16="http://schemas.microsoft.com/office/drawing/2014/main" id="{48BF155E-60D3-C7CE-7B08-1D7EA61553A2}"/>
              </a:ext>
            </a:extLst>
          </p:cNvPr>
          <p:cNvGraphicFramePr>
            <a:graphicFrameLocks/>
          </p:cNvGraphicFramePr>
          <p:nvPr/>
        </p:nvGraphicFramePr>
        <p:xfrm>
          <a:off x="1303338" y="1250950"/>
          <a:ext cx="67500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160928" imgH="330057" progId="Equation.DSMT4">
                  <p:embed/>
                </p:oleObj>
              </mc:Choice>
              <mc:Fallback>
                <p:oleObj r:id="rId3" imgW="3160928" imgH="330057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338" y="1250950"/>
                        <a:ext cx="67500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7" name="Rectangle 9">
            <a:extLst>
              <a:ext uri="{FF2B5EF4-FFF2-40B4-BE49-F238E27FC236}">
                <a16:creationId xmlns:a16="http://schemas.microsoft.com/office/drawing/2014/main" id="{F179B05E-4287-8F02-CCA5-E5D2D19E7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17416" name="Object 8">
            <a:extLst>
              <a:ext uri="{FF2B5EF4-FFF2-40B4-BE49-F238E27FC236}">
                <a16:creationId xmlns:a16="http://schemas.microsoft.com/office/drawing/2014/main" id="{B1A62D44-0C16-80B5-ABA5-5BD28A98B7A1}"/>
              </a:ext>
            </a:extLst>
          </p:cNvPr>
          <p:cNvGraphicFramePr>
            <a:graphicFrameLocks/>
          </p:cNvGraphicFramePr>
          <p:nvPr/>
        </p:nvGraphicFramePr>
        <p:xfrm>
          <a:off x="1703388" y="2100263"/>
          <a:ext cx="4516437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360151" imgH="406048" progId="Equation.DSMT4">
                  <p:embed/>
                </p:oleObj>
              </mc:Choice>
              <mc:Fallback>
                <p:oleObj r:id="rId5" imgW="2360151" imgH="406048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2100263"/>
                        <a:ext cx="4516437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>
            <a:extLst>
              <a:ext uri="{FF2B5EF4-FFF2-40B4-BE49-F238E27FC236}">
                <a16:creationId xmlns:a16="http://schemas.microsoft.com/office/drawing/2014/main" id="{87FFDB44-6D4F-72C5-C747-687992BE7A2C}"/>
              </a:ext>
            </a:extLst>
          </p:cNvPr>
          <p:cNvGraphicFramePr>
            <a:graphicFrameLocks/>
          </p:cNvGraphicFramePr>
          <p:nvPr/>
        </p:nvGraphicFramePr>
        <p:xfrm>
          <a:off x="1824038" y="4832350"/>
          <a:ext cx="4992687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234230" imgH="330057" progId="Equation.DSMT4">
                  <p:embed/>
                </p:oleObj>
              </mc:Choice>
              <mc:Fallback>
                <p:oleObj r:id="rId7" imgW="2234230" imgH="330057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4832350"/>
                        <a:ext cx="4992687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2" name="Line 14">
            <a:extLst>
              <a:ext uri="{FF2B5EF4-FFF2-40B4-BE49-F238E27FC236}">
                <a16:creationId xmlns:a16="http://schemas.microsoft.com/office/drawing/2014/main" id="{7F280805-24A8-D087-A6CC-A8A26D779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7788" y="1822450"/>
            <a:ext cx="685800" cy="0"/>
          </a:xfrm>
          <a:prstGeom prst="line">
            <a:avLst/>
          </a:prstGeom>
          <a:noFill/>
          <a:ln w="28575">
            <a:solidFill>
              <a:srgbClr val="990099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7423" name="Line 15">
            <a:extLst>
              <a:ext uri="{FF2B5EF4-FFF2-40B4-BE49-F238E27FC236}">
                <a16:creationId xmlns:a16="http://schemas.microsoft.com/office/drawing/2014/main" id="{81E77348-4044-B3B1-2EA6-62AAB01A69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1822450"/>
            <a:ext cx="1612900" cy="0"/>
          </a:xfrm>
          <a:prstGeom prst="line">
            <a:avLst/>
          </a:prstGeom>
          <a:noFill/>
          <a:ln w="28575">
            <a:solidFill>
              <a:srgbClr val="990099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17433" name="Object 25">
            <a:extLst>
              <a:ext uri="{FF2B5EF4-FFF2-40B4-BE49-F238E27FC236}">
                <a16:creationId xmlns:a16="http://schemas.microsoft.com/office/drawing/2014/main" id="{3819C486-9487-F550-5572-98866126CC3D}"/>
              </a:ext>
            </a:extLst>
          </p:cNvPr>
          <p:cNvGraphicFramePr>
            <a:graphicFrameLocks/>
          </p:cNvGraphicFramePr>
          <p:nvPr/>
        </p:nvGraphicFramePr>
        <p:xfrm>
          <a:off x="1971675" y="3128963"/>
          <a:ext cx="349726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980340" imgH="380835" progId="Equation.DSMT4">
                  <p:embed/>
                </p:oleObj>
              </mc:Choice>
              <mc:Fallback>
                <p:oleObj r:id="rId9" imgW="1980340" imgH="380835" progId="Equation.DSMT4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3128963"/>
                        <a:ext cx="3497263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4" name="Object 26">
            <a:extLst>
              <a:ext uri="{FF2B5EF4-FFF2-40B4-BE49-F238E27FC236}">
                <a16:creationId xmlns:a16="http://schemas.microsoft.com/office/drawing/2014/main" id="{DD0EFDA2-1B5F-BC9E-7FCA-CD2B619C84BF}"/>
              </a:ext>
            </a:extLst>
          </p:cNvPr>
          <p:cNvGraphicFramePr>
            <a:graphicFrameLocks/>
          </p:cNvGraphicFramePr>
          <p:nvPr/>
        </p:nvGraphicFramePr>
        <p:xfrm>
          <a:off x="1835150" y="4043363"/>
          <a:ext cx="419417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373870" imgH="380835" progId="Equation.DSMT4">
                  <p:embed/>
                </p:oleObj>
              </mc:Choice>
              <mc:Fallback>
                <p:oleObj r:id="rId11" imgW="2373870" imgH="380835" progId="Equation.DSMT4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043363"/>
                        <a:ext cx="419417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3703C664-3767-CC4F-0A7D-C66BEE6E3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69913"/>
            <a:ext cx="5486400" cy="461962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匹配滤波器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冲激响应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i="1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kumimoji="1"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kumimoji="1"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kumimoji="1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0184" name="Object 18">
            <a:extLst>
              <a:ext uri="{FF2B5EF4-FFF2-40B4-BE49-F238E27FC236}">
                <a16:creationId xmlns:a16="http://schemas.microsoft.com/office/drawing/2014/main" id="{4B1B1B56-4202-706A-B9EE-11983BB81A63}"/>
              </a:ext>
            </a:extLst>
          </p:cNvPr>
          <p:cNvGraphicFramePr>
            <a:graphicFrameLocks/>
          </p:cNvGraphicFramePr>
          <p:nvPr/>
        </p:nvGraphicFramePr>
        <p:xfrm>
          <a:off x="5018088" y="600075"/>
          <a:ext cx="1290637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596382" imgH="203024" progId="Equation.DSMT4">
                  <p:embed/>
                </p:oleObj>
              </mc:Choice>
              <mc:Fallback>
                <p:oleObj r:id="rId13" imgW="596382" imgH="203024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8088" y="600075"/>
                        <a:ext cx="1290637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Oval 13">
            <a:extLst>
              <a:ext uri="{FF2B5EF4-FFF2-40B4-BE49-F238E27FC236}">
                <a16:creationId xmlns:a16="http://schemas.microsoft.com/office/drawing/2014/main" id="{8BB6B6EA-D871-CA2A-F32D-E68DEB3B6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473700"/>
            <a:ext cx="990600" cy="574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69696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99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含义：</a:t>
            </a:r>
          </a:p>
        </p:txBody>
      </p:sp>
      <p:pic>
        <p:nvPicPr>
          <p:cNvPr id="40980" name="Picture 20">
            <a:extLst>
              <a:ext uri="{FF2B5EF4-FFF2-40B4-BE49-F238E27FC236}">
                <a16:creationId xmlns:a16="http://schemas.microsoft.com/office/drawing/2014/main" id="{916E9B8A-432E-77EB-9302-15732B5E5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24" t="37038"/>
          <a:stretch>
            <a:fillRect/>
          </a:stretch>
        </p:blipFill>
        <p:spPr bwMode="auto">
          <a:xfrm>
            <a:off x="6705600" y="2730500"/>
            <a:ext cx="1778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10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3">
            <a:extLst>
              <a:ext uri="{FF2B5EF4-FFF2-40B4-BE49-F238E27FC236}">
                <a16:creationId xmlns:a16="http://schemas.microsoft.com/office/drawing/2014/main" id="{ED8886B8-81D9-696F-EC64-2BE504FD4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431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119812" name="Object 4">
            <a:extLst>
              <a:ext uri="{FF2B5EF4-FFF2-40B4-BE49-F238E27FC236}">
                <a16:creationId xmlns:a16="http://schemas.microsoft.com/office/drawing/2014/main" id="{AC6DB814-F9EF-CF6E-2AF9-D6F35966F40E}"/>
              </a:ext>
            </a:extLst>
          </p:cNvPr>
          <p:cNvGraphicFramePr>
            <a:graphicFrameLocks/>
          </p:cNvGraphicFramePr>
          <p:nvPr/>
        </p:nvGraphicFramePr>
        <p:xfrm>
          <a:off x="533400" y="1795463"/>
          <a:ext cx="4103688" cy="206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243600" imgH="1635120" progId="Visio.Drawing.11">
                  <p:embed/>
                </p:oleObj>
              </mc:Choice>
              <mc:Fallback>
                <p:oleObj r:id="rId2" imgW="3243600" imgH="1635120" progId="Visio.Drawing.11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795463"/>
                        <a:ext cx="4103688" cy="206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3" name="Object 5">
            <a:extLst>
              <a:ext uri="{FF2B5EF4-FFF2-40B4-BE49-F238E27FC236}">
                <a16:creationId xmlns:a16="http://schemas.microsoft.com/office/drawing/2014/main" id="{BA2E9E34-323E-181C-447E-D958FAF917A8}"/>
              </a:ext>
            </a:extLst>
          </p:cNvPr>
          <p:cNvGraphicFramePr>
            <a:graphicFrameLocks/>
          </p:cNvGraphicFramePr>
          <p:nvPr/>
        </p:nvGraphicFramePr>
        <p:xfrm>
          <a:off x="1163638" y="3624263"/>
          <a:ext cx="3941762" cy="216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069720" imgH="1689480" progId="Visio.Drawing.11">
                  <p:embed/>
                </p:oleObj>
              </mc:Choice>
              <mc:Fallback>
                <p:oleObj r:id="rId4" imgW="3069720" imgH="1689480" progId="Visio.Drawing.11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638" y="3624263"/>
                        <a:ext cx="3941762" cy="216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4" name="Text Box 6">
            <a:extLst>
              <a:ext uri="{FF2B5EF4-FFF2-40B4-BE49-F238E27FC236}">
                <a16:creationId xmlns:a16="http://schemas.microsoft.com/office/drawing/2014/main" id="{DE118EDA-511F-3C42-EEE6-AB6CCCF25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419600"/>
            <a:ext cx="2438400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  </a:t>
            </a:r>
            <a:r>
              <a:rPr lang="en-US" altLang="zh-CN" sz="2800" b="1" i="1" dirty="0">
                <a:solidFill>
                  <a:srgbClr val="0000CC"/>
                </a:solidFill>
                <a:latin typeface="+mn-lt"/>
              </a:rPr>
              <a:t>t</a:t>
            </a:r>
            <a:r>
              <a:rPr lang="en-US" altLang="zh-CN" sz="2800" b="1" baseline="-25000" dirty="0">
                <a:solidFill>
                  <a:srgbClr val="0000CC"/>
                </a:solidFill>
                <a:latin typeface="+mn-lt"/>
              </a:rPr>
              <a:t>0 </a:t>
            </a:r>
            <a:r>
              <a:rPr lang="en-US" altLang="zh-CN" sz="2800" b="1" baseline="-25000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</a:rPr>
              <a:t>≥ </a:t>
            </a:r>
            <a:r>
              <a:rPr lang="en-US" altLang="zh-CN" sz="2400" b="1" i="1" dirty="0">
                <a:solidFill>
                  <a:srgbClr val="0000CC"/>
                </a:solidFill>
                <a:latin typeface="+mn-lt"/>
              </a:rPr>
              <a:t>T</a:t>
            </a:r>
            <a:r>
              <a:rPr kumimoji="1" lang="en-US" altLang="zh-CN" sz="2400" baseline="-25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en-US" altLang="zh-CN" sz="24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en-US" altLang="zh-CN" sz="2400" b="1" dirty="0">
                <a:latin typeface="+mn-lt"/>
              </a:rPr>
              <a:t> </a:t>
            </a:r>
            <a:r>
              <a:rPr lang="en-US" altLang="zh-CN" sz="3200" b="1" dirty="0">
                <a:latin typeface="+mn-lt"/>
              </a:rPr>
              <a:t>  </a:t>
            </a:r>
            <a:endParaRPr lang="en-US" altLang="zh-CN" sz="3200" b="1" dirty="0">
              <a:solidFill>
                <a:srgbClr val="FF3300"/>
              </a:solidFill>
              <a:latin typeface="+mn-lt"/>
            </a:endParaRPr>
          </a:p>
        </p:txBody>
      </p:sp>
      <p:sp>
        <p:nvSpPr>
          <p:cNvPr id="119815" name="Rectangle 7">
            <a:extLst>
              <a:ext uri="{FF2B5EF4-FFF2-40B4-BE49-F238E27FC236}">
                <a16:creationId xmlns:a16="http://schemas.microsoft.com/office/drawing/2014/main" id="{D5E6FDF1-45C1-9065-D5B0-69E8A339C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105400"/>
            <a:ext cx="24384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通常取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i="1" dirty="0">
                <a:solidFill>
                  <a:srgbClr val="0000CC"/>
                </a:solidFill>
                <a:latin typeface="+mn-lt"/>
              </a:rPr>
              <a:t>t</a:t>
            </a:r>
            <a:r>
              <a:rPr lang="en-US" altLang="zh-CN" sz="2800" b="1" baseline="-25000" dirty="0">
                <a:solidFill>
                  <a:srgbClr val="0000CC"/>
                </a:solidFill>
                <a:latin typeface="+mn-lt"/>
              </a:rPr>
              <a:t>0</a:t>
            </a:r>
            <a:r>
              <a:rPr lang="en-US" altLang="zh-CN" sz="2800" b="1" baseline="-250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</a:rPr>
              <a:t>=</a:t>
            </a:r>
            <a:r>
              <a:rPr lang="en-US" altLang="zh-CN" sz="2400" b="1" i="1" dirty="0">
                <a:solidFill>
                  <a:srgbClr val="0000CC"/>
                </a:solidFill>
                <a:latin typeface="+mn-lt"/>
              </a:rPr>
              <a:t>T</a:t>
            </a:r>
            <a:r>
              <a:rPr kumimoji="1" lang="en-US" altLang="zh-CN" sz="2400" baseline="-25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endParaRPr lang="en-US" altLang="zh-CN" sz="2400" b="1" dirty="0">
              <a:solidFill>
                <a:srgbClr val="0000CC"/>
              </a:solidFill>
            </a:endParaRPr>
          </a:p>
        </p:txBody>
      </p:sp>
      <p:graphicFrame>
        <p:nvGraphicFramePr>
          <p:cNvPr id="119816" name="Object 8">
            <a:extLst>
              <a:ext uri="{FF2B5EF4-FFF2-40B4-BE49-F238E27FC236}">
                <a16:creationId xmlns:a16="http://schemas.microsoft.com/office/drawing/2014/main" id="{C735E5C2-CFCA-E532-B3A4-70F8312E7543}"/>
              </a:ext>
            </a:extLst>
          </p:cNvPr>
          <p:cNvGraphicFramePr>
            <a:graphicFrameLocks/>
          </p:cNvGraphicFramePr>
          <p:nvPr>
            <p:ph sz="half" idx="4294967295"/>
          </p:nvPr>
        </p:nvGraphicFramePr>
        <p:xfrm>
          <a:off x="1524000" y="1066800"/>
          <a:ext cx="4089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00200" imgH="228600" progId="Equation.DSMT4">
                  <p:embed/>
                </p:oleObj>
              </mc:Choice>
              <mc:Fallback>
                <p:oleObj r:id="rId6" imgW="1600200" imgH="22860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066800"/>
                        <a:ext cx="4089400" cy="584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 cap="flat" cmpd="dbl">
                        <a:solidFill>
                          <a:srgbClr val="6666FF"/>
                        </a:solidFill>
                        <a:prstDash val="solid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9" name="Rectangle 11">
            <a:extLst>
              <a:ext uri="{FF2B5EF4-FFF2-40B4-BE49-F238E27FC236}">
                <a16:creationId xmlns:a16="http://schemas.microsoft.com/office/drawing/2014/main" id="{0DE5504A-705A-8435-8C36-137B92DAF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786438"/>
            <a:ext cx="2393950" cy="461962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400" dirty="0">
                <a:solidFill>
                  <a:srgbClr val="99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kumimoji="1" lang="zh-CN" altLang="en-US" sz="2400" dirty="0">
                <a:solidFill>
                  <a:srgbClr val="99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：</a:t>
            </a:r>
            <a:r>
              <a:rPr kumimoji="1" lang="zh-CN" altLang="en-US" sz="2400" dirty="0">
                <a:solidFill>
                  <a:srgbClr val="99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0 </a:t>
            </a:r>
            <a:r>
              <a:rPr lang="en-US" altLang="zh-CN" sz="2400" b="1" dirty="0">
                <a:solidFill>
                  <a:srgbClr val="FF0000"/>
                </a:solidFill>
              </a:rPr>
              <a:t>=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？</a:t>
            </a:r>
          </a:p>
        </p:txBody>
      </p:sp>
      <p:sp>
        <p:nvSpPr>
          <p:cNvPr id="119820" name="Rectangle 12">
            <a:extLst>
              <a:ext uri="{FF2B5EF4-FFF2-40B4-BE49-F238E27FC236}">
                <a16:creationId xmlns:a16="http://schemas.microsoft.com/office/drawing/2014/main" id="{9F6AD975-6B7D-90A1-BB1E-4BB3FE0D9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6938" y="1066800"/>
            <a:ext cx="1643062" cy="52387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kumimoji="1" lang="zh-CN" altLang="en-US" sz="20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kumimoji="1" lang="zh-CN" altLang="en-US" sz="20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kumimoji="1" lang="zh-CN" altLang="en-US" sz="20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右移</a:t>
            </a:r>
          </a:p>
        </p:txBody>
      </p:sp>
      <p:graphicFrame>
        <p:nvGraphicFramePr>
          <p:cNvPr id="119828" name="Object 20">
            <a:extLst>
              <a:ext uri="{FF2B5EF4-FFF2-40B4-BE49-F238E27FC236}">
                <a16:creationId xmlns:a16="http://schemas.microsoft.com/office/drawing/2014/main" id="{6C653E8A-9911-EBAD-0A1A-A853AD24ADC1}"/>
              </a:ext>
            </a:extLst>
          </p:cNvPr>
          <p:cNvGraphicFramePr>
            <a:graphicFrameLocks/>
          </p:cNvGraphicFramePr>
          <p:nvPr>
            <p:ph sz="half" idx="4294967295"/>
          </p:nvPr>
        </p:nvGraphicFramePr>
        <p:xfrm>
          <a:off x="1981200" y="4206875"/>
          <a:ext cx="1576388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39120" imgH="799560" progId="Visio.Drawing.11">
                  <p:embed/>
                </p:oleObj>
              </mc:Choice>
              <mc:Fallback>
                <p:oleObj r:id="rId8" imgW="1239120" imgH="799560" progId="Visio.Drawing.11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206875"/>
                        <a:ext cx="1576388" cy="10175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31C02576-B97F-C5D3-5532-FABBDB6B80D0}"/>
              </a:ext>
            </a:extLst>
          </p:cNvPr>
          <p:cNvSpPr/>
          <p:nvPr/>
        </p:nvSpPr>
        <p:spPr>
          <a:xfrm>
            <a:off x="609600" y="528638"/>
            <a:ext cx="1108075" cy="46196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图解</a:t>
            </a:r>
            <a:r>
              <a:rPr lang="zh-CN" altLang="en-US" sz="24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endParaRPr lang="zh-CN" altLang="en-US" b="1" dirty="0">
              <a:solidFill>
                <a:srgbClr val="990099"/>
              </a:solidFill>
              <a:latin typeface="+mn-ea"/>
              <a:ea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10C4F3-E74B-7246-9A9D-ADD7FA362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288" y="2370138"/>
            <a:ext cx="121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ECB0D53E-B6B4-0AD1-5E98-E1AABB963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791200"/>
            <a:ext cx="3124200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这时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1" lang="en-US" altLang="zh-CN" sz="24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-t)</a:t>
            </a:r>
          </a:p>
        </p:txBody>
      </p:sp>
      <p:pic>
        <p:nvPicPr>
          <p:cNvPr id="42001" name="Picture 17">
            <a:extLst>
              <a:ext uri="{FF2B5EF4-FFF2-40B4-BE49-F238E27FC236}">
                <a16:creationId xmlns:a16="http://schemas.microsoft.com/office/drawing/2014/main" id="{FAC9254E-2E25-867A-4565-7E7A7B786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663" y="2051050"/>
            <a:ext cx="3255962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10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119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4" grpId="0"/>
      <p:bldP spid="119815" grpId="0"/>
      <p:bldP spid="119819" grpId="0"/>
      <p:bldP spid="119820" grpId="0"/>
      <p:bldP spid="17" grpId="0"/>
      <p:bldP spid="16" grpId="0" animBg="1"/>
      <p:bldP spid="1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C311259D-B5A1-44E8-E36D-485910701F7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652588" y="1143000"/>
          <a:ext cx="5434012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246925" imgH="330057" progId="Equation.DSMT4">
                  <p:embed/>
                </p:oleObj>
              </mc:Choice>
              <mc:Fallback>
                <p:oleObj r:id="rId11" imgW="2246925" imgH="330057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1143000"/>
                        <a:ext cx="5434012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>
            <a:extLst>
              <a:ext uri="{FF2B5EF4-FFF2-40B4-BE49-F238E27FC236}">
                <a16:creationId xmlns:a16="http://schemas.microsoft.com/office/drawing/2014/main" id="{FF80A751-9157-3239-A1E9-56389B422BFE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2420938" y="1946275"/>
          <a:ext cx="35306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497950" imgH="330057" progId="Equation.DSMT4">
                  <p:embed/>
                </p:oleObj>
              </mc:Choice>
              <mc:Fallback>
                <p:oleObj r:id="rId13" imgW="1497950" imgH="330057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8" y="1946275"/>
                        <a:ext cx="35306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10">
            <a:extLst>
              <a:ext uri="{FF2B5EF4-FFF2-40B4-BE49-F238E27FC236}">
                <a16:creationId xmlns:a16="http://schemas.microsoft.com/office/drawing/2014/main" id="{E9F15F09-EF6D-AF1C-B500-DA0DCA9471A9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2411413" y="2819400"/>
          <a:ext cx="4827587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246925" imgH="330057" progId="Equation.DSMT4">
                  <p:embed/>
                </p:oleObj>
              </mc:Choice>
              <mc:Fallback>
                <p:oleObj r:id="rId15" imgW="2246925" imgH="330057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819400"/>
                        <a:ext cx="4827587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2" name="Text Box 22">
            <a:extLst>
              <a:ext uri="{FF2B5EF4-FFF2-40B4-BE49-F238E27FC236}">
                <a16:creationId xmlns:a16="http://schemas.microsoft.com/office/drawing/2014/main" id="{4C117547-7897-AD94-BDED-204790881A63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71600" y="3886200"/>
            <a:ext cx="1295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=1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</a:p>
        </p:txBody>
      </p:sp>
      <p:graphicFrame>
        <p:nvGraphicFramePr>
          <p:cNvPr id="20503" name="Object 23">
            <a:extLst>
              <a:ext uri="{FF2B5EF4-FFF2-40B4-BE49-F238E27FC236}">
                <a16:creationId xmlns:a16="http://schemas.microsoft.com/office/drawing/2014/main" id="{8B8C7A92-96BC-AF1C-17A1-ADDD8F215A1A}"/>
              </a:ext>
            </a:extLst>
          </p:cNvPr>
          <p:cNvGraphicFramePr>
            <a:graphicFrameLocks/>
          </p:cNvGraphicFramePr>
          <p:nvPr>
            <p:custDataLst>
              <p:tags r:id="rId5"/>
            </p:custDataLst>
          </p:nvPr>
        </p:nvGraphicFramePr>
        <p:xfrm>
          <a:off x="3460750" y="3922713"/>
          <a:ext cx="24828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862851" imgH="203024" progId="Equation.DSMT4">
                  <p:embed/>
                </p:oleObj>
              </mc:Choice>
              <mc:Fallback>
                <p:oleObj r:id="rId17" imgW="862851" imgH="203024" progId="Equation.DSMT4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3922713"/>
                        <a:ext cx="2482850" cy="5905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6" name="Text Box 26">
            <a:extLst>
              <a:ext uri="{FF2B5EF4-FFF2-40B4-BE49-F238E27FC236}">
                <a16:creationId xmlns:a16="http://schemas.microsoft.com/office/drawing/2014/main" id="{EE58D6A2-685E-D984-224D-58FDDAFC8D0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357313" y="4940300"/>
            <a:ext cx="121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i="1">
                <a:solidFill>
                  <a:srgbClr val="FF0000"/>
                </a:solidFill>
              </a:rPr>
              <a:t>t </a:t>
            </a:r>
            <a:r>
              <a:rPr lang="en-US" altLang="zh-CN" sz="2000" b="1">
                <a:solidFill>
                  <a:srgbClr val="FF0000"/>
                </a:solidFill>
              </a:rPr>
              <a:t>=</a:t>
            </a:r>
            <a:r>
              <a:rPr lang="en-US" altLang="zh-CN" sz="2000" b="1" i="1">
                <a:solidFill>
                  <a:srgbClr val="FF0000"/>
                </a:solidFill>
              </a:rPr>
              <a:t>t</a:t>
            </a:r>
            <a:r>
              <a:rPr lang="en-US" altLang="zh-CN" sz="2000" b="1" baseline="-25000">
                <a:solidFill>
                  <a:srgbClr val="FF0000"/>
                </a:solidFill>
              </a:rPr>
              <a:t>0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endParaRPr lang="zh-CN" altLang="en-US" sz="200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aphicFrame>
        <p:nvGraphicFramePr>
          <p:cNvPr id="20507" name="Object 27">
            <a:extLst>
              <a:ext uri="{FF2B5EF4-FFF2-40B4-BE49-F238E27FC236}">
                <a16:creationId xmlns:a16="http://schemas.microsoft.com/office/drawing/2014/main" id="{2650017B-F42C-6863-F9B6-4E5A1917CF01}"/>
              </a:ext>
            </a:extLst>
          </p:cNvPr>
          <p:cNvGraphicFramePr>
            <a:graphicFrameLocks/>
          </p:cNvGraphicFramePr>
          <p:nvPr>
            <p:custDataLst>
              <p:tags r:id="rId7"/>
            </p:custDataLst>
          </p:nvPr>
        </p:nvGraphicFramePr>
        <p:xfrm>
          <a:off x="2819400" y="4765675"/>
          <a:ext cx="515937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2170758" imgH="291973" progId="Equation.DSMT4">
                  <p:embed/>
                </p:oleObj>
              </mc:Choice>
              <mc:Fallback>
                <p:oleObj r:id="rId19" imgW="2170758" imgH="291973" progId="Equation.DSMT4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765675"/>
                        <a:ext cx="5159375" cy="6937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48307FC9-2FE6-7654-C9A4-F5A4CC76BB90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57200" y="569913"/>
            <a:ext cx="5486400" cy="461962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匹配滤波器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输出信号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kumimoji="1"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kumimoji="1"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kumimoji="1" lang="zh-CN" altLang="en-US" sz="2400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3028" name="Picture 20">
            <a:extLst>
              <a:ext uri="{FF2B5EF4-FFF2-40B4-BE49-F238E27FC236}">
                <a16:creationId xmlns:a16="http://schemas.microsoft.com/office/drawing/2014/main" id="{17B6BE16-EDD7-2B82-DE94-E795A4BC013A}"/>
              </a:ext>
            </a:extLst>
          </p:cNvPr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5607050"/>
            <a:ext cx="7823200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8" dur="10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2" grpId="0"/>
      <p:bldP spid="20506" grpId="0"/>
      <p:bldP spid="18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50" name="Picture 6">
            <a:extLst>
              <a:ext uri="{FF2B5EF4-FFF2-40B4-BE49-F238E27FC236}">
                <a16:creationId xmlns:a16="http://schemas.microsoft.com/office/drawing/2014/main" id="{2D34F15C-7C4D-D4A1-86CF-4B3182383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" y="1651000"/>
            <a:ext cx="7372350" cy="389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 13">
            <a:extLst>
              <a:ext uri="{FF2B5EF4-FFF2-40B4-BE49-F238E27FC236}">
                <a16:creationId xmlns:a16="http://schemas.microsoft.com/office/drawing/2014/main" id="{E29881B5-B255-F29D-6BCA-0D0248B17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1476375"/>
            <a:ext cx="990600" cy="5746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69696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99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62" name="Picture 30">
            <a:extLst>
              <a:ext uri="{FF2B5EF4-FFF2-40B4-BE49-F238E27FC236}">
                <a16:creationId xmlns:a16="http://schemas.microsoft.com/office/drawing/2014/main" id="{DDF314DC-A475-C6A9-9CA5-F6874ADF0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98"/>
          <a:stretch>
            <a:fillRect/>
          </a:stretch>
        </p:blipFill>
        <p:spPr bwMode="auto">
          <a:xfrm>
            <a:off x="577850" y="406400"/>
            <a:ext cx="8216900" cy="102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EF64B850-3293-79BE-3946-CAB1590F3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6172200" cy="2438400"/>
          </a:xfrm>
          <a:prstGeom prst="rect">
            <a:avLst/>
          </a:prstGeom>
          <a:solidFill>
            <a:srgbClr val="E8E8E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3" name="Oval 12">
            <a:extLst>
              <a:ext uri="{FF2B5EF4-FFF2-40B4-BE49-F238E27FC236}">
                <a16:creationId xmlns:a16="http://schemas.microsoft.com/office/drawing/2014/main" id="{08C0A2D0-8866-496E-B82F-1D4286FBF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600200"/>
            <a:ext cx="842963" cy="496888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C06DA5C0-A77C-4BA9-94C7-0C424BE2AEED}"/>
              </a:ext>
            </a:extLst>
          </p:cNvPr>
          <p:cNvGrpSpPr>
            <a:grpSpLocks/>
          </p:cNvGrpSpPr>
          <p:nvPr/>
        </p:nvGrpSpPr>
        <p:grpSpPr bwMode="auto">
          <a:xfrm>
            <a:off x="377825" y="336550"/>
            <a:ext cx="727075" cy="692150"/>
            <a:chOff x="1627" y="845"/>
            <a:chExt cx="509" cy="453"/>
          </a:xfrm>
        </p:grpSpPr>
        <p:grpSp>
          <p:nvGrpSpPr>
            <p:cNvPr id="119813" name="Group 23">
              <a:extLst>
                <a:ext uri="{FF2B5EF4-FFF2-40B4-BE49-F238E27FC236}">
                  <a16:creationId xmlns:a16="http://schemas.microsoft.com/office/drawing/2014/main" id="{803ADC41-7046-464F-BFA9-83A489A2E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119814" name="Oval 24">
                <a:extLst>
                  <a:ext uri="{FF2B5EF4-FFF2-40B4-BE49-F238E27FC236}">
                    <a16:creationId xmlns:a16="http://schemas.microsoft.com/office/drawing/2014/main" id="{ABB50768-C8A0-B354-C060-1DC457010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9815" name="Oval 25">
                <a:extLst>
                  <a:ext uri="{FF2B5EF4-FFF2-40B4-BE49-F238E27FC236}">
                    <a16:creationId xmlns:a16="http://schemas.microsoft.com/office/drawing/2014/main" id="{1B9C3118-0023-16F5-38FB-F73BA46A6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sp>
            <p:nvSpPr>
              <p:cNvPr id="119816" name="Oval 26">
                <a:extLst>
                  <a:ext uri="{FF2B5EF4-FFF2-40B4-BE49-F238E27FC236}">
                    <a16:creationId xmlns:a16="http://schemas.microsoft.com/office/drawing/2014/main" id="{0534A91D-9191-0F68-5757-4638FA584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sp>
            <p:nvSpPr>
              <p:cNvPr id="119817" name="Oval 27">
                <a:extLst>
                  <a:ext uri="{FF2B5EF4-FFF2-40B4-BE49-F238E27FC236}">
                    <a16:creationId xmlns:a16="http://schemas.microsoft.com/office/drawing/2014/main" id="{D35EDA36-0A41-B996-082B-08C24B38C1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sp>
            <p:nvSpPr>
              <p:cNvPr id="119818" name="Oval 28">
                <a:extLst>
                  <a:ext uri="{FF2B5EF4-FFF2-40B4-BE49-F238E27FC236}">
                    <a16:creationId xmlns:a16="http://schemas.microsoft.com/office/drawing/2014/main" id="{647E1EA9-CCA9-CF39-A884-D7AEF0086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9819" name="Text Box 29">
              <a:extLst>
                <a:ext uri="{FF2B5EF4-FFF2-40B4-BE49-F238E27FC236}">
                  <a16:creationId xmlns:a16="http://schemas.microsoft.com/office/drawing/2014/main" id="{49EBB01F-B53F-DEFC-6018-95F844DE9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7" y="902"/>
              <a:ext cx="509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400">
                  <a:solidFill>
                    <a:srgbClr val="CC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zh-CN" altLang="en-US" sz="240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6334" name="矩形 11">
            <a:extLst>
              <a:ext uri="{FF2B5EF4-FFF2-40B4-BE49-F238E27FC236}">
                <a16:creationId xmlns:a16="http://schemas.microsoft.com/office/drawing/2014/main" id="{61C758BA-7585-0F4C-2B06-495B70236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24175"/>
            <a:ext cx="696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</a:p>
        </p:txBody>
      </p:sp>
      <p:graphicFrame>
        <p:nvGraphicFramePr>
          <p:cNvPr id="15378" name="Object 18">
            <a:extLst>
              <a:ext uri="{FF2B5EF4-FFF2-40B4-BE49-F238E27FC236}">
                <a16:creationId xmlns:a16="http://schemas.microsoft.com/office/drawing/2014/main" id="{42ADC55A-FD70-DCA4-887A-29AE47777849}"/>
              </a:ext>
            </a:extLst>
          </p:cNvPr>
          <p:cNvGraphicFramePr>
            <a:graphicFrameLocks/>
          </p:cNvGraphicFramePr>
          <p:nvPr/>
        </p:nvGraphicFramePr>
        <p:xfrm>
          <a:off x="1371600" y="2971800"/>
          <a:ext cx="28368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22400" imgH="228600" progId="Equation.DSMT4">
                  <p:embed/>
                </p:oleObj>
              </mc:Choice>
              <mc:Fallback>
                <p:oleObj r:id="rId3" imgW="1422400" imgH="228600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971800"/>
                        <a:ext cx="28368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7">
            <a:extLst>
              <a:ext uri="{FF2B5EF4-FFF2-40B4-BE49-F238E27FC236}">
                <a16:creationId xmlns:a16="http://schemas.microsoft.com/office/drawing/2014/main" id="{A25D4F7D-DC5C-5E05-4D82-B890C1525423}"/>
              </a:ext>
            </a:extLst>
          </p:cNvPr>
          <p:cNvGraphicFramePr>
            <a:graphicFrameLocks/>
          </p:cNvGraphicFramePr>
          <p:nvPr/>
        </p:nvGraphicFramePr>
        <p:xfrm>
          <a:off x="914400" y="3581400"/>
          <a:ext cx="5243513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743200" imgH="419100" progId="Equation.DSMT4">
                  <p:embed/>
                </p:oleObj>
              </mc:Choice>
              <mc:Fallback>
                <p:oleObj r:id="rId5" imgW="2743200" imgH="4191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581400"/>
                        <a:ext cx="5243513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63DD12D7-C23F-36A6-CD24-E16C25BC15B3}"/>
              </a:ext>
            </a:extLst>
          </p:cNvPr>
          <p:cNvSpPr/>
          <p:nvPr/>
        </p:nvSpPr>
        <p:spPr>
          <a:xfrm>
            <a:off x="1295400" y="1676400"/>
            <a:ext cx="38100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1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 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 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则有</a:t>
            </a:r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A6F865BF-67FB-A430-B4BA-D7A39AF5AD28}"/>
              </a:ext>
            </a:extLst>
          </p:cNvPr>
          <p:cNvGraphicFramePr>
            <a:graphicFrameLocks/>
          </p:cNvGraphicFramePr>
          <p:nvPr/>
        </p:nvGraphicFramePr>
        <p:xfrm>
          <a:off x="1295400" y="4495800"/>
          <a:ext cx="33940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01800" imgH="419100" progId="Equation.DSMT4">
                  <p:embed/>
                </p:oleObj>
              </mc:Choice>
              <mc:Fallback>
                <p:oleObj r:id="rId7" imgW="1701800" imgH="41910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495800"/>
                        <a:ext cx="33940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0">
            <a:extLst>
              <a:ext uri="{FF2B5EF4-FFF2-40B4-BE49-F238E27FC236}">
                <a16:creationId xmlns:a16="http://schemas.microsoft.com/office/drawing/2014/main" id="{B39FEFD2-AD8A-763B-175E-EE2A5B83420B}"/>
              </a:ext>
            </a:extLst>
          </p:cNvPr>
          <p:cNvGraphicFramePr>
            <a:graphicFrameLocks/>
          </p:cNvGraphicFramePr>
          <p:nvPr/>
        </p:nvGraphicFramePr>
        <p:xfrm>
          <a:off x="1752600" y="2286000"/>
          <a:ext cx="19050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27100" imgH="228600" progId="Equation.DSMT4">
                  <p:embed/>
                </p:oleObj>
              </mc:Choice>
              <mc:Fallback>
                <p:oleObj r:id="rId9" imgW="927100" imgH="22860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286000"/>
                        <a:ext cx="19050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6" name="Object 4">
            <a:extLst>
              <a:ext uri="{FF2B5EF4-FFF2-40B4-BE49-F238E27FC236}">
                <a16:creationId xmlns:a16="http://schemas.microsoft.com/office/drawing/2014/main" id="{8844EAD4-7754-EE68-3892-F08A762CE8B9}"/>
              </a:ext>
            </a:extLst>
          </p:cNvPr>
          <p:cNvGraphicFramePr>
            <a:graphicFrameLocks/>
          </p:cNvGraphicFramePr>
          <p:nvPr/>
        </p:nvGraphicFramePr>
        <p:xfrm>
          <a:off x="5799138" y="3082925"/>
          <a:ext cx="266541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404880" imgH="1905120" progId="Visio.Drawing.11">
                  <p:embed/>
                </p:oleObj>
              </mc:Choice>
              <mc:Fallback>
                <p:oleObj r:id="rId11" imgW="3404880" imgH="1905120" progId="Visio.Drawing.11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9138" y="3082925"/>
                        <a:ext cx="2665412" cy="148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6" name="矩形 27">
            <a:extLst>
              <a:ext uri="{FF2B5EF4-FFF2-40B4-BE49-F238E27FC236}">
                <a16:creationId xmlns:a16="http://schemas.microsoft.com/office/drawing/2014/main" id="{AC7AE575-EEE5-6D06-39B5-E9B9091CC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343150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（见图）</a:t>
            </a:r>
          </a:p>
        </p:txBody>
      </p:sp>
      <p:graphicFrame>
        <p:nvGraphicFramePr>
          <p:cNvPr id="29" name="Object 14">
            <a:extLst>
              <a:ext uri="{FF2B5EF4-FFF2-40B4-BE49-F238E27FC236}">
                <a16:creationId xmlns:a16="http://schemas.microsoft.com/office/drawing/2014/main" id="{A077D513-845D-7E20-71E5-B8F794B84AD9}"/>
              </a:ext>
            </a:extLst>
          </p:cNvPr>
          <p:cNvGraphicFramePr>
            <a:graphicFrameLocks/>
          </p:cNvGraphicFramePr>
          <p:nvPr/>
        </p:nvGraphicFramePr>
        <p:xfrm>
          <a:off x="5791200" y="1600200"/>
          <a:ext cx="2665413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3404880" imgH="1905120" progId="Visio.Drawing.11">
                  <p:embed/>
                </p:oleObj>
              </mc:Choice>
              <mc:Fallback>
                <p:oleObj r:id="rId13" imgW="3404880" imgH="1905120" progId="Visio.Drawing.11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600200"/>
                        <a:ext cx="2665413" cy="148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7" name="矩形 29">
            <a:extLst>
              <a:ext uri="{FF2B5EF4-FFF2-40B4-BE49-F238E27FC236}">
                <a16:creationId xmlns:a16="http://schemas.microsoft.com/office/drawing/2014/main" id="{534BFE97-9E93-707F-D1E9-1CDCAF386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648200"/>
            <a:ext cx="696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可得</a:t>
            </a:r>
          </a:p>
        </p:txBody>
      </p:sp>
      <p:sp>
        <p:nvSpPr>
          <p:cNvPr id="56338" name="矩形 30">
            <a:extLst>
              <a:ext uri="{FF2B5EF4-FFF2-40B4-BE49-F238E27FC236}">
                <a16:creationId xmlns:a16="http://schemas.microsoft.com/office/drawing/2014/main" id="{67F29BDA-AE75-CA39-51A0-CFE6C05AD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73380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</a:p>
        </p:txBody>
      </p:sp>
      <p:graphicFrame>
        <p:nvGraphicFramePr>
          <p:cNvPr id="56329" name="Object 15">
            <a:extLst>
              <a:ext uri="{FF2B5EF4-FFF2-40B4-BE49-F238E27FC236}">
                <a16:creationId xmlns:a16="http://schemas.microsoft.com/office/drawing/2014/main" id="{D513D1D1-E057-BA19-39EF-B8A7AC5E1A5A}"/>
              </a:ext>
            </a:extLst>
          </p:cNvPr>
          <p:cNvGraphicFramePr>
            <a:graphicFrameLocks/>
          </p:cNvGraphicFramePr>
          <p:nvPr/>
        </p:nvGraphicFramePr>
        <p:xfrm>
          <a:off x="533400" y="5486400"/>
          <a:ext cx="266700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206500" imgH="457200" progId="Equation.DSMT4">
                  <p:embed/>
                </p:oleObj>
              </mc:Choice>
              <mc:Fallback>
                <p:oleObj r:id="rId15" imgW="1206500" imgH="457200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486400"/>
                        <a:ext cx="2667000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16">
            <a:extLst>
              <a:ext uri="{FF2B5EF4-FFF2-40B4-BE49-F238E27FC236}">
                <a16:creationId xmlns:a16="http://schemas.microsoft.com/office/drawing/2014/main" id="{5748F356-A983-BCB2-7A7C-DE36133611D5}"/>
              </a:ext>
            </a:extLst>
          </p:cNvPr>
          <p:cNvGraphicFramePr>
            <a:graphicFrameLocks/>
          </p:cNvGraphicFramePr>
          <p:nvPr/>
        </p:nvGraphicFramePr>
        <p:xfrm>
          <a:off x="3733800" y="5715000"/>
          <a:ext cx="251777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040948" imgH="228501" progId="Equation.DSMT4">
                  <p:embed/>
                </p:oleObj>
              </mc:Choice>
              <mc:Fallback>
                <p:oleObj r:id="rId17" imgW="1040948" imgH="228501" progId="Equation.DSMT4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715000"/>
                        <a:ext cx="251777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061" name="Picture 29">
            <a:extLst>
              <a:ext uri="{FF2B5EF4-FFF2-40B4-BE49-F238E27FC236}">
                <a16:creationId xmlns:a16="http://schemas.microsoft.com/office/drawing/2014/main" id="{171B2897-538A-F47E-54A6-DE4F1CD24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85" t="50000"/>
          <a:stretch>
            <a:fillRect/>
          </a:stretch>
        </p:blipFill>
        <p:spPr bwMode="auto">
          <a:xfrm>
            <a:off x="6305550" y="4673600"/>
            <a:ext cx="2725738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5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5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10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0"/>
                                        <p:tgtEl>
                                          <p:spTgt spid="4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" grpId="0" animBg="1"/>
      <p:bldP spid="56334" grpId="0"/>
      <p:bldP spid="20" grpId="0"/>
      <p:bldP spid="56336" grpId="0"/>
      <p:bldP spid="56337" grpId="0"/>
      <p:bldP spid="5633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矩形 1">
            <a:extLst>
              <a:ext uri="{FF2B5EF4-FFF2-40B4-BE49-F238E27FC236}">
                <a16:creationId xmlns:a16="http://schemas.microsoft.com/office/drawing/2014/main" id="{072D669D-6C4D-AA85-5236-8CB7449F8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143000"/>
            <a:ext cx="3262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画出此匹配滤波器的方框图</a:t>
            </a:r>
            <a:endParaRPr lang="zh-CN" altLang="en-US" sz="2000">
              <a:ea typeface="微软雅黑" panose="020B0503020204020204" pitchFamily="34" charset="-122"/>
            </a:endParaRPr>
          </a:p>
        </p:txBody>
      </p:sp>
      <p:pic>
        <p:nvPicPr>
          <p:cNvPr id="195587" name="Picture 3">
            <a:extLst>
              <a:ext uri="{FF2B5EF4-FFF2-40B4-BE49-F238E27FC236}">
                <a16:creationId xmlns:a16="http://schemas.microsoft.com/office/drawing/2014/main" id="{5CAED3A1-C0C9-EAAE-5D10-5F17C5355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886200"/>
            <a:ext cx="4529138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0835" name="Object 8">
            <a:extLst>
              <a:ext uri="{FF2B5EF4-FFF2-40B4-BE49-F238E27FC236}">
                <a16:creationId xmlns:a16="http://schemas.microsoft.com/office/drawing/2014/main" id="{D7B1CD21-F364-45D5-324D-87C59721E790}"/>
              </a:ext>
            </a:extLst>
          </p:cNvPr>
          <p:cNvGraphicFramePr>
            <a:graphicFrameLocks/>
          </p:cNvGraphicFramePr>
          <p:nvPr/>
        </p:nvGraphicFramePr>
        <p:xfrm>
          <a:off x="2514600" y="2057400"/>
          <a:ext cx="33528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01800" imgH="419100" progId="Equation.DSMT4">
                  <p:embed/>
                </p:oleObj>
              </mc:Choice>
              <mc:Fallback>
                <p:oleObj r:id="rId3" imgW="1701800" imgH="41910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057400"/>
                        <a:ext cx="33528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23" name="Picture 43">
            <a:extLst>
              <a:ext uri="{FF2B5EF4-FFF2-40B4-BE49-F238E27FC236}">
                <a16:creationId xmlns:a16="http://schemas.microsoft.com/office/drawing/2014/main" id="{13F5CF8D-BBB9-4809-7757-9F0CF4644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539750"/>
            <a:ext cx="78168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22" name="Picture 42">
            <a:extLst>
              <a:ext uri="{FF2B5EF4-FFF2-40B4-BE49-F238E27FC236}">
                <a16:creationId xmlns:a16="http://schemas.microsoft.com/office/drawing/2014/main" id="{6244DA49-13A9-1D81-4DED-E2854E45A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763" y="1717675"/>
            <a:ext cx="3579812" cy="465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62" name="Rectangle 2">
            <a:extLst>
              <a:ext uri="{FF2B5EF4-FFF2-40B4-BE49-F238E27FC236}">
                <a16:creationId xmlns:a16="http://schemas.microsoft.com/office/drawing/2014/main" id="{7E608BAA-1F2D-53F6-DEEE-DC140B230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94575" name="Rectangle 15">
            <a:extLst>
              <a:ext uri="{FF2B5EF4-FFF2-40B4-BE49-F238E27FC236}">
                <a16:creationId xmlns:a16="http://schemas.microsoft.com/office/drawing/2014/main" id="{268D6634-EC0C-6F8E-7CE4-BE02446F4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94577" name="Rectangle 17">
            <a:extLst>
              <a:ext uri="{FF2B5EF4-FFF2-40B4-BE49-F238E27FC236}">
                <a16:creationId xmlns:a16="http://schemas.microsoft.com/office/drawing/2014/main" id="{02B5A484-DBF0-01FF-C3FC-2861012EA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2" name="Oval 12">
            <a:extLst>
              <a:ext uri="{FF2B5EF4-FFF2-40B4-BE49-F238E27FC236}">
                <a16:creationId xmlns:a16="http://schemas.microsoft.com/office/drawing/2014/main" id="{466E833E-A427-727D-3C42-9D66F2347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1828800"/>
            <a:ext cx="842962" cy="496888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37259544-5067-BDD5-1FC9-5503EA5C7A8B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304800"/>
            <a:ext cx="727075" cy="692150"/>
            <a:chOff x="1646" y="845"/>
            <a:chExt cx="508" cy="453"/>
          </a:xfrm>
        </p:grpSpPr>
        <p:grpSp>
          <p:nvGrpSpPr>
            <p:cNvPr id="121864" name="Group 23">
              <a:extLst>
                <a:ext uri="{FF2B5EF4-FFF2-40B4-BE49-F238E27FC236}">
                  <a16:creationId xmlns:a16="http://schemas.microsoft.com/office/drawing/2014/main" id="{035F5BE0-A62F-2EA8-BD33-225E222FBB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121865" name="Oval 24">
                <a:extLst>
                  <a:ext uri="{FF2B5EF4-FFF2-40B4-BE49-F238E27FC236}">
                    <a16:creationId xmlns:a16="http://schemas.microsoft.com/office/drawing/2014/main" id="{5A8A4D6D-F742-3E15-3268-FC4C4EFA40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1866" name="Oval 25">
                <a:extLst>
                  <a:ext uri="{FF2B5EF4-FFF2-40B4-BE49-F238E27FC236}">
                    <a16:creationId xmlns:a16="http://schemas.microsoft.com/office/drawing/2014/main" id="{401389C5-23D7-C9F4-2F06-525A9E4C41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sp>
            <p:nvSpPr>
              <p:cNvPr id="121867" name="Oval 26">
                <a:extLst>
                  <a:ext uri="{FF2B5EF4-FFF2-40B4-BE49-F238E27FC236}">
                    <a16:creationId xmlns:a16="http://schemas.microsoft.com/office/drawing/2014/main" id="{6EDA391D-1464-5107-B8BC-FAB013F67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sp>
            <p:nvSpPr>
              <p:cNvPr id="121868" name="Oval 27">
                <a:extLst>
                  <a:ext uri="{FF2B5EF4-FFF2-40B4-BE49-F238E27FC236}">
                    <a16:creationId xmlns:a16="http://schemas.microsoft.com/office/drawing/2014/main" id="{212648CF-AE68-E038-EF4C-16481F7F5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  <p:sp>
            <p:nvSpPr>
              <p:cNvPr id="121869" name="Oval 28">
                <a:extLst>
                  <a:ext uri="{FF2B5EF4-FFF2-40B4-BE49-F238E27FC236}">
                    <a16:creationId xmlns:a16="http://schemas.microsoft.com/office/drawing/2014/main" id="{DFC522CA-8F36-65D6-5F97-04B48E8AB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1870" name="Text Box 29">
              <a:extLst>
                <a:ext uri="{FF2B5EF4-FFF2-40B4-BE49-F238E27FC236}">
                  <a16:creationId xmlns:a16="http://schemas.microsoft.com/office/drawing/2014/main" id="{B9CF0B1E-DDE4-32A7-9E49-4C2F308E3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6" y="902"/>
              <a:ext cx="508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800" b="1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400" b="1">
                  <a:solidFill>
                    <a:srgbClr val="CC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zh-CN" altLang="en-US" sz="2400" b="1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196613" name="Object 5">
            <a:extLst>
              <a:ext uri="{FF2B5EF4-FFF2-40B4-BE49-F238E27FC236}">
                <a16:creationId xmlns:a16="http://schemas.microsoft.com/office/drawing/2014/main" id="{97C5F44B-D437-DEE1-CEDC-522B69832EF9}"/>
              </a:ext>
            </a:extLst>
          </p:cNvPr>
          <p:cNvGraphicFramePr>
            <a:graphicFrameLocks/>
          </p:cNvGraphicFramePr>
          <p:nvPr/>
        </p:nvGraphicFramePr>
        <p:xfrm>
          <a:off x="1676400" y="4495800"/>
          <a:ext cx="1941513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52087" imgH="444307" progId="Equation.DSMT4">
                  <p:embed/>
                </p:oleObj>
              </mc:Choice>
              <mc:Fallback>
                <p:oleObj r:id="rId4" imgW="952087" imgH="444307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495800"/>
                        <a:ext cx="1941513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1">
            <a:extLst>
              <a:ext uri="{FF2B5EF4-FFF2-40B4-BE49-F238E27FC236}">
                <a16:creationId xmlns:a16="http://schemas.microsoft.com/office/drawing/2014/main" id="{097EE821-19CD-9E9D-1BBD-E6A9387A7753}"/>
              </a:ext>
            </a:extLst>
          </p:cNvPr>
          <p:cNvGraphicFramePr>
            <a:graphicFrameLocks/>
          </p:cNvGraphicFramePr>
          <p:nvPr/>
        </p:nvGraphicFramePr>
        <p:xfrm>
          <a:off x="1905000" y="3276600"/>
          <a:ext cx="134937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58558" imgH="380835" progId="Equation.DSMT4">
                  <p:embed/>
                </p:oleObj>
              </mc:Choice>
              <mc:Fallback>
                <p:oleObj r:id="rId6" imgW="558558" imgH="380835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276600"/>
                        <a:ext cx="134937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矩形 41">
            <a:extLst>
              <a:ext uri="{FF2B5EF4-FFF2-40B4-BE49-F238E27FC236}">
                <a16:creationId xmlns:a16="http://schemas.microsoft.com/office/drawing/2014/main" id="{18008307-DE94-6C67-18B4-7CD906E93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514600"/>
            <a:ext cx="1030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i="1">
                <a:ea typeface="微软雅黑" panose="020B0503020204020204" pitchFamily="34" charset="-122"/>
              </a:rPr>
              <a:t>t</a:t>
            </a:r>
            <a:r>
              <a:rPr lang="en-US" altLang="zh-CN" sz="2400" baseline="-25000">
                <a:ea typeface="微软雅黑" panose="020B0503020204020204" pitchFamily="34" charset="-122"/>
              </a:rPr>
              <a:t>0 </a:t>
            </a:r>
            <a:r>
              <a:rPr lang="en-US" altLang="zh-CN" sz="2400">
                <a:ea typeface="微软雅黑" panose="020B0503020204020204" pitchFamily="34" charset="-122"/>
              </a:rPr>
              <a:t>=</a:t>
            </a:r>
            <a:r>
              <a:rPr lang="en-US" altLang="zh-CN" sz="2400" i="1">
                <a:ea typeface="微软雅黑" panose="020B0503020204020204" pitchFamily="34" charset="-122"/>
              </a:rPr>
              <a:t>T</a:t>
            </a:r>
            <a:r>
              <a:rPr lang="en-US" altLang="zh-CN" sz="2400" baseline="-25000">
                <a:ea typeface="微软雅黑" panose="020B0503020204020204" pitchFamily="34" charset="-122"/>
              </a:rPr>
              <a:t>B </a:t>
            </a:r>
            <a:endParaRPr lang="zh-CN" altLang="en-US" sz="2400">
              <a:ea typeface="微软雅黑" panose="020B0503020204020204" pitchFamily="34" charset="-122"/>
            </a:endParaRPr>
          </a:p>
        </p:txBody>
      </p:sp>
      <p:grpSp>
        <p:nvGrpSpPr>
          <p:cNvPr id="4" name="组合 62">
            <a:extLst>
              <a:ext uri="{FF2B5EF4-FFF2-40B4-BE49-F238E27FC236}">
                <a16:creationId xmlns:a16="http://schemas.microsoft.com/office/drawing/2014/main" id="{400BB3C9-65B1-4ED2-121C-26FBF8D147FB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2284413"/>
            <a:ext cx="2300288" cy="3125787"/>
            <a:chOff x="5638800" y="2284958"/>
            <a:chExt cx="2300990" cy="3124768"/>
          </a:xfrm>
        </p:grpSpPr>
        <p:grpSp>
          <p:nvGrpSpPr>
            <p:cNvPr id="121875" name="组合 61">
              <a:extLst>
                <a:ext uri="{FF2B5EF4-FFF2-40B4-BE49-F238E27FC236}">
                  <a16:creationId xmlns:a16="http://schemas.microsoft.com/office/drawing/2014/main" id="{31E7AB42-1C7C-22A5-386F-7F4F4DB56A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8800" y="2284958"/>
              <a:ext cx="1211631" cy="3124768"/>
              <a:chOff x="5638800" y="2284958"/>
              <a:chExt cx="1211631" cy="3124768"/>
            </a:xfrm>
          </p:grpSpPr>
          <p:cxnSp>
            <p:nvCxnSpPr>
              <p:cNvPr id="121876" name="直接连接符 43">
                <a:extLst>
                  <a:ext uri="{FF2B5EF4-FFF2-40B4-BE49-F238E27FC236}">
                    <a16:creationId xmlns:a16="http://schemas.microsoft.com/office/drawing/2014/main" id="{84B447DC-3E94-6C80-7BD3-6D33FD1B8D57}"/>
                  </a:ext>
                </a:extLst>
              </p:cNvPr>
              <p:cNvCxnSpPr>
                <a:cxnSpLocks noChangeShapeType="1"/>
                <a:endCxn id="121882" idx="2"/>
              </p:cNvCxnSpPr>
              <p:nvPr/>
            </p:nvCxnSpPr>
            <p:spPr bwMode="auto">
              <a:xfrm flipV="1">
                <a:off x="5638800" y="2284958"/>
                <a:ext cx="1200015" cy="1042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1877" name="直接连接符 45">
                <a:extLst>
                  <a:ext uri="{FF2B5EF4-FFF2-40B4-BE49-F238E27FC236}">
                    <a16:creationId xmlns:a16="http://schemas.microsoft.com/office/drawing/2014/main" id="{622DFBEF-2237-C0CA-8788-71E140E0490E}"/>
                  </a:ext>
                </a:extLst>
              </p:cNvPr>
              <p:cNvCxnSpPr>
                <a:cxnSpLocks noChangeShapeType="1"/>
                <a:endCxn id="121882" idx="2"/>
              </p:cNvCxnSpPr>
              <p:nvPr/>
            </p:nvCxnSpPr>
            <p:spPr bwMode="auto">
              <a:xfrm rot="5400000">
                <a:off x="6586652" y="2514600"/>
                <a:ext cx="457200" cy="1588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1878" name="直接连接符 46">
                <a:extLst>
                  <a:ext uri="{FF2B5EF4-FFF2-40B4-BE49-F238E27FC236}">
                    <a16:creationId xmlns:a16="http://schemas.microsoft.com/office/drawing/2014/main" id="{C8343FEC-7358-F483-31FE-9E39A719E72C}"/>
                  </a:ext>
                </a:extLst>
              </p:cNvPr>
              <p:cNvCxnSpPr>
                <a:cxnSpLocks noChangeShapeType="1"/>
                <a:endCxn id="121883" idx="2"/>
              </p:cNvCxnSpPr>
              <p:nvPr/>
            </p:nvCxnSpPr>
            <p:spPr bwMode="auto">
              <a:xfrm>
                <a:off x="5638800" y="3643086"/>
                <a:ext cx="1211631" cy="4173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1879" name="直接连接符 47">
                <a:extLst>
                  <a:ext uri="{FF2B5EF4-FFF2-40B4-BE49-F238E27FC236}">
                    <a16:creationId xmlns:a16="http://schemas.microsoft.com/office/drawing/2014/main" id="{90245DBC-63BF-3789-D983-6ADD16994C83}"/>
                  </a:ext>
                </a:extLst>
              </p:cNvPr>
              <p:cNvCxnSpPr>
                <a:cxnSpLocks noChangeShapeType="1"/>
                <a:endCxn id="121883" idx="2"/>
              </p:cNvCxnSpPr>
              <p:nvPr/>
            </p:nvCxnSpPr>
            <p:spPr bwMode="auto">
              <a:xfrm rot="5400000">
                <a:off x="6586652" y="3871686"/>
                <a:ext cx="457200" cy="1588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1880" name="直接连接符 49">
                <a:extLst>
                  <a:ext uri="{FF2B5EF4-FFF2-40B4-BE49-F238E27FC236}">
                    <a16:creationId xmlns:a16="http://schemas.microsoft.com/office/drawing/2014/main" id="{FE363E7A-FDEB-14C2-A5CE-397E39214BCA}"/>
                  </a:ext>
                </a:extLst>
              </p:cNvPr>
              <p:cNvCxnSpPr>
                <a:cxnSpLocks noChangeShapeType="1"/>
                <a:endCxn id="121883" idx="2"/>
              </p:cNvCxnSpPr>
              <p:nvPr/>
            </p:nvCxnSpPr>
            <p:spPr bwMode="auto">
              <a:xfrm flipV="1">
                <a:off x="5653314" y="4876326"/>
                <a:ext cx="1143000" cy="533400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21881" name="直接连接符 51">
              <a:extLst>
                <a:ext uri="{FF2B5EF4-FFF2-40B4-BE49-F238E27FC236}">
                  <a16:creationId xmlns:a16="http://schemas.microsoft.com/office/drawing/2014/main" id="{9D99E301-2C0D-A197-F092-02AB1DB793E8}"/>
                </a:ext>
              </a:extLst>
            </p:cNvPr>
            <p:cNvCxnSpPr>
              <a:cxnSpLocks noChangeShapeType="1"/>
              <a:endCxn id="121883" idx="2"/>
            </p:cNvCxnSpPr>
            <p:nvPr/>
          </p:nvCxnSpPr>
          <p:spPr bwMode="auto">
            <a:xfrm>
              <a:off x="6811304" y="4876326"/>
              <a:ext cx="1128486" cy="518886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1882" name="椭圆 57">
            <a:extLst>
              <a:ext uri="{FF2B5EF4-FFF2-40B4-BE49-F238E27FC236}">
                <a16:creationId xmlns:a16="http://schemas.microsoft.com/office/drawing/2014/main" id="{1CD980E6-4545-741C-05F9-8311987325E8}"/>
              </a:ext>
            </a:extLst>
          </p:cNvPr>
          <p:cNvSpPr>
            <a:spLocks noChangeArrowheads="1"/>
          </p:cNvSpPr>
          <p:nvPr/>
        </p:nvSpPr>
        <p:spPr bwMode="auto">
          <a:xfrm rot="-1475203">
            <a:off x="6818313" y="2074863"/>
            <a:ext cx="457200" cy="22860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21883" name="椭圆 58">
            <a:extLst>
              <a:ext uri="{FF2B5EF4-FFF2-40B4-BE49-F238E27FC236}">
                <a16:creationId xmlns:a16="http://schemas.microsoft.com/office/drawing/2014/main" id="{8519A714-A983-F6E3-16EC-888D1CDF398F}"/>
              </a:ext>
            </a:extLst>
          </p:cNvPr>
          <p:cNvSpPr>
            <a:spLocks noChangeArrowheads="1"/>
          </p:cNvSpPr>
          <p:nvPr/>
        </p:nvSpPr>
        <p:spPr bwMode="auto">
          <a:xfrm rot="-1501473">
            <a:off x="6829425" y="3436938"/>
            <a:ext cx="457200" cy="22860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40" name="矩形 8">
            <a:extLst>
              <a:ext uri="{FF2B5EF4-FFF2-40B4-BE49-F238E27FC236}">
                <a16:creationId xmlns:a16="http://schemas.microsoft.com/office/drawing/2014/main" id="{93300C34-23B4-18B1-AC2A-57AEA117D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1438" y="6507163"/>
            <a:ext cx="3857626" cy="314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  <a:tabLst>
                <a:tab pos="3595370" algn="l"/>
              </a:tabLst>
              <a:defRPr/>
            </a:pPr>
            <a:r>
              <a:rPr lang="zh-CN" alt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西安电子科技大学  通信工程学院</a:t>
            </a:r>
            <a:r>
              <a:rPr lang="en-US" altLang="zh-CN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                          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51EB89FB-8EA8-6A02-76EF-3B19E16565AF}"/>
              </a:ext>
            </a:extLst>
          </p:cNvPr>
          <p:cNvSpPr/>
          <p:nvPr/>
        </p:nvSpPr>
        <p:spPr bwMode="auto">
          <a:xfrm>
            <a:off x="5410200" y="2057400"/>
            <a:ext cx="3048000" cy="1143000"/>
          </a:xfrm>
          <a:prstGeom prst="rect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85BB83B-C359-7CDF-22DE-467D1BCD0C78}"/>
              </a:ext>
            </a:extLst>
          </p:cNvPr>
          <p:cNvSpPr/>
          <p:nvPr/>
        </p:nvSpPr>
        <p:spPr bwMode="auto">
          <a:xfrm>
            <a:off x="5257800" y="1524000"/>
            <a:ext cx="1828800" cy="533400"/>
          </a:xfrm>
          <a:prstGeom prst="ellipse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pic>
        <p:nvPicPr>
          <p:cNvPr id="17415" name="Picture 7">
            <a:extLst>
              <a:ext uri="{FF2B5EF4-FFF2-40B4-BE49-F238E27FC236}">
                <a16:creationId xmlns:a16="http://schemas.microsoft.com/office/drawing/2014/main" id="{289387EF-18FA-4E06-8CD7-7D9898185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968750"/>
            <a:ext cx="454818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9">
            <a:extLst>
              <a:ext uri="{FF2B5EF4-FFF2-40B4-BE49-F238E27FC236}">
                <a16:creationId xmlns:a16="http://schemas.microsoft.com/office/drawing/2014/main" id="{971EBEB4-2114-74F9-F065-5884C5A79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1088" y="5149790"/>
            <a:ext cx="1866900" cy="11557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  <a:miter lim="800000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AFEB3B09-F80E-7DE2-9A8A-ECF4939C5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550" y="5924550"/>
            <a:ext cx="1036638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相关器</a:t>
            </a:r>
            <a:r>
              <a:rPr lang="zh-CN" altLang="en-US" sz="20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E7570088-8B26-CBEA-2B72-9E50DFA9E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69913"/>
            <a:ext cx="5486400" cy="461962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匹配滤波形式</a:t>
            </a:r>
            <a:r>
              <a:rPr kumimoji="1"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最佳接收机</a:t>
            </a:r>
            <a:endParaRPr kumimoji="1" lang="zh-CN" altLang="en-US" sz="2400" dirty="0">
              <a:solidFill>
                <a:srgbClr val="FF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502A74E-9D1D-D352-ECF1-145A56467BCB}"/>
              </a:ext>
            </a:extLst>
          </p:cNvPr>
          <p:cNvSpPr/>
          <p:nvPr/>
        </p:nvSpPr>
        <p:spPr>
          <a:xfrm>
            <a:off x="762000" y="1219200"/>
            <a:ext cx="3429000" cy="4619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对于二进制</a:t>
            </a:r>
            <a:r>
              <a:rPr lang="zh-CN" altLang="en-US" sz="24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确知</a:t>
            </a:r>
            <a:r>
              <a:rPr lang="zh-CN" altLang="en-US" sz="24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  <a:r>
              <a:rPr lang="zh-CN" altLang="en-US" sz="2000" b="1" dirty="0">
                <a:solidFill>
                  <a:srgbClr val="003399"/>
                </a:solidFill>
                <a:latin typeface="+mn-ea"/>
                <a:ea typeface="+mn-ea"/>
              </a:rPr>
              <a:t>：</a:t>
            </a:r>
          </a:p>
        </p:txBody>
      </p:sp>
      <p:sp>
        <p:nvSpPr>
          <p:cNvPr id="198661" name="Rectangle 5">
            <a:extLst>
              <a:ext uri="{FF2B5EF4-FFF2-40B4-BE49-F238E27FC236}">
                <a16:creationId xmlns:a16="http://schemas.microsoft.com/office/drawing/2014/main" id="{482F0268-C24D-6751-B7F0-6A208CE34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pic>
        <p:nvPicPr>
          <p:cNvPr id="131084" name="Picture 6">
            <a:extLst>
              <a:ext uri="{FF2B5EF4-FFF2-40B4-BE49-F238E27FC236}">
                <a16:creationId xmlns:a16="http://schemas.microsoft.com/office/drawing/2014/main" id="{5E9420AF-75BB-74CF-1ABE-E516115DB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4495800" cy="181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85" name="矩形 29">
            <a:extLst>
              <a:ext uri="{FF2B5EF4-FFF2-40B4-BE49-F238E27FC236}">
                <a16:creationId xmlns:a16="http://schemas.microsoft.com/office/drawing/2014/main" id="{8FD852D8-603D-D772-500A-ABAAD4F0F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5895975"/>
            <a:ext cx="1338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相关接收机</a:t>
            </a:r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969AE9-3C08-781C-063E-71A0A1DEF8DF}"/>
              </a:ext>
            </a:extLst>
          </p:cNvPr>
          <p:cNvSpPr/>
          <p:nvPr/>
        </p:nvSpPr>
        <p:spPr>
          <a:xfrm>
            <a:off x="5410200" y="1547813"/>
            <a:ext cx="1671638" cy="46196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400" b="1" dirty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等效条件</a:t>
            </a:r>
            <a:r>
              <a:rPr kumimoji="1" lang="zh-CN" altLang="en-US" sz="2000" b="1" dirty="0">
                <a:solidFill>
                  <a:srgbClr val="003399"/>
                </a:solidFill>
                <a:latin typeface="+mn-ea"/>
                <a:ea typeface="+mn-ea"/>
              </a:rPr>
              <a:t>：</a:t>
            </a:r>
            <a:endParaRPr lang="zh-CN" altLang="en-US" sz="2000" b="1" dirty="0">
              <a:solidFill>
                <a:srgbClr val="003399"/>
              </a:solidFill>
              <a:latin typeface="+mn-ea"/>
              <a:ea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1AEC00-F204-4F4D-2C64-B74623217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343150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两者输出相等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22" name="矩形 41">
            <a:extLst>
              <a:ext uri="{FF2B5EF4-FFF2-40B4-BE49-F238E27FC236}">
                <a16:creationId xmlns:a16="http://schemas.microsoft.com/office/drawing/2014/main" id="{18A282C1-D5A7-6800-BD45-F8C54D248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190750"/>
            <a:ext cx="954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</a:t>
            </a:r>
          </a:p>
        </p:txBody>
      </p:sp>
      <p:sp>
        <p:nvSpPr>
          <p:cNvPr id="26" name="Rectangle 22">
            <a:extLst>
              <a:ext uri="{FF2B5EF4-FFF2-40B4-BE49-F238E27FC236}">
                <a16:creationId xmlns:a16="http://schemas.microsoft.com/office/drawing/2014/main" id="{B7DBABB6-47F4-E9F8-7204-72B4B3C89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647950"/>
            <a:ext cx="1371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相关器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D15310D-362C-496F-F413-2B3BAC6F9790}"/>
              </a:ext>
            </a:extLst>
          </p:cNvPr>
          <p:cNvSpPr/>
          <p:nvPr/>
        </p:nvSpPr>
        <p:spPr>
          <a:xfrm>
            <a:off x="1735138" y="3819525"/>
            <a:ext cx="146685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中宋" panose="02010600040101010101" pitchFamily="2" charset="-122"/>
              </a:rPr>
              <a:t>匹配滤波器</a:t>
            </a:r>
            <a:endParaRPr lang="zh-CN" altLang="en-US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25422EC4-E59D-6EA3-4371-820CAB6C5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033851"/>
            <a:ext cx="1866900" cy="11557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  <a:miter lim="800000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AA39FA-B38A-02B2-F45B-4D119260840D}"/>
              </a:ext>
            </a:extLst>
          </p:cNvPr>
          <p:cNvSpPr/>
          <p:nvPr/>
        </p:nvSpPr>
        <p:spPr>
          <a:xfrm>
            <a:off x="1295400" y="5410200"/>
            <a:ext cx="1981200" cy="661988"/>
          </a:xfrm>
          <a:prstGeom prst="rect">
            <a:avLst/>
          </a:prstGeom>
          <a:solidFill>
            <a:srgbClr val="E8E8E8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均能使 </a:t>
            </a:r>
            <a:r>
              <a:rPr kumimoji="1" lang="en-US" altLang="zh-CN" sz="2800" b="1" i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800" b="1" baseline="-25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min</a:t>
            </a:r>
            <a:endParaRPr lang="zh-CN" altLang="en-US" sz="2800" dirty="0">
              <a:solidFill>
                <a:srgbClr val="99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11">
            <a:extLst>
              <a:ext uri="{FF2B5EF4-FFF2-40B4-BE49-F238E27FC236}">
                <a16:creationId xmlns:a16="http://schemas.microsoft.com/office/drawing/2014/main" id="{1D59751A-3E75-8D7E-C805-46434DD94F5C}"/>
              </a:ext>
            </a:extLst>
          </p:cNvPr>
          <p:cNvSpPr>
            <a:spLocks/>
          </p:cNvSpPr>
          <p:nvPr/>
        </p:nvSpPr>
        <p:spPr bwMode="auto">
          <a:xfrm flipH="1">
            <a:off x="6400800" y="2295525"/>
            <a:ext cx="193675" cy="609600"/>
          </a:xfrm>
          <a:prstGeom prst="leftBrace">
            <a:avLst>
              <a:gd name="adj1" fmla="val 27177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494DC77-779C-A97D-3A9F-79E462317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724150"/>
            <a:ext cx="1468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000" b="1" i="1">
                <a:solidFill>
                  <a:srgbClr val="0000CC"/>
                </a:solidFill>
                <a:ea typeface="微软雅黑" panose="020B0503020204020204" pitchFamily="34" charset="-122"/>
              </a:rPr>
              <a:t>t=T</a:t>
            </a:r>
            <a:r>
              <a:rPr lang="en-US" altLang="zh-CN" sz="2000" b="1" baseline="-25000">
                <a:solidFill>
                  <a:srgbClr val="0000CC"/>
                </a:solidFill>
              </a:rPr>
              <a:t>B</a:t>
            </a:r>
            <a:r>
              <a:rPr lang="zh-CN" altLang="en-US" sz="2000">
                <a:solidFill>
                  <a:srgbClr val="000000"/>
                </a:solidFill>
                <a:ea typeface="华文中宋" panose="02010600040101010101" pitchFamily="2" charset="-122"/>
              </a:rPr>
              <a:t>时）</a:t>
            </a:r>
            <a:endParaRPr lang="zh-CN" altLang="en-US" sz="2000">
              <a:ea typeface="华文中宋" panose="02010600040101010101" pitchFamily="2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B7AE39D-0358-BD73-0CD1-D419177C0D4B}"/>
              </a:ext>
            </a:extLst>
          </p:cNvPr>
          <p:cNvSpPr/>
          <p:nvPr/>
        </p:nvSpPr>
        <p:spPr bwMode="auto">
          <a:xfrm>
            <a:off x="1295400" y="4876800"/>
            <a:ext cx="1712913" cy="533400"/>
          </a:xfrm>
          <a:prstGeom prst="ellipse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BF78D8-6AAC-8BBA-F2FB-47E7F2A461DD}"/>
              </a:ext>
            </a:extLst>
          </p:cNvPr>
          <p:cNvSpPr/>
          <p:nvPr/>
        </p:nvSpPr>
        <p:spPr>
          <a:xfrm>
            <a:off x="1447800" y="4905375"/>
            <a:ext cx="1416050" cy="4619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400" b="1" dirty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两者等效</a:t>
            </a:r>
            <a:endParaRPr lang="zh-CN" altLang="en-US" sz="24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3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13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6" grpId="0" animBg="1"/>
      <p:bldP spid="25" grpId="0"/>
      <p:bldP spid="19" grpId="0"/>
      <p:bldP spid="23" grpId="0"/>
      <p:bldP spid="131085" grpId="0"/>
      <p:bldP spid="18" grpId="0"/>
      <p:bldP spid="20" grpId="0"/>
      <p:bldP spid="22" grpId="0"/>
      <p:bldP spid="26" grpId="0"/>
      <p:bldP spid="28" grpId="0"/>
      <p:bldP spid="30" grpId="0" animBg="1"/>
      <p:bldP spid="34" grpId="0" animBg="1"/>
      <p:bldP spid="35" grpId="0"/>
      <p:bldP spid="31" grpId="0" animBg="1"/>
      <p:bldP spid="1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椭圆 19">
            <a:extLst>
              <a:ext uri="{FF2B5EF4-FFF2-40B4-BE49-F238E27FC236}">
                <a16:creationId xmlns:a16="http://schemas.microsoft.com/office/drawing/2014/main" id="{704D64EB-05C4-4F22-991F-60CF216B98D8}"/>
              </a:ext>
            </a:extLst>
          </p:cNvPr>
          <p:cNvSpPr/>
          <p:nvPr/>
        </p:nvSpPr>
        <p:spPr bwMode="auto">
          <a:xfrm>
            <a:off x="1219200" y="5029200"/>
            <a:ext cx="1071563" cy="642938"/>
          </a:xfrm>
          <a:prstGeom prst="ellipse">
            <a:avLst/>
          </a:prstGeom>
          <a:solidFill>
            <a:srgbClr val="E8E8E8"/>
          </a:solidFill>
          <a:ln w="9525" cap="flat" cmpd="sng" algn="ctr">
            <a:solidFill>
              <a:srgbClr val="990099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>
              <a:defRPr/>
            </a:pPr>
            <a:endParaRPr lang="zh-CN" altLang="en-US" dirty="0"/>
          </a:p>
        </p:txBody>
      </p:sp>
      <p:graphicFrame>
        <p:nvGraphicFramePr>
          <p:cNvPr id="168963" name="Object 3">
            <a:extLst>
              <a:ext uri="{FF2B5EF4-FFF2-40B4-BE49-F238E27FC236}">
                <a16:creationId xmlns:a16="http://schemas.microsoft.com/office/drawing/2014/main" id="{C0A689F7-A9E1-E03D-8271-B64A88EAFCD9}"/>
              </a:ext>
            </a:extLst>
          </p:cNvPr>
          <p:cNvGraphicFramePr>
            <a:graphicFrameLocks/>
          </p:cNvGraphicFramePr>
          <p:nvPr/>
        </p:nvGraphicFramePr>
        <p:xfrm>
          <a:off x="1371600" y="3325813"/>
          <a:ext cx="219710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26296" imgH="203024" progId="Equation.DSMT4">
                  <p:embed/>
                </p:oleObj>
              </mc:Choice>
              <mc:Fallback>
                <p:oleObj r:id="rId2" imgW="926296" imgH="203024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325813"/>
                        <a:ext cx="219710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6" name="Object 6">
            <a:extLst>
              <a:ext uri="{FF2B5EF4-FFF2-40B4-BE49-F238E27FC236}">
                <a16:creationId xmlns:a16="http://schemas.microsoft.com/office/drawing/2014/main" id="{F25B4C16-0639-D5EB-341B-4B72CC0876EA}"/>
              </a:ext>
            </a:extLst>
          </p:cNvPr>
          <p:cNvGraphicFramePr>
            <a:graphicFrameLocks/>
          </p:cNvGraphicFramePr>
          <p:nvPr/>
        </p:nvGraphicFramePr>
        <p:xfrm>
          <a:off x="4038600" y="3325813"/>
          <a:ext cx="220980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02865" imgH="228501" progId="Equation.DSMT4">
                  <p:embed/>
                </p:oleObj>
              </mc:Choice>
              <mc:Fallback>
                <p:oleObj r:id="rId4" imgW="1002865" imgH="228501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325813"/>
                        <a:ext cx="2209800" cy="484187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999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72" name="Rectangle 12">
            <a:extLst>
              <a:ext uri="{FF2B5EF4-FFF2-40B4-BE49-F238E27FC236}">
                <a16:creationId xmlns:a16="http://schemas.microsoft.com/office/drawing/2014/main" id="{DD4926EC-2676-4093-E82F-C0C288501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" y="2724150"/>
            <a:ext cx="2687638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65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匹配滤波器</a:t>
            </a:r>
            <a:r>
              <a:rPr kumimoji="1"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的输出</a:t>
            </a:r>
            <a:r>
              <a:rPr kumimoji="1"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168973" name="Rectangle 13">
            <a:extLst>
              <a:ext uri="{FF2B5EF4-FFF2-40B4-BE49-F238E27FC236}">
                <a16:creationId xmlns:a16="http://schemas.microsoft.com/office/drawing/2014/main" id="{21662B21-04F1-E107-6F42-0BF8A91B0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00150"/>
            <a:ext cx="4572000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>
              <a:buClr>
                <a:schemeClr val="bg1">
                  <a:lumMod val="50000"/>
                </a:schemeClr>
              </a:buClr>
              <a:buSzPct val="65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在抽样时刻</a:t>
            </a:r>
            <a:r>
              <a:rPr kumimoji="1"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kumimoji="1" lang="zh-CN" altLang="en-US" sz="2000" b="1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相关器</a:t>
            </a:r>
            <a:r>
              <a:rPr kumimoji="1"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的输出</a:t>
            </a:r>
            <a:r>
              <a:rPr kumimoji="1"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graphicFrame>
        <p:nvGraphicFramePr>
          <p:cNvPr id="60433" name="Object 4">
            <a:extLst>
              <a:ext uri="{FF2B5EF4-FFF2-40B4-BE49-F238E27FC236}">
                <a16:creationId xmlns:a16="http://schemas.microsoft.com/office/drawing/2014/main" id="{F58CDD12-EE95-BDFB-2057-D4C561863425}"/>
              </a:ext>
            </a:extLst>
          </p:cNvPr>
          <p:cNvGraphicFramePr>
            <a:graphicFrameLocks/>
          </p:cNvGraphicFramePr>
          <p:nvPr/>
        </p:nvGraphicFramePr>
        <p:xfrm>
          <a:off x="3276600" y="1862138"/>
          <a:ext cx="32766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85255" imgH="330057" progId="Equation.DSMT4">
                  <p:embed/>
                </p:oleObj>
              </mc:Choice>
              <mc:Fallback>
                <p:oleObj r:id="rId6" imgW="1485255" imgH="330057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862138"/>
                        <a:ext cx="3276600" cy="728662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3">
            <a:extLst>
              <a:ext uri="{FF2B5EF4-FFF2-40B4-BE49-F238E27FC236}">
                <a16:creationId xmlns:a16="http://schemas.microsoft.com/office/drawing/2014/main" id="{C664469E-CF31-8CBE-E01A-DE4917A23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33400"/>
            <a:ext cx="3276600" cy="46196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4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</a:t>
            </a:r>
            <a:r>
              <a:rPr kumimoji="1" lang="zh-CN" altLang="en-US" sz="2400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</a:p>
        </p:txBody>
      </p:sp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6AEBE9AD-BA2E-CE55-AFD9-03EB5ED4CF85}"/>
              </a:ext>
            </a:extLst>
          </p:cNvPr>
          <p:cNvGraphicFramePr>
            <a:graphicFrameLocks/>
          </p:cNvGraphicFramePr>
          <p:nvPr/>
        </p:nvGraphicFramePr>
        <p:xfrm>
          <a:off x="1887538" y="3967163"/>
          <a:ext cx="3281362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83099" imgH="317225" progId="Equation.DSMT4">
                  <p:embed/>
                </p:oleObj>
              </mc:Choice>
              <mc:Fallback>
                <p:oleObj r:id="rId8" imgW="1383099" imgH="317225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3967163"/>
                        <a:ext cx="3281362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AB0329C2-F020-308B-3248-1451CE2A51A9}"/>
              </a:ext>
            </a:extLst>
          </p:cNvPr>
          <p:cNvSpPr/>
          <p:nvPr/>
        </p:nvSpPr>
        <p:spPr>
          <a:xfrm>
            <a:off x="1381125" y="5100638"/>
            <a:ext cx="1631950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i="1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t=T</a:t>
            </a:r>
            <a:r>
              <a:rPr lang="en-US" altLang="zh-CN" sz="2400" baseline="-25000" dirty="0">
                <a:solidFill>
                  <a:srgbClr val="FF0000"/>
                </a:solidFill>
                <a:cs typeface="Arial" panose="020B0604020202020204" pitchFamily="34" charset="0"/>
              </a:rPr>
              <a:t>B      </a:t>
            </a:r>
            <a:r>
              <a:rPr kumimoji="1"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时</a:t>
            </a:r>
            <a:r>
              <a:rPr kumimoji="1"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000" dirty="0"/>
          </a:p>
        </p:txBody>
      </p:sp>
      <p:graphicFrame>
        <p:nvGraphicFramePr>
          <p:cNvPr id="27" name="Object 17">
            <a:extLst>
              <a:ext uri="{FF2B5EF4-FFF2-40B4-BE49-F238E27FC236}">
                <a16:creationId xmlns:a16="http://schemas.microsoft.com/office/drawing/2014/main" id="{39DB0722-9661-33E6-4C46-D99C4B458AF3}"/>
              </a:ext>
            </a:extLst>
          </p:cNvPr>
          <p:cNvGraphicFramePr>
            <a:graphicFrameLocks/>
          </p:cNvGraphicFramePr>
          <p:nvPr/>
        </p:nvGraphicFramePr>
        <p:xfrm>
          <a:off x="3276600" y="4986338"/>
          <a:ext cx="32766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485255" imgH="330057" progId="Equation.DSMT4">
                  <p:embed/>
                </p:oleObj>
              </mc:Choice>
              <mc:Fallback>
                <p:oleObj r:id="rId10" imgW="1485255" imgH="330057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986338"/>
                        <a:ext cx="3276600" cy="728662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A8F22743-5221-B9DF-55B4-9D3ECD4BB604}"/>
              </a:ext>
            </a:extLst>
          </p:cNvPr>
          <p:cNvSpPr/>
          <p:nvPr/>
        </p:nvSpPr>
        <p:spPr>
          <a:xfrm>
            <a:off x="7010400" y="3657600"/>
            <a:ext cx="800100" cy="4619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4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等效</a:t>
            </a:r>
            <a:endParaRPr lang="zh-CN" altLang="en-US" sz="2400" dirty="0">
              <a:solidFill>
                <a:srgbClr val="990099"/>
              </a:solidFill>
            </a:endParaRPr>
          </a:p>
        </p:txBody>
      </p:sp>
      <p:grpSp>
        <p:nvGrpSpPr>
          <p:cNvPr id="2" name="组合 22">
            <a:extLst>
              <a:ext uri="{FF2B5EF4-FFF2-40B4-BE49-F238E27FC236}">
                <a16:creationId xmlns:a16="http://schemas.microsoft.com/office/drawing/2014/main" id="{E13A93C1-4414-2E1B-EEC5-555B3D169FB4}"/>
              </a:ext>
            </a:extLst>
          </p:cNvPr>
          <p:cNvGrpSpPr>
            <a:grpSpLocks/>
          </p:cNvGrpSpPr>
          <p:nvPr/>
        </p:nvGrpSpPr>
        <p:grpSpPr bwMode="auto">
          <a:xfrm>
            <a:off x="6208713" y="2789238"/>
            <a:ext cx="877887" cy="1935162"/>
            <a:chOff x="6674346" y="471636"/>
            <a:chExt cx="878051" cy="1935778"/>
          </a:xfrm>
        </p:grpSpPr>
        <p:sp>
          <p:nvSpPr>
            <p:cNvPr id="123917" name="Freeform 10">
              <a:extLst>
                <a:ext uri="{FF2B5EF4-FFF2-40B4-BE49-F238E27FC236}">
                  <a16:creationId xmlns:a16="http://schemas.microsoft.com/office/drawing/2014/main" id="{7C2BCBE1-D421-6803-4FE4-EAFE1434F6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44179" flipH="1" flipV="1">
              <a:off x="6674346" y="722494"/>
              <a:ext cx="878051" cy="1684920"/>
            </a:xfrm>
            <a:custGeom>
              <a:avLst/>
              <a:gdLst>
                <a:gd name="T0" fmla="*/ 464 w 1612"/>
                <a:gd name="T1" fmla="*/ 966 h 1618"/>
                <a:gd name="T2" fmla="*/ 378 w 1612"/>
                <a:gd name="T3" fmla="*/ 822 h 1618"/>
                <a:gd name="T4" fmla="*/ 310 w 1612"/>
                <a:gd name="T5" fmla="*/ 690 h 1618"/>
                <a:gd name="T6" fmla="*/ 256 w 1612"/>
                <a:gd name="T7" fmla="*/ 572 h 1618"/>
                <a:gd name="T8" fmla="*/ 214 w 1612"/>
                <a:gd name="T9" fmla="*/ 472 h 1618"/>
                <a:gd name="T10" fmla="*/ 166 w 1612"/>
                <a:gd name="T11" fmla="*/ 328 h 1618"/>
                <a:gd name="T12" fmla="*/ 152 w 1612"/>
                <a:gd name="T13" fmla="*/ 276 h 1618"/>
                <a:gd name="T14" fmla="*/ 34 w 1612"/>
                <a:gd name="T15" fmla="*/ 0 h 1618"/>
                <a:gd name="T16" fmla="*/ 82 w 1612"/>
                <a:gd name="T17" fmla="*/ 294 h 1618"/>
                <a:gd name="T18" fmla="*/ 98 w 1612"/>
                <a:gd name="T19" fmla="*/ 350 h 1618"/>
                <a:gd name="T20" fmla="*/ 152 w 1612"/>
                <a:gd name="T21" fmla="*/ 500 h 1618"/>
                <a:gd name="T22" fmla="*/ 200 w 1612"/>
                <a:gd name="T23" fmla="*/ 604 h 1618"/>
                <a:gd name="T24" fmla="*/ 260 w 1612"/>
                <a:gd name="T25" fmla="*/ 722 h 1618"/>
                <a:gd name="T26" fmla="*/ 336 w 1612"/>
                <a:gd name="T27" fmla="*/ 856 h 1618"/>
                <a:gd name="T28" fmla="*/ 430 w 1612"/>
                <a:gd name="T29" fmla="*/ 998 h 1618"/>
                <a:gd name="T30" fmla="*/ 514 w 1612"/>
                <a:gd name="T31" fmla="*/ 1104 h 1618"/>
                <a:gd name="T32" fmla="*/ 602 w 1612"/>
                <a:gd name="T33" fmla="*/ 1196 h 1618"/>
                <a:gd name="T34" fmla="*/ 696 w 1612"/>
                <a:gd name="T35" fmla="*/ 1278 h 1618"/>
                <a:gd name="T36" fmla="*/ 794 w 1612"/>
                <a:gd name="T37" fmla="*/ 1348 h 1618"/>
                <a:gd name="T38" fmla="*/ 892 w 1612"/>
                <a:gd name="T39" fmla="*/ 1408 h 1618"/>
                <a:gd name="T40" fmla="*/ 990 w 1612"/>
                <a:gd name="T41" fmla="*/ 1458 h 1618"/>
                <a:gd name="T42" fmla="*/ 1086 w 1612"/>
                <a:gd name="T43" fmla="*/ 1500 h 1618"/>
                <a:gd name="T44" fmla="*/ 1180 w 1612"/>
                <a:gd name="T45" fmla="*/ 1534 h 1618"/>
                <a:gd name="T46" fmla="*/ 1268 w 1612"/>
                <a:gd name="T47" fmla="*/ 1560 h 1618"/>
                <a:gd name="T48" fmla="*/ 1424 w 1612"/>
                <a:gd name="T49" fmla="*/ 1596 h 1618"/>
                <a:gd name="T50" fmla="*/ 1540 w 1612"/>
                <a:gd name="T51" fmla="*/ 1612 h 1618"/>
                <a:gd name="T52" fmla="*/ 1612 w 1612"/>
                <a:gd name="T53" fmla="*/ 1618 h 1618"/>
                <a:gd name="T54" fmla="*/ 1540 w 1612"/>
                <a:gd name="T55" fmla="*/ 1612 h 1618"/>
                <a:gd name="T56" fmla="*/ 1426 w 1612"/>
                <a:gd name="T57" fmla="*/ 1594 h 1618"/>
                <a:gd name="T58" fmla="*/ 1274 w 1612"/>
                <a:gd name="T59" fmla="*/ 1558 h 1618"/>
                <a:gd name="T60" fmla="*/ 1186 w 1612"/>
                <a:gd name="T61" fmla="*/ 1530 h 1618"/>
                <a:gd name="T62" fmla="*/ 1096 w 1612"/>
                <a:gd name="T63" fmla="*/ 1494 h 1618"/>
                <a:gd name="T64" fmla="*/ 1002 w 1612"/>
                <a:gd name="T65" fmla="*/ 1450 h 1618"/>
                <a:gd name="T66" fmla="*/ 906 w 1612"/>
                <a:gd name="T67" fmla="*/ 1398 h 1618"/>
                <a:gd name="T68" fmla="*/ 810 w 1612"/>
                <a:gd name="T69" fmla="*/ 1336 h 1618"/>
                <a:gd name="T70" fmla="*/ 718 w 1612"/>
                <a:gd name="T71" fmla="*/ 1262 h 1618"/>
                <a:gd name="T72" fmla="*/ 626 w 1612"/>
                <a:gd name="T73" fmla="*/ 1176 h 1618"/>
                <a:gd name="T74" fmla="*/ 542 w 1612"/>
                <a:gd name="T75" fmla="*/ 1078 h 1618"/>
                <a:gd name="T76" fmla="*/ 464 w 1612"/>
                <a:gd name="T77" fmla="*/ 966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12" h="1618">
                  <a:moveTo>
                    <a:pt x="464" y="966"/>
                  </a:moveTo>
                  <a:lnTo>
                    <a:pt x="464" y="966"/>
                  </a:lnTo>
                  <a:lnTo>
                    <a:pt x="418" y="892"/>
                  </a:lnTo>
                  <a:lnTo>
                    <a:pt x="378" y="822"/>
                  </a:lnTo>
                  <a:lnTo>
                    <a:pt x="342" y="754"/>
                  </a:lnTo>
                  <a:lnTo>
                    <a:pt x="310" y="690"/>
                  </a:lnTo>
                  <a:lnTo>
                    <a:pt x="280" y="630"/>
                  </a:lnTo>
                  <a:lnTo>
                    <a:pt x="256" y="572"/>
                  </a:lnTo>
                  <a:lnTo>
                    <a:pt x="234" y="520"/>
                  </a:lnTo>
                  <a:lnTo>
                    <a:pt x="214" y="472"/>
                  </a:lnTo>
                  <a:lnTo>
                    <a:pt x="184" y="390"/>
                  </a:lnTo>
                  <a:lnTo>
                    <a:pt x="166" y="328"/>
                  </a:lnTo>
                  <a:lnTo>
                    <a:pt x="156" y="290"/>
                  </a:lnTo>
                  <a:lnTo>
                    <a:pt x="152" y="276"/>
                  </a:lnTo>
                  <a:lnTo>
                    <a:pt x="244" y="300"/>
                  </a:lnTo>
                  <a:lnTo>
                    <a:pt x="34" y="0"/>
                  </a:lnTo>
                  <a:lnTo>
                    <a:pt x="0" y="396"/>
                  </a:lnTo>
                  <a:lnTo>
                    <a:pt x="82" y="294"/>
                  </a:lnTo>
                  <a:lnTo>
                    <a:pt x="86" y="308"/>
                  </a:lnTo>
                  <a:lnTo>
                    <a:pt x="98" y="350"/>
                  </a:lnTo>
                  <a:lnTo>
                    <a:pt x="120" y="414"/>
                  </a:lnTo>
                  <a:lnTo>
                    <a:pt x="152" y="500"/>
                  </a:lnTo>
                  <a:lnTo>
                    <a:pt x="174" y="550"/>
                  </a:lnTo>
                  <a:lnTo>
                    <a:pt x="200" y="604"/>
                  </a:lnTo>
                  <a:lnTo>
                    <a:pt x="228" y="662"/>
                  </a:lnTo>
                  <a:lnTo>
                    <a:pt x="260" y="722"/>
                  </a:lnTo>
                  <a:lnTo>
                    <a:pt x="296" y="788"/>
                  </a:lnTo>
                  <a:lnTo>
                    <a:pt x="336" y="856"/>
                  </a:lnTo>
                  <a:lnTo>
                    <a:pt x="382" y="926"/>
                  </a:lnTo>
                  <a:lnTo>
                    <a:pt x="430" y="998"/>
                  </a:lnTo>
                  <a:lnTo>
                    <a:pt x="472" y="1052"/>
                  </a:lnTo>
                  <a:lnTo>
                    <a:pt x="514" y="1104"/>
                  </a:lnTo>
                  <a:lnTo>
                    <a:pt x="558" y="1152"/>
                  </a:lnTo>
                  <a:lnTo>
                    <a:pt x="602" y="1196"/>
                  </a:lnTo>
                  <a:lnTo>
                    <a:pt x="650" y="1238"/>
                  </a:lnTo>
                  <a:lnTo>
                    <a:pt x="696" y="1278"/>
                  </a:lnTo>
                  <a:lnTo>
                    <a:pt x="744" y="1314"/>
                  </a:lnTo>
                  <a:lnTo>
                    <a:pt x="794" y="1348"/>
                  </a:lnTo>
                  <a:lnTo>
                    <a:pt x="842" y="1380"/>
                  </a:lnTo>
                  <a:lnTo>
                    <a:pt x="892" y="1408"/>
                  </a:lnTo>
                  <a:lnTo>
                    <a:pt x="942" y="1434"/>
                  </a:lnTo>
                  <a:lnTo>
                    <a:pt x="990" y="1458"/>
                  </a:lnTo>
                  <a:lnTo>
                    <a:pt x="1038" y="1480"/>
                  </a:lnTo>
                  <a:lnTo>
                    <a:pt x="1086" y="1500"/>
                  </a:lnTo>
                  <a:lnTo>
                    <a:pt x="1134" y="1518"/>
                  </a:lnTo>
                  <a:lnTo>
                    <a:pt x="1180" y="1534"/>
                  </a:lnTo>
                  <a:lnTo>
                    <a:pt x="1224" y="1548"/>
                  </a:lnTo>
                  <a:lnTo>
                    <a:pt x="1268" y="1560"/>
                  </a:lnTo>
                  <a:lnTo>
                    <a:pt x="1350" y="1580"/>
                  </a:lnTo>
                  <a:lnTo>
                    <a:pt x="1424" y="1596"/>
                  </a:lnTo>
                  <a:lnTo>
                    <a:pt x="1486" y="1606"/>
                  </a:lnTo>
                  <a:lnTo>
                    <a:pt x="1540" y="1612"/>
                  </a:lnTo>
                  <a:lnTo>
                    <a:pt x="1578" y="1616"/>
                  </a:lnTo>
                  <a:lnTo>
                    <a:pt x="1612" y="1618"/>
                  </a:lnTo>
                  <a:lnTo>
                    <a:pt x="1580" y="1616"/>
                  </a:lnTo>
                  <a:lnTo>
                    <a:pt x="1540" y="1612"/>
                  </a:lnTo>
                  <a:lnTo>
                    <a:pt x="1488" y="1606"/>
                  </a:lnTo>
                  <a:lnTo>
                    <a:pt x="1426" y="1594"/>
                  </a:lnTo>
                  <a:lnTo>
                    <a:pt x="1354" y="1578"/>
                  </a:lnTo>
                  <a:lnTo>
                    <a:pt x="1274" y="1558"/>
                  </a:lnTo>
                  <a:lnTo>
                    <a:pt x="1230" y="1544"/>
                  </a:lnTo>
                  <a:lnTo>
                    <a:pt x="1186" y="1530"/>
                  </a:lnTo>
                  <a:lnTo>
                    <a:pt x="1142" y="1512"/>
                  </a:lnTo>
                  <a:lnTo>
                    <a:pt x="1096" y="1494"/>
                  </a:lnTo>
                  <a:lnTo>
                    <a:pt x="1048" y="1474"/>
                  </a:lnTo>
                  <a:lnTo>
                    <a:pt x="1002" y="1450"/>
                  </a:lnTo>
                  <a:lnTo>
                    <a:pt x="954" y="1426"/>
                  </a:lnTo>
                  <a:lnTo>
                    <a:pt x="906" y="1398"/>
                  </a:lnTo>
                  <a:lnTo>
                    <a:pt x="858" y="1368"/>
                  </a:lnTo>
                  <a:lnTo>
                    <a:pt x="810" y="1336"/>
                  </a:lnTo>
                  <a:lnTo>
                    <a:pt x="764" y="1300"/>
                  </a:lnTo>
                  <a:lnTo>
                    <a:pt x="718" y="1262"/>
                  </a:lnTo>
                  <a:lnTo>
                    <a:pt x="672" y="1220"/>
                  </a:lnTo>
                  <a:lnTo>
                    <a:pt x="626" y="1176"/>
                  </a:lnTo>
                  <a:lnTo>
                    <a:pt x="584" y="1128"/>
                  </a:lnTo>
                  <a:lnTo>
                    <a:pt x="542" y="1078"/>
                  </a:lnTo>
                  <a:lnTo>
                    <a:pt x="502" y="1024"/>
                  </a:lnTo>
                  <a:lnTo>
                    <a:pt x="464" y="966"/>
                  </a:lnTo>
                  <a:close/>
                </a:path>
              </a:pathLst>
            </a:custGeom>
            <a:solidFill>
              <a:srgbClr val="99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8" name="Freeform 10">
              <a:extLst>
                <a:ext uri="{FF2B5EF4-FFF2-40B4-BE49-F238E27FC236}">
                  <a16:creationId xmlns:a16="http://schemas.microsoft.com/office/drawing/2014/main" id="{48A3AC52-8A66-8E72-E5C1-D2748609DD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365711" flipV="1">
              <a:off x="6830135" y="471636"/>
              <a:ext cx="650196" cy="1684920"/>
            </a:xfrm>
            <a:custGeom>
              <a:avLst/>
              <a:gdLst>
                <a:gd name="T0" fmla="*/ 464 w 1612"/>
                <a:gd name="T1" fmla="*/ 966 h 1618"/>
                <a:gd name="T2" fmla="*/ 378 w 1612"/>
                <a:gd name="T3" fmla="*/ 822 h 1618"/>
                <a:gd name="T4" fmla="*/ 310 w 1612"/>
                <a:gd name="T5" fmla="*/ 690 h 1618"/>
                <a:gd name="T6" fmla="*/ 256 w 1612"/>
                <a:gd name="T7" fmla="*/ 572 h 1618"/>
                <a:gd name="T8" fmla="*/ 214 w 1612"/>
                <a:gd name="T9" fmla="*/ 472 h 1618"/>
                <a:gd name="T10" fmla="*/ 166 w 1612"/>
                <a:gd name="T11" fmla="*/ 328 h 1618"/>
                <a:gd name="T12" fmla="*/ 152 w 1612"/>
                <a:gd name="T13" fmla="*/ 276 h 1618"/>
                <a:gd name="T14" fmla="*/ 34 w 1612"/>
                <a:gd name="T15" fmla="*/ 0 h 1618"/>
                <a:gd name="T16" fmla="*/ 82 w 1612"/>
                <a:gd name="T17" fmla="*/ 294 h 1618"/>
                <a:gd name="T18" fmla="*/ 98 w 1612"/>
                <a:gd name="T19" fmla="*/ 350 h 1618"/>
                <a:gd name="T20" fmla="*/ 152 w 1612"/>
                <a:gd name="T21" fmla="*/ 500 h 1618"/>
                <a:gd name="T22" fmla="*/ 200 w 1612"/>
                <a:gd name="T23" fmla="*/ 604 h 1618"/>
                <a:gd name="T24" fmla="*/ 260 w 1612"/>
                <a:gd name="T25" fmla="*/ 722 h 1618"/>
                <a:gd name="T26" fmla="*/ 336 w 1612"/>
                <a:gd name="T27" fmla="*/ 856 h 1618"/>
                <a:gd name="T28" fmla="*/ 430 w 1612"/>
                <a:gd name="T29" fmla="*/ 998 h 1618"/>
                <a:gd name="T30" fmla="*/ 514 w 1612"/>
                <a:gd name="T31" fmla="*/ 1104 h 1618"/>
                <a:gd name="T32" fmla="*/ 602 w 1612"/>
                <a:gd name="T33" fmla="*/ 1196 h 1618"/>
                <a:gd name="T34" fmla="*/ 696 w 1612"/>
                <a:gd name="T35" fmla="*/ 1278 h 1618"/>
                <a:gd name="T36" fmla="*/ 794 w 1612"/>
                <a:gd name="T37" fmla="*/ 1348 h 1618"/>
                <a:gd name="T38" fmla="*/ 892 w 1612"/>
                <a:gd name="T39" fmla="*/ 1408 h 1618"/>
                <a:gd name="T40" fmla="*/ 990 w 1612"/>
                <a:gd name="T41" fmla="*/ 1458 h 1618"/>
                <a:gd name="T42" fmla="*/ 1086 w 1612"/>
                <a:gd name="T43" fmla="*/ 1500 h 1618"/>
                <a:gd name="T44" fmla="*/ 1180 w 1612"/>
                <a:gd name="T45" fmla="*/ 1534 h 1618"/>
                <a:gd name="T46" fmla="*/ 1268 w 1612"/>
                <a:gd name="T47" fmla="*/ 1560 h 1618"/>
                <a:gd name="T48" fmla="*/ 1424 w 1612"/>
                <a:gd name="T49" fmla="*/ 1596 h 1618"/>
                <a:gd name="T50" fmla="*/ 1540 w 1612"/>
                <a:gd name="T51" fmla="*/ 1612 h 1618"/>
                <a:gd name="T52" fmla="*/ 1612 w 1612"/>
                <a:gd name="T53" fmla="*/ 1618 h 1618"/>
                <a:gd name="T54" fmla="*/ 1540 w 1612"/>
                <a:gd name="T55" fmla="*/ 1612 h 1618"/>
                <a:gd name="T56" fmla="*/ 1426 w 1612"/>
                <a:gd name="T57" fmla="*/ 1594 h 1618"/>
                <a:gd name="T58" fmla="*/ 1274 w 1612"/>
                <a:gd name="T59" fmla="*/ 1558 h 1618"/>
                <a:gd name="T60" fmla="*/ 1186 w 1612"/>
                <a:gd name="T61" fmla="*/ 1530 h 1618"/>
                <a:gd name="T62" fmla="*/ 1096 w 1612"/>
                <a:gd name="T63" fmla="*/ 1494 h 1618"/>
                <a:gd name="T64" fmla="*/ 1002 w 1612"/>
                <a:gd name="T65" fmla="*/ 1450 h 1618"/>
                <a:gd name="T66" fmla="*/ 906 w 1612"/>
                <a:gd name="T67" fmla="*/ 1398 h 1618"/>
                <a:gd name="T68" fmla="*/ 810 w 1612"/>
                <a:gd name="T69" fmla="*/ 1336 h 1618"/>
                <a:gd name="T70" fmla="*/ 718 w 1612"/>
                <a:gd name="T71" fmla="*/ 1262 h 1618"/>
                <a:gd name="T72" fmla="*/ 626 w 1612"/>
                <a:gd name="T73" fmla="*/ 1176 h 1618"/>
                <a:gd name="T74" fmla="*/ 542 w 1612"/>
                <a:gd name="T75" fmla="*/ 1078 h 1618"/>
                <a:gd name="T76" fmla="*/ 464 w 1612"/>
                <a:gd name="T77" fmla="*/ 966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12" h="1618">
                  <a:moveTo>
                    <a:pt x="464" y="966"/>
                  </a:moveTo>
                  <a:lnTo>
                    <a:pt x="464" y="966"/>
                  </a:lnTo>
                  <a:lnTo>
                    <a:pt x="418" y="892"/>
                  </a:lnTo>
                  <a:lnTo>
                    <a:pt x="378" y="822"/>
                  </a:lnTo>
                  <a:lnTo>
                    <a:pt x="342" y="754"/>
                  </a:lnTo>
                  <a:lnTo>
                    <a:pt x="310" y="690"/>
                  </a:lnTo>
                  <a:lnTo>
                    <a:pt x="280" y="630"/>
                  </a:lnTo>
                  <a:lnTo>
                    <a:pt x="256" y="572"/>
                  </a:lnTo>
                  <a:lnTo>
                    <a:pt x="234" y="520"/>
                  </a:lnTo>
                  <a:lnTo>
                    <a:pt x="214" y="472"/>
                  </a:lnTo>
                  <a:lnTo>
                    <a:pt x="184" y="390"/>
                  </a:lnTo>
                  <a:lnTo>
                    <a:pt x="166" y="328"/>
                  </a:lnTo>
                  <a:lnTo>
                    <a:pt x="156" y="290"/>
                  </a:lnTo>
                  <a:lnTo>
                    <a:pt x="152" y="276"/>
                  </a:lnTo>
                  <a:lnTo>
                    <a:pt x="244" y="300"/>
                  </a:lnTo>
                  <a:lnTo>
                    <a:pt x="34" y="0"/>
                  </a:lnTo>
                  <a:lnTo>
                    <a:pt x="0" y="396"/>
                  </a:lnTo>
                  <a:lnTo>
                    <a:pt x="82" y="294"/>
                  </a:lnTo>
                  <a:lnTo>
                    <a:pt x="86" y="308"/>
                  </a:lnTo>
                  <a:lnTo>
                    <a:pt x="98" y="350"/>
                  </a:lnTo>
                  <a:lnTo>
                    <a:pt x="120" y="414"/>
                  </a:lnTo>
                  <a:lnTo>
                    <a:pt x="152" y="500"/>
                  </a:lnTo>
                  <a:lnTo>
                    <a:pt x="174" y="550"/>
                  </a:lnTo>
                  <a:lnTo>
                    <a:pt x="200" y="604"/>
                  </a:lnTo>
                  <a:lnTo>
                    <a:pt x="228" y="662"/>
                  </a:lnTo>
                  <a:lnTo>
                    <a:pt x="260" y="722"/>
                  </a:lnTo>
                  <a:lnTo>
                    <a:pt x="296" y="788"/>
                  </a:lnTo>
                  <a:lnTo>
                    <a:pt x="336" y="856"/>
                  </a:lnTo>
                  <a:lnTo>
                    <a:pt x="382" y="926"/>
                  </a:lnTo>
                  <a:lnTo>
                    <a:pt x="430" y="998"/>
                  </a:lnTo>
                  <a:lnTo>
                    <a:pt x="472" y="1052"/>
                  </a:lnTo>
                  <a:lnTo>
                    <a:pt x="514" y="1104"/>
                  </a:lnTo>
                  <a:lnTo>
                    <a:pt x="558" y="1152"/>
                  </a:lnTo>
                  <a:lnTo>
                    <a:pt x="602" y="1196"/>
                  </a:lnTo>
                  <a:lnTo>
                    <a:pt x="650" y="1238"/>
                  </a:lnTo>
                  <a:lnTo>
                    <a:pt x="696" y="1278"/>
                  </a:lnTo>
                  <a:lnTo>
                    <a:pt x="744" y="1314"/>
                  </a:lnTo>
                  <a:lnTo>
                    <a:pt x="794" y="1348"/>
                  </a:lnTo>
                  <a:lnTo>
                    <a:pt x="842" y="1380"/>
                  </a:lnTo>
                  <a:lnTo>
                    <a:pt x="892" y="1408"/>
                  </a:lnTo>
                  <a:lnTo>
                    <a:pt x="942" y="1434"/>
                  </a:lnTo>
                  <a:lnTo>
                    <a:pt x="990" y="1458"/>
                  </a:lnTo>
                  <a:lnTo>
                    <a:pt x="1038" y="1480"/>
                  </a:lnTo>
                  <a:lnTo>
                    <a:pt x="1086" y="1500"/>
                  </a:lnTo>
                  <a:lnTo>
                    <a:pt x="1134" y="1518"/>
                  </a:lnTo>
                  <a:lnTo>
                    <a:pt x="1180" y="1534"/>
                  </a:lnTo>
                  <a:lnTo>
                    <a:pt x="1224" y="1548"/>
                  </a:lnTo>
                  <a:lnTo>
                    <a:pt x="1268" y="1560"/>
                  </a:lnTo>
                  <a:lnTo>
                    <a:pt x="1350" y="1580"/>
                  </a:lnTo>
                  <a:lnTo>
                    <a:pt x="1424" y="1596"/>
                  </a:lnTo>
                  <a:lnTo>
                    <a:pt x="1486" y="1606"/>
                  </a:lnTo>
                  <a:lnTo>
                    <a:pt x="1540" y="1612"/>
                  </a:lnTo>
                  <a:lnTo>
                    <a:pt x="1578" y="1616"/>
                  </a:lnTo>
                  <a:lnTo>
                    <a:pt x="1612" y="1618"/>
                  </a:lnTo>
                  <a:lnTo>
                    <a:pt x="1580" y="1616"/>
                  </a:lnTo>
                  <a:lnTo>
                    <a:pt x="1540" y="1612"/>
                  </a:lnTo>
                  <a:lnTo>
                    <a:pt x="1488" y="1606"/>
                  </a:lnTo>
                  <a:lnTo>
                    <a:pt x="1426" y="1594"/>
                  </a:lnTo>
                  <a:lnTo>
                    <a:pt x="1354" y="1578"/>
                  </a:lnTo>
                  <a:lnTo>
                    <a:pt x="1274" y="1558"/>
                  </a:lnTo>
                  <a:lnTo>
                    <a:pt x="1230" y="1544"/>
                  </a:lnTo>
                  <a:lnTo>
                    <a:pt x="1186" y="1530"/>
                  </a:lnTo>
                  <a:lnTo>
                    <a:pt x="1142" y="1512"/>
                  </a:lnTo>
                  <a:lnTo>
                    <a:pt x="1096" y="1494"/>
                  </a:lnTo>
                  <a:lnTo>
                    <a:pt x="1048" y="1474"/>
                  </a:lnTo>
                  <a:lnTo>
                    <a:pt x="1002" y="1450"/>
                  </a:lnTo>
                  <a:lnTo>
                    <a:pt x="954" y="1426"/>
                  </a:lnTo>
                  <a:lnTo>
                    <a:pt x="906" y="1398"/>
                  </a:lnTo>
                  <a:lnTo>
                    <a:pt x="858" y="1368"/>
                  </a:lnTo>
                  <a:lnTo>
                    <a:pt x="810" y="1336"/>
                  </a:lnTo>
                  <a:lnTo>
                    <a:pt x="764" y="1300"/>
                  </a:lnTo>
                  <a:lnTo>
                    <a:pt x="718" y="1262"/>
                  </a:lnTo>
                  <a:lnTo>
                    <a:pt x="672" y="1220"/>
                  </a:lnTo>
                  <a:lnTo>
                    <a:pt x="626" y="1176"/>
                  </a:lnTo>
                  <a:lnTo>
                    <a:pt x="584" y="1128"/>
                  </a:lnTo>
                  <a:lnTo>
                    <a:pt x="542" y="1078"/>
                  </a:lnTo>
                  <a:lnTo>
                    <a:pt x="502" y="1024"/>
                  </a:lnTo>
                  <a:lnTo>
                    <a:pt x="464" y="966"/>
                  </a:lnTo>
                  <a:close/>
                </a:path>
              </a:pathLst>
            </a:custGeom>
            <a:solidFill>
              <a:srgbClr val="99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26C61BAD-1C88-237A-FA1B-7E4223DCA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066800"/>
            <a:ext cx="1828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 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=0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：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上支路</a:t>
            </a: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400" b="1" i="1">
                <a:solidFill>
                  <a:srgbClr val="FF0000"/>
                </a:solidFill>
                <a:ea typeface="微软雅黑" panose="020B0503020204020204" pitchFamily="34" charset="-122"/>
              </a:rPr>
              <a:t>i </a:t>
            </a: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=1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：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下支路</a:t>
            </a:r>
            <a:endParaRPr lang="zh-CN" altLang="en-US" sz="200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6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6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6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68972" grpId="0"/>
      <p:bldP spid="168973" grpId="0"/>
      <p:bldP spid="19" grpId="0"/>
      <p:bldP spid="26" grpId="0"/>
      <p:bldP spid="28" grpId="0"/>
      <p:bldP spid="3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14" name="Picture 22">
            <a:extLst>
              <a:ext uri="{FF2B5EF4-FFF2-40B4-BE49-F238E27FC236}">
                <a16:creationId xmlns:a16="http://schemas.microsoft.com/office/drawing/2014/main" id="{7F26FC5F-62DC-944F-DDF4-DFAE95EFD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46175"/>
            <a:ext cx="760095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22378746-F06C-A695-DEBC-9F7D14FA03C2}"/>
              </a:ext>
            </a:extLst>
          </p:cNvPr>
          <p:cNvSpPr txBox="1"/>
          <p:nvPr/>
        </p:nvSpPr>
        <p:spPr>
          <a:xfrm>
            <a:off x="381000" y="0"/>
            <a:ext cx="8458200" cy="54102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kumimoji="1" lang="zh-CN" altLang="en-US" sz="3200" kern="0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+mn-ea"/>
            </a:endParaRPr>
          </a:p>
        </p:txBody>
      </p:sp>
      <p:grpSp>
        <p:nvGrpSpPr>
          <p:cNvPr id="2" name="组合 23">
            <a:extLst>
              <a:ext uri="{FF2B5EF4-FFF2-40B4-BE49-F238E27FC236}">
                <a16:creationId xmlns:a16="http://schemas.microsoft.com/office/drawing/2014/main" id="{0BE00186-A1A4-B5A0-9A84-E5C06247AB15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3962400"/>
            <a:ext cx="3387725" cy="1905000"/>
            <a:chOff x="3810000" y="3429000"/>
            <a:chExt cx="3388064" cy="1905000"/>
          </a:xfrm>
        </p:grpSpPr>
        <p:grpSp>
          <p:nvGrpSpPr>
            <p:cNvPr id="124932" name="Group 2">
              <a:extLst>
                <a:ext uri="{FF2B5EF4-FFF2-40B4-BE49-F238E27FC236}">
                  <a16:creationId xmlns:a16="http://schemas.microsoft.com/office/drawing/2014/main" id="{2D78AB7E-8294-AC83-D7D6-733BD1EFD9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0" y="3429000"/>
              <a:ext cx="3388064" cy="1905000"/>
              <a:chOff x="3688" y="8646"/>
              <a:chExt cx="5082" cy="2526"/>
            </a:xfrm>
          </p:grpSpPr>
          <p:grpSp>
            <p:nvGrpSpPr>
              <p:cNvPr id="124933" name="Group 3">
                <a:extLst>
                  <a:ext uri="{FF2B5EF4-FFF2-40B4-BE49-F238E27FC236}">
                    <a16:creationId xmlns:a16="http://schemas.microsoft.com/office/drawing/2014/main" id="{AFFD2614-B03C-1FF2-910F-9968DD6F79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8" y="8646"/>
                <a:ext cx="5082" cy="2526"/>
                <a:chOff x="3898" y="6999"/>
                <a:chExt cx="5082" cy="2526"/>
              </a:xfrm>
            </p:grpSpPr>
            <p:sp>
              <p:nvSpPr>
                <p:cNvPr id="124934" name="Text Box 4">
                  <a:extLst>
                    <a:ext uri="{FF2B5EF4-FFF2-40B4-BE49-F238E27FC236}">
                      <a16:creationId xmlns:a16="http://schemas.microsoft.com/office/drawing/2014/main" id="{9F2B5FB8-2CF4-EDE4-5341-2EB06EC730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41" y="6999"/>
                  <a:ext cx="2492" cy="5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zh-CN" altLang="en-US" sz="2000"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相关器输出</a:t>
                  </a:r>
                </a:p>
              </p:txBody>
            </p:sp>
            <p:grpSp>
              <p:nvGrpSpPr>
                <p:cNvPr id="124935" name="Group 5">
                  <a:extLst>
                    <a:ext uri="{FF2B5EF4-FFF2-40B4-BE49-F238E27FC236}">
                      <a16:creationId xmlns:a16="http://schemas.microsoft.com/office/drawing/2014/main" id="{C386C968-6687-FA03-02B0-4A7B6436EF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98" y="7440"/>
                  <a:ext cx="3930" cy="2085"/>
                  <a:chOff x="3824" y="6810"/>
                  <a:chExt cx="3930" cy="2085"/>
                </a:xfrm>
              </p:grpSpPr>
              <p:pic>
                <p:nvPicPr>
                  <p:cNvPr id="124936" name="Picture 6" descr="匹配滤波和相关波形比较">
                    <a:extLst>
                      <a:ext uri="{FF2B5EF4-FFF2-40B4-BE49-F238E27FC236}">
                        <a16:creationId xmlns:a16="http://schemas.microsoft.com/office/drawing/2014/main" id="{048DA02E-DE36-5056-BD83-1D5D9826970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824" y="6990"/>
                    <a:ext cx="3930" cy="19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24937" name="Line 7">
                    <a:extLst>
                      <a:ext uri="{FF2B5EF4-FFF2-40B4-BE49-F238E27FC236}">
                        <a16:creationId xmlns:a16="http://schemas.microsoft.com/office/drawing/2014/main" id="{94B75933-3744-1346-67E2-E29C6647D8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390" y="7278"/>
                    <a:ext cx="634" cy="387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938" name="Line 8">
                    <a:extLst>
                      <a:ext uri="{FF2B5EF4-FFF2-40B4-BE49-F238E27FC236}">
                        <a16:creationId xmlns:a16="http://schemas.microsoft.com/office/drawing/2014/main" id="{5E3BA63F-4AB8-4475-58EE-7AFE98C0192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014" y="6810"/>
                    <a:ext cx="286" cy="495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24939" name="Text Box 9">
                  <a:extLst>
                    <a:ext uri="{FF2B5EF4-FFF2-40B4-BE49-F238E27FC236}">
                      <a16:creationId xmlns:a16="http://schemas.microsoft.com/office/drawing/2014/main" id="{527D4999-6332-7973-95EE-E58AD18C89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84" y="7504"/>
                  <a:ext cx="1996" cy="9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zh-CN" altLang="en-US"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匹配滤波器   </a:t>
                  </a:r>
                  <a:endParaRPr lang="en-US" altLang="zh-CN"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  <a:p>
                  <a:pPr algn="just"/>
                  <a:r>
                    <a:rPr lang="en-US" altLang="zh-CN"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     </a:t>
                  </a:r>
                  <a:r>
                    <a:rPr lang="zh-CN" altLang="en-US"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输出</a:t>
                  </a:r>
                </a:p>
                <a:p>
                  <a:endParaRPr lang="zh-CN" altLang="zh-CN"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p:grpSp>
          <p:sp>
            <p:nvSpPr>
              <p:cNvPr id="124940" name="Line 11">
                <a:extLst>
                  <a:ext uri="{FF2B5EF4-FFF2-40B4-BE49-F238E27FC236}">
                    <a16:creationId xmlns:a16="http://schemas.microsoft.com/office/drawing/2014/main" id="{042E552D-681F-664E-D319-1AA3D79CD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118" y="10194"/>
                <a:ext cx="2" cy="16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72BEC37-E5F8-A936-0CCE-38879728AEDB}"/>
                </a:ext>
              </a:extLst>
            </p:cNvPr>
            <p:cNvSpPr/>
            <p:nvPr/>
          </p:nvSpPr>
          <p:spPr>
            <a:xfrm>
              <a:off x="5257945" y="4648200"/>
              <a:ext cx="428668" cy="3698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 i="1" dirty="0">
                  <a:solidFill>
                    <a:srgbClr val="FF0000"/>
                  </a:solidFill>
                </a:rPr>
                <a:t>T</a:t>
              </a:r>
              <a:r>
                <a:rPr kumimoji="1" lang="en-US" altLang="zh-CN" baseline="-25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cs typeface="Arial" panose="020B0604020202020204" pitchFamily="34" charset="0"/>
                </a:rPr>
                <a:t>B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AD55D6A3-6BBC-945A-A64D-AD7790EBDD8D}"/>
                </a:ext>
              </a:extLst>
            </p:cNvPr>
            <p:cNvSpPr/>
            <p:nvPr/>
          </p:nvSpPr>
          <p:spPr>
            <a:xfrm>
              <a:off x="5438938" y="4038600"/>
              <a:ext cx="46043" cy="4603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96A9FD33-4368-DDCD-28B8-5C7702315D16}"/>
              </a:ext>
            </a:extLst>
          </p:cNvPr>
          <p:cNvSpPr/>
          <p:nvPr/>
        </p:nvSpPr>
        <p:spPr>
          <a:xfrm>
            <a:off x="846138" y="3124200"/>
            <a:ext cx="3878262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400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例如：接收码元为方波时：</a:t>
            </a:r>
            <a:endParaRPr lang="zh-CN" altLang="en-US" sz="2400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7">
            <a:extLst>
              <a:ext uri="{FF2B5EF4-FFF2-40B4-BE49-F238E27FC236}">
                <a16:creationId xmlns:a16="http://schemas.microsoft.com/office/drawing/2014/main" id="{3CA01807-6CF6-2431-7126-7D87A6C81A7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728663"/>
            <a:ext cx="1238250" cy="642937"/>
            <a:chOff x="2500298" y="3214686"/>
            <a:chExt cx="1238226" cy="64294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743ADE20-3936-13A4-102F-1AC66E2C9ABB}"/>
                </a:ext>
              </a:extLst>
            </p:cNvPr>
            <p:cNvSpPr/>
            <p:nvPr/>
          </p:nvSpPr>
          <p:spPr bwMode="auto">
            <a:xfrm>
              <a:off x="2500298" y="3214686"/>
              <a:ext cx="1071542" cy="642942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81C78A6-3510-38C0-26D7-05E0AB589742}"/>
                </a:ext>
              </a:extLst>
            </p:cNvPr>
            <p:cNvSpPr/>
            <p:nvPr/>
          </p:nvSpPr>
          <p:spPr>
            <a:xfrm>
              <a:off x="2625709" y="3286124"/>
              <a:ext cx="1112815" cy="4619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kern="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注意：</a:t>
              </a:r>
              <a:endPara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3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>
            <a:extLst>
              <a:ext uri="{FF2B5EF4-FFF2-40B4-BE49-F238E27FC236}">
                <a16:creationId xmlns:a16="http://schemas.microsoft.com/office/drawing/2014/main" id="{02C0343C-AB70-960E-338E-7F3D9EE5C3BC}"/>
              </a:ext>
            </a:extLst>
          </p:cNvPr>
          <p:cNvSpPr/>
          <p:nvPr/>
        </p:nvSpPr>
        <p:spPr bwMode="auto">
          <a:xfrm>
            <a:off x="990600" y="4876800"/>
            <a:ext cx="2057400" cy="1143000"/>
          </a:xfrm>
          <a:prstGeom prst="ellipse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6391222-2757-54C2-95DD-BA93469BC16E}"/>
              </a:ext>
            </a:extLst>
          </p:cNvPr>
          <p:cNvSpPr/>
          <p:nvPr/>
        </p:nvSpPr>
        <p:spPr bwMode="auto">
          <a:xfrm>
            <a:off x="1066800" y="2209800"/>
            <a:ext cx="1828800" cy="1143000"/>
          </a:xfrm>
          <a:prstGeom prst="ellipse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DC62C9-A590-A77E-1A72-C259244F6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0000"/>
            <a:ext cx="800100" cy="46196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等效</a:t>
            </a:r>
          </a:p>
        </p:txBody>
      </p:sp>
      <p:pic>
        <p:nvPicPr>
          <p:cNvPr id="22" name="Picture 22">
            <a:extLst>
              <a:ext uri="{FF2B5EF4-FFF2-40B4-BE49-F238E27FC236}">
                <a16:creationId xmlns:a16="http://schemas.microsoft.com/office/drawing/2014/main" id="{48F2DEBA-4A8C-2763-8CFE-F49C45085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701800"/>
            <a:ext cx="5461000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020E619-E182-685E-2A3C-B38C365E81DD}"/>
              </a:ext>
            </a:extLst>
          </p:cNvPr>
          <p:cNvSpPr/>
          <p:nvPr/>
        </p:nvSpPr>
        <p:spPr>
          <a:xfrm>
            <a:off x="609600" y="1066800"/>
            <a:ext cx="3429000" cy="4619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对于二进制</a:t>
            </a:r>
            <a:r>
              <a:rPr lang="zh-CN" altLang="en-US" sz="24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随相</a:t>
            </a:r>
            <a:r>
              <a:rPr lang="zh-CN" altLang="en-US" sz="24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  <a:r>
              <a:rPr lang="zh-CN" altLang="en-US" sz="2400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：</a:t>
            </a:r>
          </a:p>
        </p:txBody>
      </p:sp>
      <p:sp>
        <p:nvSpPr>
          <p:cNvPr id="10" name="Rectangle 26">
            <a:extLst>
              <a:ext uri="{FF2B5EF4-FFF2-40B4-BE49-F238E27FC236}">
                <a16:creationId xmlns:a16="http://schemas.microsoft.com/office/drawing/2014/main" id="{5907802E-767A-F3CA-2362-E51993BF4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63" y="2359025"/>
            <a:ext cx="1466850" cy="82550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0" hangingPunct="0">
              <a:lnSpc>
                <a:spcPts val="3000"/>
              </a:lnSpc>
              <a:defRPr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相关器形式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3000"/>
              </a:lnSpc>
              <a:defRPr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最佳接收机</a:t>
            </a:r>
          </a:p>
        </p:txBody>
      </p:sp>
      <p:sp>
        <p:nvSpPr>
          <p:cNvPr id="13" name="Rectangle 26">
            <a:extLst>
              <a:ext uri="{FF2B5EF4-FFF2-40B4-BE49-F238E27FC236}">
                <a16:creationId xmlns:a16="http://schemas.microsoft.com/office/drawing/2014/main" id="{D05245FD-AAF5-6BD8-2434-02395C1A7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063" y="5026025"/>
            <a:ext cx="2082800" cy="86201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ts val="3000"/>
              </a:lnSpc>
              <a:defRPr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匹配滤波形式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3000"/>
              </a:lnSpc>
              <a:defRPr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的最佳接收机</a:t>
            </a:r>
          </a:p>
        </p:txBody>
      </p:sp>
      <p:sp>
        <p:nvSpPr>
          <p:cNvPr id="27" name="Freeform 10">
            <a:extLst>
              <a:ext uri="{FF2B5EF4-FFF2-40B4-BE49-F238E27FC236}">
                <a16:creationId xmlns:a16="http://schemas.microsoft.com/office/drawing/2014/main" id="{A60154D7-F9AA-9DE4-134E-4597185184B7}"/>
              </a:ext>
            </a:extLst>
          </p:cNvPr>
          <p:cNvSpPr/>
          <p:nvPr/>
        </p:nvSpPr>
        <p:spPr bwMode="auto">
          <a:xfrm rot="19731595" flipV="1">
            <a:off x="615950" y="3309938"/>
            <a:ext cx="1141413" cy="1522412"/>
          </a:xfrm>
          <a:custGeom>
            <a:avLst/>
            <a:gdLst>
              <a:gd name="T0" fmla="*/ 464 w 1612"/>
              <a:gd name="T1" fmla="*/ 966 h 1618"/>
              <a:gd name="T2" fmla="*/ 378 w 1612"/>
              <a:gd name="T3" fmla="*/ 822 h 1618"/>
              <a:gd name="T4" fmla="*/ 310 w 1612"/>
              <a:gd name="T5" fmla="*/ 690 h 1618"/>
              <a:gd name="T6" fmla="*/ 256 w 1612"/>
              <a:gd name="T7" fmla="*/ 572 h 1618"/>
              <a:gd name="T8" fmla="*/ 214 w 1612"/>
              <a:gd name="T9" fmla="*/ 472 h 1618"/>
              <a:gd name="T10" fmla="*/ 166 w 1612"/>
              <a:gd name="T11" fmla="*/ 328 h 1618"/>
              <a:gd name="T12" fmla="*/ 152 w 1612"/>
              <a:gd name="T13" fmla="*/ 276 h 1618"/>
              <a:gd name="T14" fmla="*/ 34 w 1612"/>
              <a:gd name="T15" fmla="*/ 0 h 1618"/>
              <a:gd name="T16" fmla="*/ 82 w 1612"/>
              <a:gd name="T17" fmla="*/ 294 h 1618"/>
              <a:gd name="T18" fmla="*/ 86 w 1612"/>
              <a:gd name="T19" fmla="*/ 308 h 1618"/>
              <a:gd name="T20" fmla="*/ 120 w 1612"/>
              <a:gd name="T21" fmla="*/ 414 h 1618"/>
              <a:gd name="T22" fmla="*/ 174 w 1612"/>
              <a:gd name="T23" fmla="*/ 550 h 1618"/>
              <a:gd name="T24" fmla="*/ 228 w 1612"/>
              <a:gd name="T25" fmla="*/ 662 h 1618"/>
              <a:gd name="T26" fmla="*/ 296 w 1612"/>
              <a:gd name="T27" fmla="*/ 788 h 1618"/>
              <a:gd name="T28" fmla="*/ 382 w 1612"/>
              <a:gd name="T29" fmla="*/ 926 h 1618"/>
              <a:gd name="T30" fmla="*/ 430 w 1612"/>
              <a:gd name="T31" fmla="*/ 998 h 1618"/>
              <a:gd name="T32" fmla="*/ 514 w 1612"/>
              <a:gd name="T33" fmla="*/ 1104 h 1618"/>
              <a:gd name="T34" fmla="*/ 602 w 1612"/>
              <a:gd name="T35" fmla="*/ 1196 h 1618"/>
              <a:gd name="T36" fmla="*/ 696 w 1612"/>
              <a:gd name="T37" fmla="*/ 1278 h 1618"/>
              <a:gd name="T38" fmla="*/ 794 w 1612"/>
              <a:gd name="T39" fmla="*/ 1348 h 1618"/>
              <a:gd name="T40" fmla="*/ 892 w 1612"/>
              <a:gd name="T41" fmla="*/ 1408 h 1618"/>
              <a:gd name="T42" fmla="*/ 990 w 1612"/>
              <a:gd name="T43" fmla="*/ 1458 h 1618"/>
              <a:gd name="T44" fmla="*/ 1086 w 1612"/>
              <a:gd name="T45" fmla="*/ 1500 h 1618"/>
              <a:gd name="T46" fmla="*/ 1180 w 1612"/>
              <a:gd name="T47" fmla="*/ 1534 h 1618"/>
              <a:gd name="T48" fmla="*/ 1268 w 1612"/>
              <a:gd name="T49" fmla="*/ 1560 h 1618"/>
              <a:gd name="T50" fmla="*/ 1424 w 1612"/>
              <a:gd name="T51" fmla="*/ 1596 h 1618"/>
              <a:gd name="T52" fmla="*/ 1540 w 1612"/>
              <a:gd name="T53" fmla="*/ 1612 h 1618"/>
              <a:gd name="T54" fmla="*/ 1612 w 1612"/>
              <a:gd name="T55" fmla="*/ 1618 h 1618"/>
              <a:gd name="T56" fmla="*/ 1580 w 1612"/>
              <a:gd name="T57" fmla="*/ 1616 h 1618"/>
              <a:gd name="T58" fmla="*/ 1488 w 1612"/>
              <a:gd name="T59" fmla="*/ 1606 h 1618"/>
              <a:gd name="T60" fmla="*/ 1354 w 1612"/>
              <a:gd name="T61" fmla="*/ 1578 h 1618"/>
              <a:gd name="T62" fmla="*/ 1230 w 1612"/>
              <a:gd name="T63" fmla="*/ 1544 h 1618"/>
              <a:gd name="T64" fmla="*/ 1142 w 1612"/>
              <a:gd name="T65" fmla="*/ 1512 h 1618"/>
              <a:gd name="T66" fmla="*/ 1048 w 1612"/>
              <a:gd name="T67" fmla="*/ 1474 h 1618"/>
              <a:gd name="T68" fmla="*/ 954 w 1612"/>
              <a:gd name="T69" fmla="*/ 1426 h 1618"/>
              <a:gd name="T70" fmla="*/ 858 w 1612"/>
              <a:gd name="T71" fmla="*/ 1368 h 1618"/>
              <a:gd name="T72" fmla="*/ 764 w 1612"/>
              <a:gd name="T73" fmla="*/ 1300 h 1618"/>
              <a:gd name="T74" fmla="*/ 672 w 1612"/>
              <a:gd name="T75" fmla="*/ 1220 h 1618"/>
              <a:gd name="T76" fmla="*/ 584 w 1612"/>
              <a:gd name="T77" fmla="*/ 1128 h 1618"/>
              <a:gd name="T78" fmla="*/ 502 w 1612"/>
              <a:gd name="T79" fmla="*/ 1024 h 1618"/>
              <a:gd name="T80" fmla="*/ 464 w 1612"/>
              <a:gd name="T81" fmla="*/ 966 h 1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lnTo>
                  <a:pt x="464" y="96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1BFA2F1-02E6-63AD-D050-5D47DFCF8D61}"/>
              </a:ext>
            </a:extLst>
          </p:cNvPr>
          <p:cNvSpPr/>
          <p:nvPr/>
        </p:nvSpPr>
        <p:spPr>
          <a:xfrm>
            <a:off x="2852738" y="2486025"/>
            <a:ext cx="350837" cy="5842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solidFill>
                  <a:srgbClr val="990099"/>
                </a:solidFill>
                <a:latin typeface="Cambria Math" panose="02040503050406030204" pitchFamily="18" charset="0"/>
              </a:rPr>
              <a:t>⧽</a:t>
            </a:r>
            <a:endParaRPr lang="zh-CN" altLang="en-US" sz="3200">
              <a:solidFill>
                <a:srgbClr val="990099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86593D-34DB-76E2-5FE3-F9CB8701A05C}"/>
              </a:ext>
            </a:extLst>
          </p:cNvPr>
          <p:cNvSpPr/>
          <p:nvPr/>
        </p:nvSpPr>
        <p:spPr>
          <a:xfrm rot="5400000">
            <a:off x="1669256" y="5636419"/>
            <a:ext cx="371475" cy="113823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600">
                <a:solidFill>
                  <a:srgbClr val="990099"/>
                </a:solidFill>
                <a:latin typeface="Cambria Math" panose="02040503050406030204" pitchFamily="18" charset="0"/>
              </a:rPr>
              <a:t>⧽</a:t>
            </a:r>
            <a:endParaRPr lang="zh-CN" altLang="en-US" sz="3600"/>
          </a:p>
          <a:p>
            <a:pPr>
              <a:defRPr/>
            </a:pPr>
            <a:endParaRPr lang="zh-CN" altLang="en-US" sz="3200">
              <a:solidFill>
                <a:srgbClr val="99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1" grpId="0" animBg="1"/>
      <p:bldP spid="20" grpId="0"/>
      <p:bldP spid="23" grpId="0"/>
      <p:bldP spid="10" grpId="0"/>
      <p:bldP spid="13" grpId="0"/>
      <p:bldP spid="27" grpId="0" animBg="1"/>
      <p:bldP spid="30" grpId="0"/>
      <p:bldP spid="3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9" name="Picture 23">
            <a:extLst>
              <a:ext uri="{FF2B5EF4-FFF2-40B4-BE49-F238E27FC236}">
                <a16:creationId xmlns:a16="http://schemas.microsoft.com/office/drawing/2014/main" id="{F9A45EAB-C89D-A898-9074-48672D18E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066800"/>
            <a:ext cx="6400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0200" name="Object 24">
            <a:extLst>
              <a:ext uri="{FF2B5EF4-FFF2-40B4-BE49-F238E27FC236}">
                <a16:creationId xmlns:a16="http://schemas.microsoft.com/office/drawing/2014/main" id="{CE4D57D6-3653-37F8-6506-C649C4820877}"/>
              </a:ext>
            </a:extLst>
          </p:cNvPr>
          <p:cNvGraphicFramePr>
            <a:graphicFrameLocks/>
          </p:cNvGraphicFramePr>
          <p:nvPr/>
        </p:nvGraphicFramePr>
        <p:xfrm>
          <a:off x="354013" y="4281488"/>
          <a:ext cx="863758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270500" imgH="419100" progId="Equation.DSMT4">
                  <p:embed/>
                </p:oleObj>
              </mc:Choice>
              <mc:Fallback>
                <p:oleObj r:id="rId3" imgW="5270500" imgH="419100" progId="Equation.DSMT4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4281488"/>
                        <a:ext cx="863758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5">
            <a:extLst>
              <a:ext uri="{FF2B5EF4-FFF2-40B4-BE49-F238E27FC236}">
                <a16:creationId xmlns:a16="http://schemas.microsoft.com/office/drawing/2014/main" id="{374A4C33-3853-6C75-9452-C13604699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953000"/>
            <a:ext cx="1858963" cy="461963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i="1">
                <a:solidFill>
                  <a:srgbClr val="0000CC"/>
                </a:solidFill>
                <a:ea typeface="微软雅黑" panose="020B0503020204020204" pitchFamily="34" charset="-122"/>
              </a:rPr>
              <a:t>t </a:t>
            </a:r>
            <a:r>
              <a:rPr lang="en-US" altLang="zh-CN" sz="2000" b="1">
                <a:solidFill>
                  <a:srgbClr val="0000CC"/>
                </a:solidFill>
                <a:ea typeface="微软雅黑" panose="020B0503020204020204" pitchFamily="34" charset="-122"/>
              </a:rPr>
              <a:t>=</a:t>
            </a:r>
            <a:r>
              <a:rPr lang="en-US" altLang="zh-CN" sz="2000" b="1" i="1">
                <a:solidFill>
                  <a:srgbClr val="0000CC"/>
                </a:solidFill>
                <a:ea typeface="微软雅黑" panose="020B0503020204020204" pitchFamily="34" charset="-122"/>
              </a:rPr>
              <a:t>T</a:t>
            </a:r>
            <a:r>
              <a:rPr lang="en-US" altLang="zh-CN" sz="2000" b="1" baseline="-25000">
                <a:solidFill>
                  <a:srgbClr val="0000CC"/>
                </a:solidFill>
                <a:ea typeface="微软雅黑" panose="020B0503020204020204" pitchFamily="34" charset="-122"/>
              </a:rPr>
              <a:t>B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时，为</a:t>
            </a:r>
            <a:r>
              <a:rPr lang="en-US" altLang="zh-CN" sz="2400">
                <a:solidFill>
                  <a:srgbClr val="FF0000"/>
                </a:solidFill>
                <a:ea typeface="微软雅黑" panose="020B0503020204020204" pitchFamily="34" charset="-122"/>
              </a:rPr>
              <a:t>X</a:t>
            </a:r>
            <a:r>
              <a:rPr lang="en-US" altLang="zh-CN" sz="2400" baseline="-25000">
                <a:solidFill>
                  <a:srgbClr val="FF0000"/>
                </a:solidFill>
                <a:ea typeface="微软雅黑" panose="020B0503020204020204" pitchFamily="34" charset="-122"/>
              </a:rPr>
              <a:t>0</a:t>
            </a:r>
          </a:p>
        </p:txBody>
      </p:sp>
      <p:graphicFrame>
        <p:nvGraphicFramePr>
          <p:cNvPr id="30" name="Object 28">
            <a:extLst>
              <a:ext uri="{FF2B5EF4-FFF2-40B4-BE49-F238E27FC236}">
                <a16:creationId xmlns:a16="http://schemas.microsoft.com/office/drawing/2014/main" id="{FCB75444-0EE9-7F8F-D428-A67B05332F50}"/>
              </a:ext>
            </a:extLst>
          </p:cNvPr>
          <p:cNvGraphicFramePr>
            <a:graphicFrameLocks/>
          </p:cNvGraphicFramePr>
          <p:nvPr/>
        </p:nvGraphicFramePr>
        <p:xfrm>
          <a:off x="962025" y="5638800"/>
          <a:ext cx="39878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51593" imgH="330057" progId="Equation.DSMT4">
                  <p:embed/>
                </p:oleObj>
              </mc:Choice>
              <mc:Fallback>
                <p:oleObj r:id="rId5" imgW="2551593" imgH="330057" progId="Equation.DSMT4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5638800"/>
                        <a:ext cx="39878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25">
            <a:extLst>
              <a:ext uri="{FF2B5EF4-FFF2-40B4-BE49-F238E27FC236}">
                <a16:creationId xmlns:a16="http://schemas.microsoft.com/office/drawing/2014/main" id="{6667265A-EB4D-C950-B8F6-063583111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3" y="4970463"/>
            <a:ext cx="1857375" cy="461962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i="1">
                <a:solidFill>
                  <a:srgbClr val="0000CC"/>
                </a:solidFill>
                <a:ea typeface="微软雅黑" panose="020B0503020204020204" pitchFamily="34" charset="-122"/>
              </a:rPr>
              <a:t>t </a:t>
            </a:r>
            <a:r>
              <a:rPr lang="en-US" altLang="zh-CN" sz="2000" b="1">
                <a:solidFill>
                  <a:srgbClr val="0000CC"/>
                </a:solidFill>
                <a:ea typeface="微软雅黑" panose="020B0503020204020204" pitchFamily="34" charset="-122"/>
              </a:rPr>
              <a:t>=</a:t>
            </a:r>
            <a:r>
              <a:rPr lang="en-US" altLang="zh-CN" sz="2000" b="1" i="1">
                <a:solidFill>
                  <a:srgbClr val="0000CC"/>
                </a:solidFill>
                <a:ea typeface="微软雅黑" panose="020B0503020204020204" pitchFamily="34" charset="-122"/>
              </a:rPr>
              <a:t>T</a:t>
            </a:r>
            <a:r>
              <a:rPr lang="en-US" altLang="zh-CN" sz="2000" b="1" baseline="-25000">
                <a:solidFill>
                  <a:srgbClr val="0000CC"/>
                </a:solidFill>
                <a:ea typeface="微软雅黑" panose="020B0503020204020204" pitchFamily="34" charset="-122"/>
              </a:rPr>
              <a:t>B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时，为</a:t>
            </a:r>
            <a:r>
              <a:rPr lang="en-US" altLang="zh-CN" sz="2400">
                <a:solidFill>
                  <a:srgbClr val="FF0000"/>
                </a:solidFill>
                <a:ea typeface="微软雅黑" panose="020B0503020204020204" pitchFamily="34" charset="-122"/>
              </a:rPr>
              <a:t>Y</a:t>
            </a:r>
            <a:r>
              <a:rPr lang="en-US" altLang="zh-CN" sz="2400" baseline="-25000">
                <a:solidFill>
                  <a:srgbClr val="FF0000"/>
                </a:solidFill>
                <a:ea typeface="微软雅黑" panose="020B0503020204020204" pitchFamily="34" charset="-122"/>
              </a:rPr>
              <a:t>0</a:t>
            </a:r>
          </a:p>
        </p:txBody>
      </p:sp>
      <p:graphicFrame>
        <p:nvGraphicFramePr>
          <p:cNvPr id="33" name="Object 29">
            <a:extLst>
              <a:ext uri="{FF2B5EF4-FFF2-40B4-BE49-F238E27FC236}">
                <a16:creationId xmlns:a16="http://schemas.microsoft.com/office/drawing/2014/main" id="{FDBA89BA-18F7-013E-18CD-920F51D8EB31}"/>
              </a:ext>
            </a:extLst>
          </p:cNvPr>
          <p:cNvGraphicFramePr>
            <a:graphicFrameLocks/>
          </p:cNvGraphicFramePr>
          <p:nvPr/>
        </p:nvGraphicFramePr>
        <p:xfrm>
          <a:off x="5026025" y="5707063"/>
          <a:ext cx="297497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904174" imgH="291973" progId="Equation.DSMT4">
                  <p:embed/>
                </p:oleObj>
              </mc:Choice>
              <mc:Fallback>
                <p:oleObj r:id="rId7" imgW="1904174" imgH="291973" progId="Equation.DSMT4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025" y="5707063"/>
                        <a:ext cx="297497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4A5FBD1D-9C93-7B8C-722A-7F8A2C1B4F88}"/>
              </a:ext>
            </a:extLst>
          </p:cNvPr>
          <p:cNvGraphicFramePr>
            <a:graphicFrameLocks/>
          </p:cNvGraphicFramePr>
          <p:nvPr/>
        </p:nvGraphicFramePr>
        <p:xfrm>
          <a:off x="347663" y="3659188"/>
          <a:ext cx="5411787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302000" imgH="368300" progId="Equation.DSMT4">
                  <p:embed/>
                </p:oleObj>
              </mc:Choice>
              <mc:Fallback>
                <p:oleObj r:id="rId9" imgW="3302000" imgH="36830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3" y="3659188"/>
                        <a:ext cx="5411787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椭圆 21">
            <a:extLst>
              <a:ext uri="{FF2B5EF4-FFF2-40B4-BE49-F238E27FC236}">
                <a16:creationId xmlns:a16="http://schemas.microsoft.com/office/drawing/2014/main" id="{CBE7C311-5918-3B5F-056A-6AF0BDE3F04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609600" y="457200"/>
            <a:ext cx="1219200" cy="685800"/>
          </a:xfrm>
          <a:prstGeom prst="ellipse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9E4BA96-18F3-4F2E-BCDF-53BB0637C6C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4648200" y="2209800"/>
            <a:ext cx="1219200" cy="685800"/>
          </a:xfrm>
          <a:prstGeom prst="ellipse">
            <a:avLst/>
          </a:prstGeom>
          <a:solidFill>
            <a:srgbClr val="E8E8E8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BD896AEF-E866-8D47-58C3-591911D4BE65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auto">
          <a:xfrm>
            <a:off x="2209800" y="6096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4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 配 滤 波 器</a:t>
            </a:r>
          </a:p>
        </p:txBody>
      </p:sp>
      <p:sp>
        <p:nvSpPr>
          <p:cNvPr id="128004" name="Rectangle 14">
            <a:extLst>
              <a:ext uri="{FF2B5EF4-FFF2-40B4-BE49-F238E27FC236}">
                <a16:creationId xmlns:a16="http://schemas.microsoft.com/office/drawing/2014/main" id="{452243FE-E311-6811-1AFA-F78FAD6274C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542925"/>
            <a:ext cx="1371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归纳</a:t>
            </a:r>
            <a:r>
              <a:rPr lang="en-US" altLang="zh-CN" sz="2800" b="1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800" b="1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5426" name="Rectangle 18">
            <a:extLst>
              <a:ext uri="{FF2B5EF4-FFF2-40B4-BE49-F238E27FC236}">
                <a16:creationId xmlns:a16="http://schemas.microsoft.com/office/drawing/2014/main" id="{A15846E7-3868-1D61-E00D-ECC6F633F9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62000" y="4237038"/>
            <a:ext cx="7696200" cy="1477962"/>
          </a:xfrm>
          <a:prstGeom prst="rect">
            <a:avLst/>
          </a:prstGeom>
          <a:solidFill>
            <a:srgbClr val="E8E8E8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根据系统规定的传输波形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设计匹配滤波器</a:t>
            </a:r>
            <a:r>
              <a:rPr lang="zh-CN" altLang="en-US" sz="2000" dirty="0">
                <a:latin typeface="+mn-ea"/>
                <a:ea typeface="+mn-ea"/>
              </a:rPr>
              <a:t>；</a:t>
            </a:r>
          </a:p>
          <a:p>
            <a:pPr>
              <a:lnSpc>
                <a:spcPct val="1500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信号不同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匹配滤波器不同</a:t>
            </a:r>
            <a:r>
              <a:rPr lang="zh-CN" altLang="en-US" sz="2000" dirty="0">
                <a:latin typeface="+mn-ea"/>
                <a:ea typeface="+mn-ea"/>
              </a:rPr>
              <a:t>；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元波形，对应</a:t>
            </a:r>
            <a:r>
              <a:rPr lang="zh-CN" altLang="en-US" sz="20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个匹配滤波器</a:t>
            </a:r>
            <a:r>
              <a:rPr lang="zh-CN" altLang="en-US" sz="2000" dirty="0">
                <a:latin typeface="+mn-ea"/>
                <a:ea typeface="+mn-ea"/>
              </a:rPr>
              <a:t>；</a:t>
            </a:r>
          </a:p>
          <a:p>
            <a:pPr>
              <a:lnSpc>
                <a:spcPct val="1500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应用</a:t>
            </a:r>
            <a:r>
              <a:rPr lang="zh-CN" altLang="en-US" sz="2000" dirty="0">
                <a:latin typeface="+mn-ea"/>
                <a:ea typeface="+mn-ea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构造最佳接收机 </a:t>
            </a:r>
            <a:r>
              <a:rPr lang="zh-CN" altLang="en-US" sz="2000" dirty="0">
                <a:latin typeface="+mn-ea"/>
                <a:ea typeface="+mn-ea"/>
              </a:rPr>
              <a:t>、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替代相关器。</a:t>
            </a:r>
          </a:p>
        </p:txBody>
      </p:sp>
      <p:sp>
        <p:nvSpPr>
          <p:cNvPr id="145430" name="Rectangle 22">
            <a:extLst>
              <a:ext uri="{FF2B5EF4-FFF2-40B4-BE49-F238E27FC236}">
                <a16:creationId xmlns:a16="http://schemas.microsoft.com/office/drawing/2014/main" id="{ABF1B69D-E9F4-14B4-E5E2-801AF7865833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2000" y="5878513"/>
            <a:ext cx="6553200" cy="522287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4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zh-CN" altLang="en-US" sz="2400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en-US" sz="24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匹配滤波器</a:t>
            </a:r>
            <a:r>
              <a:rPr lang="zh-CN" altLang="en-US" sz="2400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能否用于</a:t>
            </a:r>
            <a:r>
              <a:rPr lang="zh-CN" altLang="en-US" sz="24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模拟信号的接收</a:t>
            </a:r>
            <a:r>
              <a:rPr lang="zh-CN" altLang="en-US" sz="24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graphicFrame>
        <p:nvGraphicFramePr>
          <p:cNvPr id="128007" name="Object 23">
            <a:extLst>
              <a:ext uri="{FF2B5EF4-FFF2-40B4-BE49-F238E27FC236}">
                <a16:creationId xmlns:a16="http://schemas.microsoft.com/office/drawing/2014/main" id="{0CC2A92B-5CF9-83D6-F18A-EE149BF156C3}"/>
              </a:ext>
            </a:extLst>
          </p:cNvPr>
          <p:cNvGraphicFramePr>
            <a:graphicFrameLocks/>
          </p:cNvGraphicFramePr>
          <p:nvPr>
            <p:custDataLst>
              <p:tags r:id="rId7"/>
            </p:custDataLst>
          </p:nvPr>
        </p:nvGraphicFramePr>
        <p:xfrm>
          <a:off x="1631950" y="1957388"/>
          <a:ext cx="240665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862851" imgH="203024" progId="Equation.DSMT4">
                  <p:embed/>
                </p:oleObj>
              </mc:Choice>
              <mc:Fallback>
                <p:oleObj r:id="rId17" imgW="862851" imgH="203024" progId="Equation.DSMT4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1957388"/>
                        <a:ext cx="2406650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8" name="Object 27">
            <a:extLst>
              <a:ext uri="{FF2B5EF4-FFF2-40B4-BE49-F238E27FC236}">
                <a16:creationId xmlns:a16="http://schemas.microsoft.com/office/drawing/2014/main" id="{39E17F84-7D60-107E-DB74-8C0DAF111CF3}"/>
              </a:ext>
            </a:extLst>
          </p:cNvPr>
          <p:cNvGraphicFramePr>
            <a:graphicFrameLocks/>
          </p:cNvGraphicFramePr>
          <p:nvPr>
            <p:custDataLst>
              <p:tags r:id="rId8"/>
            </p:custDataLst>
          </p:nvPr>
        </p:nvGraphicFramePr>
        <p:xfrm>
          <a:off x="1652588" y="2643188"/>
          <a:ext cx="261461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951674" imgH="203024" progId="Equation.DSMT4">
                  <p:embed/>
                </p:oleObj>
              </mc:Choice>
              <mc:Fallback>
                <p:oleObj r:id="rId19" imgW="951674" imgH="203024" progId="Equation.DSMT4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2643188"/>
                        <a:ext cx="2614612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6">
            <a:extLst>
              <a:ext uri="{FF2B5EF4-FFF2-40B4-BE49-F238E27FC236}">
                <a16:creationId xmlns:a16="http://schemas.microsoft.com/office/drawing/2014/main" id="{52BF7E7C-9A60-19C2-2126-1721ACD23E9D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695825" y="2198688"/>
            <a:ext cx="1143000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i="1" dirty="0">
                <a:solidFill>
                  <a:srgbClr val="0000CC"/>
                </a:solidFill>
                <a:latin typeface="+mn-lt"/>
              </a:rPr>
              <a:t>t</a:t>
            </a:r>
            <a:r>
              <a:rPr lang="en-US" altLang="zh-CN" sz="2800" b="1" baseline="-25000" dirty="0">
                <a:solidFill>
                  <a:srgbClr val="0000CC"/>
                </a:solidFill>
                <a:latin typeface="+mn-lt"/>
              </a:rPr>
              <a:t>0 </a:t>
            </a:r>
            <a:r>
              <a:rPr lang="en-US" altLang="zh-CN" sz="2800" b="1" baseline="-25000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</a:rPr>
              <a:t>≥ </a:t>
            </a:r>
            <a:r>
              <a:rPr lang="en-US" altLang="zh-CN" sz="2400" b="1" i="1" dirty="0">
                <a:solidFill>
                  <a:srgbClr val="0000CC"/>
                </a:solidFill>
                <a:latin typeface="+mn-lt"/>
              </a:rPr>
              <a:t>T</a:t>
            </a:r>
            <a:r>
              <a:rPr kumimoji="1" lang="en-US" altLang="zh-CN" sz="2400" baseline="-25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en-US" altLang="zh-CN" sz="2400" b="1" dirty="0">
                <a:solidFill>
                  <a:srgbClr val="0000CC"/>
                </a:solidFill>
                <a:latin typeface="+mn-lt"/>
              </a:rPr>
              <a:t> </a:t>
            </a:r>
            <a:r>
              <a:rPr lang="en-US" altLang="zh-CN" sz="2400" b="1" dirty="0">
                <a:latin typeface="+mn-lt"/>
              </a:rPr>
              <a:t> </a:t>
            </a:r>
            <a:r>
              <a:rPr lang="en-US" altLang="zh-CN" sz="3200" b="1" dirty="0">
                <a:latin typeface="+mn-lt"/>
              </a:rPr>
              <a:t>  </a:t>
            </a:r>
            <a:endParaRPr lang="en-US" altLang="zh-CN" sz="3200" b="1" dirty="0">
              <a:solidFill>
                <a:srgbClr val="FF3300"/>
              </a:solidFill>
              <a:latin typeface="+mn-lt"/>
            </a:endParaRPr>
          </a:p>
        </p:txBody>
      </p:sp>
      <p:graphicFrame>
        <p:nvGraphicFramePr>
          <p:cNvPr id="128010" name="Object 10">
            <a:extLst>
              <a:ext uri="{FF2B5EF4-FFF2-40B4-BE49-F238E27FC236}">
                <a16:creationId xmlns:a16="http://schemas.microsoft.com/office/drawing/2014/main" id="{4A850F46-E7C2-DE45-2560-F201DBD93B9E}"/>
              </a:ext>
            </a:extLst>
          </p:cNvPr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5768975" y="1230313"/>
          <a:ext cx="22796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863225" imgH="228501" progId="Equation.DSMT4">
                  <p:embed/>
                </p:oleObj>
              </mc:Choice>
              <mc:Fallback>
                <p:oleObj r:id="rId21" imgW="863225" imgH="228501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8975" y="1230313"/>
                        <a:ext cx="22796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1" name="Object 17">
            <a:extLst>
              <a:ext uri="{FF2B5EF4-FFF2-40B4-BE49-F238E27FC236}">
                <a16:creationId xmlns:a16="http://schemas.microsoft.com/office/drawing/2014/main" id="{5F39A20F-BBD5-3C3E-7A5C-0F4FE17E4A6E}"/>
              </a:ext>
            </a:extLst>
          </p:cNvPr>
          <p:cNvGraphicFramePr>
            <a:graphicFrameLocks/>
          </p:cNvGraphicFramePr>
          <p:nvPr>
            <p:custDataLst>
              <p:tags r:id="rId11"/>
            </p:custDataLst>
          </p:nvPr>
        </p:nvGraphicFramePr>
        <p:xfrm>
          <a:off x="6324600" y="2133600"/>
          <a:ext cx="17526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672808" imgH="431613" progId="Equation.DSMT4">
                  <p:embed/>
                </p:oleObj>
              </mc:Choice>
              <mc:Fallback>
                <p:oleObj r:id="rId23" imgW="672808" imgH="431613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133600"/>
                        <a:ext cx="1752600" cy="102552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2" name="Object 18">
            <a:extLst>
              <a:ext uri="{FF2B5EF4-FFF2-40B4-BE49-F238E27FC236}">
                <a16:creationId xmlns:a16="http://schemas.microsoft.com/office/drawing/2014/main" id="{AA8E7C52-9934-5F01-9ED0-AD86F31E5CDE}"/>
              </a:ext>
            </a:extLst>
          </p:cNvPr>
          <p:cNvGraphicFramePr>
            <a:graphicFrameLocks/>
          </p:cNvGraphicFramePr>
          <p:nvPr>
            <p:custDataLst>
              <p:tags r:id="rId12"/>
            </p:custDataLst>
          </p:nvPr>
        </p:nvGraphicFramePr>
        <p:xfrm>
          <a:off x="1622425" y="1271588"/>
          <a:ext cx="324326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1333500" imgH="228600" progId="Equation.DSMT4">
                  <p:embed/>
                </p:oleObj>
              </mc:Choice>
              <mc:Fallback>
                <p:oleObj r:id="rId25" imgW="1333500" imgH="228600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425" y="1271588"/>
                        <a:ext cx="3243263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3" name="Object 20">
            <a:extLst>
              <a:ext uri="{FF2B5EF4-FFF2-40B4-BE49-F238E27FC236}">
                <a16:creationId xmlns:a16="http://schemas.microsoft.com/office/drawing/2014/main" id="{48DBD5AE-ED81-8791-4FDF-1195DC51EA00}"/>
              </a:ext>
            </a:extLst>
          </p:cNvPr>
          <p:cNvGraphicFramePr>
            <a:graphicFrameLocks/>
          </p:cNvGraphicFramePr>
          <p:nvPr>
            <p:custDataLst>
              <p:tags r:id="rId13"/>
            </p:custDataLst>
          </p:nvPr>
        </p:nvGraphicFramePr>
        <p:xfrm>
          <a:off x="1524000" y="3276600"/>
          <a:ext cx="43434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1891479" imgH="330057" progId="Equation.DSMT4">
                  <p:embed/>
                </p:oleObj>
              </mc:Choice>
              <mc:Fallback>
                <p:oleObj r:id="rId27" imgW="1891479" imgH="330057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276600"/>
                        <a:ext cx="43434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4" name="Object 11">
            <a:extLst>
              <a:ext uri="{FF2B5EF4-FFF2-40B4-BE49-F238E27FC236}">
                <a16:creationId xmlns:a16="http://schemas.microsoft.com/office/drawing/2014/main" id="{788BE16B-3778-B9AD-0057-DAC047D88796}"/>
              </a:ext>
            </a:extLst>
          </p:cNvPr>
          <p:cNvGraphicFramePr>
            <a:graphicFrameLocks/>
          </p:cNvGraphicFramePr>
          <p:nvPr>
            <p:custDataLst>
              <p:tags r:id="rId14"/>
            </p:custDataLst>
          </p:nvPr>
        </p:nvGraphicFramePr>
        <p:xfrm>
          <a:off x="4972050" y="1312863"/>
          <a:ext cx="51435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9" imgW="215619" imgH="152202" progId="Equation.DSMT4">
                  <p:embed/>
                </p:oleObj>
              </mc:Choice>
              <mc:Fallback>
                <p:oleObj r:id="rId29" imgW="215619" imgH="152202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1312863"/>
                        <a:ext cx="51435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AF9F3D8D-65C5-0203-0700-C221D77D6500}"/>
                  </a:ext>
                </a:extLst>
              </p14:cNvPr>
              <p14:cNvContentPartPr/>
              <p14:nvPr>
                <p:custDataLst>
                  <p:tags r:id="rId15"/>
                </p:custDataLst>
              </p14:nvPr>
            </p14:nvContentPartPr>
            <p14:xfrm>
              <a:off x="7983538" y="6670675"/>
              <a:ext cx="1587" cy="9525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AF9F3D8D-65C5-0203-0700-C221D77D650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905775" y="6652724"/>
                <a:ext cx="153939" cy="4469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45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45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145426" grpId="0" bldLvl="0" animBg="1"/>
      <p:bldP spid="145430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6">
            <a:extLst>
              <a:ext uri="{FF2B5EF4-FFF2-40B4-BE49-F238E27FC236}">
                <a16:creationId xmlns:a16="http://schemas.microsoft.com/office/drawing/2014/main" id="{C5E2CD65-8BF6-C612-E226-E02A5502D4E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057400" y="3140075"/>
            <a:ext cx="6148388" cy="144621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defTabSz="802005" eaLnBrk="0" hangingPunct="0">
              <a:spcBef>
                <a:spcPct val="20000"/>
              </a:spcBef>
              <a:defRPr/>
            </a:pPr>
            <a:r>
              <a:rPr lang="zh-CN" altLang="en-US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最佳基带传输系统</a:t>
            </a:r>
            <a:endParaRPr lang="en-US" altLang="zh-CN" sz="4000" b="1" kern="0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02005" eaLnBrk="0" hangingPunct="0">
              <a:spcBef>
                <a:spcPct val="20000"/>
              </a:spcBef>
              <a:defRPr/>
            </a:pPr>
            <a:r>
              <a:rPr lang="en-US" altLang="zh-CN" sz="4000" b="1" kern="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endParaRPr lang="en-GB" sz="4000" b="1" noProof="1">
              <a:solidFill>
                <a:srgbClr val="99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043" name="矩形 4">
            <a:extLst>
              <a:ext uri="{FF2B5EF4-FFF2-40B4-BE49-F238E27FC236}">
                <a16:creationId xmlns:a16="http://schemas.microsoft.com/office/drawing/2014/main" id="{7B98100A-A9EB-69FA-855A-DAF620171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214563"/>
            <a:ext cx="1546225" cy="646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altLang="en-US" sz="3600" b="1" u="sng" dirty="0">
                <a:solidFill>
                  <a:srgbClr val="800080"/>
                </a:solidFill>
                <a:latin typeface="+mn-ea"/>
                <a:ea typeface="+mn-ea"/>
              </a:rPr>
              <a:t>§</a:t>
            </a:r>
            <a:r>
              <a:rPr lang="en-US" altLang="en-US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lang="en-US" altLang="zh-CN" sz="3600" b="1" u="sng" dirty="0">
                <a:solidFill>
                  <a:srgbClr val="80008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.9  </a:t>
            </a:r>
            <a:endParaRPr lang="zh-CN" altLang="en-US" sz="3600" b="1" u="sng" dirty="0">
              <a:solidFill>
                <a:srgbClr val="800080"/>
              </a:solidFill>
            </a:endParaRPr>
          </a:p>
        </p:txBody>
      </p:sp>
      <p:sp>
        <p:nvSpPr>
          <p:cNvPr id="12" name="矩形 5">
            <a:extLst>
              <a:ext uri="{FF2B5EF4-FFF2-40B4-BE49-F238E27FC236}">
                <a16:creationId xmlns:a16="http://schemas.microsoft.com/office/drawing/2014/main" id="{63FBC5A6-13F0-BBCE-52DA-19C09A7C8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4208463"/>
            <a:ext cx="4114800" cy="461962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无码间串扰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误码率最小 </a:t>
            </a:r>
            <a:endParaRPr lang="en-US" altLang="zh-CN" sz="2400" dirty="0">
              <a:solidFill>
                <a:srgbClr val="99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5">
            <a:extLst>
              <a:ext uri="{FF2B5EF4-FFF2-40B4-BE49-F238E27FC236}">
                <a16:creationId xmlns:a16="http://schemas.microsoft.com/office/drawing/2014/main" id="{83F00A18-13CB-55E4-8BA1-E82608D89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219575"/>
            <a:ext cx="4114800" cy="46196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99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设计目标： </a:t>
            </a:r>
            <a:endParaRPr lang="en-US" altLang="zh-CN" sz="2400" dirty="0">
              <a:solidFill>
                <a:srgbClr val="99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3" name="Object 20">
            <a:extLst>
              <a:ext uri="{FF2B5EF4-FFF2-40B4-BE49-F238E27FC236}">
                <a16:creationId xmlns:a16="http://schemas.microsoft.com/office/drawing/2014/main" id="{48976F01-7A30-16AB-4F0C-0A46BB90046D}"/>
              </a:ext>
            </a:extLst>
          </p:cNvPr>
          <p:cNvGraphicFramePr>
            <a:graphicFrameLocks/>
          </p:cNvGraphicFramePr>
          <p:nvPr/>
        </p:nvGraphicFramePr>
        <p:xfrm>
          <a:off x="1905000" y="1709738"/>
          <a:ext cx="57150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16200" imgH="228600" progId="Equation.DSMT4">
                  <p:embed/>
                </p:oleObj>
              </mc:Choice>
              <mc:Fallback>
                <p:oleObj r:id="rId2" imgW="2616200" imgH="228600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709738"/>
                        <a:ext cx="57150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7">
            <a:extLst>
              <a:ext uri="{FF2B5EF4-FFF2-40B4-BE49-F238E27FC236}">
                <a16:creationId xmlns:a16="http://schemas.microsoft.com/office/drawing/2014/main" id="{211DA520-527A-9FE4-1458-AC5D67B04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1200150"/>
            <a:ext cx="1466850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zh-CN" alt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设理想信道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6B66818D-C772-0A4A-A42B-3DD21B142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5025" y="1200150"/>
            <a:ext cx="2749550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zh-CN" alt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，则系统传输总特性</a:t>
            </a:r>
            <a:r>
              <a:rPr kumimoji="1" lang="zh-CN" alt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</a:rPr>
              <a:t>：</a:t>
            </a:r>
          </a:p>
        </p:txBody>
      </p:sp>
      <p:graphicFrame>
        <p:nvGraphicFramePr>
          <p:cNvPr id="20503" name="Object 23">
            <a:extLst>
              <a:ext uri="{FF2B5EF4-FFF2-40B4-BE49-F238E27FC236}">
                <a16:creationId xmlns:a16="http://schemas.microsoft.com/office/drawing/2014/main" id="{C4AAE06D-89C1-03B2-5589-2B909515163B}"/>
              </a:ext>
            </a:extLst>
          </p:cNvPr>
          <p:cNvGraphicFramePr>
            <a:graphicFrameLocks/>
          </p:cNvGraphicFramePr>
          <p:nvPr/>
        </p:nvGraphicFramePr>
        <p:xfrm>
          <a:off x="2339975" y="1190625"/>
          <a:ext cx="12033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07780" imgH="190417" progId="Equation.DSMT4">
                  <p:embed/>
                </p:oleObj>
              </mc:Choice>
              <mc:Fallback>
                <p:oleObj r:id="rId4" imgW="507780" imgH="190417" progId="Equation.DSMT4">
                  <p:embed/>
                  <p:pic>
                    <p:nvPicPr>
                      <p:cNvPr id="0" name="Object 2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190625"/>
                        <a:ext cx="12033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7">
            <a:extLst>
              <a:ext uri="{FF2B5EF4-FFF2-40B4-BE49-F238E27FC236}">
                <a16:creationId xmlns:a16="http://schemas.microsoft.com/office/drawing/2014/main" id="{FC1468EA-A405-FD29-F5BD-5A325779A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57200"/>
            <a:ext cx="6553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buClr>
                <a:srgbClr val="FF0000"/>
              </a:buClr>
              <a:buSzPct val="80000"/>
            </a:pPr>
            <a:r>
              <a:rPr lang="en-US" altLang="zh-CN" sz="3200" b="1">
                <a:solidFill>
                  <a:srgbClr val="003399"/>
                </a:solidFill>
                <a:ea typeface="微软雅黑" panose="020B0503020204020204" pitchFamily="34" charset="-122"/>
              </a:rPr>
              <a:t>9.9.</a:t>
            </a:r>
            <a:r>
              <a:rPr lang="en-US" altLang="zh-CN" sz="3200" b="1">
                <a:solidFill>
                  <a:srgbClr val="990099"/>
                </a:solidFill>
                <a:ea typeface="微软雅黑" panose="020B0503020204020204" pitchFamily="34" charset="-122"/>
              </a:rPr>
              <a:t>1</a:t>
            </a:r>
            <a:r>
              <a:rPr lang="en-US" altLang="zh-CN" sz="3200" b="1">
                <a:solidFill>
                  <a:srgbClr val="003399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2800" b="1">
                <a:solidFill>
                  <a:srgbClr val="003399"/>
                </a:solidFill>
                <a:ea typeface="微软雅黑" panose="020B0503020204020204" pitchFamily="34" charset="-122"/>
              </a:rPr>
              <a:t> </a:t>
            </a:r>
            <a:r>
              <a:rPr lang="zh-CN" altLang="en-US" sz="2800" b="1">
                <a:solidFill>
                  <a:srgbClr val="003399"/>
                </a:solidFill>
                <a:ea typeface="微软雅黑" panose="020B0503020204020204" pitchFamily="34" charset="-122"/>
              </a:rPr>
              <a:t>理想信道下</a:t>
            </a:r>
            <a:r>
              <a:rPr lang="zh-CN" altLang="en-US" sz="2800">
                <a:solidFill>
                  <a:srgbClr val="003399"/>
                </a:solidFill>
                <a:ea typeface="微软雅黑" panose="020B0503020204020204" pitchFamily="34" charset="-122"/>
              </a:rPr>
              <a:t>的</a:t>
            </a:r>
            <a:r>
              <a:rPr lang="zh-CN" altLang="en-US" sz="2800" b="1">
                <a:solidFill>
                  <a:srgbClr val="003399"/>
                </a:solidFill>
                <a:ea typeface="微软雅黑" panose="020B0503020204020204" pitchFamily="34" charset="-122"/>
              </a:rPr>
              <a:t>最佳基带系统</a:t>
            </a:r>
            <a:endParaRPr lang="zh-CN" altLang="en-US" sz="2800">
              <a:solidFill>
                <a:srgbClr val="003399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矩形 15">
            <a:extLst>
              <a:ext uri="{FF2B5EF4-FFF2-40B4-BE49-F238E27FC236}">
                <a16:creationId xmlns:a16="http://schemas.microsoft.com/office/drawing/2014/main" id="{A5C25C36-45DD-C8C8-47F4-46E672F9D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438400"/>
            <a:ext cx="3257550" cy="46196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最佳化的两个条件</a:t>
            </a:r>
            <a:r>
              <a:rPr lang="zh-CN" altLang="en-US" sz="2400" dirty="0">
                <a:latin typeface="+mn-ea"/>
                <a:ea typeface="+mn-ea"/>
              </a:rPr>
              <a:t>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8A7CB3-36DD-832C-03A9-39CD58142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" y="3043238"/>
            <a:ext cx="5219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(1)  </a:t>
            </a:r>
            <a:r>
              <a:rPr lang="en-US" altLang="zh-CN" sz="2400" b="1" i="1">
                <a:solidFill>
                  <a:srgbClr val="0000CC"/>
                </a:solidFill>
                <a:ea typeface="微软雅黑" panose="020B0503020204020204" pitchFamily="34" charset="-122"/>
              </a:rPr>
              <a:t>H</a:t>
            </a:r>
            <a:r>
              <a:rPr lang="en-US" altLang="zh-CN" sz="2400" b="1">
                <a:solidFill>
                  <a:srgbClr val="0000CC"/>
                </a:solidFill>
                <a:ea typeface="微软雅黑" panose="020B0503020204020204" pitchFamily="34" charset="-122"/>
              </a:rPr>
              <a:t>(</a:t>
            </a:r>
            <a:r>
              <a:rPr lang="en-US" altLang="zh-CN" sz="2400">
                <a:solidFill>
                  <a:srgbClr val="0000CC"/>
                </a:solidFill>
                <a:ea typeface="微软雅黑" panose="020B0503020204020204" pitchFamily="34" charset="-122"/>
              </a:rPr>
              <a:t>ω</a:t>
            </a:r>
            <a:r>
              <a:rPr lang="en-US" altLang="zh-CN" sz="2400" b="1">
                <a:solidFill>
                  <a:srgbClr val="0000CC"/>
                </a:solidFill>
                <a:ea typeface="微软雅黑" panose="020B0503020204020204" pitchFamily="34" charset="-122"/>
              </a:rPr>
              <a:t>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应满足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无码间串扰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频域条件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</a:p>
        </p:txBody>
      </p:sp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408E2E83-4864-AC17-D76F-72EA2C52BA3F}"/>
              </a:ext>
            </a:extLst>
          </p:cNvPr>
          <p:cNvGraphicFramePr>
            <a:graphicFrameLocks/>
          </p:cNvGraphicFramePr>
          <p:nvPr/>
        </p:nvGraphicFramePr>
        <p:xfrm>
          <a:off x="2057400" y="3657600"/>
          <a:ext cx="5132388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348481" imgH="431613" progId="Equation.DSMT4">
                  <p:embed/>
                </p:oleObj>
              </mc:Choice>
              <mc:Fallback>
                <p:oleObj r:id="rId6" imgW="2348481" imgH="431613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657600"/>
                        <a:ext cx="5132388" cy="94456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>
            <a:extLst>
              <a:ext uri="{FF2B5EF4-FFF2-40B4-BE49-F238E27FC236}">
                <a16:creationId xmlns:a16="http://schemas.microsoft.com/office/drawing/2014/main" id="{F6BF0774-14E6-461D-7D3D-B93711948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410200"/>
            <a:ext cx="7162800" cy="990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ts val="3500"/>
              </a:lnSpc>
              <a:defRPr/>
            </a:pPr>
            <a:r>
              <a:rPr kumimoji="1" lang="zh-CN" alt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设发送滤波器的输入信号码元为</a:t>
            </a:r>
            <a:r>
              <a:rPr kumimoji="1"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冲激脉冲</a:t>
            </a:r>
            <a:r>
              <a:rPr kumimoji="1" lang="zh-CN" alt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则其到达接收匹配滤波器输入端的信号码元为：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0140D5-F599-8586-8FB1-B7F5AF892BC6}"/>
              </a:ext>
            </a:extLst>
          </p:cNvPr>
          <p:cNvSpPr/>
          <p:nvPr/>
        </p:nvSpPr>
        <p:spPr>
          <a:xfrm>
            <a:off x="838200" y="4933950"/>
            <a:ext cx="350837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(2)  </a:t>
            </a:r>
            <a:r>
              <a:rPr kumimoji="1"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使系统输出差错概率最小</a:t>
            </a:r>
            <a:r>
              <a:rPr kumimoji="1" lang="zh-CN" altLang="en-US" sz="2000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13" grpId="0"/>
      <p:bldP spid="1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5">
            <a:extLst>
              <a:ext uri="{FF2B5EF4-FFF2-40B4-BE49-F238E27FC236}">
                <a16:creationId xmlns:a16="http://schemas.microsoft.com/office/drawing/2014/main" id="{7A3B4D44-5C79-E5BF-3674-373D27A41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5" name="Object 16">
            <a:extLst>
              <a:ext uri="{FF2B5EF4-FFF2-40B4-BE49-F238E27FC236}">
                <a16:creationId xmlns:a16="http://schemas.microsoft.com/office/drawing/2014/main" id="{0C30813C-A664-511E-6D3B-1C084735B229}"/>
              </a:ext>
            </a:extLst>
          </p:cNvPr>
          <p:cNvGraphicFramePr>
            <a:graphicFrameLocks/>
          </p:cNvGraphicFramePr>
          <p:nvPr/>
        </p:nvGraphicFramePr>
        <p:xfrm>
          <a:off x="1143000" y="2414588"/>
          <a:ext cx="6135688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22600" imgH="835560" progId="Visio.Drawing.11">
                  <p:embed/>
                </p:oleObj>
              </mc:Choice>
              <mc:Fallback>
                <p:oleObj r:id="rId2" imgW="3522600" imgH="835560" progId="Visio.Drawing.11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414588"/>
                        <a:ext cx="6135688" cy="147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20">
            <a:extLst>
              <a:ext uri="{FF2B5EF4-FFF2-40B4-BE49-F238E27FC236}">
                <a16:creationId xmlns:a16="http://schemas.microsoft.com/office/drawing/2014/main" id="{DBFA5D22-BC03-624E-1063-8F9E9C8D9713}"/>
              </a:ext>
            </a:extLst>
          </p:cNvPr>
          <p:cNvGraphicFramePr>
            <a:graphicFrameLocks/>
          </p:cNvGraphicFramePr>
          <p:nvPr/>
        </p:nvGraphicFramePr>
        <p:xfrm>
          <a:off x="2133600" y="1066800"/>
          <a:ext cx="41148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38300" imgH="228600" progId="Equation.DSMT4">
                  <p:embed/>
                </p:oleObj>
              </mc:Choice>
              <mc:Fallback>
                <p:oleObj r:id="rId4" imgW="1638300" imgH="228600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066800"/>
                        <a:ext cx="41148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13">
            <a:extLst>
              <a:ext uri="{FF2B5EF4-FFF2-40B4-BE49-F238E27FC236}">
                <a16:creationId xmlns:a16="http://schemas.microsoft.com/office/drawing/2014/main" id="{FF7078D1-97A2-E576-1A55-A041966BA7C4}"/>
              </a:ext>
            </a:extLst>
          </p:cNvPr>
          <p:cNvGraphicFramePr>
            <a:graphicFrameLocks/>
          </p:cNvGraphicFramePr>
          <p:nvPr/>
        </p:nvGraphicFramePr>
        <p:xfrm>
          <a:off x="1066800" y="1752600"/>
          <a:ext cx="25669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77052" imgH="203024" progId="Equation.DSMT4">
                  <p:embed/>
                </p:oleObj>
              </mc:Choice>
              <mc:Fallback>
                <p:oleObj r:id="rId6" imgW="977052" imgH="203024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52600"/>
                        <a:ext cx="25669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1" name="Object 17">
            <a:extLst>
              <a:ext uri="{FF2B5EF4-FFF2-40B4-BE49-F238E27FC236}">
                <a16:creationId xmlns:a16="http://schemas.microsoft.com/office/drawing/2014/main" id="{8C12ADBC-506F-5813-3BCB-E1B09654D48F}"/>
              </a:ext>
            </a:extLst>
          </p:cNvPr>
          <p:cNvGraphicFramePr>
            <a:graphicFrameLocks/>
          </p:cNvGraphicFramePr>
          <p:nvPr/>
        </p:nvGraphicFramePr>
        <p:xfrm>
          <a:off x="3886200" y="1752600"/>
          <a:ext cx="3633788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82500" imgH="215619" progId="Equation.DSMT4">
                  <p:embed/>
                </p:oleObj>
              </mc:Choice>
              <mc:Fallback>
                <p:oleObj r:id="rId8" imgW="1382500" imgH="215619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752600"/>
                        <a:ext cx="3633788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92782B79-CF68-6607-1C25-D52E207A4F6A}"/>
              </a:ext>
            </a:extLst>
          </p:cNvPr>
          <p:cNvSpPr/>
          <p:nvPr/>
        </p:nvSpPr>
        <p:spPr>
          <a:xfrm>
            <a:off x="685800" y="3962400"/>
            <a:ext cx="7848600" cy="9477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最佳接收时，要求接收匹配滤波器 的传输特性</a:t>
            </a:r>
            <a:r>
              <a:rPr lang="en-US" altLang="zh-CN" sz="2400" b="1" i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G</a:t>
            </a:r>
            <a:r>
              <a:rPr lang="en-US" altLang="zh-CN" sz="2400" b="1" baseline="-25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(𝜔)</a:t>
            </a:r>
            <a:r>
              <a: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是输入</a:t>
            </a:r>
            <a:endParaRPr lang="en-US" altLang="zh-CN" sz="200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ts val="3500"/>
              </a:lnSpc>
            </a:pPr>
            <a:r>
              <a:rPr lang="zh-CN" altLang="en-US"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信号频谱</a:t>
            </a:r>
            <a:r>
              <a:rPr lang="en-US" altLang="zh-CN" sz="2400" b="1" i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</a:t>
            </a:r>
            <a:r>
              <a:rPr lang="en-US" altLang="zh-CN" sz="2400" b="1" baseline="-2500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sz="2400" b="1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(𝜔)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pitchFamily="34" charset="-122"/>
              </a:rPr>
              <a:t>的复共轭，即</a:t>
            </a:r>
          </a:p>
        </p:txBody>
      </p:sp>
      <p:graphicFrame>
        <p:nvGraphicFramePr>
          <p:cNvPr id="15378" name="Object 18">
            <a:extLst>
              <a:ext uri="{FF2B5EF4-FFF2-40B4-BE49-F238E27FC236}">
                <a16:creationId xmlns:a16="http://schemas.microsoft.com/office/drawing/2014/main" id="{5C18E457-4EA0-635B-FD91-BB0D10633712}"/>
              </a:ext>
            </a:extLst>
          </p:cNvPr>
          <p:cNvGraphicFramePr>
            <a:graphicFrameLocks/>
          </p:cNvGraphicFramePr>
          <p:nvPr/>
        </p:nvGraphicFramePr>
        <p:xfrm>
          <a:off x="2133600" y="5105400"/>
          <a:ext cx="531336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183452" imgH="241195" progId="Equation.DSMT4">
                  <p:embed/>
                </p:oleObj>
              </mc:Choice>
              <mc:Fallback>
                <p:oleObj r:id="rId10" imgW="2183452" imgH="241195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105400"/>
                        <a:ext cx="5313363" cy="58896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9">
            <a:extLst>
              <a:ext uri="{FF2B5EF4-FFF2-40B4-BE49-F238E27FC236}">
                <a16:creationId xmlns:a16="http://schemas.microsoft.com/office/drawing/2014/main" id="{42A2C17F-2F1E-F893-565A-01041333DD0D}"/>
              </a:ext>
            </a:extLst>
          </p:cNvPr>
          <p:cNvGraphicFramePr>
            <a:graphicFrameLocks/>
          </p:cNvGraphicFramePr>
          <p:nvPr/>
        </p:nvGraphicFramePr>
        <p:xfrm>
          <a:off x="2032000" y="5895975"/>
          <a:ext cx="29972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371600" imgH="228600" progId="Equation.DSMT4">
                  <p:embed/>
                </p:oleObj>
              </mc:Choice>
              <mc:Fallback>
                <p:oleObj r:id="rId12" imgW="1371600" imgH="228600" progId="Equation.DSMT4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5895975"/>
                        <a:ext cx="29972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61EA88DE-B7CA-27B3-5265-3684E85E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8" y="5638800"/>
            <a:ext cx="696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rgbClr val="990099"/>
                </a:solidFill>
                <a:ea typeface="微软雅黑" panose="020B0503020204020204" pitchFamily="34" charset="-122"/>
              </a:rPr>
              <a:t>联立</a:t>
            </a:r>
            <a:endParaRPr lang="zh-CN" altLang="en-US" b="1">
              <a:solidFill>
                <a:srgbClr val="990099"/>
              </a:solidFill>
              <a:ea typeface="微软雅黑" panose="020B0503020204020204" pitchFamily="34" charset="-122"/>
            </a:endParaRPr>
          </a:p>
        </p:txBody>
      </p:sp>
      <p:sp>
        <p:nvSpPr>
          <p:cNvPr id="25" name="AutoShape 11">
            <a:extLst>
              <a:ext uri="{FF2B5EF4-FFF2-40B4-BE49-F238E27FC236}">
                <a16:creationId xmlns:a16="http://schemas.microsoft.com/office/drawing/2014/main" id="{545B4298-7B06-99AC-CDF1-9F33169171B5}"/>
              </a:ext>
            </a:extLst>
          </p:cNvPr>
          <p:cNvSpPr>
            <a:spLocks/>
          </p:cNvSpPr>
          <p:nvPr/>
        </p:nvSpPr>
        <p:spPr bwMode="auto">
          <a:xfrm>
            <a:off x="1752600" y="5486400"/>
            <a:ext cx="268288" cy="696913"/>
          </a:xfrm>
          <a:prstGeom prst="leftBrace">
            <a:avLst>
              <a:gd name="adj1" fmla="val 27179"/>
              <a:gd name="adj2" fmla="val 50000"/>
            </a:avLst>
          </a:prstGeom>
          <a:noFill/>
          <a:ln w="28575">
            <a:solidFill>
              <a:srgbClr val="99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>
              <a:solidFill>
                <a:srgbClr val="990099"/>
              </a:solidFill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549846B9-C211-7965-7EF4-ACE47198D590}"/>
              </a:ext>
            </a:extLst>
          </p:cNvPr>
          <p:cNvSpPr/>
          <p:nvPr/>
        </p:nvSpPr>
        <p:spPr bwMode="auto">
          <a:xfrm rot="1868405" flipH="1" flipV="1">
            <a:off x="6762750" y="2498725"/>
            <a:ext cx="1470025" cy="2317750"/>
          </a:xfrm>
          <a:custGeom>
            <a:avLst/>
            <a:gdLst>
              <a:gd name="T0" fmla="*/ 464 w 1612"/>
              <a:gd name="T1" fmla="*/ 966 h 1618"/>
              <a:gd name="T2" fmla="*/ 378 w 1612"/>
              <a:gd name="T3" fmla="*/ 822 h 1618"/>
              <a:gd name="T4" fmla="*/ 310 w 1612"/>
              <a:gd name="T5" fmla="*/ 690 h 1618"/>
              <a:gd name="T6" fmla="*/ 256 w 1612"/>
              <a:gd name="T7" fmla="*/ 572 h 1618"/>
              <a:gd name="T8" fmla="*/ 214 w 1612"/>
              <a:gd name="T9" fmla="*/ 472 h 1618"/>
              <a:gd name="T10" fmla="*/ 166 w 1612"/>
              <a:gd name="T11" fmla="*/ 328 h 1618"/>
              <a:gd name="T12" fmla="*/ 152 w 1612"/>
              <a:gd name="T13" fmla="*/ 276 h 1618"/>
              <a:gd name="T14" fmla="*/ 34 w 1612"/>
              <a:gd name="T15" fmla="*/ 0 h 1618"/>
              <a:gd name="T16" fmla="*/ 82 w 1612"/>
              <a:gd name="T17" fmla="*/ 294 h 1618"/>
              <a:gd name="T18" fmla="*/ 86 w 1612"/>
              <a:gd name="T19" fmla="*/ 308 h 1618"/>
              <a:gd name="T20" fmla="*/ 120 w 1612"/>
              <a:gd name="T21" fmla="*/ 414 h 1618"/>
              <a:gd name="T22" fmla="*/ 174 w 1612"/>
              <a:gd name="T23" fmla="*/ 550 h 1618"/>
              <a:gd name="T24" fmla="*/ 228 w 1612"/>
              <a:gd name="T25" fmla="*/ 662 h 1618"/>
              <a:gd name="T26" fmla="*/ 296 w 1612"/>
              <a:gd name="T27" fmla="*/ 788 h 1618"/>
              <a:gd name="T28" fmla="*/ 382 w 1612"/>
              <a:gd name="T29" fmla="*/ 926 h 1618"/>
              <a:gd name="T30" fmla="*/ 430 w 1612"/>
              <a:gd name="T31" fmla="*/ 998 h 1618"/>
              <a:gd name="T32" fmla="*/ 514 w 1612"/>
              <a:gd name="T33" fmla="*/ 1104 h 1618"/>
              <a:gd name="T34" fmla="*/ 602 w 1612"/>
              <a:gd name="T35" fmla="*/ 1196 h 1618"/>
              <a:gd name="T36" fmla="*/ 696 w 1612"/>
              <a:gd name="T37" fmla="*/ 1278 h 1618"/>
              <a:gd name="T38" fmla="*/ 794 w 1612"/>
              <a:gd name="T39" fmla="*/ 1348 h 1618"/>
              <a:gd name="T40" fmla="*/ 892 w 1612"/>
              <a:gd name="T41" fmla="*/ 1408 h 1618"/>
              <a:gd name="T42" fmla="*/ 990 w 1612"/>
              <a:gd name="T43" fmla="*/ 1458 h 1618"/>
              <a:gd name="T44" fmla="*/ 1086 w 1612"/>
              <a:gd name="T45" fmla="*/ 1500 h 1618"/>
              <a:gd name="T46" fmla="*/ 1180 w 1612"/>
              <a:gd name="T47" fmla="*/ 1534 h 1618"/>
              <a:gd name="T48" fmla="*/ 1268 w 1612"/>
              <a:gd name="T49" fmla="*/ 1560 h 1618"/>
              <a:gd name="T50" fmla="*/ 1424 w 1612"/>
              <a:gd name="T51" fmla="*/ 1596 h 1618"/>
              <a:gd name="T52" fmla="*/ 1540 w 1612"/>
              <a:gd name="T53" fmla="*/ 1612 h 1618"/>
              <a:gd name="T54" fmla="*/ 1612 w 1612"/>
              <a:gd name="T55" fmla="*/ 1618 h 1618"/>
              <a:gd name="T56" fmla="*/ 1580 w 1612"/>
              <a:gd name="T57" fmla="*/ 1616 h 1618"/>
              <a:gd name="T58" fmla="*/ 1488 w 1612"/>
              <a:gd name="T59" fmla="*/ 1606 h 1618"/>
              <a:gd name="T60" fmla="*/ 1354 w 1612"/>
              <a:gd name="T61" fmla="*/ 1578 h 1618"/>
              <a:gd name="T62" fmla="*/ 1230 w 1612"/>
              <a:gd name="T63" fmla="*/ 1544 h 1618"/>
              <a:gd name="T64" fmla="*/ 1142 w 1612"/>
              <a:gd name="T65" fmla="*/ 1512 h 1618"/>
              <a:gd name="T66" fmla="*/ 1048 w 1612"/>
              <a:gd name="T67" fmla="*/ 1474 h 1618"/>
              <a:gd name="T68" fmla="*/ 954 w 1612"/>
              <a:gd name="T69" fmla="*/ 1426 h 1618"/>
              <a:gd name="T70" fmla="*/ 858 w 1612"/>
              <a:gd name="T71" fmla="*/ 1368 h 1618"/>
              <a:gd name="T72" fmla="*/ 764 w 1612"/>
              <a:gd name="T73" fmla="*/ 1300 h 1618"/>
              <a:gd name="T74" fmla="*/ 672 w 1612"/>
              <a:gd name="T75" fmla="*/ 1220 h 1618"/>
              <a:gd name="T76" fmla="*/ 584 w 1612"/>
              <a:gd name="T77" fmla="*/ 1128 h 1618"/>
              <a:gd name="T78" fmla="*/ 502 w 1612"/>
              <a:gd name="T79" fmla="*/ 1024 h 1618"/>
              <a:gd name="T80" fmla="*/ 464 w 1612"/>
              <a:gd name="T81" fmla="*/ 966 h 1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lnTo>
                  <a:pt x="464" y="96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5" grpId="0" animBg="1"/>
      <p:bldP spid="1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5">
            <a:extLst>
              <a:ext uri="{FF2B5EF4-FFF2-40B4-BE49-F238E27FC236}">
                <a16:creationId xmlns:a16="http://schemas.microsoft.com/office/drawing/2014/main" id="{A75F0140-2B4F-F41D-491F-3D51D6DD9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32098" name="Rectangle 7">
            <a:extLst>
              <a:ext uri="{FF2B5EF4-FFF2-40B4-BE49-F238E27FC236}">
                <a16:creationId xmlns:a16="http://schemas.microsoft.com/office/drawing/2014/main" id="{7920EB55-5949-020B-D01E-172365063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2" name="Object 8">
            <a:extLst>
              <a:ext uri="{FF2B5EF4-FFF2-40B4-BE49-F238E27FC236}">
                <a16:creationId xmlns:a16="http://schemas.microsoft.com/office/drawing/2014/main" id="{CD689997-44D7-36C6-F299-EC68B1AAD142}"/>
              </a:ext>
            </a:extLst>
          </p:cNvPr>
          <p:cNvGraphicFramePr>
            <a:graphicFrameLocks/>
          </p:cNvGraphicFramePr>
          <p:nvPr>
            <p:ph sz="half" idx="2"/>
          </p:nvPr>
        </p:nvGraphicFramePr>
        <p:xfrm>
          <a:off x="1143000" y="3276600"/>
          <a:ext cx="7202488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59120" imgH="1779480" progId="Visio.Drawing.11">
                  <p:embed/>
                </p:oleObj>
              </mc:Choice>
              <mc:Fallback>
                <p:oleObj r:id="rId2" imgW="6459120" imgH="1779480" progId="Visio.Drawing.11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76600"/>
                        <a:ext cx="7202488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3" name="Object 10">
            <a:extLst>
              <a:ext uri="{FF2B5EF4-FFF2-40B4-BE49-F238E27FC236}">
                <a16:creationId xmlns:a16="http://schemas.microsoft.com/office/drawing/2014/main" id="{96061B41-9479-AB61-DD37-35429DFA8508}"/>
              </a:ext>
            </a:extLst>
          </p:cNvPr>
          <p:cNvGraphicFramePr>
            <a:graphicFrameLocks/>
          </p:cNvGraphicFramePr>
          <p:nvPr/>
        </p:nvGraphicFramePr>
        <p:xfrm>
          <a:off x="1933575" y="1447800"/>
          <a:ext cx="23860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79032" imgH="241195" progId="Equation.DSMT4">
                  <p:embed/>
                </p:oleObj>
              </mc:Choice>
              <mc:Fallback>
                <p:oleObj r:id="rId4" imgW="1079032" imgH="241195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75" y="1447800"/>
                        <a:ext cx="23860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2A6B7A97-4B2F-49ED-8EB6-64D9F292BDDF}"/>
              </a:ext>
            </a:extLst>
          </p:cNvPr>
          <p:cNvSpPr/>
          <p:nvPr/>
        </p:nvSpPr>
        <p:spPr>
          <a:xfrm>
            <a:off x="762000" y="1066800"/>
            <a:ext cx="954088" cy="40005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9900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解得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b="1" dirty="0">
              <a:solidFill>
                <a:srgbClr val="990099"/>
              </a:solidFill>
              <a:latin typeface="+mn-ea"/>
              <a:ea typeface="+mn-ea"/>
            </a:endParaRPr>
          </a:p>
        </p:txBody>
      </p:sp>
      <p:graphicFrame>
        <p:nvGraphicFramePr>
          <p:cNvPr id="61444" name="Object 11">
            <a:extLst>
              <a:ext uri="{FF2B5EF4-FFF2-40B4-BE49-F238E27FC236}">
                <a16:creationId xmlns:a16="http://schemas.microsoft.com/office/drawing/2014/main" id="{8073DB33-C245-5D30-1970-744C505E39F6}"/>
              </a:ext>
            </a:extLst>
          </p:cNvPr>
          <p:cNvGraphicFramePr>
            <a:graphicFrameLocks/>
          </p:cNvGraphicFramePr>
          <p:nvPr/>
        </p:nvGraphicFramePr>
        <p:xfrm>
          <a:off x="5005388" y="1447800"/>
          <a:ext cx="23860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79032" imgH="241195" progId="Equation.DSMT4">
                  <p:embed/>
                </p:oleObj>
              </mc:Choice>
              <mc:Fallback>
                <p:oleObj r:id="rId6" imgW="1079032" imgH="241195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5388" y="1447800"/>
                        <a:ext cx="238601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45873E6A-F03C-9DF1-A412-9AC9599D0883}"/>
              </a:ext>
            </a:extLst>
          </p:cNvPr>
          <p:cNvSpPr/>
          <p:nvPr/>
        </p:nvSpPr>
        <p:spPr>
          <a:xfrm>
            <a:off x="4395788" y="1447800"/>
            <a:ext cx="441325" cy="4000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endParaRPr lang="zh-CN" altLang="en-US" dirty="0"/>
          </a:p>
        </p:txBody>
      </p:sp>
      <p:sp>
        <p:nvSpPr>
          <p:cNvPr id="18" name="矩形 15">
            <a:extLst>
              <a:ext uri="{FF2B5EF4-FFF2-40B4-BE49-F238E27FC236}">
                <a16:creationId xmlns:a16="http://schemas.microsoft.com/office/drawing/2014/main" id="{82C13CB0-2CB3-989C-8FA8-FA83D943A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62238"/>
            <a:ext cx="3835400" cy="4619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基带传输系统组成</a:t>
            </a:r>
            <a:r>
              <a:rPr lang="zh-CN" altLang="en-US" sz="2400" b="1" dirty="0">
                <a:latin typeface="+mn-ea"/>
                <a:ea typeface="+mn-ea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426BC8C-E4FC-4CF5-2B7A-904EF1CBDC26}"/>
              </a:ext>
            </a:extLst>
          </p:cNvPr>
          <p:cNvSpPr/>
          <p:nvPr/>
        </p:nvSpPr>
        <p:spPr>
          <a:xfrm>
            <a:off x="990600" y="2032000"/>
            <a:ext cx="7772400" cy="10668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800"/>
              </a:lnSpc>
              <a:buClr>
                <a:srgbClr val="0000CC"/>
              </a:buClr>
              <a:buSzPct val="65000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设 </a:t>
            </a:r>
            <a:r>
              <a:rPr kumimoji="1" lang="en-US" altLang="zh-CN" sz="2400" b="1" i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(t)</a:t>
            </a:r>
            <a:r>
              <a:rPr kumimoji="1"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是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均值为 </a:t>
            </a:r>
            <a:r>
              <a:rPr kumimoji="1"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，双</a:t>
            </a:r>
            <a:r>
              <a:rPr kumimoji="1"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边功率谱密度为 </a:t>
            </a:r>
            <a:r>
              <a:rPr kumimoji="1" lang="en-US" altLang="zh-CN" sz="2400" b="1" i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kumimoji="1" lang="en-US" altLang="zh-CN" sz="2400" b="1" kern="0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/2 </a:t>
            </a:r>
            <a:r>
              <a:rPr kumimoji="1"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的高斯白噪声</a:t>
            </a:r>
            <a:r>
              <a:rPr kumimoji="1" lang="zh-CN" altLang="en-US" sz="2000" kern="0" dirty="0">
                <a:latin typeface="+mn-ea"/>
                <a:ea typeface="+mn-ea"/>
              </a:rPr>
              <a:t>，</a:t>
            </a:r>
            <a:endParaRPr kumimoji="1" lang="en-US" altLang="zh-CN" sz="2000" kern="0" dirty="0">
              <a:latin typeface="+mn-ea"/>
              <a:ea typeface="+mn-ea"/>
            </a:endParaRPr>
          </a:p>
          <a:p>
            <a:pPr>
              <a:lnSpc>
                <a:spcPts val="3800"/>
              </a:lnSpc>
              <a:buClr>
                <a:srgbClr val="0000CC"/>
              </a:buClr>
              <a:buSzPct val="65000"/>
              <a:defRPr/>
            </a:pPr>
            <a:r>
              <a:rPr kumimoji="1"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则 </a:t>
            </a:r>
            <a:r>
              <a:rPr kumimoji="1" lang="en-US" altLang="zh-CN" sz="2400" b="1" i="1" kern="0" dirty="0" err="1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sz="2400" b="1" baseline="-25000" dirty="0" err="1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kumimoji="1" lang="en-US" altLang="zh-CN" sz="2400" b="1" kern="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(t) 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是均值为 </a:t>
            </a:r>
            <a:r>
              <a:rPr kumimoji="1" lang="en-US" altLang="zh-CN" sz="2400" b="1" kern="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kumimoji="1" lang="en-US" altLang="zh-CN" sz="2400" b="1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kumimoji="1"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带限高斯噪声，其功率（等于方差）为</a:t>
            </a:r>
            <a:r>
              <a:rPr kumimoji="1" lang="en-US" altLang="zh-CN" sz="2000" kern="0" baseline="3000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kumimoji="1" lang="zh-CN" altLang="en-US" sz="2000" kern="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矩形 15">
            <a:extLst>
              <a:ext uri="{FF2B5EF4-FFF2-40B4-BE49-F238E27FC236}">
                <a16:creationId xmlns:a16="http://schemas.microsoft.com/office/drawing/2014/main" id="{D1036F87-43F2-E0B7-73CF-EFCE66063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28638"/>
            <a:ext cx="4822825" cy="461962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基带传输系统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误码性能</a:t>
            </a:r>
            <a:r>
              <a:rPr lang="zh-CN" altLang="en-US" sz="2400" dirty="0">
                <a:latin typeface="+mn-ea"/>
                <a:ea typeface="+mn-ea"/>
              </a:rPr>
              <a:t>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B5BCD6-EF1F-407A-0B11-1C3BAF8B0123}"/>
              </a:ext>
            </a:extLst>
          </p:cNvPr>
          <p:cNvSpPr/>
          <p:nvPr/>
        </p:nvSpPr>
        <p:spPr>
          <a:xfrm>
            <a:off x="609600" y="1143000"/>
            <a:ext cx="1981200" cy="508000"/>
          </a:xfrm>
          <a:prstGeom prst="rect">
            <a:avLst/>
          </a:prstGeom>
          <a:solidFill>
            <a:srgbClr val="E8E8E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6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假设条件</a:t>
            </a:r>
            <a:r>
              <a:rPr kumimoji="1" lang="zh-CN" altLang="en-US" sz="2400" kern="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4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31433" name="Object 9">
            <a:extLst>
              <a:ext uri="{FF2B5EF4-FFF2-40B4-BE49-F238E27FC236}">
                <a16:creationId xmlns:a16="http://schemas.microsoft.com/office/drawing/2014/main" id="{489E15AC-C7D1-65AD-BCA5-BA867F7DEE29}"/>
              </a:ext>
            </a:extLst>
          </p:cNvPr>
          <p:cNvGraphicFramePr>
            <a:graphicFrameLocks/>
          </p:cNvGraphicFramePr>
          <p:nvPr/>
        </p:nvGraphicFramePr>
        <p:xfrm>
          <a:off x="1712913" y="3124200"/>
          <a:ext cx="628808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59372" imgH="393529" progId="Equation.DSMT4">
                  <p:embed/>
                </p:oleObj>
              </mc:Choice>
              <mc:Fallback>
                <p:oleObj r:id="rId2" imgW="3059372" imgH="393529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913" y="3124200"/>
                        <a:ext cx="628808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3" name="Object 11">
            <a:extLst>
              <a:ext uri="{FF2B5EF4-FFF2-40B4-BE49-F238E27FC236}">
                <a16:creationId xmlns:a16="http://schemas.microsoft.com/office/drawing/2014/main" id="{A3B0772B-91CF-71D2-619B-7B8FBEF1E76D}"/>
              </a:ext>
            </a:extLst>
          </p:cNvPr>
          <p:cNvGraphicFramePr>
            <a:graphicFrameLocks/>
          </p:cNvGraphicFramePr>
          <p:nvPr/>
        </p:nvGraphicFramePr>
        <p:xfrm>
          <a:off x="3276600" y="4697413"/>
          <a:ext cx="3357563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88367" imgH="482391" progId="Equation.DSMT4">
                  <p:embed/>
                </p:oleObj>
              </mc:Choice>
              <mc:Fallback>
                <p:oleObj r:id="rId4" imgW="1688367" imgH="482391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697413"/>
                        <a:ext cx="3357563" cy="1017587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DD59F97E-7DCB-9459-578D-95540F5B4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171950"/>
            <a:ext cx="335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其一维概率密度函数为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</a:p>
        </p:txBody>
      </p:sp>
      <p:pic>
        <p:nvPicPr>
          <p:cNvPr id="62472" name="Picture 5">
            <a:extLst>
              <a:ext uri="{FF2B5EF4-FFF2-40B4-BE49-F238E27FC236}">
                <a16:creationId xmlns:a16="http://schemas.microsoft.com/office/drawing/2014/main" id="{5C0318F8-EAB5-99CC-A452-FC57EB276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43000"/>
            <a:ext cx="220980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57">
            <a:extLst>
              <a:ext uri="{FF2B5EF4-FFF2-40B4-BE49-F238E27FC236}">
                <a16:creationId xmlns:a16="http://schemas.microsoft.com/office/drawing/2014/main" id="{E2B05A66-9481-71F7-81FD-48425D108FEF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952625"/>
            <a:ext cx="1189038" cy="609600"/>
            <a:chOff x="2500299" y="3214687"/>
            <a:chExt cx="1189012" cy="609605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9A987BC6-AFAC-4804-92A4-50D6D8E4D3C2}"/>
                </a:ext>
              </a:extLst>
            </p:cNvPr>
            <p:cNvSpPr/>
            <p:nvPr/>
          </p:nvSpPr>
          <p:spPr bwMode="auto">
            <a:xfrm>
              <a:off x="2500299" y="3214687"/>
              <a:ext cx="990578" cy="609605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9C13057-9E3B-3604-F8A6-01C3C6E329FC}"/>
                </a:ext>
              </a:extLst>
            </p:cNvPr>
            <p:cNvSpPr/>
            <p:nvPr/>
          </p:nvSpPr>
          <p:spPr>
            <a:xfrm>
              <a:off x="2576497" y="3286126"/>
              <a:ext cx="1112814" cy="4619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kern="0" dirty="0">
                  <a:solidFill>
                    <a:srgbClr val="00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噪声</a:t>
              </a:r>
              <a:r>
                <a:rPr lang="zh-CN" altLang="en-US" sz="2400" b="1" kern="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endPara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AADA4812-6CB2-7D7A-9E3A-5D98EE92C5E9}"/>
              </a:ext>
            </a:extLst>
          </p:cNvPr>
          <p:cNvSpPr/>
          <p:nvPr/>
        </p:nvSpPr>
        <p:spPr>
          <a:xfrm>
            <a:off x="1143000" y="5791200"/>
            <a:ext cx="48006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800" b="1" i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</a:t>
            </a:r>
            <a:r>
              <a:rPr kumimoji="1" lang="en-US" altLang="zh-CN" sz="2000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——</a:t>
            </a:r>
            <a:r>
              <a:rPr kumimoji="1" lang="zh-CN" altLang="en-US" sz="2000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噪声 </a:t>
            </a:r>
            <a:r>
              <a:rPr kumimoji="1" lang="en-US" altLang="zh-CN" sz="2400" b="1" i="1" kern="0" dirty="0" err="1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sz="2400" b="1" baseline="-25000" dirty="0" err="1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kumimoji="1" lang="en-US" altLang="zh-CN" sz="2400" b="1" kern="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(t)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在抽样时刻的抽样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值 。</a:t>
            </a:r>
            <a:endParaRPr lang="zh-CN" altLang="en-US" sz="2000" dirty="0"/>
          </a:p>
        </p:txBody>
      </p:sp>
      <p:sp>
        <p:nvSpPr>
          <p:cNvPr id="62475" name="椭圆 35">
            <a:extLst>
              <a:ext uri="{FF2B5EF4-FFF2-40B4-BE49-F238E27FC236}">
                <a16:creationId xmlns:a16="http://schemas.microsoft.com/office/drawing/2014/main" id="{A5278A14-EB42-DF0F-BF12-31A930667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313" y="3124200"/>
            <a:ext cx="1981200" cy="914400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626D03C-9114-4D84-450F-ABB5F9FDA181}"/>
              </a:ext>
            </a:extLst>
          </p:cNvPr>
          <p:cNvSpPr/>
          <p:nvPr/>
        </p:nvSpPr>
        <p:spPr>
          <a:xfrm>
            <a:off x="6132513" y="3962400"/>
            <a:ext cx="538162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0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3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23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 animBg="1"/>
      <p:bldP spid="13" grpId="0"/>
      <p:bldP spid="33" grpId="0"/>
      <p:bldP spid="62475" grpId="0" animBg="1"/>
      <p:bldP spid="3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FB5A8F4D-E3F8-54BD-C7E4-3AA27568CF2D}"/>
              </a:ext>
            </a:extLst>
          </p:cNvPr>
          <p:cNvGrpSpPr>
            <a:grpSpLocks/>
          </p:cNvGrpSpPr>
          <p:nvPr/>
        </p:nvGrpSpPr>
        <p:grpSpPr bwMode="auto">
          <a:xfrm>
            <a:off x="5570538" y="1666875"/>
            <a:ext cx="3421062" cy="3743325"/>
            <a:chOff x="6294" y="2805"/>
            <a:chExt cx="3319" cy="2793"/>
          </a:xfrm>
        </p:grpSpPr>
        <p:sp>
          <p:nvSpPr>
            <p:cNvPr id="134146" name="Line 9">
              <a:extLst>
                <a:ext uri="{FF2B5EF4-FFF2-40B4-BE49-F238E27FC236}">
                  <a16:creationId xmlns:a16="http://schemas.microsoft.com/office/drawing/2014/main" id="{1B516224-380F-95FE-1F51-278B63E1B4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6" y="2805"/>
              <a:ext cx="24" cy="27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4147" name="Group 10">
              <a:extLst>
                <a:ext uri="{FF2B5EF4-FFF2-40B4-BE49-F238E27FC236}">
                  <a16:creationId xmlns:a16="http://schemas.microsoft.com/office/drawing/2014/main" id="{CC6457E3-F11A-5B4C-A3C8-C5E2E250D2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12" y="4020"/>
              <a:ext cx="2354" cy="336"/>
              <a:chOff x="6812" y="4020"/>
              <a:chExt cx="2354" cy="336"/>
            </a:xfrm>
          </p:grpSpPr>
          <p:sp>
            <p:nvSpPr>
              <p:cNvPr id="134148" name="Line 11">
                <a:extLst>
                  <a:ext uri="{FF2B5EF4-FFF2-40B4-BE49-F238E27FC236}">
                    <a16:creationId xmlns:a16="http://schemas.microsoft.com/office/drawing/2014/main" id="{78080FCF-B3C3-2CFA-7D9A-97931C14FB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2" y="4020"/>
                <a:ext cx="2354" cy="0"/>
              </a:xfrm>
              <a:prstGeom prst="line">
                <a:avLst/>
              </a:prstGeom>
              <a:noFill/>
              <a:ln w="9525">
                <a:solidFill>
                  <a:srgbClr val="9900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49" name="Line 12">
                <a:extLst>
                  <a:ext uri="{FF2B5EF4-FFF2-40B4-BE49-F238E27FC236}">
                    <a16:creationId xmlns:a16="http://schemas.microsoft.com/office/drawing/2014/main" id="{745D01F9-AFEF-ED24-750F-A2A3E7F9F3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2" y="4356"/>
                <a:ext cx="2354" cy="0"/>
              </a:xfrm>
              <a:prstGeom prst="line">
                <a:avLst/>
              </a:prstGeom>
              <a:noFill/>
              <a:ln w="9525">
                <a:solidFill>
                  <a:srgbClr val="9900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4150" name="Group 13">
              <a:extLst>
                <a:ext uri="{FF2B5EF4-FFF2-40B4-BE49-F238E27FC236}">
                  <a16:creationId xmlns:a16="http://schemas.microsoft.com/office/drawing/2014/main" id="{11EF2122-2BA8-1775-68BD-03E6DDA669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24" y="3348"/>
              <a:ext cx="2354" cy="336"/>
              <a:chOff x="6812" y="4020"/>
              <a:chExt cx="2354" cy="336"/>
            </a:xfrm>
          </p:grpSpPr>
          <p:sp>
            <p:nvSpPr>
              <p:cNvPr id="134151" name="Line 14">
                <a:extLst>
                  <a:ext uri="{FF2B5EF4-FFF2-40B4-BE49-F238E27FC236}">
                    <a16:creationId xmlns:a16="http://schemas.microsoft.com/office/drawing/2014/main" id="{B8F38B21-F285-D4D6-D200-C96F8DBFAE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2" y="4020"/>
                <a:ext cx="2354" cy="0"/>
              </a:xfrm>
              <a:prstGeom prst="line">
                <a:avLst/>
              </a:prstGeom>
              <a:noFill/>
              <a:ln w="9525">
                <a:solidFill>
                  <a:srgbClr val="9900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52" name="Line 15">
                <a:extLst>
                  <a:ext uri="{FF2B5EF4-FFF2-40B4-BE49-F238E27FC236}">
                    <a16:creationId xmlns:a16="http://schemas.microsoft.com/office/drawing/2014/main" id="{0E746B1A-B6FF-ADFE-010B-61F6C79CBA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2" y="4356"/>
                <a:ext cx="2354" cy="0"/>
              </a:xfrm>
              <a:prstGeom prst="line">
                <a:avLst/>
              </a:prstGeom>
              <a:noFill/>
              <a:ln w="9525">
                <a:solidFill>
                  <a:srgbClr val="9900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4153" name="Group 16">
              <a:extLst>
                <a:ext uri="{FF2B5EF4-FFF2-40B4-BE49-F238E27FC236}">
                  <a16:creationId xmlns:a16="http://schemas.microsoft.com/office/drawing/2014/main" id="{4121DABA-DF29-ACF5-1AC8-2CAE69C7AA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00" y="4674"/>
              <a:ext cx="2354" cy="336"/>
              <a:chOff x="6812" y="4020"/>
              <a:chExt cx="2354" cy="336"/>
            </a:xfrm>
          </p:grpSpPr>
          <p:sp>
            <p:nvSpPr>
              <p:cNvPr id="134154" name="Line 17">
                <a:extLst>
                  <a:ext uri="{FF2B5EF4-FFF2-40B4-BE49-F238E27FC236}">
                    <a16:creationId xmlns:a16="http://schemas.microsoft.com/office/drawing/2014/main" id="{86AE30D7-4BA7-F085-E9EE-F8E876AB9F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2" y="4020"/>
                <a:ext cx="2354" cy="0"/>
              </a:xfrm>
              <a:prstGeom prst="line">
                <a:avLst/>
              </a:prstGeom>
              <a:noFill/>
              <a:ln w="9525">
                <a:solidFill>
                  <a:srgbClr val="9900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55" name="Line 18">
                <a:extLst>
                  <a:ext uri="{FF2B5EF4-FFF2-40B4-BE49-F238E27FC236}">
                    <a16:creationId xmlns:a16="http://schemas.microsoft.com/office/drawing/2014/main" id="{6CF7741C-BA8C-0429-7448-F4398BB012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2" y="4356"/>
                <a:ext cx="2354" cy="0"/>
              </a:xfrm>
              <a:prstGeom prst="line">
                <a:avLst/>
              </a:prstGeom>
              <a:noFill/>
              <a:ln w="9525">
                <a:solidFill>
                  <a:srgbClr val="9900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4156" name="Text Box 19">
              <a:extLst>
                <a:ext uri="{FF2B5EF4-FFF2-40B4-BE49-F238E27FC236}">
                  <a16:creationId xmlns:a16="http://schemas.microsoft.com/office/drawing/2014/main" id="{80C88463-E956-F6D2-7A5A-056FC6265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4" y="3814"/>
              <a:ext cx="362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d</a:t>
              </a:r>
              <a:endParaRPr lang="en-US" altLang="zh-CN" sz="4000"/>
            </a:p>
          </p:txBody>
        </p:sp>
        <p:sp>
          <p:nvSpPr>
            <p:cNvPr id="134157" name="Text Box 20">
              <a:extLst>
                <a:ext uri="{FF2B5EF4-FFF2-40B4-BE49-F238E27FC236}">
                  <a16:creationId xmlns:a16="http://schemas.microsoft.com/office/drawing/2014/main" id="{E9368AF8-60E4-6107-F3C0-2C3F829AA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4" y="3483"/>
              <a:ext cx="488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3d</a:t>
              </a:r>
              <a:endParaRPr lang="en-US" altLang="zh-CN" sz="4000"/>
            </a:p>
          </p:txBody>
        </p:sp>
        <p:sp>
          <p:nvSpPr>
            <p:cNvPr id="134158" name="Text Box 21">
              <a:extLst>
                <a:ext uri="{FF2B5EF4-FFF2-40B4-BE49-F238E27FC236}">
                  <a16:creationId xmlns:a16="http://schemas.microsoft.com/office/drawing/2014/main" id="{89056154-E516-68EE-7AAE-E0585C471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0" y="2832"/>
              <a:ext cx="488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7d</a:t>
              </a:r>
              <a:endParaRPr lang="en-US" altLang="zh-CN" sz="4000"/>
            </a:p>
          </p:txBody>
        </p:sp>
        <p:sp>
          <p:nvSpPr>
            <p:cNvPr id="134159" name="Text Box 22">
              <a:extLst>
                <a:ext uri="{FF2B5EF4-FFF2-40B4-BE49-F238E27FC236}">
                  <a16:creationId xmlns:a16="http://schemas.microsoft.com/office/drawing/2014/main" id="{7D94B663-4D32-F330-FF14-9DE4374BF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0" y="4859"/>
              <a:ext cx="57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-5d</a:t>
              </a:r>
              <a:endParaRPr lang="en-US" altLang="zh-CN" sz="4000"/>
            </a:p>
          </p:txBody>
        </p:sp>
        <p:sp>
          <p:nvSpPr>
            <p:cNvPr id="134160" name="Text Box 23">
              <a:extLst>
                <a:ext uri="{FF2B5EF4-FFF2-40B4-BE49-F238E27FC236}">
                  <a16:creationId xmlns:a16="http://schemas.microsoft.com/office/drawing/2014/main" id="{6738C62E-FD66-D16A-3AE8-6EF972878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0" y="4496"/>
              <a:ext cx="57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-3d</a:t>
              </a:r>
              <a:endParaRPr lang="en-US" altLang="zh-CN" sz="4000"/>
            </a:p>
          </p:txBody>
        </p:sp>
        <p:sp>
          <p:nvSpPr>
            <p:cNvPr id="134161" name="Text Box 24">
              <a:extLst>
                <a:ext uri="{FF2B5EF4-FFF2-40B4-BE49-F238E27FC236}">
                  <a16:creationId xmlns:a16="http://schemas.microsoft.com/office/drawing/2014/main" id="{29B23F51-9E95-000F-7C7E-B1785BDF2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4" y="4212"/>
              <a:ext cx="57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-d</a:t>
              </a:r>
              <a:endParaRPr lang="en-US" altLang="zh-CN" sz="4000"/>
            </a:p>
          </p:txBody>
        </p:sp>
        <p:sp>
          <p:nvSpPr>
            <p:cNvPr id="134162" name="Text Box 25">
              <a:extLst>
                <a:ext uri="{FF2B5EF4-FFF2-40B4-BE49-F238E27FC236}">
                  <a16:creationId xmlns:a16="http://schemas.microsoft.com/office/drawing/2014/main" id="{C9F64AB6-45FA-64DF-56B1-976C4B548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6" y="4041"/>
              <a:ext cx="362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0</a:t>
              </a:r>
              <a:endParaRPr lang="en-US" altLang="zh-CN"/>
            </a:p>
          </p:txBody>
        </p:sp>
        <p:sp>
          <p:nvSpPr>
            <p:cNvPr id="134163" name="Text Box 26">
              <a:extLst>
                <a:ext uri="{FF2B5EF4-FFF2-40B4-BE49-F238E27FC236}">
                  <a16:creationId xmlns:a16="http://schemas.microsoft.com/office/drawing/2014/main" id="{9AAD286D-BA09-129E-E01D-92C9401A7C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1" y="4063"/>
              <a:ext cx="362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t</a:t>
              </a:r>
              <a:endParaRPr lang="en-US" altLang="zh-CN" sz="4000"/>
            </a:p>
          </p:txBody>
        </p:sp>
        <p:sp>
          <p:nvSpPr>
            <p:cNvPr id="134164" name="Line 27">
              <a:extLst>
                <a:ext uri="{FF2B5EF4-FFF2-40B4-BE49-F238E27FC236}">
                  <a16:creationId xmlns:a16="http://schemas.microsoft.com/office/drawing/2014/main" id="{C0D187F0-5165-699D-4CBA-2880A18D8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0" y="3030"/>
              <a:ext cx="2392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65" name="Line 28">
              <a:extLst>
                <a:ext uri="{FF2B5EF4-FFF2-40B4-BE49-F238E27FC236}">
                  <a16:creationId xmlns:a16="http://schemas.microsoft.com/office/drawing/2014/main" id="{3CD90C1C-C2C6-6E36-22F0-84138142ED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6" y="5346"/>
              <a:ext cx="2392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66" name="Text Box 29">
              <a:extLst>
                <a:ext uri="{FF2B5EF4-FFF2-40B4-BE49-F238E27FC236}">
                  <a16:creationId xmlns:a16="http://schemas.microsoft.com/office/drawing/2014/main" id="{BB538162-4A09-03CE-C374-68FDA3BDEA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4" y="5200"/>
              <a:ext cx="57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-7d</a:t>
              </a:r>
              <a:endParaRPr lang="en-US" altLang="zh-CN" sz="4000"/>
            </a:p>
          </p:txBody>
        </p:sp>
        <p:sp>
          <p:nvSpPr>
            <p:cNvPr id="134167" name="Text Box 30">
              <a:extLst>
                <a:ext uri="{FF2B5EF4-FFF2-40B4-BE49-F238E27FC236}">
                  <a16:creationId xmlns:a16="http://schemas.microsoft.com/office/drawing/2014/main" id="{FAAA30FE-13F2-858E-3D85-2A1530766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0" y="3147"/>
              <a:ext cx="488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5d</a:t>
              </a:r>
              <a:endParaRPr lang="en-US" altLang="zh-CN" sz="4000"/>
            </a:p>
          </p:txBody>
        </p:sp>
        <p:sp>
          <p:nvSpPr>
            <p:cNvPr id="134168" name="Line 27">
              <a:extLst>
                <a:ext uri="{FF2B5EF4-FFF2-40B4-BE49-F238E27FC236}">
                  <a16:creationId xmlns:a16="http://schemas.microsoft.com/office/drawing/2014/main" id="{948A960B-F570-D11D-A3AD-CD0C8755C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11" y="4209"/>
              <a:ext cx="239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4169" name="Rectangle 33">
            <a:extLst>
              <a:ext uri="{FF2B5EF4-FFF2-40B4-BE49-F238E27FC236}">
                <a16:creationId xmlns:a16="http://schemas.microsoft.com/office/drawing/2014/main" id="{3519D725-91D3-CE48-AB93-8B45A05C2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1408" name="Object 32">
            <a:extLst>
              <a:ext uri="{FF2B5EF4-FFF2-40B4-BE49-F238E27FC236}">
                <a16:creationId xmlns:a16="http://schemas.microsoft.com/office/drawing/2014/main" id="{43E3B3F8-3E93-AD87-0A81-EF3A2734CE1A}"/>
              </a:ext>
            </a:extLst>
          </p:cNvPr>
          <p:cNvGraphicFramePr>
            <a:graphicFrameLocks/>
          </p:cNvGraphicFramePr>
          <p:nvPr/>
        </p:nvGraphicFramePr>
        <p:xfrm>
          <a:off x="1676400" y="3962400"/>
          <a:ext cx="38862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68876" imgH="215619" progId="Equation.3">
                  <p:embed/>
                </p:oleObj>
              </mc:Choice>
              <mc:Fallback>
                <p:oleObj r:id="rId2" imgW="2168876" imgH="215619" progId="Equation.3">
                  <p:embed/>
                  <p:pic>
                    <p:nvPicPr>
                      <p:cNvPr id="0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962400"/>
                        <a:ext cx="3886200" cy="4302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3">
            <a:extLst>
              <a:ext uri="{FF2B5EF4-FFF2-40B4-BE49-F238E27FC236}">
                <a16:creationId xmlns:a16="http://schemas.microsoft.com/office/drawing/2014/main" id="{3987EA4F-99EE-BDCD-DF65-4E5AB539E457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2667000"/>
            <a:ext cx="4724400" cy="5334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35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kumimoji="1" lang="zh-CN" altLang="en-US" sz="2000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其中，</a:t>
            </a:r>
            <a:r>
              <a:rPr kumimoji="1" lang="en-US" altLang="zh-CN" sz="2400" b="1" i="1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 </a:t>
            </a:r>
            <a:r>
              <a:rPr kumimoji="1" lang="zh-CN" altLang="en-US" sz="2000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为相邻电平间隔的一半。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4E03945-1365-7A4A-60BC-21EF07421D24}"/>
              </a:ext>
            </a:extLst>
          </p:cNvPr>
          <p:cNvSpPr/>
          <p:nvPr/>
        </p:nvSpPr>
        <p:spPr>
          <a:xfrm>
            <a:off x="609600" y="990600"/>
            <a:ext cx="7772400" cy="10160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600"/>
              </a:lnSpc>
              <a:buClr>
                <a:srgbClr val="0000CC"/>
              </a:buClr>
              <a:buSzPct val="65000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设 </a:t>
            </a:r>
            <a:r>
              <a:rPr kumimoji="1" lang="en-US" altLang="zh-CN" sz="2400" b="1" i="1" kern="0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M 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进制基带信号，其每个码元</a:t>
            </a: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在抽样时刻的样值电压</a:t>
            </a:r>
            <a:r>
              <a:rPr lang="en-US" sz="2400" b="1" i="1" dirty="0" err="1">
                <a:solidFill>
                  <a:srgbClr val="990099"/>
                </a:solidFill>
              </a:rPr>
              <a:t>A</a:t>
            </a:r>
            <a:r>
              <a:rPr lang="en-US" sz="2400" b="1" baseline="-25000" dirty="0" err="1">
                <a:solidFill>
                  <a:srgbClr val="990099"/>
                </a:solidFill>
              </a:rPr>
              <a:t>k</a:t>
            </a:r>
            <a:r>
              <a:rPr lang="en-US" sz="2400" b="1" baseline="-25000" dirty="0">
                <a:solidFill>
                  <a:srgbClr val="990099"/>
                </a:solidFill>
              </a:rPr>
              <a:t> 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取下列 </a:t>
            </a:r>
            <a:r>
              <a:rPr kumimoji="1" lang="en-US" altLang="zh-CN" sz="2400" b="1" i="1" kern="0" dirty="0"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M </a:t>
            </a:r>
            <a:r>
              <a:rPr kumimoji="1" lang="en-US" altLang="zh-CN" sz="2000" b="1" i="1" kern="0" dirty="0">
                <a:solidFill>
                  <a:srgbClr val="00339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种电平之一</a:t>
            </a:r>
            <a:r>
              <a:rPr kumimoji="1" lang="zh-CN" altLang="en-US" sz="2000" kern="0" dirty="0">
                <a:solidFill>
                  <a:srgbClr val="000000"/>
                </a:solidFill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3D786E5-6AD3-F1F8-4EC1-532A95CEE9ED}"/>
              </a:ext>
            </a:extLst>
          </p:cNvPr>
          <p:cNvSpPr/>
          <p:nvPr/>
        </p:nvSpPr>
        <p:spPr>
          <a:xfrm>
            <a:off x="6781800" y="1981200"/>
            <a:ext cx="109061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b="1" i="1" kern="0" dirty="0">
                <a:solidFill>
                  <a:srgbClr val="99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kumimoji="1" lang="en-US" altLang="zh-CN" sz="2400" b="1" kern="0" dirty="0">
                <a:solidFill>
                  <a:srgbClr val="99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400" b="1" kern="0" dirty="0">
                <a:solidFill>
                  <a:srgbClr val="99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＝ </a:t>
            </a:r>
            <a:r>
              <a:rPr kumimoji="1" lang="en-US" altLang="zh-CN" sz="2400" b="1" kern="0" dirty="0">
                <a:solidFill>
                  <a:srgbClr val="990099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endParaRPr lang="zh-CN" altLang="en-US" sz="2400" b="1" dirty="0">
              <a:solidFill>
                <a:srgbClr val="990099"/>
              </a:solidFill>
              <a:latin typeface="+mn-lt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6BC88F6-ADBB-A961-EEED-CBDCC88C47CC}"/>
              </a:ext>
            </a:extLst>
          </p:cNvPr>
          <p:cNvSpPr/>
          <p:nvPr/>
        </p:nvSpPr>
        <p:spPr>
          <a:xfrm>
            <a:off x="642938" y="3344863"/>
            <a:ext cx="4800600" cy="5413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ts val="3500"/>
              </a:lnSpc>
              <a:spcBef>
                <a:spcPct val="20000"/>
              </a:spcBef>
              <a:buClr>
                <a:srgbClr val="0000CC"/>
              </a:buClr>
              <a:buSzPct val="65000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因此，判决器的</a:t>
            </a:r>
            <a:r>
              <a:rPr kumimoji="1" lang="zh-CN" altLang="en-US" sz="20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判决门限电平</a:t>
            </a: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应设置为</a:t>
            </a: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355CB055-634B-C523-5CB9-9092BB35A391}"/>
              </a:ext>
            </a:extLst>
          </p:cNvPr>
          <p:cNvSpPr/>
          <p:nvPr/>
        </p:nvSpPr>
        <p:spPr>
          <a:xfrm>
            <a:off x="6096000" y="3081338"/>
            <a:ext cx="46038" cy="46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8D28066C-05EF-8DEC-D008-90892042CA92}"/>
              </a:ext>
            </a:extLst>
          </p:cNvPr>
          <p:cNvSpPr/>
          <p:nvPr/>
        </p:nvSpPr>
        <p:spPr>
          <a:xfrm>
            <a:off x="6096000" y="3522663"/>
            <a:ext cx="46038" cy="46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ADDC8E93-B107-7C6F-5C30-D4D5CCF9ED0A}"/>
              </a:ext>
            </a:extLst>
          </p:cNvPr>
          <p:cNvSpPr/>
          <p:nvPr/>
        </p:nvSpPr>
        <p:spPr>
          <a:xfrm>
            <a:off x="6096000" y="3978275"/>
            <a:ext cx="46038" cy="460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0E60F055-4CB7-9852-6FB0-BA07D2C4E0A5}"/>
              </a:ext>
            </a:extLst>
          </p:cNvPr>
          <p:cNvSpPr/>
          <p:nvPr/>
        </p:nvSpPr>
        <p:spPr>
          <a:xfrm>
            <a:off x="6096000" y="4406900"/>
            <a:ext cx="46038" cy="460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64F36088-73AD-CB91-EF47-CA47E4A0D431}"/>
              </a:ext>
            </a:extLst>
          </p:cNvPr>
          <p:cNvSpPr/>
          <p:nvPr/>
        </p:nvSpPr>
        <p:spPr>
          <a:xfrm>
            <a:off x="6078538" y="4830763"/>
            <a:ext cx="46037" cy="46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A17E98FB-4C4B-1892-60A1-1DA361FDAE29}"/>
              </a:ext>
            </a:extLst>
          </p:cNvPr>
          <p:cNvSpPr/>
          <p:nvPr/>
        </p:nvSpPr>
        <p:spPr>
          <a:xfrm>
            <a:off x="6096000" y="2608263"/>
            <a:ext cx="46038" cy="460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7D60570B-92C4-80EF-2934-874D19998B8D}"/>
              </a:ext>
            </a:extLst>
          </p:cNvPr>
          <p:cNvSpPr/>
          <p:nvPr/>
        </p:nvSpPr>
        <p:spPr>
          <a:xfrm>
            <a:off x="6096000" y="2181225"/>
            <a:ext cx="46038" cy="460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506" name="矩形 51">
            <a:extLst>
              <a:ext uri="{FF2B5EF4-FFF2-40B4-BE49-F238E27FC236}">
                <a16:creationId xmlns:a16="http://schemas.microsoft.com/office/drawing/2014/main" id="{598DF3E5-A2D5-D4CC-BC95-B3F6A2270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057400"/>
            <a:ext cx="831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990099"/>
                </a:solidFill>
              </a:rPr>
              <a:t> A</a:t>
            </a:r>
            <a:r>
              <a:rPr lang="en-US" altLang="zh-CN" sz="2400" b="1" baseline="-25000">
                <a:solidFill>
                  <a:srgbClr val="990099"/>
                </a:solidFill>
              </a:rPr>
              <a:t>k </a:t>
            </a:r>
            <a:r>
              <a:rPr lang="en-US" altLang="zh-CN" sz="2400" b="1" i="1">
                <a:solidFill>
                  <a:srgbClr val="990099"/>
                </a:solidFill>
              </a:rPr>
              <a:t>=</a:t>
            </a:r>
            <a:endParaRPr lang="zh-CN" altLang="en-US" sz="2400">
              <a:solidFill>
                <a:srgbClr val="990099"/>
              </a:solidFill>
            </a:endParaRPr>
          </a:p>
        </p:txBody>
      </p:sp>
      <p:grpSp>
        <p:nvGrpSpPr>
          <p:cNvPr id="6" name="组合 57">
            <a:extLst>
              <a:ext uri="{FF2B5EF4-FFF2-40B4-BE49-F238E27FC236}">
                <a16:creationId xmlns:a16="http://schemas.microsoft.com/office/drawing/2014/main" id="{BC8C2ABA-3F6F-50D8-B68C-E55AC0D0660F}"/>
              </a:ext>
            </a:extLst>
          </p:cNvPr>
          <p:cNvGrpSpPr>
            <a:grpSpLocks/>
          </p:cNvGrpSpPr>
          <p:nvPr/>
        </p:nvGrpSpPr>
        <p:grpSpPr bwMode="auto">
          <a:xfrm>
            <a:off x="487363" y="685800"/>
            <a:ext cx="1189037" cy="609600"/>
            <a:chOff x="2500299" y="3214687"/>
            <a:chExt cx="1189012" cy="609605"/>
          </a:xfrm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5742D0C1-2B9E-2187-8992-D92A31404751}"/>
                </a:ext>
              </a:extLst>
            </p:cNvPr>
            <p:cNvSpPr/>
            <p:nvPr/>
          </p:nvSpPr>
          <p:spPr bwMode="auto">
            <a:xfrm>
              <a:off x="2500299" y="3214687"/>
              <a:ext cx="990579" cy="609605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AF593478-095C-9EE3-B2FC-31939BD28A57}"/>
                </a:ext>
              </a:extLst>
            </p:cNvPr>
            <p:cNvSpPr/>
            <p:nvPr/>
          </p:nvSpPr>
          <p:spPr>
            <a:xfrm>
              <a:off x="2576497" y="3286126"/>
              <a:ext cx="1112814" cy="4619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kern="0" dirty="0">
                  <a:solidFill>
                    <a:srgbClr val="9900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信号：</a:t>
              </a:r>
              <a:endParaRPr lang="zh-CN" altLang="en-US" sz="2400" b="1" dirty="0">
                <a:solidFill>
                  <a:srgbClr val="990099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A3DB79D6-867D-BCCC-1B60-FA2956C281F8}"/>
              </a:ext>
            </a:extLst>
          </p:cNvPr>
          <p:cNvSpPr/>
          <p:nvPr/>
        </p:nvSpPr>
        <p:spPr>
          <a:xfrm>
            <a:off x="609600" y="5270500"/>
            <a:ext cx="5562600" cy="5540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600"/>
              </a:lnSpc>
              <a:buClr>
                <a:srgbClr val="0000CC"/>
              </a:buClr>
              <a:buSzPct val="65000"/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在抽样时刻上</a:t>
            </a:r>
            <a:r>
              <a:rPr kumimoji="1" lang="zh-CN" altLang="en-US" sz="20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ea typeface="+mn-ea"/>
                <a:cs typeface="Arial" panose="020B0604020202020204" pitchFamily="34" charset="0"/>
              </a:rPr>
              <a:t>“</a:t>
            </a:r>
            <a:r>
              <a:rPr kumimoji="1" lang="zh-CN" altLang="en-US" sz="2000" kern="0" dirty="0">
                <a:solidFill>
                  <a:srgbClr val="99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信号</a:t>
            </a:r>
            <a:r>
              <a:rPr kumimoji="1" lang="en-US" altLang="zh-CN" sz="2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  <a:r>
              <a:rPr kumimoji="1" lang="zh-CN" altLang="en-US" sz="2000" kern="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噪声</a:t>
            </a:r>
            <a:r>
              <a:rPr kumimoji="1" lang="zh-CN" altLang="en-US" sz="2000" b="1" kern="0" dirty="0">
                <a:latin typeface="+mn-ea"/>
                <a:ea typeface="+mn-ea"/>
                <a:cs typeface="Arial" panose="020B0604020202020204" pitchFamily="34" charset="0"/>
              </a:rPr>
              <a:t>”</a:t>
            </a: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的样值</a:t>
            </a:r>
            <a:endParaRPr lang="zh-CN" altLang="en-US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3D545C3-BCB0-DDFF-D18B-CE53B2E01C80}"/>
              </a:ext>
            </a:extLst>
          </p:cNvPr>
          <p:cNvSpPr/>
          <p:nvPr/>
        </p:nvSpPr>
        <p:spPr>
          <a:xfrm>
            <a:off x="4625975" y="5305425"/>
            <a:ext cx="11715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i="1" dirty="0"/>
              <a:t>= </a:t>
            </a:r>
            <a:r>
              <a:rPr lang="en-US" sz="2400" b="1" i="1" dirty="0" err="1">
                <a:solidFill>
                  <a:srgbClr val="990099"/>
                </a:solidFill>
              </a:rPr>
              <a:t>A</a:t>
            </a:r>
            <a:r>
              <a:rPr lang="en-US" sz="2400" b="1" baseline="-25000" dirty="0" err="1">
                <a:solidFill>
                  <a:srgbClr val="990099"/>
                </a:solidFill>
              </a:rPr>
              <a:t>k</a:t>
            </a:r>
            <a:r>
              <a:rPr lang="en-US" sz="2400" b="1" baseline="-25000" dirty="0">
                <a:solidFill>
                  <a:srgbClr val="990099"/>
                </a:solidFill>
              </a:rPr>
              <a:t> </a:t>
            </a:r>
            <a:r>
              <a:rPr kumimoji="1" lang="en-US" altLang="zh-CN" sz="2400" b="1" kern="0" dirty="0">
                <a:latin typeface="+mn-lt"/>
                <a:sym typeface="Symbol" panose="05050102010706020507" pitchFamily="18" charset="2"/>
              </a:rPr>
              <a:t>+</a:t>
            </a:r>
            <a:r>
              <a:rPr kumimoji="1" lang="zh-CN" altLang="en-US" sz="2400" b="1" i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</a:t>
            </a:r>
            <a:endParaRPr lang="zh-CN" altLang="en-US" sz="2400" i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组合 57">
            <a:extLst>
              <a:ext uri="{FF2B5EF4-FFF2-40B4-BE49-F238E27FC236}">
                <a16:creationId xmlns:a16="http://schemas.microsoft.com/office/drawing/2014/main" id="{8CCE65B7-C660-8C04-E92E-25B550385B8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724400"/>
            <a:ext cx="1752600" cy="533400"/>
            <a:chOff x="2500299" y="3258227"/>
            <a:chExt cx="1752611" cy="533404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6B5479CA-7EE4-53C5-E47E-E90D23C3F819}"/>
                </a:ext>
              </a:extLst>
            </p:cNvPr>
            <p:cNvSpPr/>
            <p:nvPr/>
          </p:nvSpPr>
          <p:spPr bwMode="auto">
            <a:xfrm>
              <a:off x="2500299" y="3258227"/>
              <a:ext cx="1752611" cy="533404"/>
            </a:xfrm>
            <a:prstGeom prst="ellipse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pPr>
                <a:defRPr/>
              </a:pPr>
              <a:endParaRPr lang="zh-CN" altLang="en-US" dirty="0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8E753E2B-0DCB-54D6-F2AA-B1CF43D8E0F5}"/>
                </a:ext>
              </a:extLst>
            </p:cNvPr>
            <p:cNvSpPr/>
            <p:nvPr/>
          </p:nvSpPr>
          <p:spPr>
            <a:xfrm>
              <a:off x="2576499" y="3286802"/>
              <a:ext cx="1577985" cy="4603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kern="0" dirty="0">
                  <a:solidFill>
                    <a:srgbClr val="9900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信号</a:t>
              </a:r>
              <a:r>
                <a:rPr lang="en-US" altLang="zh-CN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r>
                <a:rPr lang="zh-CN" altLang="en-US" sz="2400" b="1" kern="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噪声</a:t>
              </a:r>
              <a:endParaRPr lang="zh-CN" altLang="en-US" sz="2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63511" name="矩形 51">
            <a:extLst>
              <a:ext uri="{FF2B5EF4-FFF2-40B4-BE49-F238E27FC236}">
                <a16:creationId xmlns:a16="http://schemas.microsoft.com/office/drawing/2014/main" id="{E4B31CFA-A807-9044-B9E9-969B1E252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3962400"/>
            <a:ext cx="587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>
                <a:solidFill>
                  <a:srgbClr val="FF0000"/>
                </a:solidFill>
              </a:rPr>
              <a:t>U=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EEA30A7-7730-D863-F98B-5522BB8D6D89}"/>
              </a:ext>
            </a:extLst>
          </p:cNvPr>
          <p:cNvSpPr/>
          <p:nvPr/>
        </p:nvSpPr>
        <p:spPr>
          <a:xfrm>
            <a:off x="609600" y="5842000"/>
            <a:ext cx="7924800" cy="541338"/>
          </a:xfrm>
          <a:prstGeom prst="rect">
            <a:avLst/>
          </a:prstGeom>
          <a:solidFill>
            <a:srgbClr val="E8E8E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228600" indent="-228600">
              <a:lnSpc>
                <a:spcPts val="3500"/>
              </a:lnSpc>
              <a:spcBef>
                <a:spcPct val="20000"/>
              </a:spcBef>
              <a:buClr>
                <a:srgbClr val="0000CC"/>
              </a:buClr>
              <a:buSzPct val="65000"/>
              <a:defRPr/>
            </a:pP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显然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若噪声抽样值 </a:t>
            </a:r>
            <a:r>
              <a:rPr kumimoji="1" lang="zh-CN" altLang="en-US" sz="2400" b="1" i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sym typeface="Symbol" panose="05050102010706020507" pitchFamily="18" charset="2"/>
              </a:rPr>
              <a:t> 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不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超过</a:t>
            </a:r>
            <a:r>
              <a:rPr lang="en-US" altLang="zh-CN" sz="2400" b="1" i="1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即</a:t>
            </a:r>
            <a:r>
              <a:rPr lang="zh-CN" altLang="en-US" sz="2000" dirty="0">
                <a:latin typeface="+mn-ea"/>
                <a:ea typeface="+mn-ea"/>
                <a:cs typeface="Arial" panose="020B0604020202020204" pitchFamily="34" charset="0"/>
              </a:rPr>
              <a:t>        </a:t>
            </a:r>
            <a:r>
              <a:rPr lang="en-US" altLang="zh-CN" sz="2000" dirty="0">
                <a:latin typeface="+mn-ea"/>
                <a:ea typeface="+mn-ea"/>
                <a:cs typeface="Arial" panose="020B0604020202020204" pitchFamily="34" charset="0"/>
              </a:rPr>
              <a:t>,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则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不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会发生错误判决。</a:t>
            </a:r>
            <a:endParaRPr kumimoji="1" lang="zh-CN" altLang="en-US" sz="2000" kern="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71" name="Object 9">
            <a:extLst>
              <a:ext uri="{FF2B5EF4-FFF2-40B4-BE49-F238E27FC236}">
                <a16:creationId xmlns:a16="http://schemas.microsoft.com/office/drawing/2014/main" id="{55141973-06C3-CB99-DFA5-4A01EA045307}"/>
              </a:ext>
            </a:extLst>
          </p:cNvPr>
          <p:cNvGraphicFramePr>
            <a:graphicFrameLocks/>
          </p:cNvGraphicFramePr>
          <p:nvPr/>
        </p:nvGraphicFramePr>
        <p:xfrm>
          <a:off x="4818063" y="5932488"/>
          <a:ext cx="86042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18737" imgH="253780" progId="Equation.DSMT4">
                  <p:embed/>
                </p:oleObj>
              </mc:Choice>
              <mc:Fallback>
                <p:oleObj r:id="rId4" imgW="418737" imgH="253780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063" y="5932488"/>
                        <a:ext cx="86042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2">
            <a:extLst>
              <a:ext uri="{FF2B5EF4-FFF2-40B4-BE49-F238E27FC236}">
                <a16:creationId xmlns:a16="http://schemas.microsoft.com/office/drawing/2014/main" id="{D49280C3-7F9D-EC19-67A2-0B6849C2647C}"/>
              </a:ext>
            </a:extLst>
          </p:cNvPr>
          <p:cNvGraphicFramePr>
            <a:graphicFrameLocks/>
          </p:cNvGraphicFramePr>
          <p:nvPr/>
        </p:nvGraphicFramePr>
        <p:xfrm>
          <a:off x="1828800" y="2057400"/>
          <a:ext cx="36576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39105" imgH="215619" progId="Equation.DSMT4">
                  <p:embed/>
                </p:oleObj>
              </mc:Choice>
              <mc:Fallback>
                <p:oleObj r:id="rId6" imgW="1839105" imgH="215619" progId="Equation.DSMT4">
                  <p:embed/>
                  <p:pic>
                    <p:nvPicPr>
                      <p:cNvPr id="0" name="Object 5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057400"/>
                        <a:ext cx="3657600" cy="4556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矩形 8">
            <a:extLst>
              <a:ext uri="{FF2B5EF4-FFF2-40B4-BE49-F238E27FC236}">
                <a16:creationId xmlns:a16="http://schemas.microsoft.com/office/drawing/2014/main" id="{84E195D4-908F-B548-4F3E-86FCD0424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1438" y="6507163"/>
            <a:ext cx="3857626" cy="314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  <a:tabLst>
                <a:tab pos="3595370" algn="l"/>
              </a:tabLst>
              <a:defRPr/>
            </a:pPr>
            <a:r>
              <a:rPr lang="zh-CN" alt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西安电子科技大学  通信工程学院</a:t>
            </a:r>
            <a:r>
              <a:rPr lang="en-US" altLang="zh-CN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                          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9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0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2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4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6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8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2000"/>
                                        <p:tgtEl>
                                          <p:spTgt spid="10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5" grpId="0"/>
      <p:bldP spid="46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7" grpId="0" animBg="1"/>
      <p:bldP spid="63506" grpId="0"/>
      <p:bldP spid="61" grpId="0"/>
      <p:bldP spid="62" grpId="0"/>
      <p:bldP spid="63511" grpId="0"/>
      <p:bldP spid="7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92644EF-6BE0-5F6E-9524-3DCC60ACFA93}"/>
              </a:ext>
            </a:extLst>
          </p:cNvPr>
          <p:cNvSpPr/>
          <p:nvPr/>
        </p:nvSpPr>
        <p:spPr>
          <a:xfrm>
            <a:off x="533400" y="436563"/>
            <a:ext cx="3352800" cy="554037"/>
          </a:xfrm>
          <a:prstGeom prst="rect">
            <a:avLst/>
          </a:prstGeom>
          <a:solidFill>
            <a:srgbClr val="E8E8E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6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发生错误判决的情况</a:t>
            </a:r>
            <a:r>
              <a:rPr kumimoji="1"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" name="组合 63">
            <a:extLst>
              <a:ext uri="{FF2B5EF4-FFF2-40B4-BE49-F238E27FC236}">
                <a16:creationId xmlns:a16="http://schemas.microsoft.com/office/drawing/2014/main" id="{A5B517B7-A4D4-7794-A970-0316E4909CC1}"/>
              </a:ext>
            </a:extLst>
          </p:cNvPr>
          <p:cNvGrpSpPr>
            <a:grpSpLocks/>
          </p:cNvGrpSpPr>
          <p:nvPr/>
        </p:nvGrpSpPr>
        <p:grpSpPr bwMode="auto">
          <a:xfrm>
            <a:off x="1235075" y="1219200"/>
            <a:ext cx="6791325" cy="554038"/>
            <a:chOff x="1185863" y="275772"/>
            <a:chExt cx="6790791" cy="554038"/>
          </a:xfrm>
        </p:grpSpPr>
        <p:graphicFrame>
          <p:nvGraphicFramePr>
            <p:cNvPr id="135171" name="Object 6">
              <a:extLst>
                <a:ext uri="{FF2B5EF4-FFF2-40B4-BE49-F238E27FC236}">
                  <a16:creationId xmlns:a16="http://schemas.microsoft.com/office/drawing/2014/main" id="{726BF8C8-395D-3B82-DB31-852F264D46D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85863" y="304800"/>
            <a:ext cx="4146550" cy="500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019300" imgH="228600" progId="Equation.DSMT4">
                    <p:embed/>
                  </p:oleObj>
                </mc:Choice>
                <mc:Fallback>
                  <p:oleObj r:id="rId2" imgW="2019300" imgH="228600" progId="Equation.DSMT4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5863" y="304800"/>
                          <a:ext cx="4146550" cy="500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5172" name="组合 62">
              <a:extLst>
                <a:ext uri="{FF2B5EF4-FFF2-40B4-BE49-F238E27FC236}">
                  <a16:creationId xmlns:a16="http://schemas.microsoft.com/office/drawing/2014/main" id="{1A4F7D59-0A73-9FE2-BF7B-7E07E406F8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7800" y="275772"/>
              <a:ext cx="2718854" cy="554038"/>
              <a:chOff x="5966266" y="2667000"/>
              <a:chExt cx="2314488" cy="554038"/>
            </a:xfrm>
          </p:grpSpPr>
          <p:graphicFrame>
            <p:nvGraphicFramePr>
              <p:cNvPr id="135173" name="Object 5">
                <a:extLst>
                  <a:ext uri="{FF2B5EF4-FFF2-40B4-BE49-F238E27FC236}">
                    <a16:creationId xmlns:a16="http://schemas.microsoft.com/office/drawing/2014/main" id="{36F95542-D2D3-0BB3-2DD1-1E1442421F6E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7393341" y="2667000"/>
              <a:ext cx="887413" cy="5540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431425" imgH="253780" progId="Equation.DSMT4">
                      <p:embed/>
                    </p:oleObj>
                  </mc:Choice>
                  <mc:Fallback>
                    <p:oleObj r:id="rId4" imgW="431425" imgH="253780" progId="Equation.DSMT4">
                      <p:embed/>
                      <p:pic>
                        <p:nvPicPr>
                          <p:cNvPr id="0" name="Object 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393341" y="2667000"/>
                            <a:ext cx="887413" cy="5540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B19CD25D-EF8B-12A2-9912-DD6D643E3537}"/>
                  </a:ext>
                </a:extLst>
              </p:cNvPr>
              <p:cNvSpPr/>
              <p:nvPr/>
            </p:nvSpPr>
            <p:spPr>
              <a:xfrm>
                <a:off x="5965994" y="2743200"/>
                <a:ext cx="1467501" cy="4000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kumimoji="1"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时</a:t>
                </a:r>
                <a:r>
                  <a:rPr kumimoji="1" lang="zh-CN" altLang="en-US" sz="2000" kern="0" dirty="0">
                    <a:latin typeface="+mn-ea"/>
                    <a:ea typeface="+mn-ea"/>
                    <a:cs typeface="Arial" panose="020B0604020202020204" pitchFamily="34" charset="0"/>
                  </a:rPr>
                  <a:t>，</a:t>
                </a:r>
                <a:r>
                  <a:rPr kumimoji="1" lang="zh-CN" altLang="en-US" sz="2000" kern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噪声</a:t>
                </a:r>
                <a:r>
                  <a:rPr kumimoji="1" lang="zh-CN" altLang="en-US" sz="2000" kern="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抽样</a:t>
                </a:r>
                <a:endParaRPr lang="zh-CN" altLang="en-US" sz="2000" dirty="0"/>
              </a:p>
            </p:txBody>
          </p:sp>
        </p:grpSp>
      </p:grpSp>
      <p:grpSp>
        <p:nvGrpSpPr>
          <p:cNvPr id="7" name="组合 68">
            <a:extLst>
              <a:ext uri="{FF2B5EF4-FFF2-40B4-BE49-F238E27FC236}">
                <a16:creationId xmlns:a16="http://schemas.microsoft.com/office/drawing/2014/main" id="{FD039A11-40C8-5E65-7C72-5B2D24996E25}"/>
              </a:ext>
            </a:extLst>
          </p:cNvPr>
          <p:cNvGrpSpPr>
            <a:grpSpLocks/>
          </p:cNvGrpSpPr>
          <p:nvPr/>
        </p:nvGrpSpPr>
        <p:grpSpPr bwMode="auto">
          <a:xfrm>
            <a:off x="1244600" y="1773238"/>
            <a:ext cx="6908800" cy="561975"/>
            <a:chOff x="2743200" y="3443514"/>
            <a:chExt cx="6908800" cy="561749"/>
          </a:xfrm>
        </p:grpSpPr>
        <p:graphicFrame>
          <p:nvGraphicFramePr>
            <p:cNvPr id="135176" name="Object 7">
              <a:extLst>
                <a:ext uri="{FF2B5EF4-FFF2-40B4-BE49-F238E27FC236}">
                  <a16:creationId xmlns:a16="http://schemas.microsoft.com/office/drawing/2014/main" id="{DF5D515F-5473-9364-619E-CD00E44ED0F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743200" y="3505200"/>
            <a:ext cx="2295525" cy="500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117600" imgH="228600" progId="Equation.DSMT4">
                    <p:embed/>
                  </p:oleObj>
                </mc:Choice>
                <mc:Fallback>
                  <p:oleObj r:id="rId6" imgW="1117600" imgH="228600" progId="Equation.DSMT4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3200" y="3505200"/>
                          <a:ext cx="2295525" cy="500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719E1D2D-3F83-0D70-E839-2D717C8AC2DE}"/>
                </a:ext>
              </a:extLst>
            </p:cNvPr>
            <p:cNvSpPr/>
            <p:nvPr/>
          </p:nvSpPr>
          <p:spPr>
            <a:xfrm>
              <a:off x="5162550" y="3443514"/>
              <a:ext cx="4489450" cy="5236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kern="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 </a:t>
              </a:r>
              <a:r>
                <a:rPr kumimoji="1" lang="zh-CN" altLang="en-US" sz="2000" kern="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最</a:t>
              </a:r>
              <a:r>
                <a:rPr kumimoji="1" lang="zh-CN" altLang="en-US" sz="2000" kern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高</a:t>
              </a:r>
              <a:r>
                <a:rPr kumimoji="1" lang="zh-CN" altLang="en-US" sz="2000" kern="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电平</a:t>
              </a:r>
              <a:r>
                <a:rPr kumimoji="1"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时</a:t>
              </a:r>
              <a:r>
                <a:rPr kumimoji="1" lang="zh-CN" altLang="en-US" sz="2000" kern="0" dirty="0">
                  <a:latin typeface="+mn-ea"/>
                  <a:ea typeface="+mn-ea"/>
                  <a:cs typeface="Arial" panose="020B0604020202020204" pitchFamily="34" charset="0"/>
                </a:rPr>
                <a:t>，</a:t>
              </a:r>
              <a:r>
                <a:rPr kumimoji="1"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噪声</a:t>
              </a:r>
              <a:r>
                <a:rPr kumimoji="1" lang="zh-CN" altLang="en-US" sz="2000" kern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抽样  </a:t>
              </a:r>
              <a:r>
                <a:rPr kumimoji="1" lang="zh-CN" altLang="en-US" sz="2800" b="1" i="1" kern="0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</a:t>
              </a:r>
              <a:r>
                <a:rPr kumimoji="1" lang="zh-CN" altLang="en-US" sz="2000" b="1" kern="0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Symbol" panose="05050102010706020507" pitchFamily="18" charset="2"/>
                </a:rPr>
                <a:t>  </a:t>
              </a:r>
              <a:r>
                <a:rPr kumimoji="1" lang="en-US" altLang="zh-CN" sz="2400" b="1" kern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Symbol" panose="05050102010706020507" pitchFamily="18" charset="2"/>
                </a:rPr>
                <a:t>&lt;</a:t>
              </a:r>
              <a:r>
                <a:rPr kumimoji="1" lang="en-US" altLang="zh-CN" sz="2400" b="1" kern="0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Symbol" panose="05050102010706020507" pitchFamily="18" charset="2"/>
                </a:rPr>
                <a:t> -</a:t>
              </a:r>
              <a:r>
                <a:rPr lang="en-US" altLang="zh-CN" sz="2400" b="1" i="1" dirty="0">
                  <a:solidFill>
                    <a:srgbClr val="0000C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d</a:t>
              </a:r>
              <a:endPara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" name="组合 69">
            <a:extLst>
              <a:ext uri="{FF2B5EF4-FFF2-40B4-BE49-F238E27FC236}">
                <a16:creationId xmlns:a16="http://schemas.microsoft.com/office/drawing/2014/main" id="{B809EB1C-904D-D6EE-70F6-C9F6266FEFAC}"/>
              </a:ext>
            </a:extLst>
          </p:cNvPr>
          <p:cNvGrpSpPr>
            <a:grpSpLocks/>
          </p:cNvGrpSpPr>
          <p:nvPr/>
        </p:nvGrpSpPr>
        <p:grpSpPr bwMode="auto">
          <a:xfrm>
            <a:off x="1244600" y="2430463"/>
            <a:ext cx="6832600" cy="561975"/>
            <a:chOff x="2692400" y="3443514"/>
            <a:chExt cx="6832600" cy="561975"/>
          </a:xfrm>
        </p:grpSpPr>
        <p:graphicFrame>
          <p:nvGraphicFramePr>
            <p:cNvPr id="135179" name="Object 13">
              <a:extLst>
                <a:ext uri="{FF2B5EF4-FFF2-40B4-BE49-F238E27FC236}">
                  <a16:creationId xmlns:a16="http://schemas.microsoft.com/office/drawing/2014/main" id="{EE07C496-4B3F-E8FF-7F8D-BB556CF9E28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92400" y="3505427"/>
            <a:ext cx="2398713" cy="500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168400" imgH="228600" progId="Equation.DSMT4">
                    <p:embed/>
                  </p:oleObj>
                </mc:Choice>
                <mc:Fallback>
                  <p:oleObj r:id="rId8" imgW="1168400" imgH="228600" progId="Equation.DSMT4">
                    <p:embed/>
                    <p:pic>
                      <p:nvPicPr>
                        <p:cNvPr id="0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2400" y="3505427"/>
                          <a:ext cx="2398713" cy="5000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A3ECE490-3576-42D1-6212-79B29343BF14}"/>
                </a:ext>
              </a:extLst>
            </p:cNvPr>
            <p:cNvSpPr/>
            <p:nvPr/>
          </p:nvSpPr>
          <p:spPr>
            <a:xfrm>
              <a:off x="5105400" y="3443514"/>
              <a:ext cx="4419600" cy="5238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000" kern="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 </a:t>
              </a:r>
              <a:r>
                <a:rPr kumimoji="1" lang="zh-CN" altLang="en-US" sz="2000" kern="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最</a:t>
              </a:r>
              <a:r>
                <a:rPr kumimoji="1" lang="zh-CN" altLang="en-US" sz="2000" kern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低</a:t>
              </a:r>
              <a:r>
                <a:rPr kumimoji="1" lang="zh-CN" altLang="en-US" sz="2000" kern="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电平</a:t>
              </a:r>
              <a:r>
                <a:rPr kumimoji="1"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时</a:t>
              </a:r>
              <a:r>
                <a:rPr kumimoji="1" lang="zh-CN" altLang="en-US" sz="2000" kern="0" dirty="0">
                  <a:latin typeface="+mn-ea"/>
                  <a:ea typeface="+mn-ea"/>
                  <a:cs typeface="Arial" panose="020B0604020202020204" pitchFamily="34" charset="0"/>
                </a:rPr>
                <a:t>，</a:t>
              </a:r>
              <a:r>
                <a:rPr kumimoji="1" lang="zh-CN" altLang="en-US" sz="2000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噪声</a:t>
              </a:r>
              <a:r>
                <a:rPr kumimoji="1" lang="zh-CN" altLang="en-US" sz="2000" kern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抽样  </a:t>
              </a:r>
              <a:r>
                <a:rPr kumimoji="1" lang="zh-CN" altLang="en-US" sz="2800" b="1" i="1" kern="0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</a:t>
              </a:r>
              <a:r>
                <a:rPr kumimoji="1" lang="zh-CN" altLang="en-US" sz="2000" b="1" kern="0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Symbol" panose="05050102010706020507" pitchFamily="18" charset="2"/>
                </a:rPr>
                <a:t>  </a:t>
              </a:r>
              <a:r>
                <a:rPr kumimoji="1" lang="en-US" altLang="zh-CN" sz="2400" b="1" kern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Symbol" panose="05050102010706020507" pitchFamily="18" charset="2"/>
                </a:rPr>
                <a:t>&gt;</a:t>
              </a:r>
              <a:r>
                <a:rPr kumimoji="1" lang="en-US" altLang="zh-CN" sz="2400" b="1" kern="0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Symbol" panose="05050102010706020507" pitchFamily="18" charset="2"/>
                </a:rPr>
                <a:t>  </a:t>
              </a:r>
              <a:r>
                <a:rPr lang="en-US" altLang="zh-CN" sz="2400" b="1" i="1" dirty="0">
                  <a:solidFill>
                    <a:srgbClr val="0000C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d</a:t>
              </a:r>
              <a:endPara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2" name="AutoShape 11">
            <a:extLst>
              <a:ext uri="{FF2B5EF4-FFF2-40B4-BE49-F238E27FC236}">
                <a16:creationId xmlns:a16="http://schemas.microsoft.com/office/drawing/2014/main" id="{AB3BB444-7153-BF91-901B-A347FB717D21}"/>
              </a:ext>
            </a:extLst>
          </p:cNvPr>
          <p:cNvSpPr>
            <a:spLocks/>
          </p:cNvSpPr>
          <p:nvPr/>
        </p:nvSpPr>
        <p:spPr bwMode="auto">
          <a:xfrm>
            <a:off x="609600" y="1468438"/>
            <a:ext cx="357188" cy="1285875"/>
          </a:xfrm>
          <a:prstGeom prst="leftBrace">
            <a:avLst>
              <a:gd name="adj1" fmla="val 27167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64530" name="矩形 32">
            <a:extLst>
              <a:ext uri="{FF2B5EF4-FFF2-40B4-BE49-F238E27FC236}">
                <a16:creationId xmlns:a16="http://schemas.microsoft.com/office/drawing/2014/main" id="{ED5A0F93-E247-5639-7462-577683F1A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063" y="1225550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①</a:t>
            </a: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64531" name="矩形 33">
            <a:extLst>
              <a:ext uri="{FF2B5EF4-FFF2-40B4-BE49-F238E27FC236}">
                <a16:creationId xmlns:a16="http://schemas.microsoft.com/office/drawing/2014/main" id="{449AB381-2DB8-D76D-BF0A-2BF2E998D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1806575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②</a:t>
            </a: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64532" name="矩形 34">
            <a:extLst>
              <a:ext uri="{FF2B5EF4-FFF2-40B4-BE49-F238E27FC236}">
                <a16:creationId xmlns:a16="http://schemas.microsoft.com/office/drawing/2014/main" id="{35F099DA-486C-AB5F-3DF2-EB9131811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25" y="2459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③</a:t>
            </a:r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B439A9B-1967-1191-D7D7-FC2A0C831287}"/>
              </a:ext>
            </a:extLst>
          </p:cNvPr>
          <p:cNvSpPr/>
          <p:nvPr/>
        </p:nvSpPr>
        <p:spPr>
          <a:xfrm>
            <a:off x="533400" y="3276600"/>
            <a:ext cx="3352800" cy="508000"/>
          </a:xfrm>
          <a:prstGeom prst="rect">
            <a:avLst/>
          </a:prstGeom>
          <a:solidFill>
            <a:srgbClr val="E8E8E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600"/>
              </a:lnSpc>
              <a:buClr>
                <a:srgbClr val="0000CC"/>
              </a:buClr>
              <a:buSzPct val="65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kumimoji="1" lang="zh-CN" altLang="en-US" sz="24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因此</a:t>
            </a:r>
            <a:r>
              <a:rPr kumimoji="1"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Arial" panose="020B0604020202020204" pitchFamily="34" charset="0"/>
              </a:rPr>
              <a:t>，</a:t>
            </a:r>
            <a:r>
              <a:rPr kumimoji="1"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错误概率</a:t>
            </a:r>
            <a:r>
              <a:rPr kumimoji="1" lang="zh-CN" altLang="en-US" sz="24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Arial" panose="020B0604020202020204" pitchFamily="34" charset="0"/>
              </a:rPr>
              <a:t>：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34" name="Object 11">
            <a:extLst>
              <a:ext uri="{FF2B5EF4-FFF2-40B4-BE49-F238E27FC236}">
                <a16:creationId xmlns:a16="http://schemas.microsoft.com/office/drawing/2014/main" id="{587B8633-919C-BF8B-3D46-32A57D87EC8B}"/>
              </a:ext>
            </a:extLst>
          </p:cNvPr>
          <p:cNvGraphicFramePr>
            <a:graphicFrameLocks/>
          </p:cNvGraphicFramePr>
          <p:nvPr/>
        </p:nvGraphicFramePr>
        <p:xfrm>
          <a:off x="1371600" y="3860800"/>
          <a:ext cx="647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224401" imgH="393529" progId="Equation.DSMT4">
                  <p:embed/>
                </p:oleObj>
              </mc:Choice>
              <mc:Fallback>
                <p:oleObj r:id="rId10" imgW="3224401" imgH="393529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860800"/>
                        <a:ext cx="6477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0">
            <a:extLst>
              <a:ext uri="{FF2B5EF4-FFF2-40B4-BE49-F238E27FC236}">
                <a16:creationId xmlns:a16="http://schemas.microsoft.com/office/drawing/2014/main" id="{E8843AAF-D034-ACB6-BE1A-070B334CA603}"/>
              </a:ext>
            </a:extLst>
          </p:cNvPr>
          <p:cNvGraphicFramePr>
            <a:graphicFrameLocks/>
          </p:cNvGraphicFramePr>
          <p:nvPr/>
        </p:nvGraphicFramePr>
        <p:xfrm>
          <a:off x="1670050" y="4699000"/>
          <a:ext cx="63309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313262" imgH="393529" progId="Equation.DSMT4">
                  <p:embed/>
                </p:oleObj>
              </mc:Choice>
              <mc:Fallback>
                <p:oleObj r:id="rId12" imgW="3313262" imgH="393529" progId="Equation.DSMT4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0" y="4699000"/>
                        <a:ext cx="633095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4" name="Object 9">
            <a:extLst>
              <a:ext uri="{FF2B5EF4-FFF2-40B4-BE49-F238E27FC236}">
                <a16:creationId xmlns:a16="http://schemas.microsoft.com/office/drawing/2014/main" id="{E0EE93BC-9361-24EF-BC17-72D5043BAD9B}"/>
              </a:ext>
            </a:extLst>
          </p:cNvPr>
          <p:cNvGraphicFramePr>
            <a:graphicFrameLocks/>
          </p:cNvGraphicFramePr>
          <p:nvPr/>
        </p:nvGraphicFramePr>
        <p:xfrm>
          <a:off x="1676400" y="5638800"/>
          <a:ext cx="250348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307532" imgH="431613" progId="Equation.DSMT4">
                  <p:embed/>
                </p:oleObj>
              </mc:Choice>
              <mc:Fallback>
                <p:oleObj r:id="rId14" imgW="1307532" imgH="431613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638800"/>
                        <a:ext cx="2503488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6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6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6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2" grpId="0" animBg="1"/>
      <p:bldP spid="64530" grpId="0"/>
      <p:bldP spid="64531" grpId="0"/>
      <p:bldP spid="64532" grpId="0"/>
      <p:bldP spid="3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4" name="Object 6">
            <a:extLst>
              <a:ext uri="{FF2B5EF4-FFF2-40B4-BE49-F238E27FC236}">
                <a16:creationId xmlns:a16="http://schemas.microsoft.com/office/drawing/2014/main" id="{3EBCD488-5A28-B69D-7E65-867DF7157207}"/>
              </a:ext>
            </a:extLst>
          </p:cNvPr>
          <p:cNvGraphicFramePr>
            <a:graphicFrameLocks/>
          </p:cNvGraphicFramePr>
          <p:nvPr/>
        </p:nvGraphicFramePr>
        <p:xfrm>
          <a:off x="665163" y="3733800"/>
          <a:ext cx="1663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25500" imgH="228600" progId="Equation.3">
                  <p:embed/>
                </p:oleObj>
              </mc:Choice>
              <mc:Fallback>
                <p:oleObj r:id="rId2" imgW="825500" imgH="2286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3733800"/>
                        <a:ext cx="1663700" cy="457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80008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7" name="矩形 9">
            <a:extLst>
              <a:ext uri="{FF2B5EF4-FFF2-40B4-BE49-F238E27FC236}">
                <a16:creationId xmlns:a16="http://schemas.microsoft.com/office/drawing/2014/main" id="{B6AAB43F-5A1B-17EA-EB44-211A9F64F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266950"/>
            <a:ext cx="4103688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根据噪声样值分布的对称性可得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graphicFrame>
        <p:nvGraphicFramePr>
          <p:cNvPr id="66564" name="Object 4">
            <a:extLst>
              <a:ext uri="{FF2B5EF4-FFF2-40B4-BE49-F238E27FC236}">
                <a16:creationId xmlns:a16="http://schemas.microsoft.com/office/drawing/2014/main" id="{69E7D356-97CA-D5F2-5B92-D21724D31C64}"/>
              </a:ext>
            </a:extLst>
          </p:cNvPr>
          <p:cNvGraphicFramePr>
            <a:graphicFrameLocks/>
          </p:cNvGraphicFramePr>
          <p:nvPr/>
        </p:nvGraphicFramePr>
        <p:xfrm>
          <a:off x="1219200" y="2590800"/>
          <a:ext cx="70866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25956" imgH="482391" progId="Equation.DSMT4">
                  <p:embed/>
                </p:oleObj>
              </mc:Choice>
              <mc:Fallback>
                <p:oleObj r:id="rId4" imgW="3325956" imgH="482391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590800"/>
                        <a:ext cx="70866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9">
            <a:extLst>
              <a:ext uri="{FF2B5EF4-FFF2-40B4-BE49-F238E27FC236}">
                <a16:creationId xmlns:a16="http://schemas.microsoft.com/office/drawing/2014/main" id="{77D801D6-375B-1B0F-846D-64C15A097A30}"/>
              </a:ext>
            </a:extLst>
          </p:cNvPr>
          <p:cNvGraphicFramePr>
            <a:graphicFrameLocks/>
          </p:cNvGraphicFramePr>
          <p:nvPr/>
        </p:nvGraphicFramePr>
        <p:xfrm>
          <a:off x="2895600" y="1143000"/>
          <a:ext cx="312420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72561" imgH="431613" progId="Equation.DSMT4">
                  <p:embed/>
                </p:oleObj>
              </mc:Choice>
              <mc:Fallback>
                <p:oleObj r:id="rId6" imgW="1472561" imgH="431613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143000"/>
                        <a:ext cx="3124200" cy="91598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6" name="Object 10">
            <a:extLst>
              <a:ext uri="{FF2B5EF4-FFF2-40B4-BE49-F238E27FC236}">
                <a16:creationId xmlns:a16="http://schemas.microsoft.com/office/drawing/2014/main" id="{67AD9E63-9402-0B5D-AA67-197FAD086973}"/>
              </a:ext>
            </a:extLst>
          </p:cNvPr>
          <p:cNvGraphicFramePr>
            <a:graphicFrameLocks/>
          </p:cNvGraphicFramePr>
          <p:nvPr/>
        </p:nvGraphicFramePr>
        <p:xfrm>
          <a:off x="2551113" y="3733800"/>
          <a:ext cx="514508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374900" imgH="457200" progId="Equation.DSMT4">
                  <p:embed/>
                </p:oleObj>
              </mc:Choice>
              <mc:Fallback>
                <p:oleObj r:id="rId8" imgW="2374900" imgH="45720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3733800"/>
                        <a:ext cx="514508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8" name="Freeform 12">
            <a:extLst>
              <a:ext uri="{FF2B5EF4-FFF2-40B4-BE49-F238E27FC236}">
                <a16:creationId xmlns:a16="http://schemas.microsoft.com/office/drawing/2014/main" id="{A72F0793-EA28-705A-4369-9F6890E5575C}"/>
              </a:ext>
            </a:extLst>
          </p:cNvPr>
          <p:cNvSpPr>
            <a:spLocks noEditPoints="1" noChangeArrowheads="1"/>
          </p:cNvSpPr>
          <p:nvPr/>
        </p:nvSpPr>
        <p:spPr bwMode="auto">
          <a:xfrm flipV="1">
            <a:off x="1884363" y="3657600"/>
            <a:ext cx="782637" cy="412750"/>
          </a:xfrm>
          <a:custGeom>
            <a:avLst/>
            <a:gdLst>
              <a:gd name="T0" fmla="*/ 0 w 728"/>
              <a:gd name="T1" fmla="*/ 590 h 604"/>
              <a:gd name="T2" fmla="*/ 6 w 728"/>
              <a:gd name="T3" fmla="*/ 582 h 604"/>
              <a:gd name="T4" fmla="*/ 718 w 728"/>
              <a:gd name="T5" fmla="*/ 0 h 604"/>
              <a:gd name="T6" fmla="*/ 656 w 728"/>
              <a:gd name="T7" fmla="*/ 216 h 604"/>
              <a:gd name="T8" fmla="*/ 626 w 728"/>
              <a:gd name="T9" fmla="*/ 324 h 604"/>
              <a:gd name="T10" fmla="*/ 588 w 728"/>
              <a:gd name="T11" fmla="*/ 418 h 604"/>
              <a:gd name="T12" fmla="*/ 542 w 728"/>
              <a:gd name="T13" fmla="*/ 494 h 604"/>
              <a:gd name="T14" fmla="*/ 504 w 728"/>
              <a:gd name="T15" fmla="*/ 536 h 604"/>
              <a:gd name="T16" fmla="*/ 470 w 728"/>
              <a:gd name="T17" fmla="*/ 562 h 604"/>
              <a:gd name="T18" fmla="*/ 420 w 728"/>
              <a:gd name="T19" fmla="*/ 586 h 604"/>
              <a:gd name="T20" fmla="*/ 364 w 728"/>
              <a:gd name="T21" fmla="*/ 598 h 604"/>
              <a:gd name="T22" fmla="*/ 306 w 728"/>
              <a:gd name="T23" fmla="*/ 592 h 604"/>
              <a:gd name="T24" fmla="*/ 278 w 728"/>
              <a:gd name="T25" fmla="*/ 582 h 604"/>
              <a:gd name="T26" fmla="*/ 198 w 728"/>
              <a:gd name="T27" fmla="*/ 554 h 604"/>
              <a:gd name="T28" fmla="*/ 124 w 728"/>
              <a:gd name="T29" fmla="*/ 540 h 604"/>
              <a:gd name="T30" fmla="*/ 92 w 728"/>
              <a:gd name="T31" fmla="*/ 540 h 604"/>
              <a:gd name="T32" fmla="*/ 62 w 728"/>
              <a:gd name="T33" fmla="*/ 546 h 604"/>
              <a:gd name="T34" fmla="*/ 36 w 728"/>
              <a:gd name="T35" fmla="*/ 556 h 604"/>
              <a:gd name="T36" fmla="*/ 12 w 728"/>
              <a:gd name="T37" fmla="*/ 574 h 604"/>
              <a:gd name="T38" fmla="*/ 46 w 728"/>
              <a:gd name="T39" fmla="*/ 552 h 604"/>
              <a:gd name="T40" fmla="*/ 70 w 728"/>
              <a:gd name="T41" fmla="*/ 544 h 604"/>
              <a:gd name="T42" fmla="*/ 100 w 728"/>
              <a:gd name="T43" fmla="*/ 542 h 604"/>
              <a:gd name="T44" fmla="*/ 134 w 728"/>
              <a:gd name="T45" fmla="*/ 544 h 604"/>
              <a:gd name="T46" fmla="*/ 174 w 728"/>
              <a:gd name="T47" fmla="*/ 550 h 604"/>
              <a:gd name="T48" fmla="*/ 222 w 728"/>
              <a:gd name="T49" fmla="*/ 564 h 604"/>
              <a:gd name="T50" fmla="*/ 276 w 728"/>
              <a:gd name="T51" fmla="*/ 586 h 604"/>
              <a:gd name="T52" fmla="*/ 322 w 728"/>
              <a:gd name="T53" fmla="*/ 600 h 604"/>
              <a:gd name="T54" fmla="*/ 376 w 728"/>
              <a:gd name="T55" fmla="*/ 604 h 604"/>
              <a:gd name="T56" fmla="*/ 434 w 728"/>
              <a:gd name="T57" fmla="*/ 592 h 604"/>
              <a:gd name="T58" fmla="*/ 498 w 728"/>
              <a:gd name="T59" fmla="*/ 560 h 604"/>
              <a:gd name="T60" fmla="*/ 526 w 728"/>
              <a:gd name="T61" fmla="*/ 538 h 604"/>
              <a:gd name="T62" fmla="*/ 554 w 728"/>
              <a:gd name="T63" fmla="*/ 508 h 604"/>
              <a:gd name="T64" fmla="*/ 606 w 728"/>
              <a:gd name="T65" fmla="*/ 430 h 604"/>
              <a:gd name="T66" fmla="*/ 650 w 728"/>
              <a:gd name="T67" fmla="*/ 332 h 604"/>
              <a:gd name="T68" fmla="*/ 684 w 728"/>
              <a:gd name="T69" fmla="*/ 220 h 604"/>
              <a:gd name="T70" fmla="*/ 718 w 728"/>
              <a:gd name="T71" fmla="*/ 0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69" name="矩形 17">
            <a:extLst>
              <a:ext uri="{FF2B5EF4-FFF2-40B4-BE49-F238E27FC236}">
                <a16:creationId xmlns:a16="http://schemas.microsoft.com/office/drawing/2014/main" id="{B4ABBF91-73BD-2638-2263-242E42C2D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962650"/>
            <a:ext cx="8197850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下面，将上式中的 </a:t>
            </a:r>
            <a:r>
              <a:rPr lang="en-US" altLang="zh-CN" sz="2400" i="1" dirty="0" err="1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en-US" altLang="zh-CN" sz="2400" i="1" baseline="-25000" dirty="0" err="1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en-US" altLang="zh-CN" sz="2400" i="1" baseline="-2500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~ </a:t>
            </a:r>
            <a:r>
              <a:rPr lang="en-US" altLang="zh-CN" sz="2400" i="1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d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  </a:t>
            </a: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的关系变换成  </a:t>
            </a:r>
            <a:r>
              <a:rPr lang="en-US" altLang="zh-CN" sz="2400" i="1" dirty="0" err="1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en-US" altLang="zh-CN" sz="2400" i="1" baseline="-25000" dirty="0" err="1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en-US" altLang="zh-CN" sz="2400" i="1" baseline="-2500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~ </a:t>
            </a:r>
            <a:r>
              <a:rPr lang="en-US" altLang="zh-CN" sz="2400" i="1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E/n</a:t>
            </a:r>
            <a:r>
              <a:rPr lang="en-US" altLang="zh-CN" sz="2400" baseline="-2500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的关系：</a:t>
            </a:r>
          </a:p>
        </p:txBody>
      </p: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02D82B41-1DEB-51F6-633B-027F9F9AA554}"/>
              </a:ext>
            </a:extLst>
          </p:cNvPr>
          <p:cNvGraphicFramePr>
            <a:graphicFrameLocks/>
          </p:cNvGraphicFramePr>
          <p:nvPr/>
        </p:nvGraphicFramePr>
        <p:xfrm>
          <a:off x="2832100" y="4851400"/>
          <a:ext cx="334010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74800" imgH="457200" progId="Equation.DSMT4">
                  <p:embed/>
                </p:oleObj>
              </mc:Choice>
              <mc:Fallback>
                <p:oleObj r:id="rId10" imgW="1574800" imgH="4572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4851400"/>
                        <a:ext cx="3340100" cy="96996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7" grpId="0"/>
      <p:bldP spid="66568" grpId="0" animBg="1"/>
      <p:bldP spid="6656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5">
            <a:extLst>
              <a:ext uri="{FF2B5EF4-FFF2-40B4-BE49-F238E27FC236}">
                <a16:creationId xmlns:a16="http://schemas.microsoft.com/office/drawing/2014/main" id="{2CEA1F97-8591-DBB1-BE8F-5224C5388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60420" name="Object 13">
            <a:extLst>
              <a:ext uri="{FF2B5EF4-FFF2-40B4-BE49-F238E27FC236}">
                <a16:creationId xmlns:a16="http://schemas.microsoft.com/office/drawing/2014/main" id="{5AB3DA19-6E1A-AC89-75DA-929A35A3CE53}"/>
              </a:ext>
            </a:extLst>
          </p:cNvPr>
          <p:cNvGraphicFramePr>
            <a:graphicFrameLocks/>
          </p:cNvGraphicFramePr>
          <p:nvPr/>
        </p:nvGraphicFramePr>
        <p:xfrm>
          <a:off x="1524000" y="4814888"/>
          <a:ext cx="1943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62851" imgH="203024" progId="Equation.DSMT4">
                  <p:embed/>
                </p:oleObj>
              </mc:Choice>
              <mc:Fallback>
                <p:oleObj r:id="rId2" imgW="862851" imgH="203024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14888"/>
                        <a:ext cx="1943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7">
            <a:extLst>
              <a:ext uri="{FF2B5EF4-FFF2-40B4-BE49-F238E27FC236}">
                <a16:creationId xmlns:a16="http://schemas.microsoft.com/office/drawing/2014/main" id="{FB3EF795-8DD4-710F-C8E6-CDD585602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043113"/>
            <a:ext cx="388620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Ø"/>
            </a:pPr>
            <a:r>
              <a:rPr lang="zh-CN" altLang="en-US" sz="2000">
                <a:ea typeface="微软雅黑" panose="020B0503020204020204" pitchFamily="34" charset="-122"/>
              </a:rPr>
              <a:t>设</a:t>
            </a:r>
            <a:r>
              <a:rPr lang="en-US" altLang="zh-CN" sz="2000" b="1">
                <a:ea typeface="微软雅黑" panose="020B0503020204020204" pitchFamily="34" charset="-122"/>
              </a:rPr>
              <a:t>{</a:t>
            </a:r>
            <a:r>
              <a:rPr lang="en-US" altLang="zh-CN" sz="2000" b="1" i="1">
                <a:ea typeface="微软雅黑" panose="020B0503020204020204" pitchFamily="34" charset="-122"/>
              </a:rPr>
              <a:t>a</a:t>
            </a:r>
            <a:r>
              <a:rPr lang="en-US" altLang="zh-CN" sz="2000" b="1" baseline="-25000">
                <a:ea typeface="微软雅黑" panose="020B0503020204020204" pitchFamily="34" charset="-122"/>
              </a:rPr>
              <a:t>n</a:t>
            </a:r>
            <a:r>
              <a:rPr lang="en-US" altLang="zh-CN" sz="2000" b="1">
                <a:ea typeface="微软雅黑" panose="020B0503020204020204" pitchFamily="34" charset="-122"/>
              </a:rPr>
              <a:t>}</a:t>
            </a:r>
            <a:r>
              <a:rPr lang="zh-CN" altLang="en-US" sz="2000">
                <a:ea typeface="微软雅黑" panose="020B0503020204020204" pitchFamily="34" charset="-122"/>
              </a:rPr>
              <a:t>对应的基带信号为</a:t>
            </a:r>
          </a:p>
        </p:txBody>
      </p:sp>
      <p:graphicFrame>
        <p:nvGraphicFramePr>
          <p:cNvPr id="13" name="Object 2">
            <a:extLst>
              <a:ext uri="{FF2B5EF4-FFF2-40B4-BE49-F238E27FC236}">
                <a16:creationId xmlns:a16="http://schemas.microsoft.com/office/drawing/2014/main" id="{557F2F2A-A6A7-6926-3C42-467769E28BE3}"/>
              </a:ext>
            </a:extLst>
          </p:cNvPr>
          <p:cNvGraphicFramePr>
            <a:graphicFrameLocks/>
          </p:cNvGraphicFramePr>
          <p:nvPr/>
        </p:nvGraphicFramePr>
        <p:xfrm>
          <a:off x="3200400" y="2449513"/>
          <a:ext cx="26670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21783" imgH="431613" progId="Equation.DSMT4">
                  <p:embed/>
                </p:oleObj>
              </mc:Choice>
              <mc:Fallback>
                <p:oleObj r:id="rId4" imgW="1421783" imgH="431613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449513"/>
                        <a:ext cx="266700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7">
            <a:extLst>
              <a:ext uri="{FF2B5EF4-FFF2-40B4-BE49-F238E27FC236}">
                <a16:creationId xmlns:a16="http://schemas.microsoft.com/office/drawing/2014/main" id="{FF399898-3268-D565-E42D-786269A88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505200"/>
            <a:ext cx="8229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Ø"/>
            </a:pPr>
            <a:r>
              <a:rPr lang="zh-CN" altLang="en-US" sz="2000">
                <a:ea typeface="微软雅黑" panose="020B0503020204020204" pitchFamily="34" charset="-122"/>
              </a:rPr>
              <a:t>则发送滤波器输</a:t>
            </a:r>
            <a:r>
              <a:rPr lang="zh-CN" altLang="en-US" sz="2000">
                <a:solidFill>
                  <a:srgbClr val="FF0000"/>
                </a:solidFill>
                <a:ea typeface="微软雅黑" panose="020B0503020204020204" pitchFamily="34" charset="-122"/>
              </a:rPr>
              <a:t>出</a:t>
            </a:r>
            <a:r>
              <a:rPr lang="zh-CN" altLang="en-US" sz="2000">
                <a:ea typeface="微软雅黑" panose="020B0503020204020204" pitchFamily="34" charset="-122"/>
              </a:rPr>
              <a:t>信号</a:t>
            </a:r>
            <a:r>
              <a:rPr lang="en-US" altLang="zh-CN" sz="2000">
                <a:ea typeface="微软雅黑" panose="020B0503020204020204" pitchFamily="34" charset="-122"/>
              </a:rPr>
              <a:t>,</a:t>
            </a:r>
            <a:r>
              <a:rPr lang="zh-CN" altLang="en-US" sz="2000">
                <a:ea typeface="微软雅黑" panose="020B0503020204020204" pitchFamily="34" charset="-122"/>
              </a:rPr>
              <a:t>即接收滤波器输</a:t>
            </a:r>
            <a:r>
              <a:rPr lang="zh-CN" altLang="en-US" sz="2000">
                <a:solidFill>
                  <a:srgbClr val="FF0000"/>
                </a:solidFill>
                <a:ea typeface="微软雅黑" panose="020B0503020204020204" pitchFamily="34" charset="-122"/>
              </a:rPr>
              <a:t>入</a:t>
            </a:r>
            <a:r>
              <a:rPr lang="zh-CN" altLang="en-US" sz="2000">
                <a:ea typeface="微软雅黑" panose="020B0503020204020204" pitchFamily="34" charset="-122"/>
              </a:rPr>
              <a:t>信号为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EFFE98-F4F1-CE8A-B30F-17F43948075B}"/>
              </a:ext>
            </a:extLst>
          </p:cNvPr>
          <p:cNvSpPr/>
          <p:nvPr/>
        </p:nvSpPr>
        <p:spPr bwMode="auto">
          <a:xfrm>
            <a:off x="0" y="762000"/>
            <a:ext cx="7239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endParaRPr lang="zh-CN" altLang="en-US"/>
          </a:p>
        </p:txBody>
      </p:sp>
      <p:graphicFrame>
        <p:nvGraphicFramePr>
          <p:cNvPr id="68617" name="Object 9">
            <a:extLst>
              <a:ext uri="{FF2B5EF4-FFF2-40B4-BE49-F238E27FC236}">
                <a16:creationId xmlns:a16="http://schemas.microsoft.com/office/drawing/2014/main" id="{BD704031-ECEE-3F30-6097-783DD9DDCDB5}"/>
              </a:ext>
            </a:extLst>
          </p:cNvPr>
          <p:cNvGraphicFramePr>
            <a:graphicFrameLocks/>
          </p:cNvGraphicFramePr>
          <p:nvPr/>
        </p:nvGraphicFramePr>
        <p:xfrm>
          <a:off x="2243138" y="3959225"/>
          <a:ext cx="49958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335786" imgH="431613" progId="Equation.DSMT4">
                  <p:embed/>
                </p:oleObj>
              </mc:Choice>
              <mc:Fallback>
                <p:oleObj r:id="rId6" imgW="2335786" imgH="431613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38" y="3959225"/>
                        <a:ext cx="49958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>
            <a:extLst>
              <a:ext uri="{FF2B5EF4-FFF2-40B4-BE49-F238E27FC236}">
                <a16:creationId xmlns:a16="http://schemas.microsoft.com/office/drawing/2014/main" id="{AB3EF58C-F4FD-6D2F-3E53-8785A419E20E}"/>
              </a:ext>
            </a:extLst>
          </p:cNvPr>
          <p:cNvGraphicFramePr>
            <a:graphicFrameLocks/>
          </p:cNvGraphicFramePr>
          <p:nvPr/>
        </p:nvGraphicFramePr>
        <p:xfrm>
          <a:off x="1524000" y="457200"/>
          <a:ext cx="603408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522600" imgH="835560" progId="Visio.Drawing.11">
                  <p:embed/>
                </p:oleObj>
              </mc:Choice>
              <mc:Fallback>
                <p:oleObj r:id="rId8" imgW="3522600" imgH="835560" progId="Visio.Drawing.11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57200"/>
                        <a:ext cx="6034088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7">
            <a:extLst>
              <a:ext uri="{FF2B5EF4-FFF2-40B4-BE49-F238E27FC236}">
                <a16:creationId xmlns:a16="http://schemas.microsoft.com/office/drawing/2014/main" id="{BAA4B923-3D68-4628-F28D-B60AE0B49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548313"/>
            <a:ext cx="457200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接收信号的平均功率为：</a:t>
            </a:r>
          </a:p>
        </p:txBody>
      </p:sp>
      <p:sp>
        <p:nvSpPr>
          <p:cNvPr id="67595" name="矩形 20">
            <a:extLst>
              <a:ext uri="{FF2B5EF4-FFF2-40B4-BE49-F238E27FC236}">
                <a16:creationId xmlns:a16="http://schemas.microsoft.com/office/drawing/2014/main" id="{C124A5DA-9372-884A-625A-3792643D0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876800"/>
            <a:ext cx="696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6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1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7" grpId="0"/>
      <p:bldP spid="6759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5">
            <a:extLst>
              <a:ext uri="{FF2B5EF4-FFF2-40B4-BE49-F238E27FC236}">
                <a16:creationId xmlns:a16="http://schemas.microsoft.com/office/drawing/2014/main" id="{A24BFA8F-E17A-68C2-74FA-CC8AA1951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38242" name="Rectangle 7">
            <a:extLst>
              <a:ext uri="{FF2B5EF4-FFF2-40B4-BE49-F238E27FC236}">
                <a16:creationId xmlns:a16="http://schemas.microsoft.com/office/drawing/2014/main" id="{5E6902E4-0616-C034-4E52-9A57071E5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38243" name="Rectangle 9">
            <a:extLst>
              <a:ext uri="{FF2B5EF4-FFF2-40B4-BE49-F238E27FC236}">
                <a16:creationId xmlns:a16="http://schemas.microsoft.com/office/drawing/2014/main" id="{DCC12964-F514-20A1-C1A3-B58822F9B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sp>
        <p:nvSpPr>
          <p:cNvPr id="138244" name="Rectangle 11">
            <a:extLst>
              <a:ext uri="{FF2B5EF4-FFF2-40B4-BE49-F238E27FC236}">
                <a16:creationId xmlns:a16="http://schemas.microsoft.com/office/drawing/2014/main" id="{A6E558F0-F5E0-A27C-1D34-0DC0DEF15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60420" name="Object 5">
            <a:extLst>
              <a:ext uri="{FF2B5EF4-FFF2-40B4-BE49-F238E27FC236}">
                <a16:creationId xmlns:a16="http://schemas.microsoft.com/office/drawing/2014/main" id="{E6944119-327F-7F44-556A-21AC77ED6B34}"/>
              </a:ext>
            </a:extLst>
          </p:cNvPr>
          <p:cNvGraphicFramePr>
            <a:graphicFrameLocks/>
          </p:cNvGraphicFramePr>
          <p:nvPr/>
        </p:nvGraphicFramePr>
        <p:xfrm>
          <a:off x="304800" y="1063625"/>
          <a:ext cx="83058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09903" imgH="431613" progId="Equation.DSMT4">
                  <p:embed/>
                </p:oleObj>
              </mc:Choice>
              <mc:Fallback>
                <p:oleObj r:id="rId2" imgW="3909903" imgH="431613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063625"/>
                        <a:ext cx="83058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15">
            <a:extLst>
              <a:ext uri="{FF2B5EF4-FFF2-40B4-BE49-F238E27FC236}">
                <a16:creationId xmlns:a16="http://schemas.microsoft.com/office/drawing/2014/main" id="{5342D57A-F08C-D7E9-605D-683CF5099739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133600"/>
            <a:ext cx="5638800" cy="552450"/>
            <a:chOff x="838200" y="2286000"/>
            <a:chExt cx="8077200" cy="55251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7613D39-4758-3AB8-D9E1-AB397B68AB12}"/>
                </a:ext>
              </a:extLst>
            </p:cNvPr>
            <p:cNvSpPr/>
            <p:nvPr/>
          </p:nvSpPr>
          <p:spPr>
            <a:xfrm>
              <a:off x="838200" y="2438417"/>
              <a:ext cx="8077200" cy="4000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342900" indent="-342900">
                <a:spcBef>
                  <a:spcPct val="20000"/>
                </a:spcBef>
                <a:defRPr/>
              </a:pPr>
              <a:r>
                <a:rPr kumimoji="1" lang="zh-CN" altLang="en-US" sz="200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其中，       为输入基带信号电平的均方值 </a:t>
              </a:r>
              <a:r>
                <a:rPr kumimoji="1" lang="en-US" altLang="zh-CN" sz="200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kumimoji="1" lang="zh-CN" altLang="en-US" sz="200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</a:t>
              </a:r>
            </a:p>
          </p:txBody>
        </p:sp>
        <p:graphicFrame>
          <p:nvGraphicFramePr>
            <p:cNvPr id="138248" name="Object 17">
              <a:extLst>
                <a:ext uri="{FF2B5EF4-FFF2-40B4-BE49-F238E27FC236}">
                  <a16:creationId xmlns:a16="http://schemas.microsoft.com/office/drawing/2014/main" id="{B5C09F00-9639-CDE2-5F28-C15F5DD9E1B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038865" y="2286000"/>
            <a:ext cx="657572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77492" imgH="215526" progId="Equation.DSMT4">
                    <p:embed/>
                  </p:oleObj>
                </mc:Choice>
                <mc:Fallback>
                  <p:oleObj r:id="rId4" imgW="177492" imgH="215526" progId="Equation.DSMT4">
                    <p:embed/>
                    <p:pic>
                      <p:nvPicPr>
                        <p:cNvPr id="0" name="Object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8865" y="2286000"/>
                          <a:ext cx="657572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421" name="Object 8">
            <a:extLst>
              <a:ext uri="{FF2B5EF4-FFF2-40B4-BE49-F238E27FC236}">
                <a16:creationId xmlns:a16="http://schemas.microsoft.com/office/drawing/2014/main" id="{5EEE7FCB-19B8-9B02-2F4D-064B80C040B1}"/>
              </a:ext>
            </a:extLst>
          </p:cNvPr>
          <p:cNvGraphicFramePr>
            <a:graphicFrameLocks/>
          </p:cNvGraphicFramePr>
          <p:nvPr/>
        </p:nvGraphicFramePr>
        <p:xfrm>
          <a:off x="381000" y="4219575"/>
          <a:ext cx="84582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377700" imgH="355292" progId="Equation.DSMT4">
                  <p:embed/>
                </p:oleObj>
              </mc:Choice>
              <mc:Fallback>
                <p:oleObj r:id="rId6" imgW="4377700" imgH="355292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219575"/>
                        <a:ext cx="845820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30643982-3B9E-6E7F-0122-8333830DE6FC}"/>
              </a:ext>
            </a:extLst>
          </p:cNvPr>
          <p:cNvGraphicFramePr>
            <a:graphicFrameLocks/>
          </p:cNvGraphicFramePr>
          <p:nvPr/>
        </p:nvGraphicFramePr>
        <p:xfrm>
          <a:off x="685800" y="5105400"/>
          <a:ext cx="72088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567152" imgH="393529" progId="Equation.DSMT4">
                  <p:embed/>
                </p:oleObj>
              </mc:Choice>
              <mc:Fallback>
                <p:oleObj r:id="rId8" imgW="3567152" imgH="393529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105400"/>
                        <a:ext cx="72088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3" name="Object 11">
            <a:extLst>
              <a:ext uri="{FF2B5EF4-FFF2-40B4-BE49-F238E27FC236}">
                <a16:creationId xmlns:a16="http://schemas.microsoft.com/office/drawing/2014/main" id="{9A755ECC-1669-B29A-21C0-538A86867F9D}"/>
              </a:ext>
            </a:extLst>
          </p:cNvPr>
          <p:cNvGraphicFramePr>
            <a:graphicFrameLocks/>
          </p:cNvGraphicFramePr>
          <p:nvPr/>
        </p:nvGraphicFramePr>
        <p:xfrm>
          <a:off x="2514600" y="3505200"/>
          <a:ext cx="45815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362200" imgH="228600" progId="Equation.3">
                  <p:embed/>
                </p:oleObj>
              </mc:Choice>
              <mc:Fallback>
                <p:oleObj r:id="rId10" imgW="2362200" imgH="22860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505200"/>
                        <a:ext cx="45815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5" name="Object 15">
            <a:extLst>
              <a:ext uri="{FF2B5EF4-FFF2-40B4-BE49-F238E27FC236}">
                <a16:creationId xmlns:a16="http://schemas.microsoft.com/office/drawing/2014/main" id="{B04E8CDB-22CE-651B-7191-F345ACF47C11}"/>
              </a:ext>
            </a:extLst>
          </p:cNvPr>
          <p:cNvGraphicFramePr>
            <a:graphicFrameLocks/>
          </p:cNvGraphicFramePr>
          <p:nvPr/>
        </p:nvGraphicFramePr>
        <p:xfrm>
          <a:off x="5943600" y="2209800"/>
          <a:ext cx="13716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672225" imgH="266353" progId="Equation.DSMT4">
                  <p:embed/>
                </p:oleObj>
              </mc:Choice>
              <mc:Fallback>
                <p:oleObj r:id="rId12" imgW="672225" imgH="266353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209800"/>
                        <a:ext cx="13716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1" name="矩形 25">
            <a:extLst>
              <a:ext uri="{FF2B5EF4-FFF2-40B4-BE49-F238E27FC236}">
                <a16:creationId xmlns:a16="http://schemas.microsoft.com/office/drawing/2014/main" id="{2D389D98-5C80-A76C-E7CD-849C13DEB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" y="2876550"/>
            <a:ext cx="4032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若系统各部分增益归一化，则有：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6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0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7">
            <a:extLst>
              <a:ext uri="{FF2B5EF4-FFF2-40B4-BE49-F238E27FC236}">
                <a16:creationId xmlns:a16="http://schemas.microsoft.com/office/drawing/2014/main" id="{D31E63BD-C023-7CB5-98ED-692A6B6C0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9266" name="Rectangle 9">
            <a:extLst>
              <a:ext uri="{FF2B5EF4-FFF2-40B4-BE49-F238E27FC236}">
                <a16:creationId xmlns:a16="http://schemas.microsoft.com/office/drawing/2014/main" id="{41B011FC-8970-75AC-B155-2CE443075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9267" name="Rectangle 11">
            <a:extLst>
              <a:ext uri="{FF2B5EF4-FFF2-40B4-BE49-F238E27FC236}">
                <a16:creationId xmlns:a16="http://schemas.microsoft.com/office/drawing/2014/main" id="{72A4CAC0-AF1B-1050-2504-044CB0892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480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0C46C8-D310-1346-5450-7D5AE0409D7F}"/>
              </a:ext>
            </a:extLst>
          </p:cNvPr>
          <p:cNvSpPr/>
          <p:nvPr/>
        </p:nvSpPr>
        <p:spPr>
          <a:xfrm>
            <a:off x="838200" y="2209800"/>
            <a:ext cx="4646613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式中， </a:t>
            </a:r>
            <a:r>
              <a:rPr lang="en-US" altLang="zh-CN" sz="2000" b="1" i="1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E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为接收信号的平均码元能量。</a:t>
            </a:r>
          </a:p>
        </p:txBody>
      </p:sp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287DDE07-3DF9-86F0-37B0-60958A99E900}"/>
              </a:ext>
            </a:extLst>
          </p:cNvPr>
          <p:cNvGraphicFramePr>
            <a:graphicFrameLocks/>
          </p:cNvGraphicFramePr>
          <p:nvPr/>
        </p:nvGraphicFramePr>
        <p:xfrm>
          <a:off x="1295400" y="1143000"/>
          <a:ext cx="21336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39392" imgH="393529" progId="Equation.DSMT4">
                  <p:embed/>
                </p:oleObj>
              </mc:Choice>
              <mc:Fallback>
                <p:oleObj r:id="rId2" imgW="939392" imgH="393529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143000"/>
                        <a:ext cx="213360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2" name="矩形 18">
            <a:extLst>
              <a:ext uri="{FF2B5EF4-FFF2-40B4-BE49-F238E27FC236}">
                <a16:creationId xmlns:a16="http://schemas.microsoft.com/office/drawing/2014/main" id="{8A82E4CF-711C-844E-CE6E-CE61B019F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648200"/>
            <a:ext cx="3886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当 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M=2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时 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1" name="Object 17">
            <a:extLst>
              <a:ext uri="{FF2B5EF4-FFF2-40B4-BE49-F238E27FC236}">
                <a16:creationId xmlns:a16="http://schemas.microsoft.com/office/drawing/2014/main" id="{E625EE66-0D66-7A57-7772-9CDA5D7CA717}"/>
              </a:ext>
            </a:extLst>
          </p:cNvPr>
          <p:cNvGraphicFramePr>
            <a:graphicFrameLocks/>
          </p:cNvGraphicFramePr>
          <p:nvPr/>
        </p:nvGraphicFramePr>
        <p:xfrm>
          <a:off x="3048000" y="4572000"/>
          <a:ext cx="26797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16631" imgH="355292" progId="Equation.DSMT4">
                  <p:embed/>
                </p:oleObj>
              </mc:Choice>
              <mc:Fallback>
                <p:oleObj r:id="rId4" imgW="1116631" imgH="355292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572000"/>
                        <a:ext cx="2679700" cy="85248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999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3" name="矩形 22">
            <a:extLst>
              <a:ext uri="{FF2B5EF4-FFF2-40B4-BE49-F238E27FC236}">
                <a16:creationId xmlns:a16="http://schemas.microsoft.com/office/drawing/2014/main" id="{1C90A99E-CE77-6898-4B28-A87B4A8AC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638800"/>
            <a:ext cx="7543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二进制双极性基带信号的最佳接收机的误码率。</a:t>
            </a:r>
          </a:p>
        </p:txBody>
      </p:sp>
      <p:pic>
        <p:nvPicPr>
          <p:cNvPr id="59406" name="Picture 14">
            <a:extLst>
              <a:ext uri="{FF2B5EF4-FFF2-40B4-BE49-F238E27FC236}">
                <a16:creationId xmlns:a16="http://schemas.microsoft.com/office/drawing/2014/main" id="{4141E2B4-D304-3A2E-ABFB-EA9B60678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69"/>
          <a:stretch>
            <a:fillRect/>
          </a:stretch>
        </p:blipFill>
        <p:spPr bwMode="auto">
          <a:xfrm>
            <a:off x="1174750" y="2895600"/>
            <a:ext cx="7353300" cy="127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4">
            <a:extLst>
              <a:ext uri="{FF2B5EF4-FFF2-40B4-BE49-F238E27FC236}">
                <a16:creationId xmlns:a16="http://schemas.microsoft.com/office/drawing/2014/main" id="{A6A860F3-790C-72FC-D9AC-9F30A259A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10" b="68214"/>
          <a:stretch>
            <a:fillRect/>
          </a:stretch>
        </p:blipFill>
        <p:spPr bwMode="auto">
          <a:xfrm>
            <a:off x="4038600" y="1073150"/>
            <a:ext cx="428625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9642" grpId="0"/>
      <p:bldP spid="6964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5EE0750B-F648-7228-C633-5EB0D4AAC1C5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1600200"/>
            <a:ext cx="3870325" cy="3473450"/>
            <a:chOff x="6330" y="6900"/>
            <a:chExt cx="3902" cy="4245"/>
          </a:xfrm>
        </p:grpSpPr>
        <p:grpSp>
          <p:nvGrpSpPr>
            <p:cNvPr id="140290" name="Group 9">
              <a:extLst>
                <a:ext uri="{FF2B5EF4-FFF2-40B4-BE49-F238E27FC236}">
                  <a16:creationId xmlns:a16="http://schemas.microsoft.com/office/drawing/2014/main" id="{8539F3F9-6AB7-1464-CC4A-0B8DF17C2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0" y="6900"/>
              <a:ext cx="3814" cy="4245"/>
              <a:chOff x="6238" y="6885"/>
              <a:chExt cx="3814" cy="4245"/>
            </a:xfrm>
          </p:grpSpPr>
          <p:pic>
            <p:nvPicPr>
              <p:cNvPr id="140291" name="Picture 10" descr="多电平误码率2">
                <a:extLst>
                  <a:ext uri="{FF2B5EF4-FFF2-40B4-BE49-F238E27FC236}">
                    <a16:creationId xmlns:a16="http://schemas.microsoft.com/office/drawing/2014/main" id="{287A95F9-2833-E24A-A63D-BEDEB71548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48" y="6918"/>
                <a:ext cx="3704" cy="4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0292" name="Text Box 11">
                <a:extLst>
                  <a:ext uri="{FF2B5EF4-FFF2-40B4-BE49-F238E27FC236}">
                    <a16:creationId xmlns:a16="http://schemas.microsoft.com/office/drawing/2014/main" id="{4A57B65D-B594-6CE6-C0F8-1C5B2987AD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8" y="8355"/>
                <a:ext cx="496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i="1">
                    <a:latin typeface="Times New Roman" panose="02020603050405020304" pitchFamily="18" charset="0"/>
                  </a:rPr>
                  <a:t>P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e</a:t>
                </a:r>
                <a:endParaRPr lang="en-US" altLang="zh-CN" sz="3200"/>
              </a:p>
            </p:txBody>
          </p:sp>
          <p:grpSp>
            <p:nvGrpSpPr>
              <p:cNvPr id="140293" name="Group 12">
                <a:extLst>
                  <a:ext uri="{FF2B5EF4-FFF2-40B4-BE49-F238E27FC236}">
                    <a16:creationId xmlns:a16="http://schemas.microsoft.com/office/drawing/2014/main" id="{E5925E89-AFC3-0AF8-A0CA-AAB68BEF7D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50" y="6885"/>
                <a:ext cx="812" cy="3825"/>
                <a:chOff x="6450" y="6885"/>
                <a:chExt cx="812" cy="3825"/>
              </a:xfrm>
            </p:grpSpPr>
            <p:sp>
              <p:nvSpPr>
                <p:cNvPr id="140294" name="Text Box 13">
                  <a:extLst>
                    <a:ext uri="{FF2B5EF4-FFF2-40B4-BE49-F238E27FC236}">
                      <a16:creationId xmlns:a16="http://schemas.microsoft.com/office/drawing/2014/main" id="{4D8474E7-F6C2-1D69-7ACF-6F9265D966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30" y="6885"/>
                  <a:ext cx="496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>
                      <a:latin typeface="Times New Roman" panose="02020603050405020304" pitchFamily="18" charset="0"/>
                    </a:rPr>
                    <a:t>1</a:t>
                  </a:r>
                  <a:endParaRPr lang="en-US" altLang="zh-CN" sz="3200"/>
                </a:p>
              </p:txBody>
            </p:sp>
            <p:sp>
              <p:nvSpPr>
                <p:cNvPr id="140295" name="Text Box 14">
                  <a:extLst>
                    <a:ext uri="{FF2B5EF4-FFF2-40B4-BE49-F238E27FC236}">
                      <a16:creationId xmlns:a16="http://schemas.microsoft.com/office/drawing/2014/main" id="{6BBC07C0-988E-E3F4-BB63-60EEB069F3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50" y="7485"/>
                  <a:ext cx="812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>
                      <a:latin typeface="Times New Roman" panose="02020603050405020304" pitchFamily="18" charset="0"/>
                    </a:rPr>
                    <a:t>10</a:t>
                  </a:r>
                  <a:r>
                    <a:rPr lang="en-US" altLang="zh-CN" baseline="30000">
                      <a:latin typeface="Times New Roman" panose="02020603050405020304" pitchFamily="18" charset="0"/>
                    </a:rPr>
                    <a:t>-1</a:t>
                  </a:r>
                  <a:endParaRPr lang="en-US" altLang="zh-CN" sz="3200"/>
                </a:p>
              </p:txBody>
            </p:sp>
            <p:sp>
              <p:nvSpPr>
                <p:cNvPr id="140296" name="Text Box 15">
                  <a:extLst>
                    <a:ext uri="{FF2B5EF4-FFF2-40B4-BE49-F238E27FC236}">
                      <a16:creationId xmlns:a16="http://schemas.microsoft.com/office/drawing/2014/main" id="{329819E8-207A-3816-98D7-B610FAED67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50" y="8010"/>
                  <a:ext cx="812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>
                      <a:latin typeface="Times New Roman" panose="02020603050405020304" pitchFamily="18" charset="0"/>
                    </a:rPr>
                    <a:t>10</a:t>
                  </a:r>
                  <a:r>
                    <a:rPr lang="en-US" altLang="zh-CN" baseline="30000">
                      <a:latin typeface="Times New Roman" panose="02020603050405020304" pitchFamily="18" charset="0"/>
                    </a:rPr>
                    <a:t>-2</a:t>
                  </a:r>
                  <a:endParaRPr lang="en-US" altLang="zh-CN" sz="3200"/>
                </a:p>
              </p:txBody>
            </p:sp>
            <p:sp>
              <p:nvSpPr>
                <p:cNvPr id="140297" name="Text Box 16">
                  <a:extLst>
                    <a:ext uri="{FF2B5EF4-FFF2-40B4-BE49-F238E27FC236}">
                      <a16:creationId xmlns:a16="http://schemas.microsoft.com/office/drawing/2014/main" id="{461FB10E-2041-177B-0813-D439AF5463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50" y="8580"/>
                  <a:ext cx="812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>
                      <a:latin typeface="Times New Roman" panose="02020603050405020304" pitchFamily="18" charset="0"/>
                    </a:rPr>
                    <a:t>10</a:t>
                  </a:r>
                  <a:r>
                    <a:rPr lang="en-US" altLang="zh-CN" baseline="30000">
                      <a:latin typeface="Times New Roman" panose="02020603050405020304" pitchFamily="18" charset="0"/>
                    </a:rPr>
                    <a:t>-3</a:t>
                  </a:r>
                  <a:endParaRPr lang="en-US" altLang="zh-CN" sz="3200"/>
                </a:p>
              </p:txBody>
            </p:sp>
            <p:sp>
              <p:nvSpPr>
                <p:cNvPr id="140298" name="Text Box 17">
                  <a:extLst>
                    <a:ext uri="{FF2B5EF4-FFF2-40B4-BE49-F238E27FC236}">
                      <a16:creationId xmlns:a16="http://schemas.microsoft.com/office/drawing/2014/main" id="{C9791491-701B-55AC-83E9-E56ED156ED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50" y="9165"/>
                  <a:ext cx="812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>
                      <a:latin typeface="Times New Roman" panose="02020603050405020304" pitchFamily="18" charset="0"/>
                    </a:rPr>
                    <a:t>10</a:t>
                  </a:r>
                  <a:r>
                    <a:rPr lang="en-US" altLang="zh-CN" baseline="30000">
                      <a:latin typeface="Times New Roman" panose="02020603050405020304" pitchFamily="18" charset="0"/>
                    </a:rPr>
                    <a:t>-4</a:t>
                  </a:r>
                  <a:endParaRPr lang="en-US" altLang="zh-CN" sz="3200"/>
                </a:p>
              </p:txBody>
            </p:sp>
            <p:sp>
              <p:nvSpPr>
                <p:cNvPr id="140299" name="Text Box 18">
                  <a:extLst>
                    <a:ext uri="{FF2B5EF4-FFF2-40B4-BE49-F238E27FC236}">
                      <a16:creationId xmlns:a16="http://schemas.microsoft.com/office/drawing/2014/main" id="{4EB508B3-E3E3-99F6-27D9-A704FDD287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50" y="10215"/>
                  <a:ext cx="812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>
                      <a:latin typeface="Times New Roman" panose="02020603050405020304" pitchFamily="18" charset="0"/>
                    </a:rPr>
                    <a:t>10</a:t>
                  </a:r>
                  <a:r>
                    <a:rPr lang="en-US" altLang="zh-CN" baseline="30000">
                      <a:latin typeface="Times New Roman" panose="02020603050405020304" pitchFamily="18" charset="0"/>
                    </a:rPr>
                    <a:t>-6</a:t>
                  </a:r>
                  <a:endParaRPr lang="en-US" altLang="zh-CN" sz="3200"/>
                </a:p>
              </p:txBody>
            </p:sp>
            <p:sp>
              <p:nvSpPr>
                <p:cNvPr id="140300" name="Text Box 19">
                  <a:extLst>
                    <a:ext uri="{FF2B5EF4-FFF2-40B4-BE49-F238E27FC236}">
                      <a16:creationId xmlns:a16="http://schemas.microsoft.com/office/drawing/2014/main" id="{B7FB9A84-F2DA-871B-8ACC-C4E15D9B0E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50" y="9690"/>
                  <a:ext cx="812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>
                      <a:latin typeface="Times New Roman" panose="02020603050405020304" pitchFamily="18" charset="0"/>
                    </a:rPr>
                    <a:t>10</a:t>
                  </a:r>
                  <a:r>
                    <a:rPr lang="en-US" altLang="zh-CN" baseline="30000">
                      <a:latin typeface="Times New Roman" panose="02020603050405020304" pitchFamily="18" charset="0"/>
                    </a:rPr>
                    <a:t>-5</a:t>
                  </a:r>
                  <a:endParaRPr lang="en-US" altLang="zh-CN" sz="3200"/>
                </a:p>
              </p:txBody>
            </p:sp>
          </p:grpSp>
          <p:sp>
            <p:nvSpPr>
              <p:cNvPr id="140301" name="Text Box 20">
                <a:extLst>
                  <a:ext uri="{FF2B5EF4-FFF2-40B4-BE49-F238E27FC236}">
                    <a16:creationId xmlns:a16="http://schemas.microsoft.com/office/drawing/2014/main" id="{92CD6097-416C-3E6A-F0D4-B28565874E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04" y="10635"/>
                <a:ext cx="1186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i="1">
                    <a:latin typeface="Times New Roman" panose="02020603050405020304" pitchFamily="18" charset="0"/>
                  </a:rPr>
                  <a:t>E/n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0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 </a:t>
                </a:r>
                <a:r>
                  <a:rPr lang="en-US" altLang="zh-CN">
                    <a:latin typeface="Times New Roman" panose="02020603050405020304" pitchFamily="18" charset="0"/>
                  </a:rPr>
                  <a:t>(dB)</a:t>
                </a:r>
                <a:endParaRPr lang="en-US" altLang="zh-CN" sz="3200"/>
              </a:p>
            </p:txBody>
          </p:sp>
          <p:grpSp>
            <p:nvGrpSpPr>
              <p:cNvPr id="140302" name="Group 21">
                <a:extLst>
                  <a:ext uri="{FF2B5EF4-FFF2-40B4-BE49-F238E27FC236}">
                    <a16:creationId xmlns:a16="http://schemas.microsoft.com/office/drawing/2014/main" id="{EAD9421C-E1A8-6FBF-714A-E43FD63E7A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88" y="9210"/>
                <a:ext cx="2374" cy="495"/>
                <a:chOff x="7288" y="9210"/>
                <a:chExt cx="2374" cy="495"/>
              </a:xfrm>
            </p:grpSpPr>
            <p:sp>
              <p:nvSpPr>
                <p:cNvPr id="140303" name="Text Box 22">
                  <a:extLst>
                    <a:ext uri="{FF2B5EF4-FFF2-40B4-BE49-F238E27FC236}">
                      <a16:creationId xmlns:a16="http://schemas.microsoft.com/office/drawing/2014/main" id="{EE90527D-67BE-3E34-5829-5BA7AC2FD9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88" y="9210"/>
                  <a:ext cx="812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 i="1">
                      <a:latin typeface="Times New Roman" panose="02020603050405020304" pitchFamily="18" charset="0"/>
                    </a:rPr>
                    <a:t>M</a:t>
                  </a:r>
                  <a:r>
                    <a:rPr lang="en-US" altLang="zh-CN">
                      <a:latin typeface="Times New Roman" panose="02020603050405020304" pitchFamily="18" charset="0"/>
                    </a:rPr>
                    <a:t>=2</a:t>
                  </a:r>
                  <a:endParaRPr lang="en-US" altLang="zh-CN" sz="3200"/>
                </a:p>
              </p:txBody>
            </p:sp>
            <p:sp>
              <p:nvSpPr>
                <p:cNvPr id="140304" name="Text Box 23">
                  <a:extLst>
                    <a:ext uri="{FF2B5EF4-FFF2-40B4-BE49-F238E27FC236}">
                      <a16:creationId xmlns:a16="http://schemas.microsoft.com/office/drawing/2014/main" id="{A30F32AA-A3F5-3612-8E57-ACF6D96CC6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30" y="9210"/>
                  <a:ext cx="466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>
                      <a:latin typeface="Times New Roman" panose="02020603050405020304" pitchFamily="18" charset="0"/>
                    </a:rPr>
                    <a:t>4</a:t>
                  </a:r>
                  <a:endParaRPr lang="en-US" altLang="zh-CN" sz="3200"/>
                </a:p>
              </p:txBody>
            </p:sp>
            <p:sp>
              <p:nvSpPr>
                <p:cNvPr id="140305" name="Text Box 24">
                  <a:extLst>
                    <a:ext uri="{FF2B5EF4-FFF2-40B4-BE49-F238E27FC236}">
                      <a16:creationId xmlns:a16="http://schemas.microsoft.com/office/drawing/2014/main" id="{FE529BAA-613D-D4B1-8C93-E5464525C5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70" y="9210"/>
                  <a:ext cx="466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>
                      <a:latin typeface="Times New Roman" panose="02020603050405020304" pitchFamily="18" charset="0"/>
                    </a:rPr>
                    <a:t>8</a:t>
                  </a:r>
                  <a:endParaRPr lang="en-US" altLang="zh-CN" sz="3200"/>
                </a:p>
              </p:txBody>
            </p:sp>
            <p:sp>
              <p:nvSpPr>
                <p:cNvPr id="140306" name="Text Box 25">
                  <a:extLst>
                    <a:ext uri="{FF2B5EF4-FFF2-40B4-BE49-F238E27FC236}">
                      <a16:creationId xmlns:a16="http://schemas.microsoft.com/office/drawing/2014/main" id="{FBB104D8-BB32-06AD-DD11-F5A96865AD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90" y="9210"/>
                  <a:ext cx="572" cy="4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altLang="zh-CN">
                      <a:latin typeface="Times New Roman" panose="02020603050405020304" pitchFamily="18" charset="0"/>
                    </a:rPr>
                    <a:t>16</a:t>
                  </a:r>
                  <a:endParaRPr lang="en-US" altLang="zh-CN" sz="3200"/>
                </a:p>
              </p:txBody>
            </p:sp>
          </p:grpSp>
        </p:grpSp>
        <p:grpSp>
          <p:nvGrpSpPr>
            <p:cNvPr id="140307" name="Group 26">
              <a:extLst>
                <a:ext uri="{FF2B5EF4-FFF2-40B4-BE49-F238E27FC236}">
                  <a16:creationId xmlns:a16="http://schemas.microsoft.com/office/drawing/2014/main" id="{B30A2619-EDF8-4EAC-DC9E-A9BFD46A81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4" y="10362"/>
              <a:ext cx="3378" cy="495"/>
              <a:chOff x="6780" y="10320"/>
              <a:chExt cx="3378" cy="495"/>
            </a:xfrm>
          </p:grpSpPr>
          <p:sp>
            <p:nvSpPr>
              <p:cNvPr id="140308" name="Text Box 27">
                <a:extLst>
                  <a:ext uri="{FF2B5EF4-FFF2-40B4-BE49-F238E27FC236}">
                    <a16:creationId xmlns:a16="http://schemas.microsoft.com/office/drawing/2014/main" id="{700C4877-0550-4F41-21B8-196318505E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80" y="10320"/>
                <a:ext cx="482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 sz="3200"/>
              </a:p>
            </p:txBody>
          </p:sp>
          <p:sp>
            <p:nvSpPr>
              <p:cNvPr id="140309" name="Text Box 28">
                <a:extLst>
                  <a:ext uri="{FF2B5EF4-FFF2-40B4-BE49-F238E27FC236}">
                    <a16:creationId xmlns:a16="http://schemas.microsoft.com/office/drawing/2014/main" id="{CC65CD96-C00B-41FC-B978-447BDD5452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0" y="10320"/>
                <a:ext cx="482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>
                    <a:latin typeface="Times New Roman" panose="02020603050405020304" pitchFamily="18" charset="0"/>
                  </a:rPr>
                  <a:t>5</a:t>
                </a:r>
                <a:endParaRPr lang="en-US" altLang="zh-CN" sz="3200"/>
              </a:p>
            </p:txBody>
          </p:sp>
          <p:sp>
            <p:nvSpPr>
              <p:cNvPr id="140310" name="Text Box 29">
                <a:extLst>
                  <a:ext uri="{FF2B5EF4-FFF2-40B4-BE49-F238E27FC236}">
                    <a16:creationId xmlns:a16="http://schemas.microsoft.com/office/drawing/2014/main" id="{96E7443C-DEDA-48DB-3A1B-750B99ADB2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60" y="10320"/>
                <a:ext cx="648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>
                    <a:latin typeface="Times New Roman" panose="02020603050405020304" pitchFamily="18" charset="0"/>
                  </a:rPr>
                  <a:t>10</a:t>
                </a:r>
                <a:endParaRPr lang="en-US" altLang="zh-CN" sz="3200"/>
              </a:p>
            </p:txBody>
          </p:sp>
          <p:sp>
            <p:nvSpPr>
              <p:cNvPr id="140311" name="Text Box 30">
                <a:extLst>
                  <a:ext uri="{FF2B5EF4-FFF2-40B4-BE49-F238E27FC236}">
                    <a16:creationId xmlns:a16="http://schemas.microsoft.com/office/drawing/2014/main" id="{0BA88959-8C5A-6590-B97F-B00EBD72B9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96" y="10320"/>
                <a:ext cx="708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>
                    <a:latin typeface="Times New Roman" panose="02020603050405020304" pitchFamily="18" charset="0"/>
                  </a:rPr>
                  <a:t>15</a:t>
                </a:r>
                <a:endParaRPr lang="en-US" altLang="zh-CN" sz="3200"/>
              </a:p>
            </p:txBody>
          </p:sp>
          <p:sp>
            <p:nvSpPr>
              <p:cNvPr id="140312" name="Text Box 31">
                <a:extLst>
                  <a:ext uri="{FF2B5EF4-FFF2-40B4-BE49-F238E27FC236}">
                    <a16:creationId xmlns:a16="http://schemas.microsoft.com/office/drawing/2014/main" id="{0DCBD69D-140A-5803-74B2-A4F0FAF14C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6" y="10320"/>
                <a:ext cx="572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>
                    <a:latin typeface="Times New Roman" panose="02020603050405020304" pitchFamily="18" charset="0"/>
                  </a:rPr>
                  <a:t>20</a:t>
                </a:r>
                <a:endParaRPr lang="en-US" altLang="zh-CN" sz="3200"/>
              </a:p>
            </p:txBody>
          </p:sp>
          <p:sp>
            <p:nvSpPr>
              <p:cNvPr id="140313" name="Text Box 32">
                <a:extLst>
                  <a:ext uri="{FF2B5EF4-FFF2-40B4-BE49-F238E27FC236}">
                    <a16:creationId xmlns:a16="http://schemas.microsoft.com/office/drawing/2014/main" id="{36BDFEDF-2F9A-F2D6-8C39-3B11301BDD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0" y="10320"/>
                <a:ext cx="588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>
                    <a:latin typeface="Times New Roman" panose="02020603050405020304" pitchFamily="18" charset="0"/>
                  </a:rPr>
                  <a:t>25</a:t>
                </a:r>
                <a:endParaRPr lang="en-US" altLang="zh-CN" sz="3200"/>
              </a:p>
            </p:txBody>
          </p:sp>
          <p:sp>
            <p:nvSpPr>
              <p:cNvPr id="140314" name="Text Box 33">
                <a:extLst>
                  <a:ext uri="{FF2B5EF4-FFF2-40B4-BE49-F238E27FC236}">
                    <a16:creationId xmlns:a16="http://schemas.microsoft.com/office/drawing/2014/main" id="{FC19F638-9DE8-BE1D-195D-6AE545813E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24" y="10320"/>
                <a:ext cx="588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>
                    <a:latin typeface="Times New Roman" panose="02020603050405020304" pitchFamily="18" charset="0"/>
                  </a:rPr>
                  <a:t>30</a:t>
                </a:r>
                <a:endParaRPr lang="en-US" altLang="zh-CN" sz="3200"/>
              </a:p>
            </p:txBody>
          </p:sp>
          <p:sp>
            <p:nvSpPr>
              <p:cNvPr id="140315" name="Text Box 34">
                <a:extLst>
                  <a:ext uri="{FF2B5EF4-FFF2-40B4-BE49-F238E27FC236}">
                    <a16:creationId xmlns:a16="http://schemas.microsoft.com/office/drawing/2014/main" id="{04CD766C-12FE-E4B9-9EFA-D11D2F0EE2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32" y="10320"/>
                <a:ext cx="526" cy="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>
                    <a:latin typeface="Times New Roman" panose="02020603050405020304" pitchFamily="18" charset="0"/>
                  </a:rPr>
                  <a:t>35</a:t>
                </a:r>
                <a:endParaRPr lang="en-US" altLang="zh-CN" sz="3200"/>
              </a:p>
            </p:txBody>
          </p:sp>
        </p:grp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0B20AD93-8376-7B96-76EB-79A292839D27}"/>
              </a:ext>
            </a:extLst>
          </p:cNvPr>
          <p:cNvSpPr/>
          <p:nvPr/>
        </p:nvSpPr>
        <p:spPr>
          <a:xfrm>
            <a:off x="685800" y="1143000"/>
            <a:ext cx="4743450" cy="4000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kumimoji="1" lang="en-US" altLang="zh-CN" sz="2000" i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进制多电平信号的误码率曲线：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17A10CD-4F92-4A97-4685-6AE4B4E85B4F}"/>
              </a:ext>
            </a:extLst>
          </p:cNvPr>
          <p:cNvSpPr/>
          <p:nvPr/>
        </p:nvSpPr>
        <p:spPr>
          <a:xfrm>
            <a:off x="838200" y="2286000"/>
            <a:ext cx="3810000" cy="22256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ts val="3800"/>
              </a:lnSpc>
              <a:spcBef>
                <a:spcPct val="20000"/>
              </a:spcBef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由图可见，当误码率较低时，</a:t>
            </a:r>
            <a:endParaRPr kumimoji="1" lang="en-US" altLang="zh-CN" sz="2000" kern="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ts val="3800"/>
              </a:lnSpc>
              <a:spcBef>
                <a:spcPct val="20000"/>
              </a:spcBef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为保持误码率不变，</a:t>
            </a:r>
            <a:r>
              <a:rPr kumimoji="1" lang="en-US" altLang="zh-CN" sz="2000" i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值增大</a:t>
            </a:r>
            <a:endParaRPr kumimoji="1" lang="en-US" altLang="zh-CN" sz="2000" kern="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ts val="3800"/>
              </a:lnSpc>
              <a:spcBef>
                <a:spcPct val="20000"/>
              </a:spcBef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到</a:t>
            </a:r>
            <a:r>
              <a:rPr kumimoji="1" lang="en-US" altLang="zh-CN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倍，	信噪比大约需要增大</a:t>
            </a:r>
          </a:p>
          <a:p>
            <a:pPr marL="342900" indent="-342900">
              <a:lnSpc>
                <a:spcPts val="38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 dB</a:t>
            </a: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>
            <a:extLst>
              <a:ext uri="{FF2B5EF4-FFF2-40B4-BE49-F238E27FC236}">
                <a16:creationId xmlns:a16="http://schemas.microsoft.com/office/drawing/2014/main" id="{9EA32B57-8B4C-EE30-16D0-1AD78206F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6553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buClr>
                <a:srgbClr val="FF0000"/>
              </a:buClr>
              <a:buSzPct val="80000"/>
            </a:pPr>
            <a:r>
              <a:rPr lang="en-US" altLang="zh-CN" sz="3200" b="1">
                <a:solidFill>
                  <a:srgbClr val="003399"/>
                </a:solidFill>
                <a:ea typeface="微软雅黑" panose="020B0503020204020204" pitchFamily="34" charset="-122"/>
              </a:rPr>
              <a:t>9.9.</a:t>
            </a:r>
            <a:r>
              <a:rPr lang="en-US" altLang="zh-CN" sz="3200" b="1">
                <a:solidFill>
                  <a:srgbClr val="990099"/>
                </a:solidFill>
                <a:ea typeface="微软雅黑" panose="020B0503020204020204" pitchFamily="34" charset="-122"/>
              </a:rPr>
              <a:t>2</a:t>
            </a:r>
            <a:r>
              <a:rPr lang="en-US" altLang="zh-CN" sz="3200" b="1">
                <a:solidFill>
                  <a:srgbClr val="003399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2800" b="1">
                <a:solidFill>
                  <a:srgbClr val="003399"/>
                </a:solidFill>
                <a:ea typeface="微软雅黑" panose="020B0503020204020204" pitchFamily="34" charset="-122"/>
              </a:rPr>
              <a:t> </a:t>
            </a:r>
            <a:r>
              <a:rPr lang="zh-CN" altLang="en-US" sz="2800" b="1">
                <a:solidFill>
                  <a:srgbClr val="990099"/>
                </a:solidFill>
                <a:ea typeface="微软雅黑" panose="020B0503020204020204" pitchFamily="34" charset="-122"/>
              </a:rPr>
              <a:t>非</a:t>
            </a:r>
            <a:r>
              <a:rPr lang="zh-CN" altLang="en-US" sz="2800" b="1">
                <a:solidFill>
                  <a:srgbClr val="003399"/>
                </a:solidFill>
                <a:ea typeface="微软雅黑" panose="020B0503020204020204" pitchFamily="34" charset="-122"/>
              </a:rPr>
              <a:t>理想信道下</a:t>
            </a:r>
            <a:r>
              <a:rPr lang="zh-CN" altLang="en-US" sz="2800">
                <a:solidFill>
                  <a:srgbClr val="003399"/>
                </a:solidFill>
                <a:ea typeface="微软雅黑" panose="020B0503020204020204" pitchFamily="34" charset="-122"/>
              </a:rPr>
              <a:t>的</a:t>
            </a:r>
            <a:r>
              <a:rPr lang="zh-CN" altLang="en-US" sz="2800" b="1">
                <a:solidFill>
                  <a:srgbClr val="003399"/>
                </a:solidFill>
                <a:ea typeface="微软雅黑" panose="020B0503020204020204" pitchFamily="34" charset="-122"/>
              </a:rPr>
              <a:t>最佳基带系统</a:t>
            </a:r>
            <a:endParaRPr lang="zh-CN" altLang="en-US" sz="2800">
              <a:solidFill>
                <a:srgbClr val="003399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15">
            <a:extLst>
              <a:ext uri="{FF2B5EF4-FFF2-40B4-BE49-F238E27FC236}">
                <a16:creationId xmlns:a16="http://schemas.microsoft.com/office/drawing/2014/main" id="{B7C15D72-10A2-9D52-3191-EAF1D95F5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38238"/>
            <a:ext cx="3078163" cy="5238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最佳传输条件：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DBDB7A-6CA2-1BDE-5084-B28E3DA98258}"/>
              </a:ext>
            </a:extLst>
          </p:cNvPr>
          <p:cNvSpPr/>
          <p:nvPr/>
        </p:nvSpPr>
        <p:spPr>
          <a:xfrm>
            <a:off x="1184275" y="2051050"/>
            <a:ext cx="7432675" cy="10668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800"/>
              </a:lnSpc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在接收端可采用匹配滤波器。使滤波器的传输函数</a:t>
            </a:r>
            <a:r>
              <a:rPr kumimoji="1" lang="en-US" altLang="zh-CN" sz="2400" b="1" i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</a:t>
            </a:r>
            <a:r>
              <a:rPr kumimoji="1" lang="en-US" altLang="zh-CN" sz="2400" b="1" i="1" kern="0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400" b="1" i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和接收信号码元的频谱</a:t>
            </a:r>
            <a:r>
              <a:rPr kumimoji="1" lang="en-US" altLang="zh-CN" sz="2400" b="1" i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</a:t>
            </a:r>
            <a:r>
              <a:rPr kumimoji="1" lang="en-US" altLang="zh-CN" sz="2400" b="1" i="1" kern="0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400" b="1" i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Symbol" panose="05050102010706020507" pitchFamily="18" charset="2"/>
              </a:rPr>
              <a:t></a:t>
            </a:r>
            <a:r>
              <a:rPr kumimoji="1" lang="en-US" altLang="zh-CN" sz="2400" b="1" i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400" b="1" i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1" lang="en-US" altLang="zh-CN" sz="2400" b="1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匹配，即要求：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162F56-102C-C36C-DA97-80E00EC6FA6C}"/>
              </a:ext>
            </a:extLst>
          </p:cNvPr>
          <p:cNvSpPr/>
          <p:nvPr/>
        </p:nvSpPr>
        <p:spPr>
          <a:xfrm>
            <a:off x="3562350" y="3100388"/>
            <a:ext cx="3276600" cy="461962"/>
          </a:xfrm>
          <a:prstGeom prst="rect">
            <a:avLst/>
          </a:prstGeom>
          <a:ln w="41275" cmpd="dbl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4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kumimoji="1" lang="en-US" altLang="zh-CN" sz="2400" b="1" i="1" baseline="-250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kumimoji="1" lang="en-US" altLang="zh-CN" sz="24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kumimoji="1" lang="en-US" altLang="zh-CN" sz="24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en-US" altLang="zh-CN" sz="24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kumimoji="1" lang="en-US" altLang="zh-CN" sz="24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kumimoji="1" lang="en-US" altLang="zh-CN" sz="24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kumimoji="1" lang="en-US" altLang="zh-CN" sz="2400" b="1" i="1" baseline="-250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1" lang="en-US" altLang="zh-CN" sz="24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1" lang="en-US" altLang="zh-CN" sz="24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en-US" altLang="zh-CN" sz="24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kumimoji="1" lang="en-US" altLang="zh-CN" sz="24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1" lang="en-US" altLang="zh-CN" sz="24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</a:t>
            </a:r>
            <a:r>
              <a:rPr kumimoji="1" lang="en-US" altLang="zh-CN" sz="24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C*</a:t>
            </a:r>
            <a:r>
              <a:rPr kumimoji="1" lang="en-US" altLang="zh-CN" sz="24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en-US" altLang="zh-CN" sz="24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kumimoji="1" lang="en-US" altLang="zh-CN" sz="24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00F8CD-88C6-77D9-6A40-9A4EBC754832}"/>
              </a:ext>
            </a:extLst>
          </p:cNvPr>
          <p:cNvSpPr/>
          <p:nvPr/>
        </p:nvSpPr>
        <p:spPr>
          <a:xfrm>
            <a:off x="1149350" y="3606800"/>
            <a:ext cx="55118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这时，基带传输系统的总传输特性为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A9024C-31FE-54EB-1A56-B487F2290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038600"/>
            <a:ext cx="6915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ts val="3800"/>
              </a:lnSpc>
            </a:pPr>
            <a:r>
              <a:rPr lang="zh-CN" altLang="en-US" sz="2400" b="1" i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i="1">
                <a:solidFill>
                  <a:srgbClr val="0000CC"/>
                </a:solidFill>
                <a:latin typeface="Arial" panose="020B0604020202020204" pitchFamily="34" charset="0"/>
              </a:rPr>
              <a:t>H</a:t>
            </a:r>
            <a:r>
              <a:rPr lang="en-US" altLang="zh-CN" sz="2400" b="1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i="1">
                <a:solidFill>
                  <a:srgbClr val="0000CC"/>
                </a:solidFill>
                <a:latin typeface="Arial" panose="020B0604020202020204" pitchFamily="34" charset="0"/>
              </a:rPr>
              <a:t>f</a:t>
            </a:r>
            <a:r>
              <a:rPr lang="en-US" altLang="zh-CN" sz="2400" b="1">
                <a:solidFill>
                  <a:srgbClr val="0000CC"/>
                </a:solidFill>
                <a:latin typeface="Arial" panose="020B0604020202020204" pitchFamily="34" charset="0"/>
              </a:rPr>
              <a:t>) 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G</a:t>
            </a:r>
            <a:r>
              <a:rPr lang="en-US" altLang="zh-CN" sz="2400" b="1" i="1" baseline="-25000">
                <a:solidFill>
                  <a:srgbClr val="000000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G</a:t>
            </a:r>
            <a:r>
              <a:rPr lang="en-US" altLang="zh-CN" sz="2400" b="1" i="1" baseline="-2500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)= 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G</a:t>
            </a:r>
            <a:r>
              <a:rPr lang="en-US" altLang="zh-CN" sz="2400" b="1" i="1" baseline="-25000">
                <a:solidFill>
                  <a:srgbClr val="000000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G</a:t>
            </a:r>
            <a:r>
              <a:rPr lang="en-US" altLang="zh-CN" sz="2400" b="1" i="1" baseline="-25000">
                <a:solidFill>
                  <a:srgbClr val="000000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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C*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</a:p>
          <a:p>
            <a:pPr>
              <a:lnSpc>
                <a:spcPts val="3800"/>
              </a:lnSpc>
            </a:pPr>
            <a:r>
              <a:rPr lang="en-US" altLang="zh-CN" sz="2400" b="1">
                <a:solidFill>
                  <a:srgbClr val="0000CC"/>
                </a:solidFill>
                <a:latin typeface="Arial" panose="020B0604020202020204" pitchFamily="34" charset="0"/>
              </a:rPr>
              <a:t>                         =|</a:t>
            </a:r>
            <a:r>
              <a:rPr lang="en-US" altLang="zh-CN" sz="2400" b="1" i="1">
                <a:solidFill>
                  <a:srgbClr val="0000CC"/>
                </a:solidFill>
                <a:latin typeface="Arial" panose="020B0604020202020204" pitchFamily="34" charset="0"/>
              </a:rPr>
              <a:t>G</a:t>
            </a:r>
            <a:r>
              <a:rPr lang="en-US" altLang="zh-CN" sz="2400" b="1" i="1" baseline="-25000">
                <a:solidFill>
                  <a:srgbClr val="0000CC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400" b="1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i="1">
                <a:solidFill>
                  <a:srgbClr val="0000CC"/>
                </a:solidFill>
                <a:latin typeface="Arial" panose="020B0604020202020204" pitchFamily="34" charset="0"/>
              </a:rPr>
              <a:t>f</a:t>
            </a:r>
            <a:r>
              <a:rPr lang="en-US" altLang="zh-CN" sz="2400" b="1">
                <a:solidFill>
                  <a:srgbClr val="0000CC"/>
                </a:solidFill>
                <a:latin typeface="Arial" panose="020B0604020202020204" pitchFamily="34" charset="0"/>
              </a:rPr>
              <a:t>)|</a:t>
            </a:r>
            <a:r>
              <a:rPr lang="en-US" altLang="zh-CN" sz="2400" b="1" baseline="30000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b="1">
                <a:solidFill>
                  <a:srgbClr val="0000CC"/>
                </a:solidFill>
                <a:latin typeface="Arial" panose="020B0604020202020204" pitchFamily="34" charset="0"/>
              </a:rPr>
              <a:t>|</a:t>
            </a:r>
            <a:r>
              <a:rPr lang="en-US" altLang="zh-CN" sz="2400" b="1" i="1">
                <a:solidFill>
                  <a:srgbClr val="0000CC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400" b="1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i="1">
                <a:solidFill>
                  <a:srgbClr val="0000CC"/>
                </a:solidFill>
                <a:latin typeface="Arial" panose="020B0604020202020204" pitchFamily="34" charset="0"/>
              </a:rPr>
              <a:t>f</a:t>
            </a:r>
            <a:r>
              <a:rPr lang="en-US" altLang="zh-CN" sz="2400" b="1">
                <a:solidFill>
                  <a:srgbClr val="0000CC"/>
                </a:solidFill>
                <a:latin typeface="Arial" panose="020B0604020202020204" pitchFamily="34" charset="0"/>
              </a:rPr>
              <a:t>)|</a:t>
            </a:r>
            <a:r>
              <a:rPr lang="en-US" altLang="zh-CN" sz="2400" b="1" baseline="30000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b="1">
                <a:solidFill>
                  <a:srgbClr val="0000CC"/>
                </a:solidFill>
                <a:latin typeface="Arial" panose="020B0604020202020204" pitchFamily="34" charset="0"/>
              </a:rPr>
              <a:t> 	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endParaRPr lang="zh-CN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92B2E9-AD7C-EB05-B87D-96156CB33225}"/>
              </a:ext>
            </a:extLst>
          </p:cNvPr>
          <p:cNvSpPr/>
          <p:nvPr/>
        </p:nvSpPr>
        <p:spPr>
          <a:xfrm>
            <a:off x="1492250" y="5592763"/>
            <a:ext cx="2057400" cy="5794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800"/>
              </a:lnSpc>
              <a:defRPr/>
            </a:pPr>
            <a:r>
              <a:rPr kumimoji="1" lang="en-US" altLang="zh-CN" sz="2000" b="1" i="1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</a:t>
            </a:r>
            <a:r>
              <a:rPr kumimoji="1" lang="en-US" altLang="zh-CN" sz="2000" b="1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000" b="1" i="1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1" lang="en-US" altLang="zh-CN" sz="2000" b="1" kern="0" dirty="0">
                <a:solidFill>
                  <a:srgbClr val="0000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kumimoji="1" lang="zh-CN" altLang="en-US" sz="2000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必须满足：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990909-DEA2-5034-328F-A267A15F67FB}"/>
              </a:ext>
            </a:extLst>
          </p:cNvPr>
          <p:cNvSpPr/>
          <p:nvPr/>
        </p:nvSpPr>
        <p:spPr>
          <a:xfrm>
            <a:off x="685800" y="1657350"/>
            <a:ext cx="25908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(1)  </a:t>
            </a:r>
            <a:r>
              <a:rPr kumimoji="1" lang="zh-CN" altLang="en-US" sz="24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使误码率最小</a:t>
            </a:r>
            <a:endParaRPr lang="zh-CN" alt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ACF592-5C4D-7D22-26DC-306682BA6106}"/>
              </a:ext>
            </a:extLst>
          </p:cNvPr>
          <p:cNvSpPr/>
          <p:nvPr/>
        </p:nvSpPr>
        <p:spPr>
          <a:xfrm>
            <a:off x="762000" y="5010150"/>
            <a:ext cx="262890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(2)  </a:t>
            </a:r>
            <a:r>
              <a:rPr kumimoji="1" lang="zh-CN" altLang="en-US" sz="2400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消除码间串扰</a:t>
            </a:r>
            <a:endParaRPr lang="zh-CN" alt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9572" name="Object 4">
            <a:extLst>
              <a:ext uri="{FF2B5EF4-FFF2-40B4-BE49-F238E27FC236}">
                <a16:creationId xmlns:a16="http://schemas.microsoft.com/office/drawing/2014/main" id="{AE31A6BD-FFAB-3CAD-5884-C8CF66D55677}"/>
              </a:ext>
            </a:extLst>
          </p:cNvPr>
          <p:cNvGraphicFramePr>
            <a:graphicFrameLocks/>
          </p:cNvGraphicFramePr>
          <p:nvPr/>
        </p:nvGraphicFramePr>
        <p:xfrm>
          <a:off x="3513138" y="5486400"/>
          <a:ext cx="36369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29563" imgH="482391" progId="Equation.3">
                  <p:embed/>
                </p:oleObj>
              </mc:Choice>
              <mc:Fallback>
                <p:oleObj r:id="rId2" imgW="1929563" imgH="482391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3138" y="5486400"/>
                        <a:ext cx="3636962" cy="9144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999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5">
            <a:extLst>
              <a:ext uri="{FF2B5EF4-FFF2-40B4-BE49-F238E27FC236}">
                <a16:creationId xmlns:a16="http://schemas.microsoft.com/office/drawing/2014/main" id="{36874323-9F9F-BF68-CF63-D1DC76197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338" name="Rectangle 7">
            <a:extLst>
              <a:ext uri="{FF2B5EF4-FFF2-40B4-BE49-F238E27FC236}">
                <a16:creationId xmlns:a16="http://schemas.microsoft.com/office/drawing/2014/main" id="{7DDA9947-CA9C-81EE-D15C-9CD793A34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9574" name="Object 6">
            <a:extLst>
              <a:ext uri="{FF2B5EF4-FFF2-40B4-BE49-F238E27FC236}">
                <a16:creationId xmlns:a16="http://schemas.microsoft.com/office/drawing/2014/main" id="{2C79100E-0410-8A03-E88D-9A240AAF390F}"/>
              </a:ext>
            </a:extLst>
          </p:cNvPr>
          <p:cNvGraphicFramePr>
            <a:graphicFrameLocks/>
          </p:cNvGraphicFramePr>
          <p:nvPr/>
        </p:nvGraphicFramePr>
        <p:xfrm>
          <a:off x="2286000" y="2057400"/>
          <a:ext cx="48942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91232" imgH="583947" progId="Equation.3">
                  <p:embed/>
                </p:oleObj>
              </mc:Choice>
              <mc:Fallback>
                <p:oleObj r:id="rId2" imgW="2691232" imgH="583947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057400"/>
                        <a:ext cx="489426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0" name="Rectangle 9">
            <a:extLst>
              <a:ext uri="{FF2B5EF4-FFF2-40B4-BE49-F238E27FC236}">
                <a16:creationId xmlns:a16="http://schemas.microsoft.com/office/drawing/2014/main" id="{1182F1AD-66C6-B14E-5336-1CB48A083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9576" name="Object 8">
            <a:extLst>
              <a:ext uri="{FF2B5EF4-FFF2-40B4-BE49-F238E27FC236}">
                <a16:creationId xmlns:a16="http://schemas.microsoft.com/office/drawing/2014/main" id="{AC76D6AA-F110-E671-9D39-001390CB86F5}"/>
              </a:ext>
            </a:extLst>
          </p:cNvPr>
          <p:cNvGraphicFramePr>
            <a:graphicFrameLocks/>
          </p:cNvGraphicFramePr>
          <p:nvPr/>
        </p:nvGraphicFramePr>
        <p:xfrm>
          <a:off x="1752600" y="3379788"/>
          <a:ext cx="279082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09088" imgH="482391" progId="Equation.3">
                  <p:embed/>
                </p:oleObj>
              </mc:Choice>
              <mc:Fallback>
                <p:oleObj r:id="rId4" imgW="1409088" imgH="482391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379788"/>
                        <a:ext cx="279082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2" name="Rectangle 11">
            <a:extLst>
              <a:ext uri="{FF2B5EF4-FFF2-40B4-BE49-F238E27FC236}">
                <a16:creationId xmlns:a16="http://schemas.microsoft.com/office/drawing/2014/main" id="{F614D9C4-45B2-B51F-AB78-52A117653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9578" name="Object 10">
            <a:extLst>
              <a:ext uri="{FF2B5EF4-FFF2-40B4-BE49-F238E27FC236}">
                <a16:creationId xmlns:a16="http://schemas.microsoft.com/office/drawing/2014/main" id="{C4C5E58B-5B07-1A59-044C-C602B7B4730D}"/>
              </a:ext>
            </a:extLst>
          </p:cNvPr>
          <p:cNvGraphicFramePr>
            <a:graphicFrameLocks/>
          </p:cNvGraphicFramePr>
          <p:nvPr/>
        </p:nvGraphicFramePr>
        <p:xfrm>
          <a:off x="5105400" y="3352800"/>
          <a:ext cx="22494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04900" imgH="482600" progId="Equation.3">
                  <p:embed/>
                </p:oleObj>
              </mc:Choice>
              <mc:Fallback>
                <p:oleObj r:id="rId6" imgW="1104900" imgH="48260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352800"/>
                        <a:ext cx="224948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04228947-62EA-EBC9-B31D-2BDBB4FF22DD}"/>
              </a:ext>
            </a:extLst>
          </p:cNvPr>
          <p:cNvSpPr/>
          <p:nvPr/>
        </p:nvSpPr>
        <p:spPr>
          <a:xfrm>
            <a:off x="609600" y="990600"/>
            <a:ext cx="7924800" cy="10668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800"/>
              </a:lnSpc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为此，可在接收端增加一个横向均衡滤波器</a:t>
            </a:r>
            <a:r>
              <a:rPr kumimoji="1" lang="en-US" altLang="zh-CN" sz="2000" i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1" lang="en-US" altLang="zh-CN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000" i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1" lang="en-US" altLang="zh-CN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，使系统总传输特性满足上式要求。故从上两式可以写出对</a:t>
            </a:r>
            <a:r>
              <a:rPr kumimoji="1" lang="en-US" altLang="zh-CN" sz="2400" b="1" i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kumimoji="1" lang="en-US" altLang="zh-CN" sz="2400" b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kumimoji="1" lang="en-US" altLang="zh-CN" sz="2400" b="1" i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</a:t>
            </a:r>
            <a:r>
              <a:rPr kumimoji="1" lang="en-US" altLang="zh-CN" sz="2400" b="1" kern="0" dirty="0">
                <a:solidFill>
                  <a:srgbClr val="0000CC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的要求</a:t>
            </a:r>
            <a:r>
              <a:rPr kumimoji="1" lang="en-US" altLang="zh-CN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2C2F85-1E88-989A-833E-95486234199C}"/>
              </a:ext>
            </a:extLst>
          </p:cNvPr>
          <p:cNvSpPr/>
          <p:nvPr/>
        </p:nvSpPr>
        <p:spPr>
          <a:xfrm>
            <a:off x="685800" y="3429000"/>
            <a:ext cx="22860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spcBef>
                <a:spcPct val="20000"/>
              </a:spcBef>
              <a:defRPr/>
            </a:pPr>
            <a:r>
              <a:rPr kumimoji="1"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/>
              </a:rPr>
              <a:t>式中</a:t>
            </a:r>
          </a:p>
        </p:txBody>
      </p:sp>
      <p:sp>
        <p:nvSpPr>
          <p:cNvPr id="72715" name="矩形 16">
            <a:extLst>
              <a:ext uri="{FF2B5EF4-FFF2-40B4-BE49-F238E27FC236}">
                <a16:creationId xmlns:a16="http://schemas.microsoft.com/office/drawing/2014/main" id="{C379091C-DCFE-6609-6D22-D2019B7ED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495800"/>
            <a:ext cx="457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理想信道的最佳基带传输系统方框图</a:t>
            </a:r>
          </a:p>
        </p:txBody>
      </p:sp>
      <p:grpSp>
        <p:nvGrpSpPr>
          <p:cNvPr id="2" name="Group 26">
            <a:extLst>
              <a:ext uri="{FF2B5EF4-FFF2-40B4-BE49-F238E27FC236}">
                <a16:creationId xmlns:a16="http://schemas.microsoft.com/office/drawing/2014/main" id="{AC0DBEDB-2A48-1EF3-3114-CCE1FABC840D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922838"/>
            <a:ext cx="8550275" cy="1935162"/>
            <a:chOff x="329" y="1706"/>
            <a:chExt cx="5102" cy="1215"/>
          </a:xfrm>
        </p:grpSpPr>
        <p:sp>
          <p:nvSpPr>
            <p:cNvPr id="142348" name="AutoShape 5">
              <a:extLst>
                <a:ext uri="{FF2B5EF4-FFF2-40B4-BE49-F238E27FC236}">
                  <a16:creationId xmlns:a16="http://schemas.microsoft.com/office/drawing/2014/main" id="{B6E57BE9-C0F5-CCDD-7592-CB1B68A2F5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9" y="1706"/>
              <a:ext cx="5102" cy="1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2349" name="Group 6">
              <a:extLst>
                <a:ext uri="{FF2B5EF4-FFF2-40B4-BE49-F238E27FC236}">
                  <a16:creationId xmlns:a16="http://schemas.microsoft.com/office/drawing/2014/main" id="{6736DF92-5855-4D90-F67E-8D448E436D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2" y="1907"/>
              <a:ext cx="866" cy="295"/>
              <a:chOff x="3135" y="7111"/>
              <a:chExt cx="1222" cy="416"/>
            </a:xfrm>
          </p:grpSpPr>
          <p:sp>
            <p:nvSpPr>
              <p:cNvPr id="142350" name="Text Box 7">
                <a:extLst>
                  <a:ext uri="{FF2B5EF4-FFF2-40B4-BE49-F238E27FC236}">
                    <a16:creationId xmlns:a16="http://schemas.microsoft.com/office/drawing/2014/main" id="{0F8D342C-5E2E-5798-9A73-A3C2534F45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5" y="7111"/>
                <a:ext cx="780" cy="41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altLang="zh-CN" sz="2000" i="1"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)</a:t>
                </a:r>
                <a:endParaRPr lang="en-US" altLang="zh-CN" sz="3600"/>
              </a:p>
            </p:txBody>
          </p:sp>
          <p:sp>
            <p:nvSpPr>
              <p:cNvPr id="142351" name="Line 8">
                <a:extLst>
                  <a:ext uri="{FF2B5EF4-FFF2-40B4-BE49-F238E27FC236}">
                    <a16:creationId xmlns:a16="http://schemas.microsoft.com/office/drawing/2014/main" id="{BAF37268-89A5-5177-DC7C-F55AB0216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5" y="7319"/>
                <a:ext cx="44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2352" name="Group 9">
              <a:extLst>
                <a:ext uri="{FF2B5EF4-FFF2-40B4-BE49-F238E27FC236}">
                  <a16:creationId xmlns:a16="http://schemas.microsoft.com/office/drawing/2014/main" id="{5BB3FDFB-6269-46CC-CF1B-713C0FACE4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8" y="1917"/>
              <a:ext cx="866" cy="294"/>
              <a:chOff x="3135" y="7111"/>
              <a:chExt cx="1222" cy="416"/>
            </a:xfrm>
          </p:grpSpPr>
          <p:sp>
            <p:nvSpPr>
              <p:cNvPr id="142353" name="Text Box 10">
                <a:extLst>
                  <a:ext uri="{FF2B5EF4-FFF2-40B4-BE49-F238E27FC236}">
                    <a16:creationId xmlns:a16="http://schemas.microsoft.com/office/drawing/2014/main" id="{C801B512-F89A-FBFA-1E62-B5C04B2A9F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5" y="7111"/>
                <a:ext cx="780" cy="41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altLang="zh-CN" sz="2000" i="1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)</a:t>
                </a:r>
                <a:endParaRPr lang="en-US" altLang="zh-CN" sz="3600"/>
              </a:p>
            </p:txBody>
          </p:sp>
          <p:sp>
            <p:nvSpPr>
              <p:cNvPr id="142354" name="Line 11">
                <a:extLst>
                  <a:ext uri="{FF2B5EF4-FFF2-40B4-BE49-F238E27FC236}">
                    <a16:creationId xmlns:a16="http://schemas.microsoft.com/office/drawing/2014/main" id="{F1210477-BC2D-488B-D306-EB3196123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5" y="7319"/>
                <a:ext cx="44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2355" name="AutoShape 12">
              <a:extLst>
                <a:ext uri="{FF2B5EF4-FFF2-40B4-BE49-F238E27FC236}">
                  <a16:creationId xmlns:a16="http://schemas.microsoft.com/office/drawing/2014/main" id="{719C849E-2171-3922-19AE-D00805BD5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1953"/>
              <a:ext cx="240" cy="231"/>
            </a:xfrm>
            <a:prstGeom prst="flowChartOr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2356" name="Group 13">
              <a:extLst>
                <a:ext uri="{FF2B5EF4-FFF2-40B4-BE49-F238E27FC236}">
                  <a16:creationId xmlns:a16="http://schemas.microsoft.com/office/drawing/2014/main" id="{C235F480-2948-03B8-A501-EA896A45BA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3" y="1917"/>
              <a:ext cx="2315" cy="304"/>
              <a:chOff x="5942" y="7137"/>
              <a:chExt cx="3265" cy="429"/>
            </a:xfrm>
          </p:grpSpPr>
          <p:grpSp>
            <p:nvGrpSpPr>
              <p:cNvPr id="142357" name="Group 14">
                <a:extLst>
                  <a:ext uri="{FF2B5EF4-FFF2-40B4-BE49-F238E27FC236}">
                    <a16:creationId xmlns:a16="http://schemas.microsoft.com/office/drawing/2014/main" id="{FA4F723D-E84A-39CF-DBB0-D28AAD0FD4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4" y="7137"/>
                <a:ext cx="2873" cy="429"/>
                <a:chOff x="5867" y="7124"/>
                <a:chExt cx="2873" cy="429"/>
              </a:xfrm>
            </p:grpSpPr>
            <p:sp>
              <p:nvSpPr>
                <p:cNvPr id="142358" name="Text Box 15">
                  <a:extLst>
                    <a:ext uri="{FF2B5EF4-FFF2-40B4-BE49-F238E27FC236}">
                      <a16:creationId xmlns:a16="http://schemas.microsoft.com/office/drawing/2014/main" id="{8A343A7E-5E5B-A642-868E-9A9BECC0F1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67" y="7124"/>
                  <a:ext cx="1230" cy="41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r>
                    <a:rPr lang="en-US" altLang="zh-CN" sz="2000" i="1">
                      <a:latin typeface="Times New Roman" panose="02020603050405020304" pitchFamily="18" charset="0"/>
                    </a:rPr>
                    <a:t>G</a:t>
                  </a:r>
                  <a:r>
                    <a:rPr lang="en-US" altLang="zh-CN" sz="2000" baseline="-25000"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>
                      <a:latin typeface="Times New Roman" panose="02020603050405020304" pitchFamily="18" charset="0"/>
                    </a:rPr>
                    <a:t>*(</a:t>
                  </a:r>
                  <a:r>
                    <a:rPr lang="en-US" altLang="zh-CN" sz="2000" b="1" i="1">
                      <a:latin typeface="Times New Roman" panose="02020603050405020304" pitchFamily="18" charset="0"/>
                    </a:rPr>
                    <a:t>f</a:t>
                  </a:r>
                  <a:r>
                    <a:rPr lang="en-US" altLang="zh-CN" sz="2000">
                      <a:latin typeface="Times New Roman" panose="02020603050405020304" pitchFamily="18" charset="0"/>
                    </a:rPr>
                    <a:t>)</a:t>
                  </a:r>
                  <a:r>
                    <a:rPr lang="en-US" altLang="zh-CN" sz="2000" i="1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000">
                      <a:latin typeface="Times New Roman" panose="02020603050405020304" pitchFamily="18" charset="0"/>
                    </a:rPr>
                    <a:t>*(</a:t>
                  </a:r>
                  <a:r>
                    <a:rPr lang="en-US" altLang="zh-CN" sz="2000" i="1">
                      <a:latin typeface="Times New Roman" panose="02020603050405020304" pitchFamily="18" charset="0"/>
                    </a:rPr>
                    <a:t>f</a:t>
                  </a:r>
                  <a:r>
                    <a:rPr lang="en-US" altLang="zh-CN" sz="2000">
                      <a:latin typeface="Times New Roman" panose="02020603050405020304" pitchFamily="18" charset="0"/>
                    </a:rPr>
                    <a:t>)</a:t>
                  </a:r>
                  <a:endParaRPr lang="en-US" altLang="zh-CN" sz="3600"/>
                </a:p>
              </p:txBody>
            </p:sp>
            <p:grpSp>
              <p:nvGrpSpPr>
                <p:cNvPr id="142359" name="Group 16">
                  <a:extLst>
                    <a:ext uri="{FF2B5EF4-FFF2-40B4-BE49-F238E27FC236}">
                      <a16:creationId xmlns:a16="http://schemas.microsoft.com/office/drawing/2014/main" id="{755C7FA7-BC70-B2CD-BEEE-A0E3CE5961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18" y="7137"/>
                  <a:ext cx="1222" cy="416"/>
                  <a:chOff x="7440" y="7137"/>
                  <a:chExt cx="1222" cy="416"/>
                </a:xfrm>
              </p:grpSpPr>
              <p:sp>
                <p:nvSpPr>
                  <p:cNvPr id="142360" name="Text Box 17">
                    <a:extLst>
                      <a:ext uri="{FF2B5EF4-FFF2-40B4-BE49-F238E27FC236}">
                        <a16:creationId xmlns:a16="http://schemas.microsoft.com/office/drawing/2014/main" id="{361C26F1-E91C-2179-4E0C-9C0DFFDF4F4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440" y="7137"/>
                    <a:ext cx="780" cy="41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ctr"/>
                    <a:r>
                      <a:rPr lang="en-US" altLang="zh-CN" sz="2000" i="1">
                        <a:latin typeface="Times New Roman" panose="02020603050405020304" pitchFamily="18" charset="0"/>
                      </a:rPr>
                      <a:t>T</a:t>
                    </a:r>
                    <a:r>
                      <a:rPr lang="en-US" altLang="zh-CN" sz="2000">
                        <a:latin typeface="Times New Roman" panose="02020603050405020304" pitchFamily="18" charset="0"/>
                      </a:rPr>
                      <a:t>(</a:t>
                    </a:r>
                    <a:r>
                      <a:rPr lang="en-US" altLang="zh-CN" sz="2000" b="1" i="1">
                        <a:latin typeface="Times New Roman" panose="02020603050405020304" pitchFamily="18" charset="0"/>
                      </a:rPr>
                      <a:t>f</a:t>
                    </a:r>
                    <a:r>
                      <a:rPr lang="en-US" altLang="zh-CN" sz="2000">
                        <a:latin typeface="Times New Roman" panose="02020603050405020304" pitchFamily="18" charset="0"/>
                      </a:rPr>
                      <a:t>)</a:t>
                    </a:r>
                    <a:endParaRPr lang="en-US" altLang="zh-CN" sz="3600"/>
                  </a:p>
                </p:txBody>
              </p:sp>
              <p:sp>
                <p:nvSpPr>
                  <p:cNvPr id="142361" name="Line 18">
                    <a:extLst>
                      <a:ext uri="{FF2B5EF4-FFF2-40B4-BE49-F238E27FC236}">
                        <a16:creationId xmlns:a16="http://schemas.microsoft.com/office/drawing/2014/main" id="{D2732F41-38A5-6F26-53DF-52AF0B98F8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220" y="7345"/>
                    <a:ext cx="44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42362" name="Line 19">
                  <a:extLst>
                    <a:ext uri="{FF2B5EF4-FFF2-40B4-BE49-F238E27FC236}">
                      <a16:creationId xmlns:a16="http://schemas.microsoft.com/office/drawing/2014/main" id="{FFCF7857-6E51-B7DE-04D3-4940017D50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102" y="7345"/>
                  <a:ext cx="442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2363" name="Line 20">
                <a:extLst>
                  <a:ext uri="{FF2B5EF4-FFF2-40B4-BE49-F238E27FC236}">
                    <a16:creationId xmlns:a16="http://schemas.microsoft.com/office/drawing/2014/main" id="{DBF65A07-E8E2-BC28-B3BB-FF0703B49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42" y="7345"/>
                <a:ext cx="388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2364" name="Line 21">
              <a:extLst>
                <a:ext uri="{FF2B5EF4-FFF2-40B4-BE49-F238E27FC236}">
                  <a16:creationId xmlns:a16="http://schemas.microsoft.com/office/drawing/2014/main" id="{0073B898-D840-3EFF-4166-6DD968F001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2165"/>
              <a:ext cx="0" cy="2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65" name="Line 22">
              <a:extLst>
                <a:ext uri="{FF2B5EF4-FFF2-40B4-BE49-F238E27FC236}">
                  <a16:creationId xmlns:a16="http://schemas.microsoft.com/office/drawing/2014/main" id="{BF164C44-5EAE-0A76-38C2-372157CB44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" y="2055"/>
              <a:ext cx="3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66" name="Text Box 23">
              <a:extLst>
                <a:ext uri="{FF2B5EF4-FFF2-40B4-BE49-F238E27FC236}">
                  <a16:creationId xmlns:a16="http://schemas.microsoft.com/office/drawing/2014/main" id="{70F425F4-463E-D59F-5BDC-5595D85BD8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4" y="1834"/>
              <a:ext cx="2035" cy="67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/>
              <a:endParaRPr lang="en-US" altLang="zh-CN" sz="2000">
                <a:latin typeface="Times New Roman" panose="02020603050405020304" pitchFamily="18" charset="0"/>
              </a:endParaRPr>
            </a:p>
            <a:p>
              <a:pPr algn="just"/>
              <a:endParaRPr lang="en-US" altLang="zh-CN" sz="2000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最佳接收滤波器</a:t>
              </a:r>
              <a:endParaRPr lang="zh-CN" altLang="en-US" sz="3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367" name="Text Box 24">
              <a:extLst>
                <a:ext uri="{FF2B5EF4-FFF2-40B4-BE49-F238E27FC236}">
                  <a16:creationId xmlns:a16="http://schemas.microsoft.com/office/drawing/2014/main" id="{6226706E-59B3-3613-039A-81A20095C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8" y="2331"/>
              <a:ext cx="395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  <a:r>
                <a:rPr lang="en-US" altLang="zh-CN" sz="2000">
                  <a:latin typeface="Times New Roman" panose="02020603050405020304" pitchFamily="18" charset="0"/>
                </a:rPr>
                <a:t>(</a:t>
              </a:r>
              <a:r>
                <a:rPr lang="en-US" altLang="zh-CN" sz="2000" i="1">
                  <a:latin typeface="Times New Roman" panose="02020603050405020304" pitchFamily="18" charset="0"/>
                </a:rPr>
                <a:t>t</a:t>
              </a:r>
              <a:r>
                <a:rPr lang="en-US" altLang="zh-CN" sz="2000">
                  <a:latin typeface="Times New Roman" panose="02020603050405020304" pitchFamily="18" charset="0"/>
                </a:rPr>
                <a:t>)</a:t>
              </a:r>
              <a:endParaRPr lang="en-US" altLang="zh-CN" sz="3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7271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1" name="内容占位符 32" descr="通信原理（第7版）学习辅导与考研指导.jpg">
            <a:extLst>
              <a:ext uri="{FF2B5EF4-FFF2-40B4-BE49-F238E27FC236}">
                <a16:creationId xmlns:a16="http://schemas.microsoft.com/office/drawing/2014/main" id="{A3C7D4AF-AC76-AD97-FA34-2ECB35118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4" t="5714" r="17461"/>
          <a:stretch>
            <a:fillRect/>
          </a:stretch>
        </p:blipFill>
        <p:spPr bwMode="auto">
          <a:xfrm>
            <a:off x="1071563" y="1292225"/>
            <a:ext cx="3035300" cy="513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4BB7B98-70A3-1A57-A621-62CFF5E2EEFB}"/>
              </a:ext>
            </a:extLst>
          </p:cNvPr>
          <p:cNvSpPr/>
          <p:nvPr/>
        </p:nvSpPr>
        <p:spPr>
          <a:xfrm>
            <a:off x="2928938" y="317500"/>
            <a:ext cx="3143250" cy="630238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</a:pPr>
            <a:r>
              <a:rPr lang="zh-CN" altLang="en-US" sz="3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配套辅导教材：</a:t>
            </a:r>
            <a:r>
              <a:rPr lang="en-US" altLang="zh-CN" sz="3200">
                <a:solidFill>
                  <a:srgbClr val="003399"/>
                </a:solidFill>
              </a:rPr>
              <a:t>                                       </a:t>
            </a:r>
            <a:endParaRPr lang="en-US" altLang="zh-CN" sz="3200">
              <a:solidFill>
                <a:srgbClr val="003399"/>
              </a:solidFill>
              <a:sym typeface="Wingdings" panose="05000000000000000000" pitchFamily="2" charset="2"/>
            </a:endParaRPr>
          </a:p>
        </p:txBody>
      </p:sp>
      <p:sp>
        <p:nvSpPr>
          <p:cNvPr id="143363" name="矩形 5">
            <a:extLst>
              <a:ext uri="{FF2B5EF4-FFF2-40B4-BE49-F238E27FC236}">
                <a16:creationId xmlns:a16="http://schemas.microsoft.com/office/drawing/2014/main" id="{CD9C5F0C-33B1-A1A1-0504-200144AEE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068763"/>
            <a:ext cx="142875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</a:pPr>
            <a:r>
              <a:rPr lang="zh-CN" altLang="en-US" sz="200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曹丽娜  </a:t>
            </a:r>
            <a:endParaRPr lang="en-US" altLang="zh-CN" sz="200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</a:pPr>
            <a:r>
              <a:rPr lang="zh-CN" altLang="en-US" sz="200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樊昌信</a:t>
            </a:r>
            <a:r>
              <a:rPr lang="en-US" altLang="zh-CN" sz="200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  </a:t>
            </a:r>
            <a:endParaRPr lang="en-US" altLang="zh-CN" sz="200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A68F70-C3ED-0957-2BFD-D437BE97A887}"/>
              </a:ext>
            </a:extLst>
          </p:cNvPr>
          <p:cNvSpPr/>
          <p:nvPr/>
        </p:nvSpPr>
        <p:spPr>
          <a:xfrm>
            <a:off x="6786563" y="4186238"/>
            <a:ext cx="857250" cy="609600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95688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</a:pPr>
            <a:r>
              <a:rPr lang="zh-CN" altLang="en-US" sz="200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编著</a:t>
            </a:r>
            <a:r>
              <a:rPr lang="en-US" altLang="zh-CN" sz="2800"/>
              <a:t>   </a:t>
            </a:r>
            <a:r>
              <a:rPr lang="en-US" altLang="zh-CN" sz="2800">
                <a:solidFill>
                  <a:srgbClr val="000000"/>
                </a:solidFill>
              </a:rPr>
              <a:t>                                    </a:t>
            </a:r>
            <a:endParaRPr lang="en-US" altLang="zh-CN" sz="2800">
              <a:solidFill>
                <a:srgbClr val="000000"/>
              </a:solidFill>
              <a:sym typeface="Wingdings" panose="05000000000000000000" pitchFamily="2" charset="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E8C476-1D11-B455-AA89-002F442C62AC}"/>
              </a:ext>
            </a:extLst>
          </p:cNvPr>
          <p:cNvSpPr/>
          <p:nvPr/>
        </p:nvSpPr>
        <p:spPr>
          <a:xfrm>
            <a:off x="5643563" y="5230813"/>
            <a:ext cx="2214562" cy="4127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55000"/>
              <a:tabLst>
                <a:tab pos="3595370" algn="l"/>
              </a:tabLst>
              <a:defRPr/>
            </a:pPr>
            <a:r>
              <a:rPr lang="zh-CN" altLang="en-US" sz="2000" kern="0" dirty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国防工业出版社</a:t>
            </a:r>
            <a:r>
              <a:rPr lang="en-US" altLang="zh-CN" sz="2000" kern="0" dirty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</a:t>
            </a:r>
            <a:endParaRPr lang="en-US" altLang="zh-CN" sz="2000" kern="0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pic>
        <p:nvPicPr>
          <p:cNvPr id="143366" name="内容占位符 12" descr="校徽3.gif">
            <a:extLst>
              <a:ext uri="{FF2B5EF4-FFF2-40B4-BE49-F238E27FC236}">
                <a16:creationId xmlns:a16="http://schemas.microsoft.com/office/drawing/2014/main" id="{08BE16B8-1836-3A11-4C27-2264ADEE8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4171950"/>
            <a:ext cx="57150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67" name="内容占位符 27" descr="图标3.gif">
            <a:extLst>
              <a:ext uri="{FF2B5EF4-FFF2-40B4-BE49-F238E27FC236}">
                <a16:creationId xmlns:a16="http://schemas.microsoft.com/office/drawing/2014/main" id="{5B1D564C-31E3-6991-43B8-D75987519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213" y="5156200"/>
            <a:ext cx="56991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6" name="Rectangle 10">
            <a:extLst>
              <a:ext uri="{FF2B5EF4-FFF2-40B4-BE49-F238E27FC236}">
                <a16:creationId xmlns:a16="http://schemas.microsoft.com/office/drawing/2014/main" id="{3881F50E-FE9E-3DD3-C90C-B22DDD26B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695450"/>
            <a:ext cx="3714750" cy="17335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indent="419100" eaLnBrk="0" hangingPunct="0">
              <a:lnSpc>
                <a:spcPts val="3200"/>
              </a:lnSpc>
              <a:buClr>
                <a:srgbClr val="0033CC"/>
              </a:buClr>
              <a:buSzPct val="80000"/>
              <a:buFont typeface="Wingdings" panose="05000000000000000000" pitchFamily="2" charset="2"/>
              <a:buChar char="Ø"/>
              <a:tabLst>
                <a:tab pos="838200" algn="l"/>
              </a:tabLst>
              <a:defRPr/>
            </a:pPr>
            <a:r>
              <a:rPr 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整理知识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归纳结论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419100" eaLnBrk="0" hangingPunct="0">
              <a:lnSpc>
                <a:spcPts val="3200"/>
              </a:lnSpc>
              <a:buClr>
                <a:srgbClr val="0033CC"/>
              </a:buClr>
              <a:buSzPct val="80000"/>
              <a:buFont typeface="Wingdings" panose="05000000000000000000" pitchFamily="2" charset="2"/>
              <a:buChar char="Ø"/>
              <a:tabLst>
                <a:tab pos="838200" algn="l"/>
              </a:tabLst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梳理关系  引导主线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419100" eaLnBrk="0" hangingPunct="0">
              <a:lnSpc>
                <a:spcPts val="3200"/>
              </a:lnSpc>
              <a:buClr>
                <a:srgbClr val="0033CC"/>
              </a:buClr>
              <a:buSzPct val="80000"/>
              <a:buFont typeface="Wingdings" panose="05000000000000000000" pitchFamily="2" charset="2"/>
              <a:buChar char="Ø"/>
              <a:tabLst>
                <a:tab pos="838200" algn="l"/>
              </a:tabLst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剖析难点  解惑疑点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419100" eaLnBrk="0" hangingPunct="0">
              <a:lnSpc>
                <a:spcPts val="3200"/>
              </a:lnSpc>
              <a:buClr>
                <a:srgbClr val="0033CC"/>
              </a:buClr>
              <a:buSzPct val="80000"/>
              <a:buFont typeface="Wingdings" panose="05000000000000000000" pitchFamily="2" charset="2"/>
              <a:buChar char="Ø"/>
              <a:tabLst>
                <a:tab pos="838200" algn="l"/>
              </a:tabLst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强化重点  点击考点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D2E57A-49DD-F6A9-9AFC-81F6CA716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2482850"/>
            <a:ext cx="4143375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7200">
                <a:solidFill>
                  <a:srgbClr val="003399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谢谢！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66827ad-c723-49d2-a3c5-a0fb28ec2c7c"/>
  <p:tag name="COMMONDATA" val="eyJoZGlkIjoiMjQ0ZGUzZTQ3YjEyZWE3ODY2NGMxMzIxOGU4Y2JmNj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隶书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3011</Words>
  <Application>Microsoft Office PowerPoint</Application>
  <PresentationFormat>全屏显示(4:3)</PresentationFormat>
  <Paragraphs>474</Paragraphs>
  <Slides>82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82</vt:i4>
      </vt:variant>
    </vt:vector>
  </HeadingPairs>
  <TitlesOfParts>
    <vt:vector size="107" baseType="lpstr">
      <vt:lpstr>Arial</vt:lpstr>
      <vt:lpstr>宋体</vt:lpstr>
      <vt:lpstr>Wingdings</vt:lpstr>
      <vt:lpstr>Tahoma</vt:lpstr>
      <vt:lpstr>Times New Roman</vt:lpstr>
      <vt:lpstr>隶书</vt:lpstr>
      <vt:lpstr>楷体_GB2312</vt:lpstr>
      <vt:lpstr>新宋体</vt:lpstr>
      <vt:lpstr>黑体</vt:lpstr>
      <vt:lpstr>微软雅黑</vt:lpstr>
      <vt:lpstr>Arial Unicode MS</vt:lpstr>
      <vt:lpstr>华文新魏</vt:lpstr>
      <vt:lpstr>华文中宋</vt:lpstr>
      <vt:lpstr>宋体-方正超大字符集</vt:lpstr>
      <vt:lpstr>Symbol</vt:lpstr>
      <vt:lpstr>Cambria Math</vt:lpstr>
      <vt:lpstr>Times New Roman</vt:lpstr>
      <vt:lpstr>Tahoma</vt:lpstr>
      <vt:lpstr>BatangChe</vt:lpstr>
      <vt:lpstr>Segoe Print</vt:lpstr>
      <vt:lpstr>楷体_GB2312</vt:lpstr>
      <vt:lpstr>Blends</vt:lpstr>
      <vt:lpstr>MathType 7.0 Equation</vt:lpstr>
      <vt:lpstr>Equation.3</vt:lpstr>
      <vt:lpstr>Visio.Drawing.11</vt:lpstr>
      <vt:lpstr>PowerPoint 演示文稿</vt:lpstr>
      <vt:lpstr>PowerPoint 演示文稿</vt:lpstr>
      <vt:lpstr>PowerPoint 演示文稿</vt:lpstr>
      <vt:lpstr>引言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二进制确知信号最佳接收机结构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Xidian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通信原理</dc:title>
  <dc:creator>Fan</dc:creator>
  <cp:lastModifiedBy>Wang Liming</cp:lastModifiedBy>
  <cp:revision>149</cp:revision>
  <dcterms:created xsi:type="dcterms:W3CDTF">2005-12-13T08:40:34Z</dcterms:created>
  <dcterms:modified xsi:type="dcterms:W3CDTF">2023-08-16T09:39:53Z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C068EB1DF47F4B0B8A64492E4A0A30F2</vt:lpwstr>
  </property>
  <property fmtid="{D5CDD505-2E9C-101B-9397-08002B2CF9AE}" pid="3" name="KSOProductBuildVer">
    <vt:lpwstr>2052-11.1.0.12980</vt:lpwstr>
  </property>
</Properties>
</file>