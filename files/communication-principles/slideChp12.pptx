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3"/>
  </p:notesMasterIdLst>
  <p:sldIdLst>
    <p:sldId id="349" r:id="rId2"/>
    <p:sldId id="350" r:id="rId3"/>
    <p:sldId id="416" r:id="rId4"/>
    <p:sldId id="353" r:id="rId5"/>
    <p:sldId id="259" r:id="rId6"/>
    <p:sldId id="356" r:id="rId7"/>
    <p:sldId id="261" r:id="rId8"/>
    <p:sldId id="357" r:id="rId9"/>
    <p:sldId id="358" r:id="rId10"/>
    <p:sldId id="359" r:id="rId11"/>
    <p:sldId id="362" r:id="rId12"/>
    <p:sldId id="363" r:id="rId13"/>
    <p:sldId id="352" r:id="rId14"/>
    <p:sldId id="269" r:id="rId15"/>
    <p:sldId id="365" r:id="rId16"/>
    <p:sldId id="366" r:id="rId17"/>
    <p:sldId id="272" r:id="rId18"/>
    <p:sldId id="367" r:id="rId19"/>
    <p:sldId id="368" r:id="rId20"/>
    <p:sldId id="369" r:id="rId21"/>
    <p:sldId id="370" r:id="rId22"/>
    <p:sldId id="277" r:id="rId23"/>
    <p:sldId id="371" r:id="rId24"/>
    <p:sldId id="278" r:id="rId25"/>
    <p:sldId id="372" r:id="rId26"/>
    <p:sldId id="280" r:id="rId27"/>
    <p:sldId id="374" r:id="rId28"/>
    <p:sldId id="373" r:id="rId29"/>
    <p:sldId id="290" r:id="rId30"/>
    <p:sldId id="375" r:id="rId31"/>
    <p:sldId id="293" r:id="rId32"/>
    <p:sldId id="295" r:id="rId33"/>
    <p:sldId id="376" r:id="rId34"/>
    <p:sldId id="377" r:id="rId35"/>
    <p:sldId id="378" r:id="rId36"/>
    <p:sldId id="379" r:id="rId37"/>
    <p:sldId id="380" r:id="rId38"/>
    <p:sldId id="310" r:id="rId39"/>
    <p:sldId id="381" r:id="rId40"/>
    <p:sldId id="382" r:id="rId41"/>
    <p:sldId id="313" r:id="rId42"/>
    <p:sldId id="383" r:id="rId43"/>
    <p:sldId id="384" r:id="rId44"/>
    <p:sldId id="385" r:id="rId45"/>
    <p:sldId id="318" r:id="rId46"/>
    <p:sldId id="386" r:id="rId47"/>
    <p:sldId id="387" r:id="rId48"/>
    <p:sldId id="388" r:id="rId49"/>
    <p:sldId id="389" r:id="rId50"/>
    <p:sldId id="322" r:id="rId51"/>
    <p:sldId id="390" r:id="rId52"/>
    <p:sldId id="391" r:id="rId53"/>
    <p:sldId id="413" r:id="rId54"/>
    <p:sldId id="392" r:id="rId55"/>
    <p:sldId id="393" r:id="rId56"/>
    <p:sldId id="364" r:id="rId57"/>
    <p:sldId id="395" r:id="rId58"/>
    <p:sldId id="394" r:id="rId59"/>
    <p:sldId id="396" r:id="rId60"/>
    <p:sldId id="414" r:id="rId61"/>
    <p:sldId id="331" r:id="rId62"/>
    <p:sldId id="336" r:id="rId63"/>
    <p:sldId id="398" r:id="rId64"/>
    <p:sldId id="399" r:id="rId65"/>
    <p:sldId id="415" r:id="rId66"/>
    <p:sldId id="400" r:id="rId67"/>
    <p:sldId id="401" r:id="rId68"/>
    <p:sldId id="402" r:id="rId69"/>
    <p:sldId id="403" r:id="rId70"/>
    <p:sldId id="338" r:id="rId71"/>
    <p:sldId id="404" r:id="rId72"/>
    <p:sldId id="340" r:id="rId73"/>
    <p:sldId id="405" r:id="rId74"/>
    <p:sldId id="406" r:id="rId75"/>
    <p:sldId id="407" r:id="rId76"/>
    <p:sldId id="408" r:id="rId77"/>
    <p:sldId id="345" r:id="rId78"/>
    <p:sldId id="409" r:id="rId79"/>
    <p:sldId id="410" r:id="rId80"/>
    <p:sldId id="411" r:id="rId81"/>
    <p:sldId id="412" r:id="rId8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3399"/>
    <a:srgbClr val="0000CC"/>
    <a:srgbClr val="6666FF"/>
    <a:srgbClr val="0000FF"/>
    <a:srgbClr val="3399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14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098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BDA8EC6-D17E-827D-10CF-147AF68E8B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8AC40C5-F4CC-79C6-FC4F-01ADA8FB783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1F8DAAA2-D1A9-DE01-8CA0-ABF94755DA9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657DEEDE-2DDA-07B3-DFBF-C7CE57EF84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8CB78855-E38F-077E-6AF5-C59EF36AF3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C550A97A-D29A-3171-3211-2D56A24C8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377DC49-AC63-4495-AA55-9DAC59FD633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id="{12F45810-C15C-B8BB-E9E0-591ADA025B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id="{4B146F25-3D3D-340C-0241-D32781D83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087EB16A-68ED-A4AF-094D-A833C6D13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D17AE5-6F1C-47AF-BF9F-3135110D5166}" type="slidenum">
              <a:rPr lang="en-US" altLang="zh-CN">
                <a:latin typeface="Arial" panose="020B0604020202020204" pitchFamily="34" charset="0"/>
              </a:rPr>
              <a:pPr eaLnBrk="1" hangingPunct="1"/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1AD09F-C2CC-3AAF-DF44-A0A326954B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E7E1301-9173-662E-B103-FC47C48CF4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0A3BB9F-E995-A34D-8156-1AFFCD735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5E0CCC-AC0A-4EAF-98CF-BFE0BCB36B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48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438147B-D293-5A82-68CC-9D1273D124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11FAB1C-EC5C-3E4A-92E7-86A6C23ED8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D191EC0-7841-4990-002F-C7269103C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265BC9-AB2B-48EF-B6B1-E9B01A62FE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77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0DE9C5E-AD35-1245-1D36-345D206E6E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5819821-AEB9-13ED-E81A-2DB310EB38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265ED6A-FF6D-C575-E1EB-F755889A93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67477-43E9-41CD-B67A-C5B694FE23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02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27100" y="1179513"/>
            <a:ext cx="4032250" cy="5678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179513"/>
            <a:ext cx="4032250" cy="5678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0C4525-0CCC-60A2-96C9-FEBC4690C3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18026F9-A57C-DFE8-8FF4-E12B84D8BB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4DEF2D8-6F6E-AB7D-0145-869091885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93E43-5BEE-45FF-B27C-30E3F32071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61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27950B9-567B-66CC-176A-D655FF9DA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565BDF9-F7B0-E46A-8ADC-D2369C18EF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9B73455-D906-294C-DFDF-D389BAB59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9BA1A-968C-45B8-B164-B815615115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876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953E16B-F93A-B1E3-5FA1-8BFCA83849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213A035-1C99-51BD-F51A-237C993BE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A7B998-6608-0385-DFFE-B27E5CB54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0240E9-5D21-4177-ADEC-650729BDA7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29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EA35CC5-B3AA-C6F5-5134-A66C94C75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6F34DC36-1F60-8ABF-4CC3-24F32304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654B40E-D092-C71C-0ED4-CCBB65591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EBB12-814A-4CDB-8423-0EB4D3AF4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17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161FE23-A567-67E9-ABD5-281CEFE3B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2F5B93B-3E1A-32E5-C4BE-5DB86424EA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326D264-6B34-10B8-325D-E0D2A19D4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6BD1AE-BF83-47E2-A1F2-69D35D1BCA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12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9155B65-8620-BE94-268F-A7A208782B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49FB46C-3E0D-4856-5483-2EC39758B9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7998B3F-89FA-8523-0588-8B4C5B57B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7BCF0B-8309-43C1-9AD5-AF42AF2033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37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D5B9C6A-8DE1-EC24-86EB-7E389D4FCB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2B993DD-4D36-AF7A-B8EE-1C0024B6D1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BDF8C31-4C94-B0F2-D37F-155E07F77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E2306D-37D2-4BB7-A1A4-36D05CC234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71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9775" y="214313"/>
            <a:ext cx="2054225" cy="6643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6010275" cy="6643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7F0FD2E-03EE-761E-4330-1E212D092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2832744-CE49-2F99-94DF-886248C920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8B5432-1B49-CF3E-4A78-689BB60862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F84DB-8C16-467D-A1B3-DF1CB3ACA8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46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27100" y="1179513"/>
            <a:ext cx="4032250" cy="56784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179513"/>
            <a:ext cx="4032250" cy="56784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EFA7C1-ECE3-8C42-1D45-E63A5280E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1DF83C2-743C-AE27-767F-3305D33105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98DA0D8-D6EA-58C1-4E9B-22D97AB75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AC7F0A-3F99-4736-B48B-F2283305EA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8315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">
            <a:extLst>
              <a:ext uri="{FF2B5EF4-FFF2-40B4-BE49-F238E27FC236}">
                <a16:creationId xmlns:a16="http://schemas.microsoft.com/office/drawing/2014/main" id="{779EEDF2-85CF-C17B-E661-C69D38FDA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7100" y="1179513"/>
            <a:ext cx="8216900" cy="567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04D2B18D-FB7D-35C1-EDF4-8B091C5005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00EDF453-2CED-516D-12B6-8A29F56E47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F6159C21-2A6E-C544-9FE5-F1F07248C1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1BADEF8-6B65-4631-AFCE-E9119F8B476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008BE5-7DDB-B465-B8E3-F43F3D7D8F0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875" y="6507163"/>
            <a:ext cx="385762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  <a:cs typeface="Arial" charset="0"/>
              </a:rPr>
              <a:t> 西安电子科技大学  通信工程学院</a:t>
            </a:r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  <a:cs typeface="Arial" charset="0"/>
              </a:rPr>
              <a:t>                           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  <a:cs typeface="Arial" charset="0"/>
              <a:sym typeface="Wingdings" pitchFamily="2" charset="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4ACD66-5987-F429-27E9-5626F65A6B58}"/>
              </a:ext>
            </a:extLst>
          </p:cNvPr>
          <p:cNvSpPr/>
          <p:nvPr userDrawn="1"/>
        </p:nvSpPr>
        <p:spPr>
          <a:xfrm>
            <a:off x="6972300" y="6492875"/>
            <a:ext cx="2143125" cy="276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  课件制作：曹丽娜 </a:t>
            </a:r>
            <a:endParaRPr lang="zh-CN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image" Target="../media/image16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5.png"/><Relationship Id="rId5" Type="http://schemas.openxmlformats.org/officeDocument/2006/relationships/image" Target="../media/image11.w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0.png"/><Relationship Id="rId5" Type="http://schemas.openxmlformats.org/officeDocument/2006/relationships/image" Target="../media/image11.w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image" Target="../media/image27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3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40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4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wmf"/><Relationship Id="rId4" Type="http://schemas.openxmlformats.org/officeDocument/2006/relationships/oleObject" Target="../embeddings/oleObject4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wmf"/><Relationship Id="rId4" Type="http://schemas.openxmlformats.org/officeDocument/2006/relationships/oleObject" Target="../embeddings/oleObject52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55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116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60.bin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62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4" descr="封面3.jpg">
            <a:extLst>
              <a:ext uri="{FF2B5EF4-FFF2-40B4-BE49-F238E27FC236}">
                <a16:creationId xmlns:a16="http://schemas.microsoft.com/office/drawing/2014/main" id="{0D7E6A2D-A073-2AFC-0DEB-1A335A1E8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矩形 5">
            <a:extLst>
              <a:ext uri="{FF2B5EF4-FFF2-40B4-BE49-F238E27FC236}">
                <a16:creationId xmlns:a16="http://schemas.microsoft.com/office/drawing/2014/main" id="{01597082-60DC-8B54-E385-98E6E1558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4940300"/>
            <a:ext cx="55006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None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制作：曹丽娜  </a:t>
            </a:r>
            <a:r>
              <a:rPr lang="en-US" altLang="zh-CN" b="1" dirty="0">
                <a:solidFill>
                  <a:srgbClr val="003399"/>
                </a:solidFill>
                <a:latin typeface="+mn-lt"/>
                <a:cs typeface="Arial" charset="0"/>
              </a:rPr>
              <a:t>ccllna@163.com</a:t>
            </a:r>
          </a:p>
        </p:txBody>
      </p:sp>
      <p:pic>
        <p:nvPicPr>
          <p:cNvPr id="35844" name="内容占位符 23" descr="图标.gif">
            <a:extLst>
              <a:ext uri="{FF2B5EF4-FFF2-40B4-BE49-F238E27FC236}">
                <a16:creationId xmlns:a16="http://schemas.microsoft.com/office/drawing/2014/main" id="{BDBCA3EB-AA40-B974-7EC3-424E381EE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3" y="2786063"/>
            <a:ext cx="592137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内容占位符 21" descr="校徽2.gif">
            <a:extLst>
              <a:ext uri="{FF2B5EF4-FFF2-40B4-BE49-F238E27FC236}">
                <a16:creationId xmlns:a16="http://schemas.microsoft.com/office/drawing/2014/main" id="{7CF7FC81-48D1-AFB2-2B66-A4A081FBD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714625"/>
            <a:ext cx="56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FE7104-8FB8-9226-630E-533BDAA30DC4}"/>
              </a:ext>
            </a:extLst>
          </p:cNvPr>
          <p:cNvSpPr/>
          <p:nvPr/>
        </p:nvSpPr>
        <p:spPr>
          <a:xfrm>
            <a:off x="1714500" y="5864225"/>
            <a:ext cx="62865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2" charset="-122"/>
                <a:ea typeface="黑体" pitchFamily="2" charset="-122"/>
              </a:rPr>
              <a:t>美工设计：陈英         技术支持：张嘉等人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5847" name="矩形 7">
            <a:extLst>
              <a:ext uri="{FF2B5EF4-FFF2-40B4-BE49-F238E27FC236}">
                <a16:creationId xmlns:a16="http://schemas.microsoft.com/office/drawing/2014/main" id="{772AF1A3-79A7-3945-D26F-FC30BD576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295650"/>
            <a:ext cx="2224087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48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5400">
                <a:solidFill>
                  <a:srgbClr val="7030A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课 件</a:t>
            </a:r>
            <a:endParaRPr lang="en-US" altLang="zh-CN" sz="5400">
              <a:solidFill>
                <a:srgbClr val="7030A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4E296066-8657-8A44-0AEC-8AA858C41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714625"/>
            <a:ext cx="5000625" cy="1643063"/>
          </a:xfrm>
          <a:solidFill>
            <a:srgbClr val="003399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正 交 编 码</a:t>
            </a:r>
            <a:endParaRPr lang="en-US" altLang="zh-CN" sz="480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34" descr="通信原理（第7版）展开.jpg">
            <a:extLst>
              <a:ext uri="{FF2B5EF4-FFF2-40B4-BE49-F238E27FC236}">
                <a16:creationId xmlns:a16="http://schemas.microsoft.com/office/drawing/2014/main" id="{E200DBDA-4610-105A-6611-34326625E9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55334" t="2000" r="15137" b="2000"/>
          <a:stretch>
            <a:fillRect/>
          </a:stretch>
        </p:blipFill>
        <p:spPr>
          <a:xfrm>
            <a:off x="5643577" y="1500174"/>
            <a:ext cx="2009195" cy="321471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DA7D362-57CE-E5F5-C344-B0D54A1F7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2714625"/>
            <a:ext cx="785813" cy="17145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5400" kern="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endParaRPr lang="en-US" altLang="zh-CN" sz="6000" kern="0" dirty="0">
              <a:solidFill>
                <a:srgbClr val="000099"/>
              </a:solidFill>
              <a:latin typeface="+mn-lt"/>
              <a:ea typeface="+mn-ea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B96A1EA-8385-FFE7-57C1-2CDAE8630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4643438"/>
            <a:ext cx="2500312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" charset="0"/>
              </a:rPr>
              <a:t>通信原理（第</a:t>
            </a:r>
            <a:r>
              <a:rPr lang="en-US" altLang="zh-CN" sz="200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" charset="0"/>
              </a:rPr>
              <a:t>7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Arial" charset="0"/>
              </a:rPr>
              <a:t>版</a:t>
            </a: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  <a:cs typeface="Arial" charset="0"/>
              </a:rPr>
              <a:t>）</a:t>
            </a:r>
          </a:p>
        </p:txBody>
      </p:sp>
      <p:sp>
        <p:nvSpPr>
          <p:cNvPr id="36870" name="矩形 11">
            <a:extLst>
              <a:ext uri="{FF2B5EF4-FFF2-40B4-BE49-F238E27FC236}">
                <a16:creationId xmlns:a16="http://schemas.microsoft.com/office/drawing/2014/main" id="{9EF2F80A-ADA6-61B7-30F6-8CDEF67B8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285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71" name="内容占位符 12" descr="校徽3.gif">
            <a:extLst>
              <a:ext uri="{FF2B5EF4-FFF2-40B4-BE49-F238E27FC236}">
                <a16:creationId xmlns:a16="http://schemas.microsoft.com/office/drawing/2014/main" id="{F7EA74DB-B9C7-F3CD-C8ED-A32EF2CFF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5337175"/>
            <a:ext cx="5715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内容占位符 27" descr="图标3.gif">
            <a:extLst>
              <a:ext uri="{FF2B5EF4-FFF2-40B4-BE49-F238E27FC236}">
                <a16:creationId xmlns:a16="http://schemas.microsoft.com/office/drawing/2014/main" id="{333BE220-699C-8E11-551B-3955EDD16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357813"/>
            <a:ext cx="56991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58F7BA7-6644-2B26-7203-B9B031E7997E}"/>
              </a:ext>
            </a:extLst>
          </p:cNvPr>
          <p:cNvSpPr/>
          <p:nvPr/>
        </p:nvSpPr>
        <p:spPr>
          <a:xfrm>
            <a:off x="466725" y="1928813"/>
            <a:ext cx="1633538" cy="7699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400" b="1" kern="0" dirty="0">
                <a:solidFill>
                  <a:srgbClr val="7833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 Unicode MS" pitchFamily="34" charset="-122"/>
                <a:cs typeface="Arial" pitchFamily="34" charset="0"/>
              </a:rPr>
              <a:t>12</a:t>
            </a:r>
            <a:r>
              <a:rPr lang="zh-CN" altLang="en-US" sz="32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endParaRPr lang="zh-CN" altLang="en-US" sz="3200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3FA4E3C-4265-CD03-B4F5-D55766656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5951538"/>
            <a:ext cx="250031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樊昌信 曹丽娜 编著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6E3EBE-9154-E506-1D77-3AB617C1A9AB}"/>
              </a:ext>
            </a:extLst>
          </p:cNvPr>
          <p:cNvSpPr/>
          <p:nvPr/>
        </p:nvSpPr>
        <p:spPr>
          <a:xfrm>
            <a:off x="-184150" y="4016375"/>
            <a:ext cx="4991100" cy="1057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4800" b="1" kern="0" dirty="0">
                <a:solidFill>
                  <a:srgbClr val="FFFFFF">
                    <a:lumMod val="50000"/>
                  </a:srgb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  </a:t>
            </a:r>
            <a:r>
              <a:rPr lang="zh-CN" altLang="en-US" sz="4400" kern="0" dirty="0">
                <a:solidFill>
                  <a:srgbClr val="FFFFFF">
                    <a:lumMod val="50000"/>
                  </a:srgbClr>
                </a:solidFill>
                <a:latin typeface="+mj-ea"/>
                <a:ea typeface="+mj-ea"/>
                <a:cs typeface="Arial" pitchFamily="34" charset="0"/>
              </a:rPr>
              <a:t>和</a:t>
            </a:r>
            <a:r>
              <a:rPr lang="zh-CN" altLang="en-US" sz="4800" b="1" kern="0" dirty="0">
                <a:solidFill>
                  <a:srgbClr val="003399"/>
                </a:solidFill>
                <a:latin typeface="+mj-ea"/>
                <a:ea typeface="+mj-ea"/>
              </a:rPr>
              <a:t>伪随机序列</a:t>
            </a:r>
            <a:endParaRPr lang="en-US" altLang="zh-CN" sz="4800" b="1" kern="0" dirty="0">
              <a:solidFill>
                <a:srgbClr val="003399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B909F60-F4EA-5A08-9CA7-E3761CA36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100"/>
            <a:ext cx="2660650" cy="7080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r>
              <a:rPr lang="en-US" altLang="zh-CN" sz="3600" dirty="0">
                <a:solidFill>
                  <a:schemeClr val="bg1"/>
                </a:solidFill>
                <a:latin typeface="+mn-lt"/>
                <a:ea typeface="微软雅黑" pitchFamily="34" charset="-122"/>
                <a:cs typeface="Arial" pitchFamily="34" charset="0"/>
              </a:rPr>
              <a:t>:</a:t>
            </a:r>
            <a:r>
              <a:rPr lang="zh-CN" altLang="en-US" sz="3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3600" dirty="0">
              <a:solidFill>
                <a:schemeClr val="bg1"/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9B3D5C3-5952-B2EE-E640-57822547BDDB}"/>
              </a:ext>
            </a:extLst>
          </p:cNvPr>
          <p:cNvGrpSpPr>
            <a:grpSpLocks/>
          </p:cNvGrpSpPr>
          <p:nvPr/>
        </p:nvGrpSpPr>
        <p:grpSpPr bwMode="auto">
          <a:xfrm>
            <a:off x="1154113" y="1900238"/>
            <a:ext cx="185737" cy="207962"/>
            <a:chOff x="2976" y="1008"/>
            <a:chExt cx="1056" cy="432"/>
          </a:xfrm>
        </p:grpSpPr>
        <p:sp>
          <p:nvSpPr>
            <p:cNvPr id="37910" name="Oval 9">
              <a:extLst>
                <a:ext uri="{FF2B5EF4-FFF2-40B4-BE49-F238E27FC236}">
                  <a16:creationId xmlns:a16="http://schemas.microsoft.com/office/drawing/2014/main" id="{61B9AE07-406B-85FB-E8A5-0A2B97B7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37911" name="Oval 10">
              <a:extLst>
                <a:ext uri="{FF2B5EF4-FFF2-40B4-BE49-F238E27FC236}">
                  <a16:creationId xmlns:a16="http://schemas.microsoft.com/office/drawing/2014/main" id="{258098E0-F4DA-EC7F-4367-092803F24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97C8CA6E-9612-8FBA-2A00-F284F2514F41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2717800"/>
            <a:ext cx="185738" cy="207963"/>
            <a:chOff x="2976" y="1008"/>
            <a:chExt cx="1056" cy="432"/>
          </a:xfrm>
        </p:grpSpPr>
        <p:sp>
          <p:nvSpPr>
            <p:cNvPr id="37908" name="Oval 21">
              <a:extLst>
                <a:ext uri="{FF2B5EF4-FFF2-40B4-BE49-F238E27FC236}">
                  <a16:creationId xmlns:a16="http://schemas.microsoft.com/office/drawing/2014/main" id="{088BF4B0-2E25-DB26-1A0E-A523F6065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37909" name="Oval 22">
              <a:extLst>
                <a:ext uri="{FF2B5EF4-FFF2-40B4-BE49-F238E27FC236}">
                  <a16:creationId xmlns:a16="http://schemas.microsoft.com/office/drawing/2014/main" id="{D0D170D4-AC76-5E7B-9C50-E79C8C6FA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sp>
        <p:nvSpPr>
          <p:cNvPr id="19" name="Rectangle 3">
            <a:extLst>
              <a:ext uri="{FF2B5EF4-FFF2-40B4-BE49-F238E27FC236}">
                <a16:creationId xmlns:a16="http://schemas.microsoft.com/office/drawing/2014/main" id="{E461738E-7A36-10F4-6E4B-7B55FF207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500063"/>
            <a:ext cx="26431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章  正交编码  </a:t>
            </a: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+mn-ea"/>
                <a:ea typeface="+mn-ea"/>
                <a:cs typeface="Arial" pitchFamily="34" charset="0"/>
              </a:rPr>
              <a:t> </a:t>
            </a:r>
            <a:endParaRPr lang="zh-CN" altLang="en-US" sz="2400" dirty="0">
              <a:solidFill>
                <a:schemeClr val="bg2">
                  <a:lumMod val="75000"/>
                  <a:lumOff val="25000"/>
                </a:scheme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90D928-6B00-F408-71CC-18E9A2488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3295650"/>
            <a:ext cx="664368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5200"/>
              </a:lnSpc>
            </a:pPr>
            <a:r>
              <a:rPr lang="en-US" altLang="zh-CN" sz="2800" b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800" b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序列的性质及其产生方法</a:t>
            </a:r>
            <a:r>
              <a:rPr lang="en-US" altLang="zh-CN" sz="3600" b="1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      </a:t>
            </a:r>
            <a:endParaRPr lang="en-US" altLang="zh-CN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5393E434-AA7E-962D-A754-8F61C4A02534}"/>
              </a:ext>
            </a:extLst>
          </p:cNvPr>
          <p:cNvGrpSpPr>
            <a:grpSpLocks/>
          </p:cNvGrpSpPr>
          <p:nvPr/>
        </p:nvGrpSpPr>
        <p:grpSpPr bwMode="auto">
          <a:xfrm>
            <a:off x="1149350" y="3621088"/>
            <a:ext cx="185738" cy="207962"/>
            <a:chOff x="2976" y="1008"/>
            <a:chExt cx="1056" cy="432"/>
          </a:xfrm>
        </p:grpSpPr>
        <p:sp>
          <p:nvSpPr>
            <p:cNvPr id="37906" name="Oval 9">
              <a:extLst>
                <a:ext uri="{FF2B5EF4-FFF2-40B4-BE49-F238E27FC236}">
                  <a16:creationId xmlns:a16="http://schemas.microsoft.com/office/drawing/2014/main" id="{258EAB44-0005-4D28-3A24-A3CC036C8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37907" name="Oval 10">
              <a:extLst>
                <a:ext uri="{FF2B5EF4-FFF2-40B4-BE49-F238E27FC236}">
                  <a16:creationId xmlns:a16="http://schemas.microsoft.com/office/drawing/2014/main" id="{C8E258BB-5848-D39C-3766-FA7E52FE6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F728B55-57D3-ABCA-165A-F216C6EFA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606550"/>
            <a:ext cx="5157788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5200"/>
              </a:lnSpc>
            </a:pPr>
            <a:r>
              <a:rPr lang="zh-CN" altLang="en-US" sz="2800" b="1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正交编码的定义和用途</a:t>
            </a:r>
            <a:endParaRPr lang="en-US" altLang="zh-CN" sz="2800" b="1">
              <a:solidFill>
                <a:srgbClr val="003399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C0A1AB-9351-BA76-D072-7D25069611A4}"/>
              </a:ext>
            </a:extLst>
          </p:cNvPr>
          <p:cNvSpPr/>
          <p:nvPr/>
        </p:nvSpPr>
        <p:spPr>
          <a:xfrm>
            <a:off x="1549400" y="2419350"/>
            <a:ext cx="5245100" cy="7588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5200"/>
              </a:lnSpc>
              <a:defRPr/>
            </a:pPr>
            <a:r>
              <a:rPr lang="zh-CN" altLang="en-US" sz="2800" b="1" kern="0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阿达玛矩阵和</a:t>
            </a:r>
            <a:r>
              <a:rPr lang="zh-CN" altLang="en-US" sz="28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沃尔什函数</a:t>
            </a:r>
            <a:endParaRPr lang="en-US" altLang="zh-CN" sz="2800" b="1" dirty="0">
              <a:solidFill>
                <a:srgbClr val="003399"/>
              </a:solidFill>
              <a:ea typeface="微软雅黑" pitchFamily="34" charset="-122"/>
              <a:cs typeface="Arial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0942E-4D91-CCA9-88DC-7BACDBF9D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4273550"/>
            <a:ext cx="66436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200"/>
              </a:lnSpc>
              <a:buClr>
                <a:srgbClr val="969696"/>
              </a:buClr>
              <a:buSzPct val="65000"/>
            </a:pPr>
            <a:r>
              <a:rPr lang="zh-CN" altLang="fr-FR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扩展频谱通信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的基本概念</a:t>
            </a:r>
            <a:endParaRPr lang="en-US" altLang="zh-CN" sz="28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36">
            <a:extLst>
              <a:ext uri="{FF2B5EF4-FFF2-40B4-BE49-F238E27FC236}">
                <a16:creationId xmlns:a16="http://schemas.microsoft.com/office/drawing/2014/main" id="{4CF6F318-FC81-68A2-0286-0F49E776114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93850" y="5162550"/>
            <a:ext cx="5778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200"/>
              </a:lnSpc>
              <a:buClr>
                <a:srgbClr val="969696"/>
              </a:buClr>
              <a:buSzPct val="65000"/>
            </a:pPr>
            <a:r>
              <a:rPr lang="zh-CN" altLang="fr-FR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伪随机序列的其他应用</a:t>
            </a:r>
            <a:endParaRPr lang="en-US" altLang="zh-CN" sz="28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AA3FF0A9-E6F1-6435-F469-8407B1B5CAAE}"/>
              </a:ext>
            </a:extLst>
          </p:cNvPr>
          <p:cNvGrpSpPr>
            <a:grpSpLocks/>
          </p:cNvGrpSpPr>
          <p:nvPr/>
        </p:nvGrpSpPr>
        <p:grpSpPr bwMode="auto">
          <a:xfrm>
            <a:off x="1149350" y="4492625"/>
            <a:ext cx="185738" cy="207963"/>
            <a:chOff x="2976" y="1008"/>
            <a:chExt cx="1056" cy="432"/>
          </a:xfrm>
        </p:grpSpPr>
        <p:sp>
          <p:nvSpPr>
            <p:cNvPr id="37904" name="Oval 9">
              <a:extLst>
                <a:ext uri="{FF2B5EF4-FFF2-40B4-BE49-F238E27FC236}">
                  <a16:creationId xmlns:a16="http://schemas.microsoft.com/office/drawing/2014/main" id="{B8466557-17D2-1567-8709-DC6EE6FD9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37905" name="Oval 10">
              <a:extLst>
                <a:ext uri="{FF2B5EF4-FFF2-40B4-BE49-F238E27FC236}">
                  <a16:creationId xmlns:a16="http://schemas.microsoft.com/office/drawing/2014/main" id="{7A8E20E0-7328-5308-780E-01FDB71A3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B4F694CA-9942-A1A8-9D7E-890EFF301703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5310188"/>
            <a:ext cx="185737" cy="207962"/>
            <a:chOff x="2976" y="1008"/>
            <a:chExt cx="1056" cy="432"/>
          </a:xfrm>
        </p:grpSpPr>
        <p:sp>
          <p:nvSpPr>
            <p:cNvPr id="37902" name="Oval 21">
              <a:extLst>
                <a:ext uri="{FF2B5EF4-FFF2-40B4-BE49-F238E27FC236}">
                  <a16:creationId xmlns:a16="http://schemas.microsoft.com/office/drawing/2014/main" id="{82DB016B-FCB8-B896-4E01-A5C99CADD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37903" name="Oval 22">
              <a:extLst>
                <a:ext uri="{FF2B5EF4-FFF2-40B4-BE49-F238E27FC236}">
                  <a16:creationId xmlns:a16="http://schemas.microsoft.com/office/drawing/2014/main" id="{8C645FF6-656A-757D-E631-2226D88A2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5B19DEE2-6EE8-443A-1415-2A029574495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927350" y="3251200"/>
            <a:ext cx="44005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800" b="1" dirty="0">
                <a:solidFill>
                  <a:srgbClr val="003399"/>
                </a:solidFill>
                <a:ea typeface="微软雅黑" pitchFamily="34" charset="-122"/>
              </a:rPr>
              <a:t> </a:t>
            </a:r>
            <a:r>
              <a:rPr lang="zh-CN" altLang="en-US" sz="48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正 交 编 码 </a:t>
            </a:r>
            <a:endParaRPr lang="en-US" altLang="zh-CN" sz="48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AF967E03-F58A-280F-91D3-0E2ED8C91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982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§1</a:t>
            </a: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  </a:t>
            </a:r>
            <a:endParaRPr lang="zh-CN" altLang="en-US" sz="4000" b="1" u="sng" dirty="0">
              <a:solidFill>
                <a:srgbClr val="9900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918" name="矩形 8">
            <a:extLst>
              <a:ext uri="{FF2B5EF4-FFF2-40B4-BE49-F238E27FC236}">
                <a16:creationId xmlns:a16="http://schemas.microsoft.com/office/drawing/2014/main" id="{E4D6D2CA-866D-1A39-A701-EB35EF531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4229100"/>
            <a:ext cx="60452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在数字通信技术中具有十分重要的地位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可用作纠错编码，实现码分多址通信等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89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5">
            <a:extLst>
              <a:ext uri="{FF2B5EF4-FFF2-40B4-BE49-F238E27FC236}">
                <a16:creationId xmlns:a16="http://schemas.microsoft.com/office/drawing/2014/main" id="{55B77980-DFAD-3290-6537-554BEAE6C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15880FC2-FFED-94E2-BC86-F9197DFFB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2406650"/>
          <a:ext cx="25241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9810" imgH="330057" progId="Equation.3">
                  <p:embed/>
                </p:oleObj>
              </mc:Choice>
              <mc:Fallback>
                <p:oleObj name="公式" r:id="rId2" imgW="1129810" imgH="33005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406650"/>
                        <a:ext cx="2524125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7">
            <a:extLst>
              <a:ext uri="{FF2B5EF4-FFF2-40B4-BE49-F238E27FC236}">
                <a16:creationId xmlns:a16="http://schemas.microsoft.com/office/drawing/2014/main" id="{8BE14B42-F59D-BDD9-1ACE-FB7C3382E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CB7C098B-DA3C-C249-4742-0F4A5D79B3D9}"/>
              </a:ext>
            </a:extLst>
          </p:cNvPr>
          <p:cNvGrpSpPr>
            <a:grpSpLocks/>
          </p:cNvGrpSpPr>
          <p:nvPr/>
        </p:nvGrpSpPr>
        <p:grpSpPr bwMode="auto">
          <a:xfrm>
            <a:off x="2038350" y="4273550"/>
            <a:ext cx="6134100" cy="688975"/>
            <a:chOff x="1678" y="2708"/>
            <a:chExt cx="3864" cy="434"/>
          </a:xfrm>
        </p:grpSpPr>
        <p:graphicFrame>
          <p:nvGraphicFramePr>
            <p:cNvPr id="1027" name="Object 6">
              <a:extLst>
                <a:ext uri="{FF2B5EF4-FFF2-40B4-BE49-F238E27FC236}">
                  <a16:creationId xmlns:a16="http://schemas.microsoft.com/office/drawing/2014/main" id="{CA9705E3-A586-4546-18A8-D117EF5F95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8" y="2708"/>
            <a:ext cx="1758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117440" imgH="330120" progId="Equation.3">
                    <p:embed/>
                  </p:oleObj>
                </mc:Choice>
                <mc:Fallback>
                  <p:oleObj name="公式" r:id="rId4" imgW="1117440" imgH="33012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2708"/>
                          <a:ext cx="1758" cy="434"/>
                        </a:xfrm>
                        <a:prstGeom prst="rect">
                          <a:avLst/>
                        </a:prstGeom>
                        <a:noFill/>
                        <a:ln w="38100" cmpd="dbl">
                          <a:solidFill>
                            <a:srgbClr val="9999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7" name="Text Box 8">
              <a:extLst>
                <a:ext uri="{FF2B5EF4-FFF2-40B4-BE49-F238E27FC236}">
                  <a16:creationId xmlns:a16="http://schemas.microsoft.com/office/drawing/2014/main" id="{0E925751-1247-1294-A41D-459BD3EBB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2750"/>
              <a:ext cx="20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en-US" altLang="zh-CN" sz="2400" i="1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zh-CN" altLang="en-US" sz="2400">
                  <a:latin typeface="Times New Roman" panose="02020603050405020304" pitchFamily="18" charset="0"/>
                </a:rPr>
                <a:t>；</a:t>
              </a:r>
              <a:r>
                <a:rPr lang="en-US" altLang="zh-CN" sz="2400" i="1">
                  <a:latin typeface="Times New Roman" panose="02020603050405020304" pitchFamily="18" charset="0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</a:rPr>
                <a:t>, 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zh-CN" altLang="en-US" sz="2400">
                  <a:latin typeface="Times New Roman" panose="02020603050405020304" pitchFamily="18" charset="0"/>
                </a:rPr>
                <a:t>＝</a:t>
              </a:r>
              <a:r>
                <a:rPr lang="en-US" altLang="zh-CN" sz="2400">
                  <a:latin typeface="Times New Roman" panose="02020603050405020304" pitchFamily="18" charset="0"/>
                </a:rPr>
                <a:t>1, 2, …, </a:t>
              </a:r>
              <a:r>
                <a:rPr lang="en-US" altLang="zh-CN" sz="2400" i="1">
                  <a:latin typeface="Times New Roman" panose="02020603050405020304" pitchFamily="18" charset="0"/>
                </a:rPr>
                <a:t>M</a:t>
              </a:r>
              <a:endParaRPr lang="en-US" altLang="zh-CN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2AAD7FDF-EFBD-4D2E-241B-0E470821A51C}"/>
              </a:ext>
            </a:extLst>
          </p:cNvPr>
          <p:cNvSpPr/>
          <p:nvPr/>
        </p:nvSpPr>
        <p:spPr>
          <a:xfrm>
            <a:off x="171450" y="444500"/>
            <a:ext cx="60896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12</a:t>
            </a:r>
            <a:r>
              <a:rPr lang="en-US" altLang="zh-CN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.1.1</a:t>
            </a: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正交编码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基本概念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0CD469-4984-39FA-1A1A-1E9ABA869A37}"/>
              </a:ext>
            </a:extLst>
          </p:cNvPr>
          <p:cNvSpPr/>
          <p:nvPr/>
        </p:nvSpPr>
        <p:spPr>
          <a:xfrm>
            <a:off x="857250" y="1281113"/>
            <a:ext cx="2997200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黑体" pitchFamily="49" charset="-122"/>
                <a:ea typeface="黑体" pitchFamily="49" charset="-122"/>
              </a:rPr>
              <a:t>信号间的正交性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4FF6DA-01BD-0B24-3EAE-566BE2F8597C}"/>
              </a:ext>
            </a:extLst>
          </p:cNvPr>
          <p:cNvSpPr/>
          <p:nvPr/>
        </p:nvSpPr>
        <p:spPr>
          <a:xfrm>
            <a:off x="1060450" y="1917700"/>
            <a:ext cx="72453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若两个周期为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的模拟信号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en-US" altLang="zh-CN" sz="2000" b="1" kern="0" baseline="-25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en-US" altLang="zh-CN" sz="2000" b="1" kern="0" baseline="-25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互相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正交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，则有</a:t>
            </a: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:</a:t>
            </a:r>
            <a:endParaRPr lang="zh-CN" altLang="en-US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42BF20-A78D-F6F4-0F14-341A6034546C}"/>
              </a:ext>
            </a:extLst>
          </p:cNvPr>
          <p:cNvSpPr/>
          <p:nvPr/>
        </p:nvSpPr>
        <p:spPr>
          <a:xfrm>
            <a:off x="1111250" y="3313113"/>
            <a:ext cx="7639050" cy="8715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若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个周期为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的模拟信号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en-US" altLang="zh-CN" sz="2000" b="1" kern="0" baseline="-25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en-US" altLang="zh-CN" sz="2000" b="1" kern="0" baseline="-25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…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en-US" altLang="zh-CN" sz="2000" b="1" i="1" kern="0" dirty="0" err="1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en-US" altLang="zh-CN" sz="2000" b="1" i="1" kern="0" baseline="-25000" dirty="0" err="1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构成一个</a:t>
            </a:r>
            <a:endParaRPr lang="en-US" altLang="zh-CN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>
              <a:lnSpc>
                <a:spcPts val="3200"/>
              </a:lnSpc>
              <a:buClr>
                <a:srgbClr val="0000CC"/>
              </a:buClr>
              <a:buSzPct val="55000"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 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正交信号集合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，则有</a:t>
            </a: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: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65780-D282-BABC-4149-9DE5C2EF2D0F}"/>
              </a:ext>
            </a:extLst>
          </p:cNvPr>
          <p:cNvSpPr/>
          <p:nvPr/>
        </p:nvSpPr>
        <p:spPr>
          <a:xfrm>
            <a:off x="850900" y="5295900"/>
            <a:ext cx="2997200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码组间的</a:t>
            </a:r>
            <a:r>
              <a:rPr lang="zh-CN" altLang="en-US" sz="2800" b="1" kern="0" dirty="0">
                <a:latin typeface="黑体" pitchFamily="49" charset="-122"/>
                <a:ea typeface="黑体" pitchFamily="49" charset="-122"/>
              </a:rPr>
              <a:t>正交性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662B5B-3468-343C-4A5C-B9D48088E219}"/>
              </a:ext>
            </a:extLst>
          </p:cNvPr>
          <p:cNvSpPr/>
          <p:nvPr/>
        </p:nvSpPr>
        <p:spPr>
          <a:xfrm>
            <a:off x="2660650" y="5784850"/>
            <a:ext cx="49784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——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  <a:cs typeface="Arial" pitchFamily="34" charset="0"/>
              </a:rPr>
              <a:t>可用</a:t>
            </a:r>
            <a:r>
              <a:rPr lang="zh-CN" altLang="en-US" sz="2800" b="1" kern="0" dirty="0">
                <a:latin typeface="黑体" pitchFamily="49" charset="-122"/>
                <a:ea typeface="黑体" pitchFamily="49" charset="-122"/>
                <a:cs typeface="Arial" pitchFamily="34" charset="0"/>
              </a:rPr>
              <a:t>互相关系数</a:t>
            </a:r>
            <a:r>
              <a:rPr lang="zh-CN" altLang="en-US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来描述。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5">
            <a:extLst>
              <a:ext uri="{FF2B5EF4-FFF2-40B4-BE49-F238E27FC236}">
                <a16:creationId xmlns:a16="http://schemas.microsoft.com/office/drawing/2014/main" id="{19DD712B-1393-ED79-E222-5491C6179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38DAD9A5-8CF6-ABD2-1620-85F18366E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6888" y="1509713"/>
          <a:ext cx="28622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800" imgH="228600" progId="Equation.3">
                  <p:embed/>
                </p:oleObj>
              </mc:Choice>
              <mc:Fallback>
                <p:oleObj name="公式" r:id="rId2" imgW="1320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1509713"/>
                        <a:ext cx="2862262" cy="49371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69950EBC-68AC-2C97-92DF-C5BE90326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2438" y="1536700"/>
          <a:ext cx="28178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228600" progId="Equation.3">
                  <p:embed/>
                </p:oleObj>
              </mc:Choice>
              <mc:Fallback>
                <p:oleObj name="公式" r:id="rId4" imgW="1371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1536700"/>
                        <a:ext cx="2817812" cy="4699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9">
            <a:extLst>
              <a:ext uri="{FF2B5EF4-FFF2-40B4-BE49-F238E27FC236}">
                <a16:creationId xmlns:a16="http://schemas.microsoft.com/office/drawing/2014/main" id="{F9FCA7E5-5742-89E5-9796-C7F1A9104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2" name="Object 4">
            <a:extLst>
              <a:ext uri="{FF2B5EF4-FFF2-40B4-BE49-F238E27FC236}">
                <a16:creationId xmlns:a16="http://schemas.microsoft.com/office/drawing/2014/main" id="{0FE08D6B-C2AD-9F5D-858A-F6D966C48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108200"/>
          <a:ext cx="40449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06600" imgH="228600" progId="Equation.3">
                  <p:embed/>
                </p:oleObj>
              </mc:Choice>
              <mc:Fallback>
                <p:oleObj name="公式" r:id="rId6" imgW="2006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108200"/>
                        <a:ext cx="404495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0186EFA-77DA-0665-CDD6-E809325E931E}"/>
              </a:ext>
            </a:extLst>
          </p:cNvPr>
          <p:cNvSpPr/>
          <p:nvPr/>
        </p:nvSpPr>
        <p:spPr>
          <a:xfrm>
            <a:off x="882650" y="1073150"/>
            <a:ext cx="80581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设长为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en-US" altLang="zh-CN" sz="2000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的编码中 码元只取值 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+1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-1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，以及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是其中两个码组：</a:t>
            </a:r>
            <a:endParaRPr lang="zh-CN" altLang="en-US" sz="2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665EA2-0F61-D183-EBD2-6162D046B0C9}"/>
              </a:ext>
            </a:extLst>
          </p:cNvPr>
          <p:cNvSpPr/>
          <p:nvPr/>
        </p:nvSpPr>
        <p:spPr>
          <a:xfrm>
            <a:off x="927100" y="2132013"/>
            <a:ext cx="6969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其中</a:t>
            </a:r>
            <a:endParaRPr lang="zh-CN" altLang="en-US" sz="2000" dirty="0"/>
          </a:p>
        </p:txBody>
      </p:sp>
      <p:graphicFrame>
        <p:nvGraphicFramePr>
          <p:cNvPr id="2053" name="Object 10">
            <a:extLst>
              <a:ext uri="{FF2B5EF4-FFF2-40B4-BE49-F238E27FC236}">
                <a16:creationId xmlns:a16="http://schemas.microsoft.com/office/drawing/2014/main" id="{3754497C-522D-7CA6-B856-9F39216D3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3350" y="3429000"/>
          <a:ext cx="18240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4360" imgH="203040" progId="Equation.3">
                  <p:embed/>
                </p:oleObj>
              </mc:Choice>
              <mc:Fallback>
                <p:oleObj name="公式" r:id="rId8" imgW="7743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3429000"/>
                        <a:ext cx="182403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矩形 24">
            <a:extLst>
              <a:ext uri="{FF2B5EF4-FFF2-40B4-BE49-F238E27FC236}">
                <a16:creationId xmlns:a16="http://schemas.microsoft.com/office/drawing/2014/main" id="{000C054C-2EE8-A7E5-1EED-CB4D2CC96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0112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①</a:t>
            </a:r>
            <a:endParaRPr lang="zh-CN" altLang="en-US" sz="2400">
              <a:solidFill>
                <a:srgbClr val="FF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0A2BA0DD-95D5-A7B5-1F6C-F0C391A5C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4229100"/>
            <a:ext cx="438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>
            <a:extLst>
              <a:ext uri="{FF2B5EF4-FFF2-40B4-BE49-F238E27FC236}">
                <a16:creationId xmlns:a16="http://schemas.microsoft.com/office/drawing/2014/main" id="{A4F56F6F-394C-F92F-CCA8-08E2D02C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4763"/>
            <a:ext cx="4168775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7829A201-74EC-DBA2-7683-2CE7F795B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0" b="37755"/>
          <a:stretch>
            <a:fillRect/>
          </a:stretch>
        </p:blipFill>
        <p:spPr bwMode="auto">
          <a:xfrm>
            <a:off x="3149600" y="3148013"/>
            <a:ext cx="271145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>
            <a:extLst>
              <a:ext uri="{FF2B5EF4-FFF2-40B4-BE49-F238E27FC236}">
                <a16:creationId xmlns:a16="http://schemas.microsoft.com/office/drawing/2014/main" id="{538505BA-6908-BD5D-B74C-BBEFF86B0B1D}"/>
              </a:ext>
            </a:extLst>
          </p:cNvPr>
          <p:cNvGrpSpPr>
            <a:grpSpLocks/>
          </p:cNvGrpSpPr>
          <p:nvPr/>
        </p:nvGrpSpPr>
        <p:grpSpPr bwMode="auto">
          <a:xfrm>
            <a:off x="5772150" y="717550"/>
            <a:ext cx="2755900" cy="4533900"/>
            <a:chOff x="5949950" y="1162050"/>
            <a:chExt cx="3155950" cy="4933950"/>
          </a:xfrm>
        </p:grpSpPr>
        <p:pic>
          <p:nvPicPr>
            <p:cNvPr id="3091" name="Picture 6" descr="t1001">
              <a:extLst>
                <a:ext uri="{FF2B5EF4-FFF2-40B4-BE49-F238E27FC236}">
                  <a16:creationId xmlns:a16="http://schemas.microsoft.com/office/drawing/2014/main" id="{CBCB01EB-5399-1963-E25F-C246A8A11B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8"/>
            <a:stretch>
              <a:fillRect/>
            </a:stretch>
          </p:blipFill>
          <p:spPr bwMode="auto">
            <a:xfrm>
              <a:off x="5949950" y="1339850"/>
              <a:ext cx="3155950" cy="475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2" name="Text Box 7">
              <a:extLst>
                <a:ext uri="{FF2B5EF4-FFF2-40B4-BE49-F238E27FC236}">
                  <a16:creationId xmlns:a16="http://schemas.microsoft.com/office/drawing/2014/main" id="{8B9E290C-91DC-FC4B-9DCF-AB25243F0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1162050"/>
              <a:ext cx="627618" cy="290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3093" name="Text Box 8">
              <a:extLst>
                <a:ext uri="{FF2B5EF4-FFF2-40B4-BE49-F238E27FC236}">
                  <a16:creationId xmlns:a16="http://schemas.microsoft.com/office/drawing/2014/main" id="{1CF19CBB-F05F-5F57-69F0-BCE90397C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350" y="2317750"/>
              <a:ext cx="627618" cy="290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3094" name="Text Box 9">
              <a:extLst>
                <a:ext uri="{FF2B5EF4-FFF2-40B4-BE49-F238E27FC236}">
                  <a16:creationId xmlns:a16="http://schemas.microsoft.com/office/drawing/2014/main" id="{2D885237-6E8E-5A88-1DD9-5EBE73C48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8032" y="3517900"/>
              <a:ext cx="627618" cy="290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3095" name="Text Box 10">
              <a:extLst>
                <a:ext uri="{FF2B5EF4-FFF2-40B4-BE49-F238E27FC236}">
                  <a16:creationId xmlns:a16="http://schemas.microsoft.com/office/drawing/2014/main" id="{C1702681-394F-B17F-856C-EF0445420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9782" y="4718050"/>
              <a:ext cx="627618" cy="290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b="1" i="1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3076" name="Rectangle 13">
            <a:extLst>
              <a:ext uri="{FF2B5EF4-FFF2-40B4-BE49-F238E27FC236}">
                <a16:creationId xmlns:a16="http://schemas.microsoft.com/office/drawing/2014/main" id="{B9632539-5EFD-F642-E92E-DE1D0084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60" name="Object 12">
            <a:extLst>
              <a:ext uri="{FF2B5EF4-FFF2-40B4-BE49-F238E27FC236}">
                <a16:creationId xmlns:a16="http://schemas.microsoft.com/office/drawing/2014/main" id="{CA5B8DC7-A8B0-D419-266E-CD9FEA30F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8663" y="1898650"/>
          <a:ext cx="3195637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20227" imgH="939392" progId="Equation.3">
                  <p:embed/>
                </p:oleObj>
              </mc:Choice>
              <mc:Fallback>
                <p:oleObj name="公式" r:id="rId3" imgW="1320227" imgH="93939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1898650"/>
                        <a:ext cx="3195637" cy="188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6948F3A-2A50-4BB5-426B-40DC9511142F}"/>
              </a:ext>
            </a:extLst>
          </p:cNvPr>
          <p:cNvSpPr/>
          <p:nvPr/>
        </p:nvSpPr>
        <p:spPr>
          <a:xfrm>
            <a:off x="1016000" y="1028700"/>
            <a:ext cx="38671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如图所示的</a:t>
            </a:r>
            <a:r>
              <a:rPr lang="en-US" altLang="zh-CN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个数字信号</a:t>
            </a:r>
            <a:endParaRPr lang="en-US" altLang="zh-CN" sz="20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866E5A-86BB-5902-0919-E553132A91DD}"/>
              </a:ext>
            </a:extLst>
          </p:cNvPr>
          <p:cNvSpPr/>
          <p:nvPr/>
        </p:nvSpPr>
        <p:spPr>
          <a:xfrm>
            <a:off x="927100" y="1517650"/>
            <a:ext cx="31813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可以看作是如下</a:t>
            </a:r>
            <a:r>
              <a:rPr lang="en-US" altLang="zh-CN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个码组：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A3C598-8FF2-9F00-48E4-7A40C1204F2F}"/>
              </a:ext>
            </a:extLst>
          </p:cNvPr>
          <p:cNvSpPr/>
          <p:nvPr/>
        </p:nvSpPr>
        <p:spPr>
          <a:xfrm>
            <a:off x="882650" y="3806825"/>
            <a:ext cx="8445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按照</a:t>
            </a:r>
            <a:endParaRPr lang="zh-CN" alt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A5F77495-7861-1F9B-48A7-5A1D8EC34242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850900"/>
            <a:ext cx="706437" cy="577850"/>
            <a:chOff x="1655" y="845"/>
            <a:chExt cx="454" cy="453"/>
          </a:xfrm>
        </p:grpSpPr>
        <p:grpSp>
          <p:nvGrpSpPr>
            <p:cNvPr id="3084" name="Group 23">
              <a:extLst>
                <a:ext uri="{FF2B5EF4-FFF2-40B4-BE49-F238E27FC236}">
                  <a16:creationId xmlns:a16="http://schemas.microsoft.com/office/drawing/2014/main" id="{0D0665CD-2843-3FCA-3C52-84B868155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3086" name="Oval 24">
                <a:extLst>
                  <a:ext uri="{FF2B5EF4-FFF2-40B4-BE49-F238E27FC236}">
                    <a16:creationId xmlns:a16="http://schemas.microsoft.com/office/drawing/2014/main" id="{791BC41E-DBFB-A279-D5BD-CF24EA4C623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87" name="Oval 25">
                <a:extLst>
                  <a:ext uri="{FF2B5EF4-FFF2-40B4-BE49-F238E27FC236}">
                    <a16:creationId xmlns:a16="http://schemas.microsoft.com/office/drawing/2014/main" id="{816977AB-293E-DFFB-52F8-D5A60661CC5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88" name="Oval 26">
                <a:extLst>
                  <a:ext uri="{FF2B5EF4-FFF2-40B4-BE49-F238E27FC236}">
                    <a16:creationId xmlns:a16="http://schemas.microsoft.com/office/drawing/2014/main" id="{AA9B6481-52F0-BCC7-BD79-FC5D52BFBFD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89" name="Oval 27">
                <a:extLst>
                  <a:ext uri="{FF2B5EF4-FFF2-40B4-BE49-F238E27FC236}">
                    <a16:creationId xmlns:a16="http://schemas.microsoft.com/office/drawing/2014/main" id="{0340B0A8-C487-FD21-6683-8C985E7B5C7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90" name="Oval 28">
                <a:extLst>
                  <a:ext uri="{FF2B5EF4-FFF2-40B4-BE49-F238E27FC236}">
                    <a16:creationId xmlns:a16="http://schemas.microsoft.com/office/drawing/2014/main" id="{C8EF59A8-D782-2297-1CBC-613C57E63BE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085" name="Text Box 29">
              <a:extLst>
                <a:ext uri="{FF2B5EF4-FFF2-40B4-BE49-F238E27FC236}">
                  <a16:creationId xmlns:a16="http://schemas.microsoft.com/office/drawing/2014/main" id="{7ABBE37B-D5C5-A149-F42C-1F951565CAF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5F05C996-0B98-A989-AA31-B9B0B1F6C941}"/>
              </a:ext>
            </a:extLst>
          </p:cNvPr>
          <p:cNvSpPr/>
          <p:nvPr/>
        </p:nvSpPr>
        <p:spPr>
          <a:xfrm>
            <a:off x="882650" y="4895850"/>
            <a:ext cx="146685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计算得知：</a:t>
            </a:r>
            <a:endParaRPr lang="zh-CN" alt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61C6E529-BC95-1D9E-A384-52A07F634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0" b="37755"/>
          <a:stretch>
            <a:fillRect/>
          </a:stretch>
        </p:blipFill>
        <p:spPr bwMode="auto">
          <a:xfrm>
            <a:off x="2305050" y="3997325"/>
            <a:ext cx="25781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6" name="Picture 24">
            <a:extLst>
              <a:ext uri="{FF2B5EF4-FFF2-40B4-BE49-F238E27FC236}">
                <a16:creationId xmlns:a16="http://schemas.microsoft.com/office/drawing/2014/main" id="{37380CDB-8362-B3A1-054B-8310E738D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1"/>
          <a:stretch>
            <a:fillRect/>
          </a:stretch>
        </p:blipFill>
        <p:spPr bwMode="auto">
          <a:xfrm>
            <a:off x="927100" y="5340350"/>
            <a:ext cx="7645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5">
            <a:extLst>
              <a:ext uri="{FF2B5EF4-FFF2-40B4-BE49-F238E27FC236}">
                <a16:creationId xmlns:a16="http://schemas.microsoft.com/office/drawing/2014/main" id="{BE71511F-3CF8-EA2A-3369-408E9A1DC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8A584B6B-E223-E3F9-1DD4-B4B2FA221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6888" y="1509713"/>
          <a:ext cx="28622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800" imgH="228600" progId="Equation.3">
                  <p:embed/>
                </p:oleObj>
              </mc:Choice>
              <mc:Fallback>
                <p:oleObj name="公式" r:id="rId2" imgW="1320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1509713"/>
                        <a:ext cx="2862262" cy="49371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2C6D9C3A-9394-7A80-C424-D49738F0D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2438" y="1536700"/>
          <a:ext cx="28178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228600" progId="Equation.3">
                  <p:embed/>
                </p:oleObj>
              </mc:Choice>
              <mc:Fallback>
                <p:oleObj name="公式" r:id="rId4" imgW="1371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1536700"/>
                        <a:ext cx="2817812" cy="4699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9">
            <a:extLst>
              <a:ext uri="{FF2B5EF4-FFF2-40B4-BE49-F238E27FC236}">
                <a16:creationId xmlns:a16="http://schemas.microsoft.com/office/drawing/2014/main" id="{EA3FEF48-9AFE-5F1B-D98A-14127B65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405DAF33-6119-5590-FF9B-A1F8BFAA01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108200"/>
          <a:ext cx="40449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06600" imgH="228600" progId="Equation.3">
                  <p:embed/>
                </p:oleObj>
              </mc:Choice>
              <mc:Fallback>
                <p:oleObj name="公式" r:id="rId6" imgW="2006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108200"/>
                        <a:ext cx="404495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E69FEBAE-2271-85BF-2482-295F7CC152DC}"/>
              </a:ext>
            </a:extLst>
          </p:cNvPr>
          <p:cNvSpPr/>
          <p:nvPr/>
        </p:nvSpPr>
        <p:spPr>
          <a:xfrm>
            <a:off x="882650" y="1073150"/>
            <a:ext cx="80581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设长为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en-US" altLang="zh-CN" sz="2000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的编码中 码元只取值 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+1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-1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，以及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是其中两个码组：</a:t>
            </a:r>
            <a:endParaRPr lang="zh-CN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E8DAA3-678D-A395-3C87-B307DE92485A}"/>
              </a:ext>
            </a:extLst>
          </p:cNvPr>
          <p:cNvSpPr/>
          <p:nvPr/>
        </p:nvSpPr>
        <p:spPr>
          <a:xfrm>
            <a:off x="927100" y="2628900"/>
            <a:ext cx="40862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则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间的</a:t>
            </a:r>
            <a:r>
              <a:rPr lang="zh-CN" altLang="en-US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互相关系数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定义为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2EE829-7C9B-E023-BAE8-88AA4E5881D2}"/>
              </a:ext>
            </a:extLst>
          </p:cNvPr>
          <p:cNvSpPr/>
          <p:nvPr/>
        </p:nvSpPr>
        <p:spPr>
          <a:xfrm>
            <a:off x="857250" y="4033838"/>
            <a:ext cx="43037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若 </a:t>
            </a:r>
            <a:r>
              <a:rPr lang="zh-CN" altLang="en-US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</a:t>
            </a:r>
            <a:r>
              <a:rPr lang="en-US" altLang="zh-CN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, </a:t>
            </a:r>
            <a:r>
              <a:rPr lang="en-US" altLang="zh-CN" sz="2400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en-US" altLang="zh-CN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 = 0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，则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en-US" altLang="zh-CN" sz="2000" b="1" i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正交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。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endParaRPr lang="zh-CN" altLang="en-US" sz="2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1E45E1-D46B-DF62-FE82-3853CFC1603F}"/>
              </a:ext>
            </a:extLst>
          </p:cNvPr>
          <p:cNvSpPr/>
          <p:nvPr/>
        </p:nvSpPr>
        <p:spPr>
          <a:xfrm>
            <a:off x="927100" y="2132013"/>
            <a:ext cx="6969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其中</a:t>
            </a:r>
            <a:endParaRPr lang="zh-CN" altLang="en-US" sz="2000" dirty="0"/>
          </a:p>
        </p:txBody>
      </p:sp>
      <p:graphicFrame>
        <p:nvGraphicFramePr>
          <p:cNvPr id="4101" name="Object 10">
            <a:extLst>
              <a:ext uri="{FF2B5EF4-FFF2-40B4-BE49-F238E27FC236}">
                <a16:creationId xmlns:a16="http://schemas.microsoft.com/office/drawing/2014/main" id="{DC4BD66D-BA95-F603-D3F9-EDBD718B08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8900" y="3400425"/>
          <a:ext cx="18240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4360" imgH="203040" progId="Equation.3">
                  <p:embed/>
                </p:oleObj>
              </mc:Choice>
              <mc:Fallback>
                <p:oleObj name="公式" r:id="rId8" imgW="7743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3400425"/>
                        <a:ext cx="182403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4390EDA4-F014-08D8-E783-FB4E7543EE94}"/>
              </a:ext>
            </a:extLst>
          </p:cNvPr>
          <p:cNvSpPr/>
          <p:nvPr/>
        </p:nvSpPr>
        <p:spPr>
          <a:xfrm>
            <a:off x="882650" y="4584700"/>
            <a:ext cx="80454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若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用二进制数字“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和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分别代替上述码组中的“＋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和－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，则</a:t>
            </a: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E4F827B6-83EF-1A90-721E-7990F1AFDA47}"/>
              </a:ext>
            </a:extLst>
          </p:cNvPr>
          <p:cNvSpPr>
            <a:spLocks/>
          </p:cNvSpPr>
          <p:nvPr/>
        </p:nvSpPr>
        <p:spPr bwMode="auto">
          <a:xfrm rot="-7940599">
            <a:off x="5280025" y="3892551"/>
            <a:ext cx="1406525" cy="1035050"/>
          </a:xfrm>
          <a:custGeom>
            <a:avLst/>
            <a:gdLst>
              <a:gd name="T0" fmla="*/ 2147483647 w 1612"/>
              <a:gd name="T1" fmla="*/ 2147483647 h 1618"/>
              <a:gd name="T2" fmla="*/ 2147483647 w 1612"/>
              <a:gd name="T3" fmla="*/ 2147483647 h 1618"/>
              <a:gd name="T4" fmla="*/ 2147483647 w 1612"/>
              <a:gd name="T5" fmla="*/ 2147483647 h 1618"/>
              <a:gd name="T6" fmla="*/ 2147483647 w 1612"/>
              <a:gd name="T7" fmla="*/ 2147483647 h 1618"/>
              <a:gd name="T8" fmla="*/ 2147483647 w 1612"/>
              <a:gd name="T9" fmla="*/ 2147483647 h 1618"/>
              <a:gd name="T10" fmla="*/ 2147483647 w 1612"/>
              <a:gd name="T11" fmla="*/ 2147483647 h 1618"/>
              <a:gd name="T12" fmla="*/ 2147483647 w 1612"/>
              <a:gd name="T13" fmla="*/ 2147483647 h 1618"/>
              <a:gd name="T14" fmla="*/ 2147483647 w 1612"/>
              <a:gd name="T15" fmla="*/ 0 h 1618"/>
              <a:gd name="T16" fmla="*/ 2147483647 w 1612"/>
              <a:gd name="T17" fmla="*/ 2147483647 h 1618"/>
              <a:gd name="T18" fmla="*/ 2147483647 w 1612"/>
              <a:gd name="T19" fmla="*/ 2147483647 h 1618"/>
              <a:gd name="T20" fmla="*/ 2147483647 w 1612"/>
              <a:gd name="T21" fmla="*/ 2147483647 h 1618"/>
              <a:gd name="T22" fmla="*/ 2147483647 w 1612"/>
              <a:gd name="T23" fmla="*/ 2147483647 h 1618"/>
              <a:gd name="T24" fmla="*/ 2147483647 w 1612"/>
              <a:gd name="T25" fmla="*/ 2147483647 h 1618"/>
              <a:gd name="T26" fmla="*/ 2147483647 w 1612"/>
              <a:gd name="T27" fmla="*/ 2147483647 h 1618"/>
              <a:gd name="T28" fmla="*/ 2147483647 w 1612"/>
              <a:gd name="T29" fmla="*/ 2147483647 h 1618"/>
              <a:gd name="T30" fmla="*/ 2147483647 w 1612"/>
              <a:gd name="T31" fmla="*/ 2147483647 h 1618"/>
              <a:gd name="T32" fmla="*/ 2147483647 w 1612"/>
              <a:gd name="T33" fmla="*/ 2147483647 h 1618"/>
              <a:gd name="T34" fmla="*/ 2147483647 w 1612"/>
              <a:gd name="T35" fmla="*/ 2147483647 h 1618"/>
              <a:gd name="T36" fmla="*/ 2147483647 w 1612"/>
              <a:gd name="T37" fmla="*/ 2147483647 h 1618"/>
              <a:gd name="T38" fmla="*/ 2147483647 w 1612"/>
              <a:gd name="T39" fmla="*/ 2147483647 h 1618"/>
              <a:gd name="T40" fmla="*/ 2147483647 w 1612"/>
              <a:gd name="T41" fmla="*/ 2147483647 h 1618"/>
              <a:gd name="T42" fmla="*/ 2147483647 w 1612"/>
              <a:gd name="T43" fmla="*/ 2147483647 h 1618"/>
              <a:gd name="T44" fmla="*/ 2147483647 w 1612"/>
              <a:gd name="T45" fmla="*/ 2147483647 h 1618"/>
              <a:gd name="T46" fmla="*/ 2147483647 w 1612"/>
              <a:gd name="T47" fmla="*/ 2147483647 h 1618"/>
              <a:gd name="T48" fmla="*/ 2147483647 w 1612"/>
              <a:gd name="T49" fmla="*/ 2147483647 h 1618"/>
              <a:gd name="T50" fmla="*/ 2147483647 w 1612"/>
              <a:gd name="T51" fmla="*/ 2147483647 h 1618"/>
              <a:gd name="T52" fmla="*/ 2147483647 w 1612"/>
              <a:gd name="T53" fmla="*/ 2147483647 h 1618"/>
              <a:gd name="T54" fmla="*/ 2147483647 w 1612"/>
              <a:gd name="T55" fmla="*/ 2147483647 h 1618"/>
              <a:gd name="T56" fmla="*/ 2147483647 w 1612"/>
              <a:gd name="T57" fmla="*/ 2147483647 h 1618"/>
              <a:gd name="T58" fmla="*/ 2147483647 w 1612"/>
              <a:gd name="T59" fmla="*/ 2147483647 h 1618"/>
              <a:gd name="T60" fmla="*/ 2147483647 w 1612"/>
              <a:gd name="T61" fmla="*/ 2147483647 h 1618"/>
              <a:gd name="T62" fmla="*/ 2147483647 w 1612"/>
              <a:gd name="T63" fmla="*/ 2147483647 h 1618"/>
              <a:gd name="T64" fmla="*/ 2147483647 w 1612"/>
              <a:gd name="T65" fmla="*/ 2147483647 h 1618"/>
              <a:gd name="T66" fmla="*/ 2147483647 w 1612"/>
              <a:gd name="T67" fmla="*/ 2147483647 h 1618"/>
              <a:gd name="T68" fmla="*/ 2147483647 w 1612"/>
              <a:gd name="T69" fmla="*/ 2147483647 h 1618"/>
              <a:gd name="T70" fmla="*/ 2147483647 w 1612"/>
              <a:gd name="T71" fmla="*/ 2147483647 h 1618"/>
              <a:gd name="T72" fmla="*/ 2147483647 w 1612"/>
              <a:gd name="T73" fmla="*/ 2147483647 h 1618"/>
              <a:gd name="T74" fmla="*/ 2147483647 w 1612"/>
              <a:gd name="T75" fmla="*/ 2147483647 h 1618"/>
              <a:gd name="T76" fmla="*/ 2147483647 w 1612"/>
              <a:gd name="T77" fmla="*/ 2147483647 h 1618"/>
              <a:gd name="T78" fmla="*/ 2147483647 w 1612"/>
              <a:gd name="T79" fmla="*/ 2147483647 h 1618"/>
              <a:gd name="T80" fmla="*/ 2147483647 w 1612"/>
              <a:gd name="T81" fmla="*/ 2147483647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48E7F4-3702-D671-5B8B-334A1F61AFD8}"/>
              </a:ext>
            </a:extLst>
          </p:cNvPr>
          <p:cNvSpPr/>
          <p:nvPr/>
        </p:nvSpPr>
        <p:spPr>
          <a:xfrm>
            <a:off x="838200" y="6007100"/>
            <a:ext cx="81724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A ---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中对应码元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相同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的个数；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D ---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x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y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中对应码元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不同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的个数。          </a:t>
            </a:r>
          </a:p>
        </p:txBody>
      </p:sp>
      <p:sp>
        <p:nvSpPr>
          <p:cNvPr id="4111" name="矩形 24">
            <a:extLst>
              <a:ext uri="{FF2B5EF4-FFF2-40B4-BE49-F238E27FC236}">
                <a16:creationId xmlns:a16="http://schemas.microsoft.com/office/drawing/2014/main" id="{B074C2BD-0266-8080-5FEE-2BB35C337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0112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①</a:t>
            </a:r>
            <a:endParaRPr lang="zh-CN" altLang="en-US" sz="2400">
              <a:solidFill>
                <a:srgbClr val="FF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45C3D1-74E8-E1E2-0F07-74FA68BCA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45402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②</a:t>
            </a:r>
            <a:endParaRPr lang="zh-CN" altLang="en-US">
              <a:solidFill>
                <a:srgbClr val="FF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113" name="Picture 16">
            <a:extLst>
              <a:ext uri="{FF2B5EF4-FFF2-40B4-BE49-F238E27FC236}">
                <a16:creationId xmlns:a16="http://schemas.microsoft.com/office/drawing/2014/main" id="{1DE881AE-0E46-BEC0-8F7F-8CB63B367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0" b="37755"/>
          <a:stretch>
            <a:fillRect/>
          </a:stretch>
        </p:blipFill>
        <p:spPr bwMode="auto">
          <a:xfrm>
            <a:off x="3219450" y="3119438"/>
            <a:ext cx="2597150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19">
            <a:extLst>
              <a:ext uri="{FF2B5EF4-FFF2-40B4-BE49-F238E27FC236}">
                <a16:creationId xmlns:a16="http://schemas.microsoft.com/office/drawing/2014/main" id="{1315B10A-23F5-F7D1-9538-FECF51CB4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17"/>
          <a:stretch>
            <a:fillRect/>
          </a:stretch>
        </p:blipFill>
        <p:spPr bwMode="auto">
          <a:xfrm>
            <a:off x="3149600" y="5029200"/>
            <a:ext cx="27114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 animBg="1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3">
            <a:extLst>
              <a:ext uri="{FF2B5EF4-FFF2-40B4-BE49-F238E27FC236}">
                <a16:creationId xmlns:a16="http://schemas.microsoft.com/office/drawing/2014/main" id="{3D6A3A73-5905-6B0B-C770-0E1C10105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60" name="Object 2">
            <a:extLst>
              <a:ext uri="{FF2B5EF4-FFF2-40B4-BE49-F238E27FC236}">
                <a16:creationId xmlns:a16="http://schemas.microsoft.com/office/drawing/2014/main" id="{45C238DF-3F45-1F7E-0C69-A62B124BC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0" y="1162050"/>
          <a:ext cx="29337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227" imgH="939392" progId="Equation.3">
                  <p:embed/>
                </p:oleObj>
              </mc:Choice>
              <mc:Fallback>
                <p:oleObj name="公式" r:id="rId2" imgW="1320227" imgH="9393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1162050"/>
                        <a:ext cx="2933700" cy="173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2030F08-2C13-F38A-98F6-921C2C2D7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1162050"/>
            <a:ext cx="3181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按照上式规定，上面例子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7D53E8-149E-9096-0540-2E7B1DADED6F}"/>
              </a:ext>
            </a:extLst>
          </p:cNvPr>
          <p:cNvSpPr/>
          <p:nvPr/>
        </p:nvSpPr>
        <p:spPr>
          <a:xfrm>
            <a:off x="927100" y="4406900"/>
            <a:ext cx="8445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按照</a:t>
            </a:r>
            <a:endParaRPr lang="zh-CN" alt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9C9F574F-FCE7-C243-C915-A64F00908BC2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1028700"/>
            <a:ext cx="706437" cy="577850"/>
            <a:chOff x="1655" y="845"/>
            <a:chExt cx="454" cy="453"/>
          </a:xfrm>
        </p:grpSpPr>
        <p:grpSp>
          <p:nvGrpSpPr>
            <p:cNvPr id="5132" name="Group 23">
              <a:extLst>
                <a:ext uri="{FF2B5EF4-FFF2-40B4-BE49-F238E27FC236}">
                  <a16:creationId xmlns:a16="http://schemas.microsoft.com/office/drawing/2014/main" id="{C321A9B6-557C-4DA8-8D86-0B62D2F14F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5134" name="Oval 24">
                <a:extLst>
                  <a:ext uri="{FF2B5EF4-FFF2-40B4-BE49-F238E27FC236}">
                    <a16:creationId xmlns:a16="http://schemas.microsoft.com/office/drawing/2014/main" id="{A2FC8204-1868-3CA5-BEEF-8A1C4C3EA9E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35" name="Oval 25">
                <a:extLst>
                  <a:ext uri="{FF2B5EF4-FFF2-40B4-BE49-F238E27FC236}">
                    <a16:creationId xmlns:a16="http://schemas.microsoft.com/office/drawing/2014/main" id="{91BD77FF-53E7-C92D-C1F4-EDB8012C35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36" name="Oval 26">
                <a:extLst>
                  <a:ext uri="{FF2B5EF4-FFF2-40B4-BE49-F238E27FC236}">
                    <a16:creationId xmlns:a16="http://schemas.microsoft.com/office/drawing/2014/main" id="{E7ED711C-2DA1-74D8-07D0-48C46BECBB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37" name="Oval 27">
                <a:extLst>
                  <a:ext uri="{FF2B5EF4-FFF2-40B4-BE49-F238E27FC236}">
                    <a16:creationId xmlns:a16="http://schemas.microsoft.com/office/drawing/2014/main" id="{C31F98A1-CBC6-645D-98AF-BAA91011A2C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38" name="Oval 28">
                <a:extLst>
                  <a:ext uri="{FF2B5EF4-FFF2-40B4-BE49-F238E27FC236}">
                    <a16:creationId xmlns:a16="http://schemas.microsoft.com/office/drawing/2014/main" id="{B37D014B-5F9B-CA79-32A9-51FDECDC11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133" name="Text Box 29">
              <a:extLst>
                <a:ext uri="{FF2B5EF4-FFF2-40B4-BE49-F238E27FC236}">
                  <a16:creationId xmlns:a16="http://schemas.microsoft.com/office/drawing/2014/main" id="{387B92E8-926F-9292-6CDC-4461F69FA3C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33FC957-978E-2467-30C4-33DCC32BA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739900"/>
            <a:ext cx="1558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可以改写成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6980" name="Object 4">
            <a:extLst>
              <a:ext uri="{FF2B5EF4-FFF2-40B4-BE49-F238E27FC236}">
                <a16:creationId xmlns:a16="http://schemas.microsoft.com/office/drawing/2014/main" id="{0627DD1A-D57F-5448-ABD9-E71408221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495550"/>
          <a:ext cx="2400300" cy="192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2865" imgH="939392" progId="Equation.3">
                  <p:embed/>
                </p:oleObj>
              </mc:Choice>
              <mc:Fallback>
                <p:oleObj name="公式" r:id="rId4" imgW="1002865" imgH="93939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495550"/>
                        <a:ext cx="2400300" cy="192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Freeform 10">
            <a:extLst>
              <a:ext uri="{FF2B5EF4-FFF2-40B4-BE49-F238E27FC236}">
                <a16:creationId xmlns:a16="http://schemas.microsoft.com/office/drawing/2014/main" id="{DB51F075-1DC5-CD91-2D87-A580D6A52314}"/>
              </a:ext>
            </a:extLst>
          </p:cNvPr>
          <p:cNvSpPr>
            <a:spLocks/>
          </p:cNvSpPr>
          <p:nvPr/>
        </p:nvSpPr>
        <p:spPr bwMode="auto">
          <a:xfrm rot="11895084" flipH="1">
            <a:off x="4149725" y="1681163"/>
            <a:ext cx="900113" cy="855662"/>
          </a:xfrm>
          <a:custGeom>
            <a:avLst/>
            <a:gdLst>
              <a:gd name="T0" fmla="*/ 2147483647 w 1612"/>
              <a:gd name="T1" fmla="*/ 2147483647 h 1618"/>
              <a:gd name="T2" fmla="*/ 2147483647 w 1612"/>
              <a:gd name="T3" fmla="*/ 2147483647 h 1618"/>
              <a:gd name="T4" fmla="*/ 2147483647 w 1612"/>
              <a:gd name="T5" fmla="*/ 2147483647 h 1618"/>
              <a:gd name="T6" fmla="*/ 2147483647 w 1612"/>
              <a:gd name="T7" fmla="*/ 2147483647 h 1618"/>
              <a:gd name="T8" fmla="*/ 2147483647 w 1612"/>
              <a:gd name="T9" fmla="*/ 2147483647 h 1618"/>
              <a:gd name="T10" fmla="*/ 2147483647 w 1612"/>
              <a:gd name="T11" fmla="*/ 2147483647 h 1618"/>
              <a:gd name="T12" fmla="*/ 2147483647 w 1612"/>
              <a:gd name="T13" fmla="*/ 2147483647 h 1618"/>
              <a:gd name="T14" fmla="*/ 2147483647 w 1612"/>
              <a:gd name="T15" fmla="*/ 0 h 1618"/>
              <a:gd name="T16" fmla="*/ 2147483647 w 1612"/>
              <a:gd name="T17" fmla="*/ 2147483647 h 1618"/>
              <a:gd name="T18" fmla="*/ 2147483647 w 1612"/>
              <a:gd name="T19" fmla="*/ 2147483647 h 1618"/>
              <a:gd name="T20" fmla="*/ 2147483647 w 1612"/>
              <a:gd name="T21" fmla="*/ 2147483647 h 1618"/>
              <a:gd name="T22" fmla="*/ 2147483647 w 1612"/>
              <a:gd name="T23" fmla="*/ 2147483647 h 1618"/>
              <a:gd name="T24" fmla="*/ 2147483647 w 1612"/>
              <a:gd name="T25" fmla="*/ 2147483647 h 1618"/>
              <a:gd name="T26" fmla="*/ 2147483647 w 1612"/>
              <a:gd name="T27" fmla="*/ 2147483647 h 1618"/>
              <a:gd name="T28" fmla="*/ 2147483647 w 1612"/>
              <a:gd name="T29" fmla="*/ 2147483647 h 1618"/>
              <a:gd name="T30" fmla="*/ 2147483647 w 1612"/>
              <a:gd name="T31" fmla="*/ 2147483647 h 1618"/>
              <a:gd name="T32" fmla="*/ 2147483647 w 1612"/>
              <a:gd name="T33" fmla="*/ 2147483647 h 1618"/>
              <a:gd name="T34" fmla="*/ 2147483647 w 1612"/>
              <a:gd name="T35" fmla="*/ 2147483647 h 1618"/>
              <a:gd name="T36" fmla="*/ 2147483647 w 1612"/>
              <a:gd name="T37" fmla="*/ 2147483647 h 1618"/>
              <a:gd name="T38" fmla="*/ 2147483647 w 1612"/>
              <a:gd name="T39" fmla="*/ 2147483647 h 1618"/>
              <a:gd name="T40" fmla="*/ 2147483647 w 1612"/>
              <a:gd name="T41" fmla="*/ 2147483647 h 1618"/>
              <a:gd name="T42" fmla="*/ 2147483647 w 1612"/>
              <a:gd name="T43" fmla="*/ 2147483647 h 1618"/>
              <a:gd name="T44" fmla="*/ 2147483647 w 1612"/>
              <a:gd name="T45" fmla="*/ 2147483647 h 1618"/>
              <a:gd name="T46" fmla="*/ 2147483647 w 1612"/>
              <a:gd name="T47" fmla="*/ 2147483647 h 1618"/>
              <a:gd name="T48" fmla="*/ 2147483647 w 1612"/>
              <a:gd name="T49" fmla="*/ 2147483647 h 1618"/>
              <a:gd name="T50" fmla="*/ 2147483647 w 1612"/>
              <a:gd name="T51" fmla="*/ 2147483647 h 1618"/>
              <a:gd name="T52" fmla="*/ 2147483647 w 1612"/>
              <a:gd name="T53" fmla="*/ 2147483647 h 1618"/>
              <a:gd name="T54" fmla="*/ 2147483647 w 1612"/>
              <a:gd name="T55" fmla="*/ 2147483647 h 1618"/>
              <a:gd name="T56" fmla="*/ 2147483647 w 1612"/>
              <a:gd name="T57" fmla="*/ 2147483647 h 1618"/>
              <a:gd name="T58" fmla="*/ 2147483647 w 1612"/>
              <a:gd name="T59" fmla="*/ 2147483647 h 1618"/>
              <a:gd name="T60" fmla="*/ 2147483647 w 1612"/>
              <a:gd name="T61" fmla="*/ 2147483647 h 1618"/>
              <a:gd name="T62" fmla="*/ 2147483647 w 1612"/>
              <a:gd name="T63" fmla="*/ 2147483647 h 1618"/>
              <a:gd name="T64" fmla="*/ 2147483647 w 1612"/>
              <a:gd name="T65" fmla="*/ 2147483647 h 1618"/>
              <a:gd name="T66" fmla="*/ 2147483647 w 1612"/>
              <a:gd name="T67" fmla="*/ 2147483647 h 1618"/>
              <a:gd name="T68" fmla="*/ 2147483647 w 1612"/>
              <a:gd name="T69" fmla="*/ 2147483647 h 1618"/>
              <a:gd name="T70" fmla="*/ 2147483647 w 1612"/>
              <a:gd name="T71" fmla="*/ 2147483647 h 1618"/>
              <a:gd name="T72" fmla="*/ 2147483647 w 1612"/>
              <a:gd name="T73" fmla="*/ 2147483647 h 1618"/>
              <a:gd name="T74" fmla="*/ 2147483647 w 1612"/>
              <a:gd name="T75" fmla="*/ 2147483647 h 1618"/>
              <a:gd name="T76" fmla="*/ 2147483647 w 1612"/>
              <a:gd name="T77" fmla="*/ 2147483647 h 1618"/>
              <a:gd name="T78" fmla="*/ 2147483647 w 1612"/>
              <a:gd name="T79" fmla="*/ 2147483647 h 1618"/>
              <a:gd name="T80" fmla="*/ 2147483647 w 1612"/>
              <a:gd name="T81" fmla="*/ 2147483647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D64EED1-C6C9-C036-0757-C16FA4291C66}"/>
              </a:ext>
            </a:extLst>
          </p:cNvPr>
          <p:cNvSpPr/>
          <p:nvPr/>
        </p:nvSpPr>
        <p:spPr>
          <a:xfrm>
            <a:off x="927100" y="5829300"/>
            <a:ext cx="3803650" cy="422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计算出的互相关系数仍为</a:t>
            </a:r>
            <a:r>
              <a:rPr lang="en-US" altLang="zh-CN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kern="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C92CD9-BA57-C0A8-4FFC-BFEE7E9ED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17"/>
          <a:stretch>
            <a:fillRect/>
          </a:stretch>
        </p:blipFill>
        <p:spPr bwMode="auto">
          <a:xfrm>
            <a:off x="2260600" y="4762500"/>
            <a:ext cx="27114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9" grpId="0"/>
      <p:bldP spid="31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16538B4-F6B8-BB10-0E19-28884E2B4C28}"/>
              </a:ext>
            </a:extLst>
          </p:cNvPr>
          <p:cNvSpPr/>
          <p:nvPr/>
        </p:nvSpPr>
        <p:spPr>
          <a:xfrm>
            <a:off x="850900" y="1028700"/>
            <a:ext cx="2268538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Arial" pitchFamily="34" charset="0"/>
              </a:rPr>
              <a:t>自相关系数</a:t>
            </a:r>
            <a:endParaRPr lang="zh-CN" altLang="en-US" sz="2800" b="1" kern="0" dirty="0"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0F4BF7-7FCF-7FB2-5BFF-E015FB8B631C}"/>
              </a:ext>
            </a:extLst>
          </p:cNvPr>
          <p:cNvSpPr/>
          <p:nvPr/>
        </p:nvSpPr>
        <p:spPr>
          <a:xfrm>
            <a:off x="1193800" y="1544638"/>
            <a:ext cx="67119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一个长为</a:t>
            </a:r>
            <a:r>
              <a:rPr lang="en-US" altLang="zh-CN" sz="24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的码组</a:t>
            </a:r>
            <a:r>
              <a:rPr lang="en-US" altLang="zh-CN" sz="24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en-US" altLang="zh-CN" sz="2000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,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其自相关系数定义为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:</a:t>
            </a:r>
            <a:endParaRPr lang="en-US" altLang="zh-CN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154" name="矩形 7">
            <a:extLst>
              <a:ext uri="{FF2B5EF4-FFF2-40B4-BE49-F238E27FC236}">
                <a16:creationId xmlns:a16="http://schemas.microsoft.com/office/drawing/2014/main" id="{BDFF4E85-08FF-4687-EB7D-7B17BE16B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984500"/>
            <a:ext cx="73787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式中，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的下标按模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运算，即有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2400" b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＋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x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graphicFrame>
        <p:nvGraphicFramePr>
          <p:cNvPr id="123907" name="Object 3">
            <a:extLst>
              <a:ext uri="{FF2B5EF4-FFF2-40B4-BE49-F238E27FC236}">
                <a16:creationId xmlns:a16="http://schemas.microsoft.com/office/drawing/2014/main" id="{6FB59D9C-3085-E8CF-6E64-9794EBA5E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0" y="3665538"/>
          <a:ext cx="3960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500" imgH="228600" progId="Equation.3">
                  <p:embed/>
                </p:oleObj>
              </mc:Choice>
              <mc:Fallback>
                <p:oleObj name="公式" r:id="rId2" imgW="20955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3665538"/>
                        <a:ext cx="39608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>
            <a:extLst>
              <a:ext uri="{FF2B5EF4-FFF2-40B4-BE49-F238E27FC236}">
                <a16:creationId xmlns:a16="http://schemas.microsoft.com/office/drawing/2014/main" id="{080DE024-0A97-F9D7-F661-9EB46CCE5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50" y="4295775"/>
          <a:ext cx="19113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3760" imgH="431640" progId="Equation.3">
                  <p:embed/>
                </p:oleObj>
              </mc:Choice>
              <mc:Fallback>
                <p:oleObj name="公式" r:id="rId4" imgW="11937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4295775"/>
                        <a:ext cx="19113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矩形 10">
            <a:extLst>
              <a:ext uri="{FF2B5EF4-FFF2-40B4-BE49-F238E27FC236}">
                <a16:creationId xmlns:a16="http://schemas.microsoft.com/office/drawing/2014/main" id="{AFBD2397-3F3E-653B-3B60-16DE6EF51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950" y="369570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，则有：</a:t>
            </a:r>
          </a:p>
        </p:txBody>
      </p:sp>
      <p:sp>
        <p:nvSpPr>
          <p:cNvPr id="6156" name="矩形 12">
            <a:extLst>
              <a:ext uri="{FF2B5EF4-FFF2-40B4-BE49-F238E27FC236}">
                <a16:creationId xmlns:a16="http://schemas.microsoft.com/office/drawing/2014/main" id="{46C056FC-6A30-0F8D-3E4F-5A70A426F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759200"/>
            <a:ext cx="441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FB855F05-2B9C-8963-8132-9D93664E91BF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3606800"/>
            <a:ext cx="706437" cy="577850"/>
            <a:chOff x="1655" y="845"/>
            <a:chExt cx="454" cy="453"/>
          </a:xfrm>
        </p:grpSpPr>
        <p:grpSp>
          <p:nvGrpSpPr>
            <p:cNvPr id="6158" name="Group 23">
              <a:extLst>
                <a:ext uri="{FF2B5EF4-FFF2-40B4-BE49-F238E27FC236}">
                  <a16:creationId xmlns:a16="http://schemas.microsoft.com/office/drawing/2014/main" id="{221AD15C-FF36-2121-8CB8-2235C2B006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6160" name="Oval 24">
                <a:extLst>
                  <a:ext uri="{FF2B5EF4-FFF2-40B4-BE49-F238E27FC236}">
                    <a16:creationId xmlns:a16="http://schemas.microsoft.com/office/drawing/2014/main" id="{8F1FB9AB-2E06-96BF-6EDE-4F680054C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61" name="Oval 25">
                <a:extLst>
                  <a:ext uri="{FF2B5EF4-FFF2-40B4-BE49-F238E27FC236}">
                    <a16:creationId xmlns:a16="http://schemas.microsoft.com/office/drawing/2014/main" id="{349E3E64-81F4-0AE4-CF0D-A2EB3C9CB0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62" name="Oval 26">
                <a:extLst>
                  <a:ext uri="{FF2B5EF4-FFF2-40B4-BE49-F238E27FC236}">
                    <a16:creationId xmlns:a16="http://schemas.microsoft.com/office/drawing/2014/main" id="{23C990BF-F7E6-D4BB-7452-F67001A7CA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63" name="Oval 27">
                <a:extLst>
                  <a:ext uri="{FF2B5EF4-FFF2-40B4-BE49-F238E27FC236}">
                    <a16:creationId xmlns:a16="http://schemas.microsoft.com/office/drawing/2014/main" id="{50C7B44F-1A5F-BBF6-E315-2C0C67979E2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64" name="Oval 28">
                <a:extLst>
                  <a:ext uri="{FF2B5EF4-FFF2-40B4-BE49-F238E27FC236}">
                    <a16:creationId xmlns:a16="http://schemas.microsoft.com/office/drawing/2014/main" id="{2E402FA1-AAAD-3296-3D27-76D41976BD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159" name="Text Box 29">
              <a:extLst>
                <a:ext uri="{FF2B5EF4-FFF2-40B4-BE49-F238E27FC236}">
                  <a16:creationId xmlns:a16="http://schemas.microsoft.com/office/drawing/2014/main" id="{6A69D70D-476C-EAD2-7D62-D4B6F38406C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B783A913-58D3-2AA9-CB80-C09F55AAE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5784850"/>
          <a:ext cx="516413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25600" imgH="431640" progId="Equation.3">
                  <p:embed/>
                </p:oleObj>
              </mc:Choice>
              <mc:Fallback>
                <p:oleObj name="公式" r:id="rId6" imgW="322560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5784850"/>
                        <a:ext cx="5164138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2E349D8D-3566-1F21-D8F8-3D9045B094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8450" y="5029200"/>
          <a:ext cx="53070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14520" imgH="431640" progId="Equation.3">
                  <p:embed/>
                </p:oleObj>
              </mc:Choice>
              <mc:Fallback>
                <p:oleObj name="公式" r:id="rId8" imgW="331452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5029200"/>
                        <a:ext cx="530701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903908EA-CFCF-AA78-B2E5-63CE79A85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4273550"/>
          <a:ext cx="512286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00400" imgH="431640" progId="Equation.3">
                  <p:embed/>
                </p:oleObj>
              </mc:Choice>
              <mc:Fallback>
                <p:oleObj name="公式" r:id="rId10" imgW="3200400" imgH="4316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273550"/>
                        <a:ext cx="5122862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65" name="Picture 21">
            <a:extLst>
              <a:ext uri="{FF2B5EF4-FFF2-40B4-BE49-F238E27FC236}">
                <a16:creationId xmlns:a16="http://schemas.microsoft.com/office/drawing/2014/main" id="{001BE720-A8F5-CD6E-142D-E1020558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66"/>
          <a:stretch>
            <a:fillRect/>
          </a:stretch>
        </p:blipFill>
        <p:spPr bwMode="auto">
          <a:xfrm>
            <a:off x="749300" y="2006600"/>
            <a:ext cx="755015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154" grpId="0"/>
      <p:bldP spid="6155" grpId="0"/>
      <p:bldP spid="61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735886C-FC78-6BAD-4B7C-0804A74466CB}"/>
              </a:ext>
            </a:extLst>
          </p:cNvPr>
          <p:cNvSpPr/>
          <p:nvPr/>
        </p:nvSpPr>
        <p:spPr>
          <a:xfrm>
            <a:off x="850900" y="1058863"/>
            <a:ext cx="4121150" cy="5032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超正交码和双正交码</a:t>
            </a:r>
            <a:endParaRPr lang="zh-CN" altLang="en-US" sz="2800" b="1" kern="0" dirty="0"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69F906-7114-353F-417B-6F04B879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1677988"/>
            <a:ext cx="169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超正交码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174" name="Rectangle 13">
            <a:extLst>
              <a:ext uri="{FF2B5EF4-FFF2-40B4-BE49-F238E27FC236}">
                <a16:creationId xmlns:a16="http://schemas.microsoft.com/office/drawing/2014/main" id="{687F8BEC-74D9-CA3E-D029-4D18C37D0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83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376631-EC71-AE38-DD05-FB1B801B3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3384550"/>
            <a:ext cx="738505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在上例子中，若仅取后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个码组，并且删去其第一位，构成如下新的编码：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A189E-EF94-A7D5-CCAF-85FBABFC8418}"/>
              </a:ext>
            </a:extLst>
          </p:cNvPr>
          <p:cNvSpPr/>
          <p:nvPr/>
        </p:nvSpPr>
        <p:spPr>
          <a:xfrm>
            <a:off x="882650" y="5962650"/>
            <a:ext cx="74676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则不难验证，由这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个码组所构成的编码是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超正交码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3730FBB1-81A7-899B-4055-A80CEBD16A4B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3251200"/>
            <a:ext cx="706437" cy="577850"/>
            <a:chOff x="1655" y="845"/>
            <a:chExt cx="454" cy="453"/>
          </a:xfrm>
        </p:grpSpPr>
        <p:grpSp>
          <p:nvGrpSpPr>
            <p:cNvPr id="7182" name="Group 23">
              <a:extLst>
                <a:ext uri="{FF2B5EF4-FFF2-40B4-BE49-F238E27FC236}">
                  <a16:creationId xmlns:a16="http://schemas.microsoft.com/office/drawing/2014/main" id="{FA0BF976-6DBE-5366-6095-80A8515EA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7184" name="Oval 24">
                <a:extLst>
                  <a:ext uri="{FF2B5EF4-FFF2-40B4-BE49-F238E27FC236}">
                    <a16:creationId xmlns:a16="http://schemas.microsoft.com/office/drawing/2014/main" id="{02A71857-DE0B-6BC8-DBBB-DB58E459E35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5" name="Oval 25">
                <a:extLst>
                  <a:ext uri="{FF2B5EF4-FFF2-40B4-BE49-F238E27FC236}">
                    <a16:creationId xmlns:a16="http://schemas.microsoft.com/office/drawing/2014/main" id="{6E417357-6413-BCE1-6DA8-5E52343284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6" name="Oval 26">
                <a:extLst>
                  <a:ext uri="{FF2B5EF4-FFF2-40B4-BE49-F238E27FC236}">
                    <a16:creationId xmlns:a16="http://schemas.microsoft.com/office/drawing/2014/main" id="{162EE82C-549E-E861-6C64-C3391A2A772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7" name="Oval 27">
                <a:extLst>
                  <a:ext uri="{FF2B5EF4-FFF2-40B4-BE49-F238E27FC236}">
                    <a16:creationId xmlns:a16="http://schemas.microsoft.com/office/drawing/2014/main" id="{BE0580A5-7CF3-6304-C7D0-E7AA1DD512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8" name="Oval 28">
                <a:extLst>
                  <a:ext uri="{FF2B5EF4-FFF2-40B4-BE49-F238E27FC236}">
                    <a16:creationId xmlns:a16="http://schemas.microsoft.com/office/drawing/2014/main" id="{E2578FC8-5D1C-07CB-59FA-4C4554F97BF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183" name="Text Box 29">
              <a:extLst>
                <a:ext uri="{FF2B5EF4-FFF2-40B4-BE49-F238E27FC236}">
                  <a16:creationId xmlns:a16="http://schemas.microsoft.com/office/drawing/2014/main" id="{0A21D579-7525-DA51-F0AB-41F1807A26C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A5EE0903-786A-D1CC-B41E-CB3A57D6D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4095750"/>
          <a:ext cx="2178050" cy="174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2865" imgH="939392" progId="Equation.3">
                  <p:embed/>
                </p:oleObj>
              </mc:Choice>
              <mc:Fallback>
                <p:oleObj name="公式" r:id="rId2" imgW="1002865" imgH="93939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4095750"/>
                        <a:ext cx="2178050" cy="174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27985B19-A256-4E59-59CA-034084121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4184650"/>
          <a:ext cx="206533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01309" imgH="710891" progId="Equation.3">
                  <p:embed/>
                </p:oleObj>
              </mc:Choice>
              <mc:Fallback>
                <p:oleObj name="公式" r:id="rId4" imgW="901309" imgH="7108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4184650"/>
                        <a:ext cx="2065338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2E9F656B-E8AC-94E9-8B05-2C21A6288B9A}"/>
              </a:ext>
            </a:extLst>
          </p:cNvPr>
          <p:cNvSpPr/>
          <p:nvPr/>
        </p:nvSpPr>
        <p:spPr>
          <a:xfrm>
            <a:off x="6607175" y="1589088"/>
            <a:ext cx="1654175" cy="461962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-1 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</a:t>
            </a:r>
            <a:r>
              <a:rPr lang="en-US" altLang="zh-CN" sz="24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+1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AC6AFD-98A6-37A6-E5CE-22197BCE3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1162050"/>
            <a:ext cx="1935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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的取值范围</a:t>
            </a:r>
            <a:r>
              <a:rPr lang="zh-CN" altLang="en-US" sz="2000"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27" name="Freeform 57">
            <a:extLst>
              <a:ext uri="{FF2B5EF4-FFF2-40B4-BE49-F238E27FC236}">
                <a16:creationId xmlns:a16="http://schemas.microsoft.com/office/drawing/2014/main" id="{199CDF33-ABA7-96B5-C9EA-24FD22F586D3}"/>
              </a:ext>
            </a:extLst>
          </p:cNvPr>
          <p:cNvSpPr>
            <a:spLocks/>
          </p:cNvSpPr>
          <p:nvPr/>
        </p:nvSpPr>
        <p:spPr bwMode="auto">
          <a:xfrm rot="10800000">
            <a:off x="5173663" y="4629150"/>
            <a:ext cx="909637" cy="577850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189" name="Picture 21">
            <a:extLst>
              <a:ext uri="{FF2B5EF4-FFF2-40B4-BE49-F238E27FC236}">
                <a16:creationId xmlns:a16="http://schemas.microsoft.com/office/drawing/2014/main" id="{C33C1A05-F3A9-C57D-C45A-CF80ECD98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2184400"/>
            <a:ext cx="7467600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7" grpId="0"/>
      <p:bldP spid="8" grpId="0"/>
      <p:bldP spid="24" grpId="0" animBg="1"/>
      <p:bldP spid="25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矩形 4">
            <a:extLst>
              <a:ext uri="{FF2B5EF4-FFF2-40B4-BE49-F238E27FC236}">
                <a16:creationId xmlns:a16="http://schemas.microsoft.com/office/drawing/2014/main" id="{4C17EDF5-C1C3-0B1C-AC7E-2FDC2505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1117600"/>
            <a:ext cx="2312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双正交编码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8197" name="矩形 5">
            <a:extLst>
              <a:ext uri="{FF2B5EF4-FFF2-40B4-BE49-F238E27FC236}">
                <a16:creationId xmlns:a16="http://schemas.microsoft.com/office/drawing/2014/main" id="{B6F262B6-28F6-5AB8-C8ED-5EEA58165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651000"/>
            <a:ext cx="6623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4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由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正交编码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其反码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便可以构成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双正交编码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198" name="矩形 6">
            <a:extLst>
              <a:ext uri="{FF2B5EF4-FFF2-40B4-BE49-F238E27FC236}">
                <a16:creationId xmlns:a16="http://schemas.microsoft.com/office/drawing/2014/main" id="{5201CC50-FA68-7E0B-8319-CBAD2887B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2273300"/>
            <a:ext cx="36512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在前面例子中，正交码为：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99" name="Group 22">
            <a:extLst>
              <a:ext uri="{FF2B5EF4-FFF2-40B4-BE49-F238E27FC236}">
                <a16:creationId xmlns:a16="http://schemas.microsoft.com/office/drawing/2014/main" id="{7890ECF8-D135-E1DC-5AFC-B30965593636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2228850"/>
            <a:ext cx="706437" cy="577850"/>
            <a:chOff x="1655" y="845"/>
            <a:chExt cx="454" cy="453"/>
          </a:xfrm>
        </p:grpSpPr>
        <p:grpSp>
          <p:nvGrpSpPr>
            <p:cNvPr id="8203" name="Group 23">
              <a:extLst>
                <a:ext uri="{FF2B5EF4-FFF2-40B4-BE49-F238E27FC236}">
                  <a16:creationId xmlns:a16="http://schemas.microsoft.com/office/drawing/2014/main" id="{CB48AAC2-BFD7-55AF-C875-1A1B10519F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8205" name="Oval 24">
                <a:extLst>
                  <a:ext uri="{FF2B5EF4-FFF2-40B4-BE49-F238E27FC236}">
                    <a16:creationId xmlns:a16="http://schemas.microsoft.com/office/drawing/2014/main" id="{ED1084C8-DEBC-89F5-3E01-830A2E03226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6" name="Oval 25">
                <a:extLst>
                  <a:ext uri="{FF2B5EF4-FFF2-40B4-BE49-F238E27FC236}">
                    <a16:creationId xmlns:a16="http://schemas.microsoft.com/office/drawing/2014/main" id="{5469130F-EB43-69DF-9716-1984C5D0CB2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7" name="Oval 26">
                <a:extLst>
                  <a:ext uri="{FF2B5EF4-FFF2-40B4-BE49-F238E27FC236}">
                    <a16:creationId xmlns:a16="http://schemas.microsoft.com/office/drawing/2014/main" id="{4D1832F9-33FA-3122-71E2-96A4A7F5438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8" name="Oval 27">
                <a:extLst>
                  <a:ext uri="{FF2B5EF4-FFF2-40B4-BE49-F238E27FC236}">
                    <a16:creationId xmlns:a16="http://schemas.microsoft.com/office/drawing/2014/main" id="{BF79A1F5-7409-51EA-91D1-39A2B734F98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9" name="Oval 28">
                <a:extLst>
                  <a:ext uri="{FF2B5EF4-FFF2-40B4-BE49-F238E27FC236}">
                    <a16:creationId xmlns:a16="http://schemas.microsoft.com/office/drawing/2014/main" id="{60B8C19D-471F-21E4-2FAB-8B1AA40846C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204" name="Text Box 29">
              <a:extLst>
                <a:ext uri="{FF2B5EF4-FFF2-40B4-BE49-F238E27FC236}">
                  <a16:creationId xmlns:a16="http://schemas.microsoft.com/office/drawing/2014/main" id="{05FF89C7-9591-E6F3-CED8-6E7149FCEA8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0BC8C930-0AC8-6D4D-CC54-03FBE8BCB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6250" y="2762250"/>
          <a:ext cx="2178050" cy="174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2865" imgH="939392" progId="Equation.3">
                  <p:embed/>
                </p:oleObj>
              </mc:Choice>
              <mc:Fallback>
                <p:oleObj name="公式" r:id="rId2" imgW="1002865" imgH="93939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2762250"/>
                        <a:ext cx="2178050" cy="174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矩形 16">
            <a:extLst>
              <a:ext uri="{FF2B5EF4-FFF2-40B4-BE49-F238E27FC236}">
                <a16:creationId xmlns:a16="http://schemas.microsoft.com/office/drawing/2014/main" id="{CCD45013-B1BB-CADC-A116-4AB39CDE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23622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其反码为：</a:t>
            </a:r>
          </a:p>
        </p:txBody>
      </p:sp>
      <p:graphicFrame>
        <p:nvGraphicFramePr>
          <p:cNvPr id="131075" name="Object 3">
            <a:extLst>
              <a:ext uri="{FF2B5EF4-FFF2-40B4-BE49-F238E27FC236}">
                <a16:creationId xmlns:a16="http://schemas.microsoft.com/office/drawing/2014/main" id="{8B76ED29-33DD-6EB5-64DF-6BA1C70EC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2388" y="2851150"/>
          <a:ext cx="1058862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84200" imgH="914400" progId="Equation.3">
                  <p:embed/>
                </p:oleObj>
              </mc:Choice>
              <mc:Fallback>
                <p:oleObj name="公式" r:id="rId4" imgW="5842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2851150"/>
                        <a:ext cx="1058862" cy="166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矩形 18">
            <a:extLst>
              <a:ext uri="{FF2B5EF4-FFF2-40B4-BE49-F238E27FC236}">
                <a16:creationId xmlns:a16="http://schemas.microsoft.com/office/drawing/2014/main" id="{757508A0-DC47-88D8-780D-C30D8E5BA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584700"/>
            <a:ext cx="72453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两者的总体即构成如下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双正交码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(0,0,0,0)    (1,1,1,1)    (0,0,1,1)    (1,1,0,0)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(0,1,1,0)    (1,0,0,1)    (0,1,0,1)    (1,0,1,0)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202" name="矩形 20">
            <a:extLst>
              <a:ext uri="{FF2B5EF4-FFF2-40B4-BE49-F238E27FC236}">
                <a16:creationId xmlns:a16="http://schemas.microsoft.com/office/drawing/2014/main" id="{A5130E81-F631-CBDD-7D49-11A109FE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6007100"/>
            <a:ext cx="7556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此码共有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种码组，码长为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，任两码组间的相关系数为</a:t>
            </a:r>
            <a:r>
              <a:rPr lang="en-US" altLang="zh-CN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－</a:t>
            </a:r>
            <a:r>
              <a:rPr lang="en-US" altLang="zh-CN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4EEAE15-0596-391B-A32F-304D8D24F5A2}"/>
              </a:ext>
            </a:extLst>
          </p:cNvPr>
          <p:cNvSpPr/>
          <p:nvPr/>
        </p:nvSpPr>
        <p:spPr>
          <a:xfrm>
            <a:off x="38100" y="450850"/>
            <a:ext cx="60896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12</a:t>
            </a:r>
            <a:r>
              <a:rPr lang="en-US" altLang="zh-CN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.1.2</a:t>
            </a: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阿达玛矩阵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12328B-F68E-4EF4-58ED-E3A86B9A5CD0}"/>
              </a:ext>
            </a:extLst>
          </p:cNvPr>
          <p:cNvSpPr/>
          <p:nvPr/>
        </p:nvSpPr>
        <p:spPr>
          <a:xfrm>
            <a:off x="847725" y="1117600"/>
            <a:ext cx="1190625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黑体" pitchFamily="49" charset="-122"/>
                <a:ea typeface="黑体" pitchFamily="49" charset="-122"/>
              </a:rPr>
              <a:t>定义</a:t>
            </a:r>
          </a:p>
        </p:txBody>
      </p:sp>
      <p:sp>
        <p:nvSpPr>
          <p:cNvPr id="9223" name="矩形 13">
            <a:extLst>
              <a:ext uri="{FF2B5EF4-FFF2-40B4-BE49-F238E27FC236}">
                <a16:creationId xmlns:a16="http://schemas.microsoft.com/office/drawing/2014/main" id="{89B22EA9-0A16-0140-4996-76FE51AF9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451100"/>
            <a:ext cx="5111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最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低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阶的</a:t>
            </a:r>
            <a:r>
              <a:rPr lang="en-US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 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阶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的，即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32098" name="Object 2">
            <a:extLst>
              <a:ext uri="{FF2B5EF4-FFF2-40B4-BE49-F238E27FC236}">
                <a16:creationId xmlns:a16="http://schemas.microsoft.com/office/drawing/2014/main" id="{0EEC0CB1-7D54-ADC9-0023-FC7A37901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2263" y="2895600"/>
          <a:ext cx="1709737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0600" imgH="457200" progId="Equation.3">
                  <p:embed/>
                </p:oleObj>
              </mc:Choice>
              <mc:Fallback>
                <p:oleObj name="公式" r:id="rId2" imgW="9906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2895600"/>
                        <a:ext cx="1709737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矩形 14">
            <a:extLst>
              <a:ext uri="{FF2B5EF4-FFF2-40B4-BE49-F238E27FC236}">
                <a16:creationId xmlns:a16="http://schemas.microsoft.com/office/drawing/2014/main" id="{5DA820B8-1BAE-2FAD-ECCE-355737908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3073400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简写为</a:t>
            </a:r>
          </a:p>
        </p:txBody>
      </p:sp>
      <p:graphicFrame>
        <p:nvGraphicFramePr>
          <p:cNvPr id="132099" name="Object 3">
            <a:extLst>
              <a:ext uri="{FF2B5EF4-FFF2-40B4-BE49-F238E27FC236}">
                <a16:creationId xmlns:a16="http://schemas.microsoft.com/office/drawing/2014/main" id="{6CE40114-5A50-451C-78FC-98FEB0E3F3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0" y="2851150"/>
          <a:ext cx="15303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900" imgH="457200" progId="Equation.3">
                  <p:embed/>
                </p:oleObj>
              </mc:Choice>
              <mc:Fallback>
                <p:oleObj name="公式" r:id="rId4" imgW="850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2851150"/>
                        <a:ext cx="153035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矩形 15">
            <a:extLst>
              <a:ext uri="{FF2B5EF4-FFF2-40B4-BE49-F238E27FC236}">
                <a16:creationId xmlns:a16="http://schemas.microsoft.com/office/drawing/2014/main" id="{E21C53DD-27DF-21A9-9FD8-6B3B775F7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3754438"/>
            <a:ext cx="764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阶数为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的幂的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阶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矩阵可以从下列递推关系得出</a:t>
            </a:r>
          </a:p>
        </p:txBody>
      </p:sp>
      <p:sp>
        <p:nvSpPr>
          <p:cNvPr id="9226" name="矩形 16">
            <a:extLst>
              <a:ext uri="{FF2B5EF4-FFF2-40B4-BE49-F238E27FC236}">
                <a16:creationId xmlns:a16="http://schemas.microsoft.com/office/drawing/2014/main" id="{E436E068-5C79-094F-05D8-06AF8A9C4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687888"/>
            <a:ext cx="808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式中，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＝ 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b="1" i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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－ 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直积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：指将矩阵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000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 </a:t>
            </a:r>
            <a:r>
              <a:rPr lang="en-US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 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中的每一个元素用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代替。</a:t>
            </a:r>
          </a:p>
        </p:txBody>
      </p:sp>
      <p:graphicFrame>
        <p:nvGraphicFramePr>
          <p:cNvPr id="132100" name="Object 4">
            <a:extLst>
              <a:ext uri="{FF2B5EF4-FFF2-40B4-BE49-F238E27FC236}">
                <a16:creationId xmlns:a16="http://schemas.microsoft.com/office/drawing/2014/main" id="{6D9241F3-2177-6D3B-8300-6D04B570E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0" y="5162550"/>
          <a:ext cx="48895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84500" imgH="914400" progId="Equation.3">
                  <p:embed/>
                </p:oleObj>
              </mc:Choice>
              <mc:Fallback>
                <p:oleObj name="公式" r:id="rId6" imgW="29845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5162550"/>
                        <a:ext cx="4889500" cy="149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7" name="Group 22">
            <a:extLst>
              <a:ext uri="{FF2B5EF4-FFF2-40B4-BE49-F238E27FC236}">
                <a16:creationId xmlns:a16="http://schemas.microsoft.com/office/drawing/2014/main" id="{3C7481D3-70B0-6B90-B8C3-0ECB8CB2FF9F}"/>
              </a:ext>
            </a:extLst>
          </p:cNvPr>
          <p:cNvGrpSpPr>
            <a:grpSpLocks/>
          </p:cNvGrpSpPr>
          <p:nvPr/>
        </p:nvGrpSpPr>
        <p:grpSpPr bwMode="auto">
          <a:xfrm>
            <a:off x="931863" y="5473700"/>
            <a:ext cx="706437" cy="577850"/>
            <a:chOff x="1655" y="845"/>
            <a:chExt cx="454" cy="453"/>
          </a:xfrm>
        </p:grpSpPr>
        <p:grpSp>
          <p:nvGrpSpPr>
            <p:cNvPr id="9230" name="Group 23">
              <a:extLst>
                <a:ext uri="{FF2B5EF4-FFF2-40B4-BE49-F238E27FC236}">
                  <a16:creationId xmlns:a16="http://schemas.microsoft.com/office/drawing/2014/main" id="{8623FDC8-C970-57D2-1F3C-6E187DEB7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9232" name="Oval 24">
                <a:extLst>
                  <a:ext uri="{FF2B5EF4-FFF2-40B4-BE49-F238E27FC236}">
                    <a16:creationId xmlns:a16="http://schemas.microsoft.com/office/drawing/2014/main" id="{403054CD-E878-8B55-9CF5-BA90533973D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3" name="Oval 25">
                <a:extLst>
                  <a:ext uri="{FF2B5EF4-FFF2-40B4-BE49-F238E27FC236}">
                    <a16:creationId xmlns:a16="http://schemas.microsoft.com/office/drawing/2014/main" id="{B423EA82-DFC9-472A-2271-A2F99BE6441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4" name="Oval 26">
                <a:extLst>
                  <a:ext uri="{FF2B5EF4-FFF2-40B4-BE49-F238E27FC236}">
                    <a16:creationId xmlns:a16="http://schemas.microsoft.com/office/drawing/2014/main" id="{342F2B2B-7D44-D6C7-D428-7069BA3F213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5" name="Oval 27">
                <a:extLst>
                  <a:ext uri="{FF2B5EF4-FFF2-40B4-BE49-F238E27FC236}">
                    <a16:creationId xmlns:a16="http://schemas.microsoft.com/office/drawing/2014/main" id="{05DF35B7-3554-224C-5C24-3146489656C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6" name="Oval 28">
                <a:extLst>
                  <a:ext uri="{FF2B5EF4-FFF2-40B4-BE49-F238E27FC236}">
                    <a16:creationId xmlns:a16="http://schemas.microsoft.com/office/drawing/2014/main" id="{F684599D-18A4-AAAE-BF0B-DC65E557C76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9231" name="Text Box 29">
              <a:extLst>
                <a:ext uri="{FF2B5EF4-FFF2-40B4-BE49-F238E27FC236}">
                  <a16:creationId xmlns:a16="http://schemas.microsoft.com/office/drawing/2014/main" id="{BFCC51E6-9682-D456-1A64-B2047907D5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pic>
        <p:nvPicPr>
          <p:cNvPr id="9228" name="Picture 22">
            <a:extLst>
              <a:ext uri="{FF2B5EF4-FFF2-40B4-BE49-F238E27FC236}">
                <a16:creationId xmlns:a16="http://schemas.microsoft.com/office/drawing/2014/main" id="{9002AC77-A53F-4512-FBD2-53DF72892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562100"/>
            <a:ext cx="76009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23">
            <a:extLst>
              <a:ext uri="{FF2B5EF4-FFF2-40B4-BE49-F238E27FC236}">
                <a16:creationId xmlns:a16="http://schemas.microsoft.com/office/drawing/2014/main" id="{599C6DC4-9D8D-6722-71BE-75EF2A00C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4095750"/>
            <a:ext cx="2489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>
            <a:extLst>
              <a:ext uri="{FF2B5EF4-FFF2-40B4-BE49-F238E27FC236}">
                <a16:creationId xmlns:a16="http://schemas.microsoft.com/office/drawing/2014/main" id="{5A159E62-257F-81CE-3A91-C7A409453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75499B9-E78D-CEB1-7958-CCCE63347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1246188"/>
          <a:ext cx="6756400" cy="324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97300" imgH="1828800" progId="Equation.3">
                  <p:embed/>
                </p:oleObj>
              </mc:Choice>
              <mc:Fallback>
                <p:oleObj name="公式" r:id="rId2" imgW="3797300" imgH="182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1246188"/>
                        <a:ext cx="6756400" cy="324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>
            <a:extLst>
              <a:ext uri="{FF2B5EF4-FFF2-40B4-BE49-F238E27FC236}">
                <a16:creationId xmlns:a16="http://schemas.microsoft.com/office/drawing/2014/main" id="{1CB953B7-7F73-2DE4-50D1-241353AA6427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117600"/>
            <a:ext cx="706438" cy="577850"/>
            <a:chOff x="1655" y="845"/>
            <a:chExt cx="454" cy="453"/>
          </a:xfrm>
        </p:grpSpPr>
        <p:grpSp>
          <p:nvGrpSpPr>
            <p:cNvPr id="10246" name="Group 23">
              <a:extLst>
                <a:ext uri="{FF2B5EF4-FFF2-40B4-BE49-F238E27FC236}">
                  <a16:creationId xmlns:a16="http://schemas.microsoft.com/office/drawing/2014/main" id="{71EA3C0C-D5C2-6E9D-9F15-CA978D0B5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0248" name="Oval 24">
                <a:extLst>
                  <a:ext uri="{FF2B5EF4-FFF2-40B4-BE49-F238E27FC236}">
                    <a16:creationId xmlns:a16="http://schemas.microsoft.com/office/drawing/2014/main" id="{19450F63-15C0-D44D-BC4C-3E4AA7CA22C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49" name="Oval 25">
                <a:extLst>
                  <a:ext uri="{FF2B5EF4-FFF2-40B4-BE49-F238E27FC236}">
                    <a16:creationId xmlns:a16="http://schemas.microsoft.com/office/drawing/2014/main" id="{2BDC1496-551F-C2D1-1D40-454AC326ADA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0" name="Oval 26">
                <a:extLst>
                  <a:ext uri="{FF2B5EF4-FFF2-40B4-BE49-F238E27FC236}">
                    <a16:creationId xmlns:a16="http://schemas.microsoft.com/office/drawing/2014/main" id="{ED64FBAC-8107-5D5D-9E3B-24DC4AA682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1" name="Oval 27">
                <a:extLst>
                  <a:ext uri="{FF2B5EF4-FFF2-40B4-BE49-F238E27FC236}">
                    <a16:creationId xmlns:a16="http://schemas.microsoft.com/office/drawing/2014/main" id="{4396F649-0122-4CDA-6FFB-A13A066CF6B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2" name="Oval 28">
                <a:extLst>
                  <a:ext uri="{FF2B5EF4-FFF2-40B4-BE49-F238E27FC236}">
                    <a16:creationId xmlns:a16="http://schemas.microsoft.com/office/drawing/2014/main" id="{C835CEA2-889F-7F3A-2AB7-F1E6BBB2301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47" name="Text Box 29">
              <a:extLst>
                <a:ext uri="{FF2B5EF4-FFF2-40B4-BE49-F238E27FC236}">
                  <a16:creationId xmlns:a16="http://schemas.microsoft.com/office/drawing/2014/main" id="{038096E3-1589-4D3C-8094-66B6FBB4B9B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pic>
        <p:nvPicPr>
          <p:cNvPr id="10245" name="Picture 13">
            <a:extLst>
              <a:ext uri="{FF2B5EF4-FFF2-40B4-BE49-F238E27FC236}">
                <a16:creationId xmlns:a16="http://schemas.microsoft.com/office/drawing/2014/main" id="{817CFD87-FC6B-E14C-0046-4026D5CAA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4762500"/>
            <a:ext cx="7940675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4">
            <a:extLst>
              <a:ext uri="{FF2B5EF4-FFF2-40B4-BE49-F238E27FC236}">
                <a16:creationId xmlns:a16="http://schemas.microsoft.com/office/drawing/2014/main" id="{A585B9B9-2BC7-553A-DA7D-092C19357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1117600"/>
            <a:ext cx="26701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i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 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矩阵的性质</a:t>
            </a:r>
          </a:p>
        </p:txBody>
      </p:sp>
      <p:sp>
        <p:nvSpPr>
          <p:cNvPr id="39939" name="矩形 5">
            <a:extLst>
              <a:ext uri="{FF2B5EF4-FFF2-40B4-BE49-F238E27FC236}">
                <a16:creationId xmlns:a16="http://schemas.microsoft.com/office/drawing/2014/main" id="{65326556-E990-1513-634C-16318378A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829050"/>
            <a:ext cx="7869238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000"/>
              </a:lnSpc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 H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是一种正交方阵。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若把其中每一行看作是一个码组，则这些码组也是互相正交的，而整个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矩阵就是一种长为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的正交编码，它包含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个码组。因为长度为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的编码共有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i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个不同码组，若只将这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个码组作为准用码组，其余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en-US" altLang="zh-CN" sz="2000" i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个为禁用码组，则可以将其多余度用来纠错。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3" eaLnBrk="1" hangingPunct="1">
              <a:lnSpc>
                <a:spcPts val="3000"/>
              </a:lnSpc>
              <a:buClr>
                <a:srgbClr val="0000CC"/>
              </a:buClr>
              <a:buSzPct val="5500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这种编码在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纠错编码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理论中称为</a:t>
            </a:r>
            <a:r>
              <a:rPr lang="zh-CN" altLang="en-US" sz="2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里德</a:t>
            </a:r>
            <a:r>
              <a:rPr lang="en-US" altLang="zh-CN" sz="2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缪勒</a:t>
            </a:r>
            <a:r>
              <a:rPr lang="en-US" altLang="zh-CN" sz="2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(Reed-Muller)</a:t>
            </a:r>
            <a:r>
              <a:rPr lang="zh-CN" altLang="en-US" sz="2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9940" name="矩形 6">
            <a:extLst>
              <a:ext uri="{FF2B5EF4-FFF2-40B4-BE49-F238E27FC236}">
                <a16:creationId xmlns:a16="http://schemas.microsoft.com/office/drawing/2014/main" id="{27656F60-184D-ABCB-1978-235B5B3B5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1668463"/>
            <a:ext cx="7554912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在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矩阵中，交换任意两行或两列，或改变任一行或列中每个元素的符号，都不会影响矩阵的正交性质。</a:t>
            </a:r>
          </a:p>
        </p:txBody>
      </p:sp>
      <p:sp>
        <p:nvSpPr>
          <p:cNvPr id="39941" name="矩形 7">
            <a:extLst>
              <a:ext uri="{FF2B5EF4-FFF2-40B4-BE49-F238E27FC236}">
                <a16:creationId xmlns:a16="http://schemas.microsoft.com/office/drawing/2014/main" id="{3A8D6957-7E43-AC17-5691-9E2C1C212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2673350"/>
            <a:ext cx="7466012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按照递推关系式可以构造出所有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baseline="3000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阶的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矩阵。可以证明，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000"/>
              </a:lnSpc>
              <a:buClr>
                <a:srgbClr val="0000CC"/>
              </a:buClr>
              <a:buSzPct val="55000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阶的</a:t>
            </a:r>
            <a:r>
              <a:rPr lang="en-US" altLang="zh-CN" sz="20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矩阵的阶数一定是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的倍数。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10468F1-C0CF-DEB1-7EBB-2624863C67D0}"/>
              </a:ext>
            </a:extLst>
          </p:cNvPr>
          <p:cNvSpPr/>
          <p:nvPr/>
        </p:nvSpPr>
        <p:spPr>
          <a:xfrm>
            <a:off x="82550" y="450850"/>
            <a:ext cx="65341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12.1.3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沃尔什函数和沃尔什矩阵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277BCF-2217-13A2-A0B1-C3C93AEBD055}"/>
              </a:ext>
            </a:extLst>
          </p:cNvPr>
          <p:cNvSpPr/>
          <p:nvPr/>
        </p:nvSpPr>
        <p:spPr>
          <a:xfrm>
            <a:off x="704850" y="1117600"/>
            <a:ext cx="3346450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沃尔什函数的</a:t>
            </a:r>
            <a:r>
              <a:rPr lang="zh-CN" altLang="en-US" sz="2800" b="1" kern="0" dirty="0">
                <a:latin typeface="黑体" pitchFamily="49" charset="-122"/>
                <a:ea typeface="黑体" pitchFamily="49" charset="-122"/>
              </a:rPr>
              <a:t>定义</a:t>
            </a:r>
          </a:p>
        </p:txBody>
      </p:sp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9994169E-A994-45E1-30FC-D40F2458F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3163" y="1651000"/>
          <a:ext cx="726598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24000" imgH="457200" progId="Equation.3">
                  <p:embed/>
                </p:oleObj>
              </mc:Choice>
              <mc:Fallback>
                <p:oleObj name="公式" r:id="rId2" imgW="39240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1651000"/>
                        <a:ext cx="7265987" cy="8826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D2836BBA-09F8-F664-01FC-014597FABE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200" y="2762250"/>
          <a:ext cx="41846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87600" imgH="457200" progId="Equation.3">
                  <p:embed/>
                </p:oleObj>
              </mc:Choice>
              <mc:Fallback>
                <p:oleObj name="公式" r:id="rId4" imgW="23876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2762250"/>
                        <a:ext cx="418465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矩形 8">
            <a:extLst>
              <a:ext uri="{FF2B5EF4-FFF2-40B4-BE49-F238E27FC236}">
                <a16:creationId xmlns:a16="http://schemas.microsoft.com/office/drawing/2014/main" id="{83721392-F9D3-966B-2CC0-B712CF3AA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651250"/>
            <a:ext cx="777875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式中，  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；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           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指数中的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 2]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表示取 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 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的整数部分。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1E8D0C-0C74-BF83-0779-9AC122CF0BF6}"/>
              </a:ext>
            </a:extLst>
          </p:cNvPr>
          <p:cNvSpPr/>
          <p:nvPr/>
        </p:nvSpPr>
        <p:spPr>
          <a:xfrm>
            <a:off x="673100" y="4703763"/>
            <a:ext cx="3359150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沃尔什函数的性质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272" name="Picture 9">
            <a:extLst>
              <a:ext uri="{FF2B5EF4-FFF2-40B4-BE49-F238E27FC236}">
                <a16:creationId xmlns:a16="http://schemas.microsoft.com/office/drawing/2014/main" id="{3B1A030B-C51F-866F-0342-716BA422B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5295900"/>
            <a:ext cx="8027988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44E4E770-2E49-ACA7-E632-905DB8FA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1562100"/>
            <a:ext cx="4356100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任意两个沃尔什函数相乘积分的</a:t>
            </a:r>
            <a:endParaRPr lang="en-US" altLang="zh-CN" sz="2000" kern="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结果为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，即满足两两正交的条件。</a:t>
            </a:r>
          </a:p>
        </p:txBody>
      </p:sp>
      <p:sp>
        <p:nvSpPr>
          <p:cNvPr id="12292" name="矩形 17">
            <a:extLst>
              <a:ext uri="{FF2B5EF4-FFF2-40B4-BE49-F238E27FC236}">
                <a16:creationId xmlns:a16="http://schemas.microsoft.com/office/drawing/2014/main" id="{63203A10-678F-53F0-C554-EE1CF5A0B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693988"/>
            <a:ext cx="37338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将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个沃尔什函数的抽样值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Clr>
                <a:srgbClr val="0000CC"/>
              </a:buClr>
              <a:buSzPct val="60000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写成如下的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沃尔什矩阵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BCE6989E-4943-7A24-8958-333808733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8750" y="2078038"/>
          <a:ext cx="3284538" cy="290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70100" imgH="1828800" progId="Equation.3">
                  <p:embed/>
                </p:oleObj>
              </mc:Choice>
              <mc:Fallback>
                <p:oleObj name="公式" r:id="rId2" imgW="2070100" imgH="182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2078038"/>
                        <a:ext cx="3284538" cy="290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矩形 19">
            <a:extLst>
              <a:ext uri="{FF2B5EF4-FFF2-40B4-BE49-F238E27FC236}">
                <a16:creationId xmlns:a16="http://schemas.microsoft.com/office/drawing/2014/main" id="{9FD85FA2-D187-327B-A3D4-A7AFDAC45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938588"/>
            <a:ext cx="42672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沃尔什矩阵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是按照每一行中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＋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  <a:p>
            <a:pPr eaLnBrk="1" hangingPunct="1">
              <a:lnSpc>
                <a:spcPts val="3200"/>
              </a:lnSpc>
              <a:buClr>
                <a:srgbClr val="0000CC"/>
              </a:buClr>
              <a:buSzPct val="60000"/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 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的交变次数由少到多排列的。</a:t>
            </a:r>
          </a:p>
        </p:txBody>
      </p:sp>
      <p:sp>
        <p:nvSpPr>
          <p:cNvPr id="13319" name="矩形 20">
            <a:extLst>
              <a:ext uri="{FF2B5EF4-FFF2-40B4-BE49-F238E27FC236}">
                <a16:creationId xmlns:a16="http://schemas.microsoft.com/office/drawing/2014/main" id="{E9A8969E-37FC-F685-9DD4-EBB5072D3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246688"/>
            <a:ext cx="7600950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 沃尔什函数（矩阵）天生具有数字信号的特性，所以它们在数字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ts val="3500"/>
              </a:lnSpc>
              <a:buClr>
                <a:srgbClr val="0000CC"/>
              </a:buClr>
              <a:buSzPct val="60000"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信号处理和编码理论中有广泛的应用前景。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DB83D0-88A9-160D-D409-DE5C4D1ED658}"/>
              </a:ext>
            </a:extLst>
          </p:cNvPr>
          <p:cNvSpPr/>
          <p:nvPr/>
        </p:nvSpPr>
        <p:spPr>
          <a:xfrm>
            <a:off x="700088" y="1014413"/>
            <a:ext cx="5522912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由沃尔什函数的波形可以验证：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296" name="矩形 23">
            <a:extLst>
              <a:ext uri="{FF2B5EF4-FFF2-40B4-BE49-F238E27FC236}">
                <a16:creationId xmlns:a16="http://schemas.microsoft.com/office/drawing/2014/main" id="{99B1EDA6-9941-2433-A409-03C6BA7EC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073150"/>
            <a:ext cx="180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（见图</a:t>
            </a:r>
            <a:r>
              <a:rPr lang="en-US" altLang="zh-CN" sz="2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12-2</a:t>
            </a:r>
            <a:r>
              <a:rPr lang="zh-CN" altLang="en-US" sz="200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FCFADE6E-DA8D-4FD7-BD5A-740EF9E6E28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27300" y="3497263"/>
            <a:ext cx="440055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ea typeface="微软雅黑" pitchFamily="34" charset="-122"/>
              </a:rPr>
              <a:t> </a:t>
            </a: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48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伪随机序列</a:t>
            </a:r>
            <a:endParaRPr lang="en-US" altLang="zh-CN" sz="48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A76EDF86-395B-B5D6-60A2-DF4E6B3B9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982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§1</a:t>
            </a: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.2  </a:t>
            </a:r>
            <a:endParaRPr lang="zh-CN" altLang="en-US" sz="4000" b="1" u="sng" dirty="0">
              <a:solidFill>
                <a:srgbClr val="9900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966" name="矩形 8">
            <a:extLst>
              <a:ext uri="{FF2B5EF4-FFF2-40B4-BE49-F238E27FC236}">
                <a16:creationId xmlns:a16="http://schemas.microsoft.com/office/drawing/2014/main" id="{B8157998-0E6F-1933-C113-74EDEB64F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348163"/>
            <a:ext cx="582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在数字通信技术中具有十分重要的地位。</a:t>
            </a:r>
          </a:p>
        </p:txBody>
      </p:sp>
      <p:sp>
        <p:nvSpPr>
          <p:cNvPr id="40967" name="矩形 9">
            <a:extLst>
              <a:ext uri="{FF2B5EF4-FFF2-40B4-BE49-F238E27FC236}">
                <a16:creationId xmlns:a16="http://schemas.microsoft.com/office/drawing/2014/main" id="{3301F211-4716-2664-703F-8DFCE63A8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762500"/>
            <a:ext cx="56896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在误码率测量、时延测量、扩谱通信、密码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及分离多径等方面都有着十分广泛的应用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0966" grpId="0"/>
      <p:bldP spid="409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9E59626-7DB5-6E7E-060E-57B1E961ECC2}"/>
              </a:ext>
            </a:extLst>
          </p:cNvPr>
          <p:cNvSpPr/>
          <p:nvPr/>
        </p:nvSpPr>
        <p:spPr>
          <a:xfrm>
            <a:off x="82550" y="450850"/>
            <a:ext cx="65341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12</a:t>
            </a:r>
            <a:r>
              <a:rPr lang="en-US" altLang="zh-CN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.2.1</a:t>
            </a: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基本概念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67981F-3C38-EE18-525C-F67344D14885}"/>
              </a:ext>
            </a:extLst>
          </p:cNvPr>
          <p:cNvSpPr/>
          <p:nvPr/>
        </p:nvSpPr>
        <p:spPr>
          <a:xfrm>
            <a:off x="866775" y="2481263"/>
            <a:ext cx="3705225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什么是伪随机噪声？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0F12F7-19C7-8F40-4360-A1D1FD067D9A}"/>
              </a:ext>
            </a:extLst>
          </p:cNvPr>
          <p:cNvSpPr/>
          <p:nvPr/>
        </p:nvSpPr>
        <p:spPr>
          <a:xfrm>
            <a:off x="1016000" y="5162550"/>
            <a:ext cx="768985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2" indent="-285750">
              <a:lnSpc>
                <a:spcPts val="3000"/>
              </a:lnSpc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通常，由周期性数字序列经过滤波等处理后得到。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285750" lvl="2" indent="-285750">
              <a:lnSpc>
                <a:spcPts val="3000"/>
              </a:lnSpc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因此，将这种周期性数字序列称为伪随机序列。</a:t>
            </a:r>
            <a:endParaRPr lang="zh-CN" altLang="en-US" sz="2000" b="1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1E7573-ADB6-6C68-89E9-B04BCE7A6B05}"/>
              </a:ext>
            </a:extLst>
          </p:cNvPr>
          <p:cNvSpPr/>
          <p:nvPr/>
        </p:nvSpPr>
        <p:spPr>
          <a:xfrm>
            <a:off x="857250" y="4614863"/>
            <a:ext cx="4070350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如何产生伪随机噪声？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4AA829-E717-B0F2-8FAD-CCED45D85314}"/>
              </a:ext>
            </a:extLst>
          </p:cNvPr>
          <p:cNvSpPr/>
          <p:nvPr/>
        </p:nvSpPr>
        <p:spPr>
          <a:xfrm>
            <a:off x="836613" y="1206500"/>
            <a:ext cx="2268537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伪随机序列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1991" name="矩形 10">
            <a:extLst>
              <a:ext uri="{FF2B5EF4-FFF2-40B4-BE49-F238E27FC236}">
                <a16:creationId xmlns:a16="http://schemas.microsoft.com/office/drawing/2014/main" id="{337CA6BC-4283-20E2-6371-19AF81B56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84350"/>
            <a:ext cx="764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0000"/>
              <a:buFont typeface="Wingdings" panose="05000000000000000000" pitchFamily="2" charset="2"/>
              <a:buChar char="u"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又称伪随机噪声，伪随机信号，伪随机码。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992" name="Picture 10">
            <a:extLst>
              <a:ext uri="{FF2B5EF4-FFF2-40B4-BE49-F238E27FC236}">
                <a16:creationId xmlns:a16="http://schemas.microsoft.com/office/drawing/2014/main" id="{3C3CCE41-1632-5FC1-3EDC-A63A9A92F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3073400"/>
            <a:ext cx="73136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3" name="Picture 11">
            <a:extLst>
              <a:ext uri="{FF2B5EF4-FFF2-40B4-BE49-F238E27FC236}">
                <a16:creationId xmlns:a16="http://schemas.microsoft.com/office/drawing/2014/main" id="{055B9D83-3430-0193-CA20-10A6CEA7C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3562350"/>
            <a:ext cx="7327900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6FAA9D3-A207-77EE-52EA-FDF07BB6AA5D}"/>
              </a:ext>
            </a:extLst>
          </p:cNvPr>
          <p:cNvSpPr/>
          <p:nvPr/>
        </p:nvSpPr>
        <p:spPr>
          <a:xfrm>
            <a:off x="38100" y="450850"/>
            <a:ext cx="65341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12</a:t>
            </a:r>
            <a:r>
              <a:rPr lang="en-US" altLang="zh-CN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.2.2</a:t>
            </a: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序列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BA6E7A-464D-1A1C-038B-B58CCEDF786E}"/>
              </a:ext>
            </a:extLst>
          </p:cNvPr>
          <p:cNvSpPr/>
          <p:nvPr/>
        </p:nvSpPr>
        <p:spPr>
          <a:xfrm>
            <a:off x="833438" y="1236663"/>
            <a:ext cx="2805112" cy="5032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1.</a:t>
            </a:r>
            <a:r>
              <a:rPr lang="zh-CN" altLang="en-US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  </a:t>
            </a:r>
            <a:r>
              <a:rPr lang="en-US" altLang="zh-CN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m</a:t>
            </a:r>
            <a:r>
              <a:rPr lang="zh-CN" altLang="en-US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序列的产生</a:t>
            </a:r>
            <a:endParaRPr lang="zh-CN" altLang="en-US" sz="2800" b="1" kern="0" dirty="0">
              <a:solidFill>
                <a:srgbClr val="0000CC"/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  <p:sp>
        <p:nvSpPr>
          <p:cNvPr id="43012" name="矩形 15">
            <a:extLst>
              <a:ext uri="{FF2B5EF4-FFF2-40B4-BE49-F238E27FC236}">
                <a16:creationId xmlns:a16="http://schemas.microsoft.com/office/drawing/2014/main" id="{1D259EAC-A97D-9056-BB8D-1EB7E364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73450"/>
            <a:ext cx="426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下图中示出一个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级线性反馈移存器。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013" name="Group 22">
            <a:extLst>
              <a:ext uri="{FF2B5EF4-FFF2-40B4-BE49-F238E27FC236}">
                <a16:creationId xmlns:a16="http://schemas.microsoft.com/office/drawing/2014/main" id="{027BEA80-4A54-3399-8466-F50BA93CE64B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3340100"/>
            <a:ext cx="706437" cy="577850"/>
            <a:chOff x="1655" y="845"/>
            <a:chExt cx="454" cy="453"/>
          </a:xfrm>
        </p:grpSpPr>
        <p:grpSp>
          <p:nvGrpSpPr>
            <p:cNvPr id="43017" name="Group 23">
              <a:extLst>
                <a:ext uri="{FF2B5EF4-FFF2-40B4-BE49-F238E27FC236}">
                  <a16:creationId xmlns:a16="http://schemas.microsoft.com/office/drawing/2014/main" id="{E47CC9BF-6CB8-5F9B-F219-CB9CCC3DB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43019" name="Oval 24">
                <a:extLst>
                  <a:ext uri="{FF2B5EF4-FFF2-40B4-BE49-F238E27FC236}">
                    <a16:creationId xmlns:a16="http://schemas.microsoft.com/office/drawing/2014/main" id="{9906F03F-A725-42A7-B5BC-608337A52D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20" name="Oval 25">
                <a:extLst>
                  <a:ext uri="{FF2B5EF4-FFF2-40B4-BE49-F238E27FC236}">
                    <a16:creationId xmlns:a16="http://schemas.microsoft.com/office/drawing/2014/main" id="{5ECD9644-B70B-E726-9DDC-6EA7E34A97A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21" name="Oval 26">
                <a:extLst>
                  <a:ext uri="{FF2B5EF4-FFF2-40B4-BE49-F238E27FC236}">
                    <a16:creationId xmlns:a16="http://schemas.microsoft.com/office/drawing/2014/main" id="{EE3F7924-BCD7-40A9-17F6-4DD16DF6B26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22" name="Oval 27">
                <a:extLst>
                  <a:ext uri="{FF2B5EF4-FFF2-40B4-BE49-F238E27FC236}">
                    <a16:creationId xmlns:a16="http://schemas.microsoft.com/office/drawing/2014/main" id="{547BCCFF-1F07-2E11-13EA-F58C3FDAB72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023" name="Oval 28">
                <a:extLst>
                  <a:ext uri="{FF2B5EF4-FFF2-40B4-BE49-F238E27FC236}">
                    <a16:creationId xmlns:a16="http://schemas.microsoft.com/office/drawing/2014/main" id="{9B45F3F9-45B6-7ADA-C5CB-37EACBF83E8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3018" name="Text Box 29">
              <a:extLst>
                <a:ext uri="{FF2B5EF4-FFF2-40B4-BE49-F238E27FC236}">
                  <a16:creationId xmlns:a16="http://schemas.microsoft.com/office/drawing/2014/main" id="{72232979-177C-8D3A-3A41-6B39D8A12CD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pic>
        <p:nvPicPr>
          <p:cNvPr id="43014" name="Picture 4" descr="t1002">
            <a:extLst>
              <a:ext uri="{FF2B5EF4-FFF2-40B4-BE49-F238E27FC236}">
                <a16:creationId xmlns:a16="http://schemas.microsoft.com/office/drawing/2014/main" id="{523BC8B0-3FD5-83F9-F867-176A98810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94"/>
          <a:stretch>
            <a:fillRect/>
          </a:stretch>
        </p:blipFill>
        <p:spPr bwMode="auto">
          <a:xfrm>
            <a:off x="1638300" y="3873500"/>
            <a:ext cx="5378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矩形 26">
            <a:extLst>
              <a:ext uri="{FF2B5EF4-FFF2-40B4-BE49-F238E27FC236}">
                <a16:creationId xmlns:a16="http://schemas.microsoft.com/office/drawing/2014/main" id="{12EB80E0-F24A-E57A-E4AC-A25CE4248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127625"/>
            <a:ext cx="78676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设其初始状态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= (1, 0, 0, 0)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，则在移位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次时，由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endParaRPr lang="en-US" altLang="zh-CN" sz="2000" baseline="-25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相加产生新的输入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 = 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，新的状态变为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(1, 1, 0, 0)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。这样移位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次后又回到初始状态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(1, 0, 0, 0)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43016" name="Picture 18">
            <a:extLst>
              <a:ext uri="{FF2B5EF4-FFF2-40B4-BE49-F238E27FC236}">
                <a16:creationId xmlns:a16="http://schemas.microsoft.com/office/drawing/2014/main" id="{EC4F3B44-E0FC-DB14-BECF-BAA472E8E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797050"/>
            <a:ext cx="7823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 descr="t1002">
            <a:extLst>
              <a:ext uri="{FF2B5EF4-FFF2-40B4-BE49-F238E27FC236}">
                <a16:creationId xmlns:a16="http://schemas.microsoft.com/office/drawing/2014/main" id="{30B9CEC6-E383-B895-0B77-6F91EEBF5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3" t="21294" r="7666"/>
          <a:stretch>
            <a:fillRect/>
          </a:stretch>
        </p:blipFill>
        <p:spPr bwMode="auto">
          <a:xfrm>
            <a:off x="5594350" y="1857375"/>
            <a:ext cx="351155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11C328E-87E0-CB0C-4BBA-DAE570470EC3}"/>
              </a:ext>
            </a:extLst>
          </p:cNvPr>
          <p:cNvSpPr/>
          <p:nvPr/>
        </p:nvSpPr>
        <p:spPr>
          <a:xfrm>
            <a:off x="882650" y="1046163"/>
            <a:ext cx="7556500" cy="871537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若初始状态为全“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，即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(0, 0, 0, 0)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，则移位后得到的仍为全“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状态。应该避免出现全“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状态，否则移存器的状态将不	会改变。 </a:t>
            </a:r>
          </a:p>
        </p:txBody>
      </p:sp>
      <p:pic>
        <p:nvPicPr>
          <p:cNvPr id="44036" name="Picture 4" descr="t1002">
            <a:extLst>
              <a:ext uri="{FF2B5EF4-FFF2-40B4-BE49-F238E27FC236}">
                <a16:creationId xmlns:a16="http://schemas.microsoft.com/office/drawing/2014/main" id="{E517419A-2B0E-139F-D8ED-520B1D599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94"/>
          <a:stretch>
            <a:fillRect/>
          </a:stretch>
        </p:blipFill>
        <p:spPr bwMode="auto">
          <a:xfrm>
            <a:off x="215900" y="1962150"/>
            <a:ext cx="5378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10C75C7-6508-4622-8F39-4E1656015467}"/>
              </a:ext>
            </a:extLst>
          </p:cNvPr>
          <p:cNvSpPr/>
          <p:nvPr/>
        </p:nvSpPr>
        <p:spPr>
          <a:xfrm>
            <a:off x="958850" y="5313363"/>
            <a:ext cx="4533900" cy="912812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一般来说，一个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 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级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线性反馈移存器可能产生的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最长周期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等于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(2</a:t>
            </a:r>
            <a:r>
              <a:rPr lang="en-US" altLang="zh-CN" sz="2000" b="1" i="1" baseline="30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- 1)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E84A1F-C859-ECB4-86AD-5CD870096247}"/>
              </a:ext>
            </a:extLst>
          </p:cNvPr>
          <p:cNvSpPr/>
          <p:nvPr/>
        </p:nvSpPr>
        <p:spPr>
          <a:xfrm>
            <a:off x="927100" y="3384550"/>
            <a:ext cx="4572000" cy="1733550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级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移存器共有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2000" b="1" baseline="30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 = 16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种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可能的状态。除全“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0”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状态外，只剩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15</a:t>
            </a:r>
            <a:r>
              <a:rPr lang="zh-CN" altLang="en-US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种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状态可用。</a:t>
            </a:r>
            <a:endParaRPr lang="en-US" altLang="zh-CN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这就是说，由任何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级反馈移存器产生的序列的周期最长为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15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5" descr="t1003">
            <a:extLst>
              <a:ext uri="{FF2B5EF4-FFF2-40B4-BE49-F238E27FC236}">
                <a16:creationId xmlns:a16="http://schemas.microsoft.com/office/drawing/2014/main" id="{7A994AD2-D25C-790C-CAD3-AD05E6DC1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138363"/>
            <a:ext cx="7065963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ED7148-0C16-68F1-424D-E3B81339811A}"/>
              </a:ext>
            </a:extLst>
          </p:cNvPr>
          <p:cNvSpPr/>
          <p:nvPr/>
        </p:nvSpPr>
        <p:spPr>
          <a:xfrm>
            <a:off x="838200" y="1544638"/>
            <a:ext cx="72453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一般的线性反馈移存器原理方框图</a:t>
            </a:r>
          </a:p>
        </p:txBody>
      </p:sp>
      <p:pic>
        <p:nvPicPr>
          <p:cNvPr id="45060" name="Picture 9">
            <a:extLst>
              <a:ext uri="{FF2B5EF4-FFF2-40B4-BE49-F238E27FC236}">
                <a16:creationId xmlns:a16="http://schemas.microsoft.com/office/drawing/2014/main" id="{ED6C0DF0-BD1C-D923-FB3F-73858CFA8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541338"/>
            <a:ext cx="89789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10">
            <a:extLst>
              <a:ext uri="{FF2B5EF4-FFF2-40B4-BE49-F238E27FC236}">
                <a16:creationId xmlns:a16="http://schemas.microsoft.com/office/drawing/2014/main" id="{1ED7C9F9-13D5-A426-96E8-E6D649E77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5"/>
          <a:stretch>
            <a:fillRect/>
          </a:stretch>
        </p:blipFill>
        <p:spPr bwMode="auto">
          <a:xfrm>
            <a:off x="822325" y="4252913"/>
            <a:ext cx="7616825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5">
            <a:extLst>
              <a:ext uri="{FF2B5EF4-FFF2-40B4-BE49-F238E27FC236}">
                <a16:creationId xmlns:a16="http://schemas.microsoft.com/office/drawing/2014/main" id="{D1B01022-5E58-FE8D-CE73-07248C862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63965399-9163-E170-609E-8EB2B6CCE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2A218-1B7C-573C-5015-BA29C4951BE2}"/>
              </a:ext>
            </a:extLst>
          </p:cNvPr>
          <p:cNvSpPr/>
          <p:nvPr/>
        </p:nvSpPr>
        <p:spPr>
          <a:xfrm>
            <a:off x="660400" y="495300"/>
            <a:ext cx="24003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基本关系式</a:t>
            </a:r>
            <a:endParaRPr lang="zh-CN" altLang="en-US" sz="2800" b="1" kern="0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318" name="矩形 11">
            <a:extLst>
              <a:ext uri="{FF2B5EF4-FFF2-40B4-BE49-F238E27FC236}">
                <a16:creationId xmlns:a16="http://schemas.microsoft.com/office/drawing/2014/main" id="{2D8B24F4-5035-4A8A-4E9C-1F6F6B991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539750"/>
            <a:ext cx="4749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与产生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序列有关的三个方程</a:t>
            </a:r>
            <a:endParaRPr lang="zh-CN" altLang="en-US" sz="240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DF27DC-CA1F-4700-C189-C4A779FBEF30}"/>
              </a:ext>
            </a:extLst>
          </p:cNvPr>
          <p:cNvSpPr/>
          <p:nvPr/>
        </p:nvSpPr>
        <p:spPr>
          <a:xfrm>
            <a:off x="750888" y="1206500"/>
            <a:ext cx="1954212" cy="425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Times New Roman"/>
                <a:ea typeface="微软雅黑" pitchFamily="34" charset="-122"/>
              </a:rPr>
              <a:t>1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/>
                <a:ea typeface="微软雅黑" pitchFamily="34" charset="-122"/>
              </a:rPr>
              <a:t>）递推方程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8D58E1-08BC-8ECC-6ED9-3FB5C0793F7D}"/>
              </a:ext>
            </a:extLst>
          </p:cNvPr>
          <p:cNvSpPr/>
          <p:nvPr/>
        </p:nvSpPr>
        <p:spPr>
          <a:xfrm>
            <a:off x="971550" y="1651000"/>
            <a:ext cx="59944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设一个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 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级移存器的初始状态为：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1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2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  <a:sym typeface="Symbol" pitchFamily="18" charset="2"/>
              </a:rPr>
              <a:t>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i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410FF6-83F1-4C52-AD76-BC1AB4435E3E}"/>
              </a:ext>
            </a:extLst>
          </p:cNvPr>
          <p:cNvSpPr/>
          <p:nvPr/>
        </p:nvSpPr>
        <p:spPr>
          <a:xfrm>
            <a:off x="971550" y="2184400"/>
            <a:ext cx="14874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1 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次移位后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: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268F90-53A4-1915-CC8A-448D14E5FEE7}"/>
              </a:ext>
            </a:extLst>
          </p:cNvPr>
          <p:cNvSpPr/>
          <p:nvPr/>
        </p:nvSpPr>
        <p:spPr>
          <a:xfrm>
            <a:off x="2419350" y="2103438"/>
            <a:ext cx="21447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0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1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  <a:sym typeface="Symbol" pitchFamily="18" charset="2"/>
              </a:rPr>
              <a:t>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i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＋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1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05DFBB-D2D3-C156-5541-768A050CBFAD}"/>
              </a:ext>
            </a:extLst>
          </p:cNvPr>
          <p:cNvSpPr/>
          <p:nvPr/>
        </p:nvSpPr>
        <p:spPr>
          <a:xfrm>
            <a:off x="4749800" y="2184400"/>
            <a:ext cx="15668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i="1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 n 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次移位后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: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36709C-4CFD-4907-B21E-1D5648A8A62A}"/>
              </a:ext>
            </a:extLst>
          </p:cNvPr>
          <p:cNvSpPr/>
          <p:nvPr/>
        </p:nvSpPr>
        <p:spPr>
          <a:xfrm>
            <a:off x="6242050" y="2108200"/>
            <a:ext cx="20542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i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1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i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</a:t>
            </a:r>
            <a:r>
              <a:rPr lang="zh-CN" altLang="en-US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－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2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 </a:t>
            </a:r>
            <a:r>
              <a:rPr lang="en-US" altLang="zh-CN" sz="2400" b="1" kern="0" dirty="0">
                <a:solidFill>
                  <a:srgbClr val="0000CC"/>
                </a:solidFill>
                <a:latin typeface="Times New Roman"/>
                <a:ea typeface="微软雅黑" pitchFamily="34" charset="-122"/>
                <a:sym typeface="Symbol" pitchFamily="18" charset="2"/>
              </a:rPr>
              <a:t>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0</a:t>
            </a:r>
            <a:endParaRPr lang="zh-CN" altLang="en-US" sz="2400" b="1" dirty="0">
              <a:solidFill>
                <a:srgbClr val="0000CC"/>
              </a:solidFill>
            </a:endParaRPr>
          </a:p>
        </p:txBody>
      </p:sp>
      <p:pic>
        <p:nvPicPr>
          <p:cNvPr id="13325" name="Picture 5" descr="t1003">
            <a:extLst>
              <a:ext uri="{FF2B5EF4-FFF2-40B4-BE49-F238E27FC236}">
                <a16:creationId xmlns:a16="http://schemas.microsoft.com/office/drawing/2014/main" id="{02DADC3C-F095-F52B-1EFA-0CB3A9F3E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2687638"/>
            <a:ext cx="6843712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0AAE118-933B-A464-5969-7F73BED296FB}"/>
              </a:ext>
            </a:extLst>
          </p:cNvPr>
          <p:cNvSpPr/>
          <p:nvPr/>
        </p:nvSpPr>
        <p:spPr>
          <a:xfrm>
            <a:off x="950913" y="2628900"/>
            <a:ext cx="95408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如图：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013A9-5A92-D585-49C6-4D272E689C78}"/>
              </a:ext>
            </a:extLst>
          </p:cNvPr>
          <p:cNvSpPr/>
          <p:nvPr/>
        </p:nvSpPr>
        <p:spPr>
          <a:xfrm>
            <a:off x="927100" y="4694238"/>
            <a:ext cx="7823200" cy="9128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再移位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1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次时，移存器</a:t>
            </a:r>
            <a:r>
              <a:rPr lang="zh-CN" altLang="en-US" sz="2000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左端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/>
                <a:ea typeface="微软雅黑" pitchFamily="34" charset="-122"/>
              </a:rPr>
              <a:t>新得到的输入</a:t>
            </a:r>
            <a:r>
              <a:rPr lang="en-US" altLang="zh-CN" sz="2400" b="1" i="1" kern="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i="1" kern="0" baseline="-25000" dirty="0">
                <a:solidFill>
                  <a:srgbClr val="0000CC"/>
                </a:solidFill>
                <a:latin typeface="Times New Roman"/>
                <a:ea typeface="微软雅黑" pitchFamily="34" charset="-122"/>
              </a:rPr>
              <a:t>n</a:t>
            </a:r>
            <a:r>
              <a:rPr lang="zh-CN" altLang="en-US" sz="2400" dirty="0">
                <a:ea typeface="微软雅黑" pitchFamily="34" charset="-122"/>
              </a:rPr>
              <a:t> </a:t>
            </a:r>
            <a:r>
              <a:rPr lang="zh-CN" altLang="en-US" sz="2000" dirty="0">
                <a:ea typeface="微软雅黑" pitchFamily="34" charset="-122"/>
              </a:rPr>
              <a:t>，按图中线路连接关系，可写为</a:t>
            </a:r>
            <a:r>
              <a:rPr lang="en-US" altLang="zh-CN" sz="2000" dirty="0">
                <a:ea typeface="微软雅黑" pitchFamily="34" charset="-122"/>
              </a:rPr>
              <a:t>:</a:t>
            </a:r>
            <a:endParaRPr lang="zh-CN" altLang="en-US" sz="2000" dirty="0">
              <a:solidFill>
                <a:srgbClr val="0000CC"/>
              </a:solidFill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47D6D4BA-4746-5A43-F015-038E5C3EE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5384800"/>
          <a:ext cx="65833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68680" imgH="431640" progId="Equation.3">
                  <p:embed/>
                </p:oleObj>
              </mc:Choice>
              <mc:Fallback>
                <p:oleObj name="公式" r:id="rId3" imgW="35686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5384800"/>
                        <a:ext cx="6583363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>
            <a:extLst>
              <a:ext uri="{FF2B5EF4-FFF2-40B4-BE49-F238E27FC236}">
                <a16:creationId xmlns:a16="http://schemas.microsoft.com/office/drawing/2014/main" id="{7E8B804A-A970-3390-D5EB-65222C6E3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100" y="4540250"/>
            <a:ext cx="6889750" cy="4445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0">
                <a:ea typeface="微软雅黑" panose="020B0503020204020204" pitchFamily="34" charset="-122"/>
              </a:rPr>
              <a:t>按照递推方程计算，可以用软件产生</a:t>
            </a:r>
            <a:r>
              <a:rPr lang="en-US" altLang="zh-CN" sz="2000" i="1">
                <a:ea typeface="微软雅黑" panose="020B0503020204020204" pitchFamily="34" charset="-122"/>
              </a:rPr>
              <a:t>m</a:t>
            </a:r>
            <a:r>
              <a:rPr lang="zh-CN" altLang="en-US" sz="2000">
                <a:ea typeface="微软雅黑" panose="020B0503020204020204" pitchFamily="34" charset="-122"/>
              </a:rPr>
              <a:t>序列</a:t>
            </a:r>
            <a:r>
              <a:rPr lang="zh-CN" altLang="en-US" sz="2000" b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6F8BB759-1690-FDFB-0607-A98E1C1BB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2" name="Rectangle 7">
            <a:extLst>
              <a:ext uri="{FF2B5EF4-FFF2-40B4-BE49-F238E27FC236}">
                <a16:creationId xmlns:a16="http://schemas.microsoft.com/office/drawing/2014/main" id="{7C4FA6A3-E66A-9864-C7DA-F62A968F4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5062" name="Object 6">
            <a:extLst>
              <a:ext uri="{FF2B5EF4-FFF2-40B4-BE49-F238E27FC236}">
                <a16:creationId xmlns:a16="http://schemas.microsoft.com/office/drawing/2014/main" id="{506B84DD-DDEC-FF0E-DFFD-E253A43E67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2762250"/>
          <a:ext cx="1930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88614" imgH="431613" progId="Equation.3">
                  <p:embed/>
                </p:oleObj>
              </mc:Choice>
              <mc:Fallback>
                <p:oleObj name="公式" r:id="rId2" imgW="888614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762250"/>
                        <a:ext cx="1930400" cy="9334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58B22DD0-95C3-1582-3DDD-2ACFC4325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700" y="1073150"/>
          <a:ext cx="65833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68680" imgH="431640" progId="Equation.3">
                  <p:embed/>
                </p:oleObj>
              </mc:Choice>
              <mc:Fallback>
                <p:oleObj name="公式" r:id="rId4" imgW="35686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1073150"/>
                        <a:ext cx="6583363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6991D2D6-B621-69CF-FD9C-4E305CE49B17}"/>
              </a:ext>
            </a:extLst>
          </p:cNvPr>
          <p:cNvSpPr/>
          <p:nvPr/>
        </p:nvSpPr>
        <p:spPr>
          <a:xfrm>
            <a:off x="971550" y="2006600"/>
            <a:ext cx="6350000" cy="4968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一般说来，对于任意一个输入</a:t>
            </a:r>
            <a:r>
              <a:rPr lang="en-US" altLang="zh-CN" sz="2400" i="1" kern="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i="1" kern="0" baseline="-25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k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，有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8E8C36-0E77-C583-021B-0493F1BF3A20}"/>
              </a:ext>
            </a:extLst>
          </p:cNvPr>
          <p:cNvSpPr/>
          <p:nvPr/>
        </p:nvSpPr>
        <p:spPr>
          <a:xfrm>
            <a:off x="5461000" y="3028950"/>
            <a:ext cx="20431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--- 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称为</a:t>
            </a:r>
            <a:r>
              <a:rPr lang="zh-CN" altLang="en-US" sz="2000" b="1" kern="0" dirty="0">
                <a:solidFill>
                  <a:srgbClr val="FF0000"/>
                </a:solidFill>
                <a:latin typeface="Times New Roman"/>
                <a:ea typeface="微软雅黑" pitchFamily="34" charset="-122"/>
              </a:rPr>
              <a:t>递推方程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66691-8FB7-9BBA-165C-232ECEF18D7C}"/>
              </a:ext>
            </a:extLst>
          </p:cNvPr>
          <p:cNvSpPr/>
          <p:nvPr/>
        </p:nvSpPr>
        <p:spPr>
          <a:xfrm>
            <a:off x="927100" y="3917950"/>
            <a:ext cx="63944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它给出了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itchFamily="34" charset="-122"/>
              </a:rPr>
              <a:t>移位输入</a:t>
            </a:r>
            <a:r>
              <a:rPr lang="en-US" altLang="zh-CN" sz="2400" b="1" i="1" kern="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a</a:t>
            </a:r>
            <a:r>
              <a:rPr lang="en-US" altLang="zh-CN" sz="2400" b="1" i="1" kern="0" baseline="-25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k</a:t>
            </a:r>
            <a:r>
              <a:rPr lang="en-US" altLang="zh-CN" sz="2000" b="1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itchFamily="34" charset="-122"/>
              </a:rPr>
              <a:t>与移位前各级状态的关系。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3423B5B-C99C-038A-2F94-DB1B13B90808}"/>
              </a:ext>
            </a:extLst>
          </p:cNvPr>
          <p:cNvSpPr/>
          <p:nvPr/>
        </p:nvSpPr>
        <p:spPr>
          <a:xfrm>
            <a:off x="750888" y="1206500"/>
            <a:ext cx="4157662" cy="425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4" indent="-28575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特征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方程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（特征多项式）</a:t>
            </a:r>
            <a:r>
              <a:rPr lang="zh-CN" altLang="en-US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06D84E-0DCD-3B91-A9D4-FD8C849D9C14}"/>
              </a:ext>
            </a:extLst>
          </p:cNvPr>
          <p:cNvSpPr/>
          <p:nvPr/>
        </p:nvSpPr>
        <p:spPr>
          <a:xfrm>
            <a:off x="927100" y="2806700"/>
            <a:ext cx="74676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lt"/>
                <a:ea typeface="微软雅黑" pitchFamily="34" charset="-122"/>
              </a:rPr>
              <a:t>它决定了移存器的反馈连接和序列的结构。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76480C-9AD9-487A-9BAB-DF1D4AEF8FD9}"/>
              </a:ext>
            </a:extLst>
          </p:cNvPr>
          <p:cNvSpPr/>
          <p:nvPr/>
        </p:nvSpPr>
        <p:spPr>
          <a:xfrm>
            <a:off x="927100" y="3295650"/>
            <a:ext cx="7823200" cy="88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式中，</a:t>
            </a:r>
            <a:r>
              <a:rPr lang="zh-CN" altLang="en-US" sz="24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 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x</a:t>
            </a:r>
            <a:r>
              <a:rPr lang="en-US" altLang="zh-CN" sz="2400" b="1" i="1" baseline="-25000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i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仅指明其系数（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）代表</a:t>
            </a:r>
            <a:r>
              <a:rPr lang="zh-CN" altLang="en-US" sz="2000" kern="0" dirty="0">
                <a:latin typeface="+mj-lt"/>
                <a:ea typeface="微软雅黑" pitchFamily="34" charset="-122"/>
                <a:cs typeface="Arial" pitchFamily="34" charset="0"/>
              </a:rPr>
              <a:t>反馈线的连接状态</a:t>
            </a:r>
            <a:r>
              <a:rPr lang="en-US" altLang="zh-CN" sz="2400" b="1" i="1" dirty="0" err="1">
                <a:solidFill>
                  <a:srgbClr val="FF0000"/>
                </a:solidFill>
                <a:latin typeface="+mn-lt"/>
                <a:ea typeface="微软雅黑" pitchFamily="34" charset="-122"/>
              </a:rPr>
              <a:t>c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+mn-lt"/>
                <a:ea typeface="微软雅黑" pitchFamily="34" charset="-122"/>
              </a:rPr>
              <a:t>i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的值，</a:t>
            </a:r>
            <a:endParaRPr lang="en-US" altLang="zh-CN" sz="2000" dirty="0">
              <a:solidFill>
                <a:srgbClr val="000000"/>
              </a:solidFill>
              <a:latin typeface="+mn-lt"/>
              <a:ea typeface="微软雅黑" pitchFamily="34" charset="-122"/>
            </a:endParaRPr>
          </a:p>
          <a:p>
            <a:pPr>
              <a:lnSpc>
                <a:spcPts val="3200"/>
              </a:lnSpc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             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微软雅黑" pitchFamily="34" charset="-122"/>
              </a:rPr>
              <a:t>本身的取值并无实际意义。</a:t>
            </a:r>
            <a:endParaRPr lang="zh-CN" altLang="en-US" sz="2000" dirty="0">
              <a:latin typeface="+mn-lt"/>
              <a:ea typeface="微软雅黑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2BE1EF2-52E7-CBD4-C237-813DE8143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4184650"/>
            <a:ext cx="79565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b="1" i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400" b="1" i="1" kern="0" dirty="0" err="1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400" b="1" i="1" kern="0" baseline="-25000" dirty="0" err="1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i</a:t>
            </a:r>
            <a:r>
              <a:rPr lang="zh-CN" altLang="en-US" sz="2400" b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400" b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1 </a:t>
            </a:r>
            <a:r>
              <a:rPr lang="zh-CN" altLang="en-US" sz="2000" kern="0" dirty="0">
                <a:latin typeface="+mj-lt"/>
                <a:ea typeface="微软雅黑" pitchFamily="34" charset="-122"/>
                <a:cs typeface="Arial" pitchFamily="34" charset="0"/>
              </a:rPr>
              <a:t>表示此线接通（参加反馈）；</a:t>
            </a:r>
            <a:r>
              <a:rPr lang="en-US" altLang="zh-CN" sz="2400" b="1" i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400" b="1" i="1" kern="0" dirty="0" err="1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400" b="1" i="1" kern="0" baseline="-25000" dirty="0" err="1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i</a:t>
            </a:r>
            <a:r>
              <a:rPr lang="zh-CN" altLang="en-US" sz="2400" b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400" b="1" kern="0" dirty="0">
                <a:solidFill>
                  <a:srgbClr val="FF0000"/>
                </a:solidFill>
                <a:latin typeface="+mj-lt"/>
                <a:ea typeface="微软雅黑" pitchFamily="34" charset="-122"/>
                <a:cs typeface="Arial" pitchFamily="34" charset="0"/>
              </a:rPr>
              <a:t>0 </a:t>
            </a:r>
            <a:r>
              <a:rPr lang="zh-CN" altLang="en-US" sz="2000" kern="0" dirty="0">
                <a:latin typeface="+mj-lt"/>
                <a:ea typeface="微软雅黑" pitchFamily="34" charset="-122"/>
                <a:cs typeface="Arial" pitchFamily="34" charset="0"/>
              </a:rPr>
              <a:t>表示此线断开。</a:t>
            </a:r>
          </a:p>
        </p:txBody>
      </p:sp>
      <p:sp>
        <p:nvSpPr>
          <p:cNvPr id="15368" name="矩形 9">
            <a:extLst>
              <a:ext uri="{FF2B5EF4-FFF2-40B4-BE49-F238E27FC236}">
                <a16:creationId xmlns:a16="http://schemas.microsoft.com/office/drawing/2014/main" id="{C19B1DEC-C469-CCF9-22F1-AE4552311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4984750"/>
            <a:ext cx="1778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若特征方程为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5369" name="Group 22">
            <a:extLst>
              <a:ext uri="{FF2B5EF4-FFF2-40B4-BE49-F238E27FC236}">
                <a16:creationId xmlns:a16="http://schemas.microsoft.com/office/drawing/2014/main" id="{5AB107D7-7BFF-0C2F-7E50-96FDEA2A270E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4851400"/>
            <a:ext cx="706437" cy="577850"/>
            <a:chOff x="1655" y="845"/>
            <a:chExt cx="454" cy="453"/>
          </a:xfrm>
        </p:grpSpPr>
        <p:grpSp>
          <p:nvGrpSpPr>
            <p:cNvPr id="15371" name="Group 23">
              <a:extLst>
                <a:ext uri="{FF2B5EF4-FFF2-40B4-BE49-F238E27FC236}">
                  <a16:creationId xmlns:a16="http://schemas.microsoft.com/office/drawing/2014/main" id="{414347B5-0C0A-335A-3A72-281AAAB697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5373" name="Oval 24">
                <a:extLst>
                  <a:ext uri="{FF2B5EF4-FFF2-40B4-BE49-F238E27FC236}">
                    <a16:creationId xmlns:a16="http://schemas.microsoft.com/office/drawing/2014/main" id="{7430B7E6-553B-B04E-54AE-666EBD530F1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74" name="Oval 25">
                <a:extLst>
                  <a:ext uri="{FF2B5EF4-FFF2-40B4-BE49-F238E27FC236}">
                    <a16:creationId xmlns:a16="http://schemas.microsoft.com/office/drawing/2014/main" id="{F6E5617A-6028-BC2C-B24A-B5297A931F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75" name="Oval 26">
                <a:extLst>
                  <a:ext uri="{FF2B5EF4-FFF2-40B4-BE49-F238E27FC236}">
                    <a16:creationId xmlns:a16="http://schemas.microsoft.com/office/drawing/2014/main" id="{75BD2811-5ABE-EAFE-353B-FEFD866F145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76" name="Oval 27">
                <a:extLst>
                  <a:ext uri="{FF2B5EF4-FFF2-40B4-BE49-F238E27FC236}">
                    <a16:creationId xmlns:a16="http://schemas.microsoft.com/office/drawing/2014/main" id="{AF343A5B-5151-B77E-477A-BB02480D924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77" name="Oval 28">
                <a:extLst>
                  <a:ext uri="{FF2B5EF4-FFF2-40B4-BE49-F238E27FC236}">
                    <a16:creationId xmlns:a16="http://schemas.microsoft.com/office/drawing/2014/main" id="{7678EEA3-4A41-3963-1577-A9BA0B029AA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372" name="Text Box 29">
              <a:extLst>
                <a:ext uri="{FF2B5EF4-FFF2-40B4-BE49-F238E27FC236}">
                  <a16:creationId xmlns:a16="http://schemas.microsoft.com/office/drawing/2014/main" id="{15E7C561-AD7D-AA60-D10E-CCA94884C22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aphicFrame>
        <p:nvGraphicFramePr>
          <p:cNvPr id="46086" name="Object 6">
            <a:extLst>
              <a:ext uri="{FF2B5EF4-FFF2-40B4-BE49-F238E27FC236}">
                <a16:creationId xmlns:a16="http://schemas.microsoft.com/office/drawing/2014/main" id="{CE5771C9-5C89-2437-B349-B9CDAE636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3913" y="4984750"/>
          <a:ext cx="20526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4100" imgH="228600" progId="Equation.3">
                  <p:embed/>
                </p:oleObj>
              </mc:Choice>
              <mc:Fallback>
                <p:oleObj name="公式" r:id="rId2" imgW="1054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4984750"/>
                        <a:ext cx="205263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A378FCF0-F341-A58B-E8E2-0FB36C2B7B46}"/>
              </a:ext>
            </a:extLst>
          </p:cNvPr>
          <p:cNvSpPr/>
          <p:nvPr/>
        </p:nvSpPr>
        <p:spPr>
          <a:xfrm>
            <a:off x="971550" y="5473700"/>
            <a:ext cx="7467600" cy="9128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则它仅表示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en-US" altLang="zh-CN" sz="2000" b="1" i="1" baseline="-25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0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en-US" altLang="zh-CN" sz="2000" b="1" i="1" baseline="-25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和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x</a:t>
            </a:r>
            <a:r>
              <a:rPr lang="en-US" altLang="zh-CN" sz="2000" b="1" i="1" baseline="-25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4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的系数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其余的</a:t>
            </a:r>
            <a:r>
              <a:rPr lang="en-US" altLang="zh-CN" sz="2000" b="1" i="1" dirty="0" err="1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 err="1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i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0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，即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＝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0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。按照这一特征方程构成的反馈移存器就是上图所示的。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E172FC9-AE74-47C6-DF6C-C11B36564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5763" y="1784350"/>
          <a:ext cx="64722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92400" imgH="431800" progId="Equation.3">
                  <p:embed/>
                </p:oleObj>
              </mc:Choice>
              <mc:Fallback>
                <p:oleObj name="公式" r:id="rId4" imgW="26924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784350"/>
                        <a:ext cx="6472237" cy="9334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9" name="Object 5">
            <a:extLst>
              <a:ext uri="{FF2B5EF4-FFF2-40B4-BE49-F238E27FC236}">
                <a16:creationId xmlns:a16="http://schemas.microsoft.com/office/drawing/2014/main" id="{46ABBB7B-34A4-D772-4A6B-E6F625CE4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5050" y="1803400"/>
          <a:ext cx="5289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2200" imgH="431800" progId="Equation.3">
                  <p:embed/>
                </p:oleObj>
              </mc:Choice>
              <mc:Fallback>
                <p:oleObj name="公式" r:id="rId2" imgW="23622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1803400"/>
                        <a:ext cx="5289550" cy="9588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F8FB184-6363-A884-8266-22CBC99B7EA9}"/>
              </a:ext>
            </a:extLst>
          </p:cNvPr>
          <p:cNvSpPr/>
          <p:nvPr/>
        </p:nvSpPr>
        <p:spPr>
          <a:xfrm>
            <a:off x="750888" y="1206500"/>
            <a:ext cx="1695450" cy="425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4" indent="-28575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b="1" dirty="0">
                <a:solidFill>
                  <a:schemeClr val="hlink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母函数</a:t>
            </a:r>
            <a:r>
              <a:rPr lang="zh-CN" altLang="en-US" sz="24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5EF235-84C5-599F-2C0A-A55FBC475238}"/>
              </a:ext>
            </a:extLst>
          </p:cNvPr>
          <p:cNvSpPr/>
          <p:nvPr/>
        </p:nvSpPr>
        <p:spPr>
          <a:xfrm>
            <a:off x="882650" y="2984500"/>
            <a:ext cx="44450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它表示反馈移存器的输出序列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{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i="1" kern="0" dirty="0" err="1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a</a:t>
            </a:r>
            <a:r>
              <a:rPr lang="en-US" altLang="zh-CN" sz="2000" b="1" i="1" kern="0" baseline="-25000" dirty="0" err="1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k</a:t>
            </a:r>
            <a:r>
              <a:rPr lang="en-US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}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  <a:endParaRPr lang="zh-CN" altLang="en-US" dirty="0"/>
          </a:p>
        </p:txBody>
      </p:sp>
      <p:pic>
        <p:nvPicPr>
          <p:cNvPr id="16389" name="Picture 11">
            <a:extLst>
              <a:ext uri="{FF2B5EF4-FFF2-40B4-BE49-F238E27FC236}">
                <a16:creationId xmlns:a16="http://schemas.microsoft.com/office/drawing/2014/main" id="{884AED6D-E1A7-C9E7-3145-CCA79093C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3576638"/>
            <a:ext cx="7351713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2">
            <a:extLst>
              <a:ext uri="{FF2B5EF4-FFF2-40B4-BE49-F238E27FC236}">
                <a16:creationId xmlns:a16="http://schemas.microsoft.com/office/drawing/2014/main" id="{BABC1C37-8875-4A4F-78FA-5506183F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5230813"/>
            <a:ext cx="7518400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0AA89E3-B74B-7374-CD01-30E6EEA15437}"/>
              </a:ext>
            </a:extLst>
          </p:cNvPr>
          <p:cNvSpPr/>
          <p:nvPr/>
        </p:nvSpPr>
        <p:spPr>
          <a:xfrm>
            <a:off x="660400" y="495300"/>
            <a:ext cx="24003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几个定理</a:t>
            </a:r>
          </a:p>
        </p:txBody>
      </p:sp>
      <p:sp>
        <p:nvSpPr>
          <p:cNvPr id="17412" name="矩形 5">
            <a:extLst>
              <a:ext uri="{FF2B5EF4-FFF2-40B4-BE49-F238E27FC236}">
                <a16:creationId xmlns:a16="http://schemas.microsoft.com/office/drawing/2014/main" id="{7A1D439F-A8B9-D73F-AF0C-C4CAA979B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584200"/>
            <a:ext cx="5006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有关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序列和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序列产生器性质</a:t>
            </a:r>
            <a:endParaRPr lang="zh-CN" altLang="en-US" sz="2400"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49161" name="Object 9">
            <a:extLst>
              <a:ext uri="{FF2B5EF4-FFF2-40B4-BE49-F238E27FC236}">
                <a16:creationId xmlns:a16="http://schemas.microsoft.com/office/drawing/2014/main" id="{E6B87B6F-B6F3-F82A-12A5-90C89D0C5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7275" y="2895600"/>
          <a:ext cx="53562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59100" imgH="431800" progId="Equation.3">
                  <p:embed/>
                </p:oleObj>
              </mc:Choice>
              <mc:Fallback>
                <p:oleObj name="公式" r:id="rId2" imgW="29591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2895600"/>
                        <a:ext cx="5356225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矩形 10">
            <a:extLst>
              <a:ext uri="{FF2B5EF4-FFF2-40B4-BE49-F238E27FC236}">
                <a16:creationId xmlns:a16="http://schemas.microsoft.com/office/drawing/2014/main" id="{6AAE5C24-0C32-40ED-4336-35CC9AA21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784600"/>
            <a:ext cx="653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可见，当电路给定后，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仅决定于初始状态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-i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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17414" name="Picture 11">
            <a:extLst>
              <a:ext uri="{FF2B5EF4-FFF2-40B4-BE49-F238E27FC236}">
                <a16:creationId xmlns:a16="http://schemas.microsoft.com/office/drawing/2014/main" id="{D37DFFE9-960F-CC49-C159-B208F262A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339850"/>
            <a:ext cx="7999413" cy="137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2">
            <a:extLst>
              <a:ext uri="{FF2B5EF4-FFF2-40B4-BE49-F238E27FC236}">
                <a16:creationId xmlns:a16="http://schemas.microsoft.com/office/drawing/2014/main" id="{F81020CC-BC7D-07E6-DAC2-5CF5343D4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4602163"/>
            <a:ext cx="8045450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6">
            <a:extLst>
              <a:ext uri="{FF2B5EF4-FFF2-40B4-BE49-F238E27FC236}">
                <a16:creationId xmlns:a16="http://schemas.microsoft.com/office/drawing/2014/main" id="{12FF7BCB-8C44-DEFB-4130-AB3850276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339850"/>
            <a:ext cx="8178800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7">
            <a:extLst>
              <a:ext uri="{FF2B5EF4-FFF2-40B4-BE49-F238E27FC236}">
                <a16:creationId xmlns:a16="http://schemas.microsoft.com/office/drawing/2014/main" id="{ED6D6D2E-9AC1-A185-1513-E2A7FC5B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340100"/>
            <a:ext cx="8178800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A64043B-9F18-CB4C-34B2-24DEC17DAE3D}"/>
              </a:ext>
            </a:extLst>
          </p:cNvPr>
          <p:cNvSpPr/>
          <p:nvPr/>
        </p:nvSpPr>
        <p:spPr>
          <a:xfrm>
            <a:off x="660400" y="495300"/>
            <a:ext cx="31115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本原多项式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1A2350-2126-FEDE-9167-A98C2F59E7B6}"/>
              </a:ext>
            </a:extLst>
          </p:cNvPr>
          <p:cNvSpPr/>
          <p:nvPr/>
        </p:nvSpPr>
        <p:spPr>
          <a:xfrm>
            <a:off x="793750" y="4451350"/>
            <a:ext cx="7823200" cy="1600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由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【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定理</a:t>
            </a:r>
            <a:r>
              <a:rPr lang="en-US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12.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】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可以简单写出一个线性反馈移存器能产生</a:t>
            </a:r>
            <a:endParaRPr lang="en-US" altLang="zh-CN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SzPct val="60000"/>
              <a:defRPr/>
            </a:pP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充要条件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为：</a:t>
            </a:r>
            <a:endParaRPr lang="en-US" altLang="zh-CN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SzPct val="60000"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                             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反馈移存器的 </a:t>
            </a:r>
            <a:r>
              <a:rPr lang="zh-CN" altLang="en-US" sz="20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特征多项式 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为</a:t>
            </a:r>
            <a:r>
              <a:rPr lang="zh-CN" altLang="en-US" sz="20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本原多项式 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</a:p>
        </p:txBody>
      </p:sp>
      <p:pic>
        <p:nvPicPr>
          <p:cNvPr id="47110" name="Picture 6">
            <a:extLst>
              <a:ext uri="{FF2B5EF4-FFF2-40B4-BE49-F238E27FC236}">
                <a16:creationId xmlns:a16="http://schemas.microsoft.com/office/drawing/2014/main" id="{6E03E89B-7F0B-40DB-D300-0B3D1F9F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26986"/>
          <a:stretch>
            <a:fillRect/>
          </a:stretch>
        </p:blipFill>
        <p:spPr bwMode="auto">
          <a:xfrm>
            <a:off x="1371600" y="1250950"/>
            <a:ext cx="6013450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8DA79F1-7B2E-7BAF-FB1C-FE624199B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762000"/>
            <a:ext cx="7734300" cy="503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2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      要求用一个</a:t>
            </a:r>
            <a:r>
              <a:rPr lang="en-US" altLang="zh-CN" sz="20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en-US" sz="20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级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反馈移存器产生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，试求其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特征多项式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DE744CDE-6607-9571-EF27-A85AF98433B5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628650"/>
            <a:ext cx="706438" cy="577850"/>
            <a:chOff x="1655" y="845"/>
            <a:chExt cx="454" cy="453"/>
          </a:xfrm>
        </p:grpSpPr>
        <p:grpSp>
          <p:nvGrpSpPr>
            <p:cNvPr id="18449" name="Group 23">
              <a:extLst>
                <a:ext uri="{FF2B5EF4-FFF2-40B4-BE49-F238E27FC236}">
                  <a16:creationId xmlns:a16="http://schemas.microsoft.com/office/drawing/2014/main" id="{B2E1EF3D-DCEE-C835-16DF-1CBEDCC5F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8451" name="Oval 24">
                <a:extLst>
                  <a:ext uri="{FF2B5EF4-FFF2-40B4-BE49-F238E27FC236}">
                    <a16:creationId xmlns:a16="http://schemas.microsoft.com/office/drawing/2014/main" id="{31512D4E-D2C9-561A-936B-10F62309D0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52" name="Oval 25">
                <a:extLst>
                  <a:ext uri="{FF2B5EF4-FFF2-40B4-BE49-F238E27FC236}">
                    <a16:creationId xmlns:a16="http://schemas.microsoft.com/office/drawing/2014/main" id="{067B68FA-0A3B-D43E-A017-707D3B47FD6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53" name="Oval 26">
                <a:extLst>
                  <a:ext uri="{FF2B5EF4-FFF2-40B4-BE49-F238E27FC236}">
                    <a16:creationId xmlns:a16="http://schemas.microsoft.com/office/drawing/2014/main" id="{040298A1-CC1C-1F37-AAF7-A9BF5FE9B9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54" name="Oval 27">
                <a:extLst>
                  <a:ext uri="{FF2B5EF4-FFF2-40B4-BE49-F238E27FC236}">
                    <a16:creationId xmlns:a16="http://schemas.microsoft.com/office/drawing/2014/main" id="{5787A27C-4824-BC47-37F0-4C32DD13B4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55" name="Oval 28">
                <a:extLst>
                  <a:ext uri="{FF2B5EF4-FFF2-40B4-BE49-F238E27FC236}">
                    <a16:creationId xmlns:a16="http://schemas.microsoft.com/office/drawing/2014/main" id="{4198E7C5-5323-AE4D-C02A-4E61902FAD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8450" name="Text Box 29">
              <a:extLst>
                <a:ext uri="{FF2B5EF4-FFF2-40B4-BE49-F238E27FC236}">
                  <a16:creationId xmlns:a16="http://schemas.microsoft.com/office/drawing/2014/main" id="{83E2EB31-28F6-C200-2A70-794DDC0BE6A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sp>
        <p:nvSpPr>
          <p:cNvPr id="18438" name="矩形 13">
            <a:extLst>
              <a:ext uri="{FF2B5EF4-FFF2-40B4-BE49-F238E27FC236}">
                <a16:creationId xmlns:a16="http://schemas.microsoft.com/office/drawing/2014/main" id="{CCF11C12-C0DB-3A26-553C-E3729FFF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35163"/>
            <a:ext cx="7734300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特征多项式 </a:t>
            </a:r>
            <a:r>
              <a:rPr lang="en-US" altLang="zh-CN" sz="2000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应可整除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i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+ 1) = 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+ 1)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，或者说，应该是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+1)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的一个因子，而且还应该是一个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次本原多项式。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885734EF-D60B-297A-1824-CABF74B65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84300"/>
            <a:ext cx="842963" cy="496888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解</a:t>
            </a:r>
          </a:p>
        </p:txBody>
      </p:sp>
      <p:graphicFrame>
        <p:nvGraphicFramePr>
          <p:cNvPr id="58372" name="Object 4">
            <a:extLst>
              <a:ext uri="{FF2B5EF4-FFF2-40B4-BE49-F238E27FC236}">
                <a16:creationId xmlns:a16="http://schemas.microsoft.com/office/drawing/2014/main" id="{80D79F48-9656-D3D7-C684-B38CAA8F2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850" y="3028950"/>
          <a:ext cx="79168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16320" imgH="228600" progId="Equation.3">
                  <p:embed/>
                </p:oleObj>
              </mc:Choice>
              <mc:Fallback>
                <p:oleObj name="公式" r:id="rId2" imgW="42163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3028950"/>
                        <a:ext cx="7916863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矩形 16">
            <a:extLst>
              <a:ext uri="{FF2B5EF4-FFF2-40B4-BE49-F238E27FC236}">
                <a16:creationId xmlns:a16="http://schemas.microsoft.com/office/drawing/2014/main" id="{0A1B348C-4028-2BDC-7F7E-29FF92EC1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140200"/>
            <a:ext cx="764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可以证明，前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个是本原多项式，由其中任何一个都可产生 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 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graphicFrame>
        <p:nvGraphicFramePr>
          <p:cNvPr id="58374" name="Object 6">
            <a:extLst>
              <a:ext uri="{FF2B5EF4-FFF2-40B4-BE49-F238E27FC236}">
                <a16:creationId xmlns:a16="http://schemas.microsoft.com/office/drawing/2014/main" id="{EC8A2E14-044B-1F95-C0F9-21E054860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9600" y="5335588"/>
          <a:ext cx="42227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35200" imgH="228600" progId="Equation.3">
                  <p:embed/>
                </p:oleObj>
              </mc:Choice>
              <mc:Fallback>
                <p:oleObj name="公式" r:id="rId4" imgW="2235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5335588"/>
                        <a:ext cx="42227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矩形 18">
            <a:extLst>
              <a:ext uri="{FF2B5EF4-FFF2-40B4-BE49-F238E27FC236}">
                <a16:creationId xmlns:a16="http://schemas.microsoft.com/office/drawing/2014/main" id="{85E6A5CE-CFDC-58C2-5283-D9C36C32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776913"/>
            <a:ext cx="79565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这就是说，它不仅可整除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+1)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，还可整除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+1)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，故它不是本原的。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DE7301B-D40A-485D-C655-16BC66CB7322}"/>
              </a:ext>
            </a:extLst>
          </p:cNvPr>
          <p:cNvCxnSpPr/>
          <p:nvPr/>
        </p:nvCxnSpPr>
        <p:spPr>
          <a:xfrm>
            <a:off x="1993900" y="3473450"/>
            <a:ext cx="120015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21B5483-7F24-3A73-2B0B-2FBAD3FEAF9D}"/>
              </a:ext>
            </a:extLst>
          </p:cNvPr>
          <p:cNvCxnSpPr/>
          <p:nvPr/>
        </p:nvCxnSpPr>
        <p:spPr>
          <a:xfrm>
            <a:off x="4692650" y="3473450"/>
            <a:ext cx="2000250" cy="1588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F69F410-A789-EED6-EB9A-25C65C229C3D}"/>
              </a:ext>
            </a:extLst>
          </p:cNvPr>
          <p:cNvCxnSpPr/>
          <p:nvPr/>
        </p:nvCxnSpPr>
        <p:spPr>
          <a:xfrm>
            <a:off x="3327400" y="3473450"/>
            <a:ext cx="120015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5" name="矩形 22">
            <a:extLst>
              <a:ext uri="{FF2B5EF4-FFF2-40B4-BE49-F238E27FC236}">
                <a16:creationId xmlns:a16="http://schemas.microsoft.com/office/drawing/2014/main" id="{039EEADD-C3B7-4380-4326-D037E0130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1517650"/>
            <a:ext cx="714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4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，故此移存器产生的</a:t>
            </a:r>
            <a:r>
              <a:rPr lang="en-US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长度  </a:t>
            </a:r>
            <a:r>
              <a:rPr lang="en-US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2</a:t>
            </a:r>
            <a:r>
              <a:rPr lang="en-US" altLang="zh-CN" sz="2000" b="1" i="1" baseline="30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– 1 = 15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446" name="矩形 23">
            <a:extLst>
              <a:ext uri="{FF2B5EF4-FFF2-40B4-BE49-F238E27FC236}">
                <a16:creationId xmlns:a16="http://schemas.microsoft.com/office/drawing/2014/main" id="{E9C033C0-BEA3-746E-2543-A9101E8FE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" y="5251450"/>
            <a:ext cx="2122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个不是，因为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447" name="矩形 16">
            <a:extLst>
              <a:ext uri="{FF2B5EF4-FFF2-40B4-BE49-F238E27FC236}">
                <a16:creationId xmlns:a16="http://schemas.microsoft.com/office/drawing/2014/main" id="{0628DF43-6570-25E8-E2A2-4DEBC0F93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651250"/>
            <a:ext cx="7645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上式表明，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+1)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可以分解为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个既约因子，其中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个是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次多项式。</a:t>
            </a:r>
          </a:p>
        </p:txBody>
      </p:sp>
      <p:sp>
        <p:nvSpPr>
          <p:cNvPr id="18448" name="矩形 25">
            <a:extLst>
              <a:ext uri="{FF2B5EF4-FFF2-40B4-BE49-F238E27FC236}">
                <a16:creationId xmlns:a16="http://schemas.microsoft.com/office/drawing/2014/main" id="{64366317-9159-68DE-21DF-B87E129B5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4673600"/>
            <a:ext cx="6711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2000" b="1" i="1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x+1)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作为特征多项式构成的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级反馈移存器见上图。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75450FFF-A7F8-3761-7983-BA675E3FA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1090613"/>
            <a:ext cx="74612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由上述可见，只要找到了</a:t>
            </a:r>
            <a:r>
              <a:rPr lang="zh-CN" altLang="en-US" sz="2000" b="1" kern="0" dirty="0">
                <a:latin typeface="微软雅黑" pitchFamily="34" charset="-122"/>
                <a:ea typeface="微软雅黑" pitchFamily="34" charset="-122"/>
              </a:rPr>
              <a:t>本原多项式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，我们就能由它构成</a:t>
            </a:r>
            <a:r>
              <a:rPr lang="en-US" altLang="zh-CN" sz="2000" b="1" i="1" kern="0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kern="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endParaRPr lang="en-US" altLang="zh-CN" sz="2000" b="1" kern="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产生器。下表中列出了部分已经找到的</a:t>
            </a:r>
            <a:r>
              <a:rPr lang="zh-CN" altLang="en-US" sz="2000" b="1" kern="0" dirty="0">
                <a:latin typeface="微软雅黑" pitchFamily="34" charset="-122"/>
                <a:ea typeface="微软雅黑" pitchFamily="34" charset="-122"/>
              </a:rPr>
              <a:t>本原多项式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A7E125-3B19-7C12-6F65-DBE139590C15}"/>
              </a:ext>
            </a:extLst>
          </p:cNvPr>
          <p:cNvSpPr/>
          <p:nvPr/>
        </p:nvSpPr>
        <p:spPr>
          <a:xfrm>
            <a:off x="660400" y="495300"/>
            <a:ext cx="31115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本原多项式表</a:t>
            </a:r>
            <a:endParaRPr lang="zh-CN" altLang="en-US" sz="2800" b="1" kern="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8132" name="Picture 31">
            <a:extLst>
              <a:ext uri="{FF2B5EF4-FFF2-40B4-BE49-F238E27FC236}">
                <a16:creationId xmlns:a16="http://schemas.microsoft.com/office/drawing/2014/main" id="{A8BD5BEA-D984-7741-F6AE-F6BA590A8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962150"/>
            <a:ext cx="843915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60A57B41-D444-049C-DAC0-2914ECB4F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0" y="1073150"/>
            <a:ext cx="6616700" cy="4089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本原多项式</a:t>
            </a: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也可用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 </a:t>
            </a: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数字表示。</a:t>
            </a:r>
            <a:endParaRPr lang="en-US" altLang="zh-CN" sz="24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例如，对于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 = 4 </a:t>
            </a: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表中给出“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</a:t>
            </a:r>
            <a:r>
              <a:rPr lang="en-US" altLang="zh-CN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，它表示</a:t>
            </a:r>
            <a:endParaRPr lang="en-US" altLang="zh-CN" sz="24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  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	 	   3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 0 1 0		0 1 1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zh-CN" altLang="en-US" sz="24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即 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24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0</a:t>
            </a:r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5831228-FD75-F58D-430C-8E59E3FD1CA5}"/>
              </a:ext>
            </a:extLst>
          </p:cNvPr>
          <p:cNvSpPr/>
          <p:nvPr/>
        </p:nvSpPr>
        <p:spPr>
          <a:xfrm>
            <a:off x="704850" y="2878138"/>
            <a:ext cx="31115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 1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均衡性</a:t>
            </a:r>
            <a:endParaRPr lang="zh-CN" altLang="en-US" sz="2400" b="1" kern="0" dirty="0">
              <a:solidFill>
                <a:srgbClr val="FF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E5311D-EC38-F680-25D9-C7B76AAE9151}"/>
              </a:ext>
            </a:extLst>
          </p:cNvPr>
          <p:cNvSpPr/>
          <p:nvPr/>
        </p:nvSpPr>
        <p:spPr>
          <a:xfrm>
            <a:off x="712788" y="2081213"/>
            <a:ext cx="2805112" cy="5032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2.</a:t>
            </a:r>
            <a:r>
              <a:rPr lang="zh-CN" altLang="en-US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  </a:t>
            </a:r>
            <a:r>
              <a:rPr lang="en-US" altLang="zh-CN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m</a:t>
            </a:r>
            <a:r>
              <a:rPr lang="zh-CN" altLang="en-US" sz="28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序列的性质</a:t>
            </a:r>
            <a:endParaRPr lang="zh-CN" altLang="en-US" sz="2800" b="1" kern="0" dirty="0">
              <a:solidFill>
                <a:srgbClr val="0000CC"/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  <p:sp>
        <p:nvSpPr>
          <p:cNvPr id="51204" name="矩形 7">
            <a:extLst>
              <a:ext uri="{FF2B5EF4-FFF2-40B4-BE49-F238E27FC236}">
                <a16:creationId xmlns:a16="http://schemas.microsoft.com/office/drawing/2014/main" id="{687CDB23-AA50-AD4B-AD36-54B0D6993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355975"/>
            <a:ext cx="75120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 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的一个周期中，“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1”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和“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0”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的数目基本相等。准确地说，“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1”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的个数比“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0”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的个数多一个。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C1AC12-3AB0-845D-8F75-6A68E76F6320}"/>
              </a:ext>
            </a:extLst>
          </p:cNvPr>
          <p:cNvSpPr/>
          <p:nvPr/>
        </p:nvSpPr>
        <p:spPr>
          <a:xfrm>
            <a:off x="571500" y="4611688"/>
            <a:ext cx="31115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  2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游程分布</a:t>
            </a:r>
            <a:endParaRPr lang="zh-CN" altLang="en-US" sz="2400" b="1" kern="0" dirty="0">
              <a:solidFill>
                <a:srgbClr val="FF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1206" name="矩形 10">
            <a:extLst>
              <a:ext uri="{FF2B5EF4-FFF2-40B4-BE49-F238E27FC236}">
                <a16:creationId xmlns:a16="http://schemas.microsoft.com/office/drawing/2014/main" id="{B9A05CBC-4010-6EE0-1B69-6CC962CC0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07000"/>
            <a:ext cx="7110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游程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一个序列中取值相同的那些连在一起的元素合。</a:t>
            </a:r>
          </a:p>
        </p:txBody>
      </p:sp>
      <p:sp>
        <p:nvSpPr>
          <p:cNvPr id="51207" name="矩形 11">
            <a:extLst>
              <a:ext uri="{FF2B5EF4-FFF2-40B4-BE49-F238E27FC236}">
                <a16:creationId xmlns:a16="http://schemas.microsoft.com/office/drawing/2014/main" id="{334C3284-9055-480D-BAB2-3C0750ABF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695950"/>
            <a:ext cx="4802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游程长度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一个游程中元素的个数。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AA80B4-C4A5-87EB-99EC-D7029982B8B8}"/>
              </a:ext>
            </a:extLst>
          </p:cNvPr>
          <p:cNvSpPr/>
          <p:nvPr/>
        </p:nvSpPr>
        <p:spPr>
          <a:xfrm>
            <a:off x="82550" y="450850"/>
            <a:ext cx="65341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12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.2.2</a:t>
            </a:r>
            <a:r>
              <a:rPr lang="en-US" altLang="en-US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3200" b="1" kern="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序列</a:t>
            </a:r>
            <a:endParaRPr lang="zh-CN" altLang="en-US" sz="3200" b="1" kern="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5A896E-0CB9-B757-42E4-FC1F3C00D509}"/>
              </a:ext>
            </a:extLst>
          </p:cNvPr>
          <p:cNvSpPr/>
          <p:nvPr/>
        </p:nvSpPr>
        <p:spPr>
          <a:xfrm>
            <a:off x="704850" y="1236663"/>
            <a:ext cx="2805113" cy="5032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85750" lvl="2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1.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  </a:t>
            </a: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m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序列的产生</a:t>
            </a:r>
            <a:endParaRPr lang="zh-CN" altLang="en-US" sz="2800" b="1" kern="0" dirty="0">
              <a:solidFill>
                <a:schemeClr val="bg1">
                  <a:lumMod val="50000"/>
                </a:schemeClr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51204" grpId="0"/>
      <p:bldP spid="10" grpId="0"/>
      <p:bldP spid="51206" grpId="0"/>
      <p:bldP spid="512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3B47173-1F11-68A7-309B-A316A76C8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3568700"/>
            <a:ext cx="7423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一般说来，在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中，长度为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的游程占游程总数的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1/2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；长度为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的游程占游程总数的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1/4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；长度为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的游程占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1/8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. .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94C0D0-3969-E41A-3FF9-17FE4A0650BE}"/>
              </a:ext>
            </a:extLst>
          </p:cNvPr>
          <p:cNvSpPr/>
          <p:nvPr/>
        </p:nvSpPr>
        <p:spPr>
          <a:xfrm>
            <a:off x="1144588" y="681038"/>
            <a:ext cx="6934200" cy="461962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     在前例中给出的 </a:t>
            </a:r>
            <a:r>
              <a:rPr lang="en-US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可以重写如下：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DEB0EE10-0246-D3A2-73D2-72AB4C4F7FC2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604838"/>
            <a:ext cx="706438" cy="577850"/>
            <a:chOff x="1655" y="845"/>
            <a:chExt cx="454" cy="453"/>
          </a:xfrm>
        </p:grpSpPr>
        <p:grpSp>
          <p:nvGrpSpPr>
            <p:cNvPr id="51214" name="Group 23">
              <a:extLst>
                <a:ext uri="{FF2B5EF4-FFF2-40B4-BE49-F238E27FC236}">
                  <a16:creationId xmlns:a16="http://schemas.microsoft.com/office/drawing/2014/main" id="{D3D450EC-8FF5-ACF2-4319-73FC050D1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51216" name="Oval 24">
                <a:extLst>
                  <a:ext uri="{FF2B5EF4-FFF2-40B4-BE49-F238E27FC236}">
                    <a16:creationId xmlns:a16="http://schemas.microsoft.com/office/drawing/2014/main" id="{CE810262-6753-729C-2CAD-E4DE669D25D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217" name="Oval 25">
                <a:extLst>
                  <a:ext uri="{FF2B5EF4-FFF2-40B4-BE49-F238E27FC236}">
                    <a16:creationId xmlns:a16="http://schemas.microsoft.com/office/drawing/2014/main" id="{A295675D-F50F-56F1-179F-35791BBDC9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218" name="Oval 26">
                <a:extLst>
                  <a:ext uri="{FF2B5EF4-FFF2-40B4-BE49-F238E27FC236}">
                    <a16:creationId xmlns:a16="http://schemas.microsoft.com/office/drawing/2014/main" id="{C8A57C4D-17A1-E83C-FB02-939BD542169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219" name="Oval 27">
                <a:extLst>
                  <a:ext uri="{FF2B5EF4-FFF2-40B4-BE49-F238E27FC236}">
                    <a16:creationId xmlns:a16="http://schemas.microsoft.com/office/drawing/2014/main" id="{6B5D806A-A570-4D66-D07E-6517888C617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220" name="Oval 28">
                <a:extLst>
                  <a:ext uri="{FF2B5EF4-FFF2-40B4-BE49-F238E27FC236}">
                    <a16:creationId xmlns:a16="http://schemas.microsoft.com/office/drawing/2014/main" id="{23D0F9AF-528D-B672-F23D-95F2FA3A09F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1215" name="Text Box 29">
              <a:extLst>
                <a:ext uri="{FF2B5EF4-FFF2-40B4-BE49-F238E27FC236}">
                  <a16:creationId xmlns:a16="http://schemas.microsoft.com/office/drawing/2014/main" id="{BF928B71-BED7-6F35-5E73-917048233E3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72D8F6-61A8-C088-F9F2-D13CCFE3D7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74850" y="1028700"/>
            <a:ext cx="5175250" cy="1116013"/>
            <a:chOff x="4292" y="6894"/>
            <a:chExt cx="3574" cy="770"/>
          </a:xfrm>
        </p:grpSpPr>
        <p:sp>
          <p:nvSpPr>
            <p:cNvPr id="51208" name="AutoShape 5">
              <a:extLst>
                <a:ext uri="{FF2B5EF4-FFF2-40B4-BE49-F238E27FC236}">
                  <a16:creationId xmlns:a16="http://schemas.microsoft.com/office/drawing/2014/main" id="{478DE6EB-5C6B-D759-E57F-9C721B5F71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2" y="6894"/>
              <a:ext cx="3574" cy="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CC"/>
                </a:solidFill>
              </a:endParaRPr>
            </a:p>
          </p:txBody>
        </p:sp>
        <p:grpSp>
          <p:nvGrpSpPr>
            <p:cNvPr id="51209" name="Group 6">
              <a:extLst>
                <a:ext uri="{FF2B5EF4-FFF2-40B4-BE49-F238E27FC236}">
                  <a16:creationId xmlns:a16="http://schemas.microsoft.com/office/drawing/2014/main" id="{BA21BE0D-66BC-7C2C-5A3C-A0D562319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2" y="6971"/>
              <a:ext cx="3574" cy="621"/>
              <a:chOff x="4292" y="7010"/>
              <a:chExt cx="3574" cy="621"/>
            </a:xfrm>
          </p:grpSpPr>
          <p:sp>
            <p:nvSpPr>
              <p:cNvPr id="51210" name="Text Box 7">
                <a:extLst>
                  <a:ext uri="{FF2B5EF4-FFF2-40B4-BE49-F238E27FC236}">
                    <a16:creationId xmlns:a16="http://schemas.microsoft.com/office/drawing/2014/main" id="{D9B286D4-947F-1413-0024-98C88EAC8B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2" y="7279"/>
                <a:ext cx="357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i="1">
                    <a:solidFill>
                      <a:srgbClr val="00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r>
                  <a:rPr lang="en-US" altLang="zh-CN" sz="240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 1 0 0 0 1 1 1 1 0 1 0 1 1 0 0 1 0 </a:t>
                </a:r>
                <a:r>
                  <a:rPr lang="en-US" altLang="zh-CN" sz="2400">
                    <a:solidFill>
                      <a:srgbClr val="0000CC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</a:t>
                </a:r>
                <a:endParaRPr lang="en-US" altLang="zh-CN" sz="4000">
                  <a:solidFill>
                    <a:srgbClr val="0000CC"/>
                  </a:solidFill>
                </a:endParaRPr>
              </a:p>
            </p:txBody>
          </p:sp>
          <p:grpSp>
            <p:nvGrpSpPr>
              <p:cNvPr id="51211" name="Group 8">
                <a:extLst>
                  <a:ext uri="{FF2B5EF4-FFF2-40B4-BE49-F238E27FC236}">
                    <a16:creationId xmlns:a16="http://schemas.microsoft.com/office/drawing/2014/main" id="{1717101B-0E71-64EF-8FE0-41A52C18C6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2" y="7010"/>
                <a:ext cx="2730" cy="352"/>
                <a:chOff x="4722" y="7010"/>
                <a:chExt cx="2730" cy="352"/>
              </a:xfrm>
            </p:grpSpPr>
            <p:sp>
              <p:nvSpPr>
                <p:cNvPr id="51212" name="Text Box 9">
                  <a:extLst>
                    <a:ext uri="{FF2B5EF4-FFF2-40B4-BE49-F238E27FC236}">
                      <a16:creationId xmlns:a16="http://schemas.microsoft.com/office/drawing/2014/main" id="{506405F6-CB19-2E6D-9C41-2C6A7DE17A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22" y="7010"/>
                  <a:ext cx="2730" cy="3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200" b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200" b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＝ </a:t>
                  </a:r>
                  <a:r>
                    <a:rPr lang="en-US" altLang="zh-CN" sz="2200" b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200" b="1">
                    <a:solidFill>
                      <a:srgbClr val="0000CC"/>
                    </a:solidFill>
                  </a:endParaRPr>
                </a:p>
              </p:txBody>
            </p:sp>
            <p:sp>
              <p:nvSpPr>
                <p:cNvPr id="51213" name="AutoShape 10">
                  <a:extLst>
                    <a:ext uri="{FF2B5EF4-FFF2-40B4-BE49-F238E27FC236}">
                      <a16:creationId xmlns:a16="http://schemas.microsoft.com/office/drawing/2014/main" id="{6ACD6D16-D4E7-9BC8-4B85-7EC9694C2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V="1">
                  <a:off x="6015" y="6063"/>
                  <a:ext cx="89" cy="2495"/>
                </a:xfrm>
                <a:prstGeom prst="leftBrace">
                  <a:avLst>
                    <a:gd name="adj1" fmla="val 233614"/>
                    <a:gd name="adj2" fmla="val 50000"/>
                  </a:avLst>
                </a:prstGeom>
                <a:noFill/>
                <a:ln w="9525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CC"/>
                    </a:solidFill>
                  </a:endParaRPr>
                </a:p>
              </p:txBody>
            </p:sp>
          </p:grpSp>
        </p:grpSp>
      </p:grpSp>
      <p:sp>
        <p:nvSpPr>
          <p:cNvPr id="52231" name="矩形 23">
            <a:extLst>
              <a:ext uri="{FF2B5EF4-FFF2-40B4-BE49-F238E27FC236}">
                <a16:creationId xmlns:a16="http://schemas.microsoft.com/office/drawing/2014/main" id="{A0EA6AD0-F84C-1976-018B-6D2CDD95B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2058988"/>
            <a:ext cx="7556500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在其一个周期（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个元素）中，共有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个游程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，其中</a:t>
            </a:r>
            <a:r>
              <a:rPr lang="zh-CN" altLang="en-US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长度为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的游程有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个，即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1111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长度为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的游程有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个，即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000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长度为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的游程有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个，即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1 1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长度为</a:t>
            </a:r>
            <a:r>
              <a:rPr lang="en-US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的游程有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个，即两个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和两个</a:t>
            </a:r>
            <a:r>
              <a:rPr lang="en-US" altLang="zh-CN" sz="2000" u="sng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51221" name="Picture 21">
            <a:extLst>
              <a:ext uri="{FF2B5EF4-FFF2-40B4-BE49-F238E27FC236}">
                <a16:creationId xmlns:a16="http://schemas.microsoft.com/office/drawing/2014/main" id="{DCB5E400-780A-E3E1-EA42-0D6FF4989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4718050"/>
            <a:ext cx="7467600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522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0B6B487-35F4-2B30-9ED0-7CD73B74BE62}"/>
              </a:ext>
            </a:extLst>
          </p:cNvPr>
          <p:cNvSpPr/>
          <p:nvPr/>
        </p:nvSpPr>
        <p:spPr>
          <a:xfrm>
            <a:off x="857250" y="1028700"/>
            <a:ext cx="3111500" cy="4984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3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移位相加特性</a:t>
            </a:r>
            <a:endParaRPr lang="zh-CN" altLang="en-US" sz="2400" b="1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3251" name="矩形 5">
            <a:extLst>
              <a:ext uri="{FF2B5EF4-FFF2-40B4-BE49-F238E27FC236}">
                <a16:creationId xmlns:a16="http://schemas.microsoft.com/office/drawing/2014/main" id="{27327F29-2644-C629-3D34-81C6AD90C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606550"/>
            <a:ext cx="7467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defRPr/>
            </a:pP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一个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i="1" baseline="-25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p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与其经过任意次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延迟移位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产生的另一个不同序列</a:t>
            </a:r>
            <a:r>
              <a:rPr lang="en-US" altLang="zh-CN" sz="2000" b="1" i="1" dirty="0" err="1">
                <a:solidFill>
                  <a:srgbClr val="3399FF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i="1" baseline="-25000" dirty="0" err="1">
                <a:solidFill>
                  <a:srgbClr val="3399FF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r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模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相加，得到的仍是</a:t>
            </a:r>
            <a:r>
              <a:rPr lang="zh-CN" altLang="en-US" sz="2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i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i="1" baseline="-25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p</a:t>
            </a:r>
            <a:r>
              <a:rPr lang="en-US" altLang="zh-CN" sz="2000" i="1" baseline="-25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的某次延迟移位序列</a:t>
            </a:r>
            <a:r>
              <a:rPr lang="zh-CN" altLang="en-US" sz="2000" b="1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i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，即</a:t>
            </a:r>
          </a:p>
        </p:txBody>
      </p:sp>
      <p:sp>
        <p:nvSpPr>
          <p:cNvPr id="52228" name="矩形 6">
            <a:extLst>
              <a:ext uri="{FF2B5EF4-FFF2-40B4-BE49-F238E27FC236}">
                <a16:creationId xmlns:a16="http://schemas.microsoft.com/office/drawing/2014/main" id="{49290A62-4E96-E009-3621-A384C220E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673350"/>
            <a:ext cx="203200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M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4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endParaRPr lang="zh-CN" altLang="en-US" sz="24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2229" name="矩形 7">
            <a:extLst>
              <a:ext uri="{FF2B5EF4-FFF2-40B4-BE49-F238E27FC236}">
                <a16:creationId xmlns:a16="http://schemas.microsoft.com/office/drawing/2014/main" id="{3A7B9B9F-DE1B-C8FC-075C-9AEFA985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457575"/>
            <a:ext cx="75120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现在分析一个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7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 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 </a:t>
            </a:r>
            <a:r>
              <a:rPr lang="en-US" altLang="zh-CN" sz="2000" b="1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i="1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作为例子。设 </a:t>
            </a:r>
            <a:r>
              <a:rPr lang="en-US" altLang="zh-CN" sz="2000" b="1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i="1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的一个周期为</a:t>
            </a:r>
            <a:r>
              <a:rPr lang="en-US" altLang="zh-CN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1110010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将其向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右移位一次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得到另一个序列 </a:t>
            </a:r>
            <a:r>
              <a:rPr lang="en-US" altLang="zh-CN" sz="2000" b="1" i="1">
                <a:solidFill>
                  <a:srgbClr val="3399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i="1" baseline="-25000">
                <a:solidFill>
                  <a:srgbClr val="3399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 </a:t>
            </a:r>
            <a:r>
              <a:rPr lang="en-US" altLang="zh-CN" sz="2000" i="1" baseline="-25000">
                <a:solidFill>
                  <a:srgbClr val="3399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的一个相应周期为</a:t>
            </a:r>
            <a:r>
              <a:rPr lang="en-US" altLang="zh-CN" sz="2000" b="1">
                <a:solidFill>
                  <a:srgbClr val="3399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0111001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。这两个序列的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</a:p>
        </p:txBody>
      </p:sp>
      <p:sp>
        <p:nvSpPr>
          <p:cNvPr id="52230" name="矩形 5">
            <a:extLst>
              <a:ext uri="{FF2B5EF4-FFF2-40B4-BE49-F238E27FC236}">
                <a16:creationId xmlns:a16="http://schemas.microsoft.com/office/drawing/2014/main" id="{8387DF88-BF2D-BEDF-C355-AF1B02D6B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5029200"/>
            <a:ext cx="4044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1110010 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0111001 =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1001011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endParaRPr lang="zh-CN" altLang="en-US" b="1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2231" name="矩形 6">
            <a:extLst>
              <a:ext uri="{FF2B5EF4-FFF2-40B4-BE49-F238E27FC236}">
                <a16:creationId xmlns:a16="http://schemas.microsoft.com/office/drawing/2014/main" id="{7A5FEBAA-5C30-468B-EC42-612913C43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518150"/>
            <a:ext cx="764540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得出的为</a:t>
            </a:r>
            <a:r>
              <a:rPr lang="en-US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i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的一个相应的周期，它与</a:t>
            </a:r>
            <a:r>
              <a:rPr lang="en-US" altLang="zh-CN" sz="2000" b="1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i="1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向右移位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次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的结果相同。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A7E32C6-D656-9124-DE27-85275178736F}"/>
              </a:ext>
            </a:extLst>
          </p:cNvPr>
          <p:cNvSpPr/>
          <p:nvPr/>
        </p:nvSpPr>
        <p:spPr>
          <a:xfrm>
            <a:off x="857250" y="1028700"/>
            <a:ext cx="3111500" cy="541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4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en-US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自相关函数</a:t>
            </a:r>
            <a:endParaRPr lang="zh-CN" altLang="en-US" sz="2400" b="1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graphicFrame>
        <p:nvGraphicFramePr>
          <p:cNvPr id="79878" name="Object 6">
            <a:extLst>
              <a:ext uri="{FF2B5EF4-FFF2-40B4-BE49-F238E27FC236}">
                <a16:creationId xmlns:a16="http://schemas.microsoft.com/office/drawing/2014/main" id="{FF500E1A-04BB-273F-CBE1-58E6746E4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3863" y="2170113"/>
          <a:ext cx="4319587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25700" imgH="660400" progId="Equation.3">
                  <p:embed/>
                </p:oleObj>
              </mc:Choice>
              <mc:Fallback>
                <p:oleObj name="公式" r:id="rId2" imgW="2425700" imgH="660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863" y="2170113"/>
                        <a:ext cx="4319587" cy="1169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矩形 6">
            <a:extLst>
              <a:ext uri="{FF2B5EF4-FFF2-40B4-BE49-F238E27FC236}">
                <a16:creationId xmlns:a16="http://schemas.microsoft.com/office/drawing/2014/main" id="{14FFAA7E-9854-DB53-CC94-EB68590E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651000"/>
            <a:ext cx="2776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序列的自相关函数为</a:t>
            </a:r>
          </a:p>
        </p:txBody>
      </p:sp>
      <p:sp>
        <p:nvSpPr>
          <p:cNvPr id="19463" name="矩形 7">
            <a:extLst>
              <a:ext uri="{FF2B5EF4-FFF2-40B4-BE49-F238E27FC236}">
                <a16:creationId xmlns:a16="http://schemas.microsoft.com/office/drawing/2014/main" id="{A08DD80D-5382-1A9C-CA43-2BE23DAE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429000"/>
            <a:ext cx="75565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可见：</a:t>
            </a:r>
            <a:r>
              <a:rPr lang="zh-CN" altLang="en-US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zh-CN" altLang="en-US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只有两种取值：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-1/m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，所以有时也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把这类序列称为</a:t>
            </a:r>
            <a:r>
              <a:rPr lang="zh-CN" altLang="fr-FR" sz="2000" b="1">
                <a:solidFill>
                  <a:schemeClr val="hlin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双值自相关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464" name="矩形 8">
            <a:extLst>
              <a:ext uri="{FF2B5EF4-FFF2-40B4-BE49-F238E27FC236}">
                <a16:creationId xmlns:a16="http://schemas.microsoft.com/office/drawing/2014/main" id="{AA378162-6C2B-5361-7671-0CDEC5200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495800"/>
            <a:ext cx="773430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由于</a:t>
            </a:r>
            <a:r>
              <a:rPr lang="en-US" altLang="zh-CN" sz="2000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序列有周期性，故其自相关函数也有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周期性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，周期也是</a:t>
            </a:r>
            <a:r>
              <a:rPr lang="en-US" altLang="zh-CN" sz="2000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，即</a:t>
            </a:r>
          </a:p>
        </p:txBody>
      </p:sp>
      <p:graphicFrame>
        <p:nvGraphicFramePr>
          <p:cNvPr id="79882" name="Object 10">
            <a:extLst>
              <a:ext uri="{FF2B5EF4-FFF2-40B4-BE49-F238E27FC236}">
                <a16:creationId xmlns:a16="http://schemas.microsoft.com/office/drawing/2014/main" id="{4BE20756-4B76-52F4-0E33-A99BA8572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829300"/>
          <a:ext cx="33305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7229" imgH="215806" progId="Equation.3">
                  <p:embed/>
                </p:oleObj>
              </mc:Choice>
              <mc:Fallback>
                <p:oleObj name="公式" r:id="rId4" imgW="1777229" imgH="2158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829300"/>
                        <a:ext cx="3330575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8">
            <a:extLst>
              <a:ext uri="{FF2B5EF4-FFF2-40B4-BE49-F238E27FC236}">
                <a16:creationId xmlns:a16="http://schemas.microsoft.com/office/drawing/2014/main" id="{0F1ECC33-C8BE-DC11-EFAD-90221545BA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5118100"/>
          <a:ext cx="480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49600" imgH="215900" progId="Equation.3">
                  <p:embed/>
                </p:oleObj>
              </mc:Choice>
              <mc:Fallback>
                <p:oleObj name="公式" r:id="rId6" imgW="31496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118100"/>
                        <a:ext cx="480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矩形 11">
            <a:extLst>
              <a:ext uri="{FF2B5EF4-FFF2-40B4-BE49-F238E27FC236}">
                <a16:creationId xmlns:a16="http://schemas.microsoft.com/office/drawing/2014/main" id="{FF345CC7-4AE1-06DD-1048-82B279D31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695950"/>
            <a:ext cx="2303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且</a:t>
            </a:r>
            <a:r>
              <a:rPr lang="zh-CN" altLang="en-US" sz="2000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zh-CN" altLang="en-US" sz="2000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en-US" altLang="zh-CN" sz="2000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zh-CN" altLang="en-US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偶函数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矩形 4">
            <a:extLst>
              <a:ext uri="{FF2B5EF4-FFF2-40B4-BE49-F238E27FC236}">
                <a16:creationId xmlns:a16="http://schemas.microsoft.com/office/drawing/2014/main" id="{8A8042CE-81C4-0342-5CA6-483426A8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73150"/>
            <a:ext cx="74676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若把 </a:t>
            </a:r>
            <a:r>
              <a:rPr lang="en-US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当作 周期性 连续函数 求其 自相关函数，则从周期函数的自相关函数的定义：</a:t>
            </a:r>
          </a:p>
        </p:txBody>
      </p:sp>
      <p:graphicFrame>
        <p:nvGraphicFramePr>
          <p:cNvPr id="80900" name="Object 4">
            <a:extLst>
              <a:ext uri="{FF2B5EF4-FFF2-40B4-BE49-F238E27FC236}">
                <a16:creationId xmlns:a16="http://schemas.microsoft.com/office/drawing/2014/main" id="{EC181863-3568-C5B1-1122-A1CC73D28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2282825"/>
          <a:ext cx="32861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7229" imgH="431613" progId="Equation.3">
                  <p:embed/>
                </p:oleObj>
              </mc:Choice>
              <mc:Fallback>
                <p:oleObj name="公式" r:id="rId2" imgW="1777229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282825"/>
                        <a:ext cx="32861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矩形 3">
            <a:extLst>
              <a:ext uri="{FF2B5EF4-FFF2-40B4-BE49-F238E27FC236}">
                <a16:creationId xmlns:a16="http://schemas.microsoft.com/office/drawing/2014/main" id="{9CAFD447-D95B-07C2-924E-B6F8EE9F9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451100"/>
            <a:ext cx="2112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的周期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486" name="矩形 4">
            <a:extLst>
              <a:ext uri="{FF2B5EF4-FFF2-40B4-BE49-F238E27FC236}">
                <a16:creationId xmlns:a16="http://schemas.microsoft.com/office/drawing/2014/main" id="{A5B65A57-CD59-7E48-5847-DFE08409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340100"/>
            <a:ext cx="438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可以求出其自相关函数</a:t>
            </a:r>
            <a:r>
              <a:rPr lang="en-US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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的表示式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80902" name="Object 6">
            <a:extLst>
              <a:ext uri="{FF2B5EF4-FFF2-40B4-BE49-F238E27FC236}">
                <a16:creationId xmlns:a16="http://schemas.microsoft.com/office/drawing/2014/main" id="{A96A7574-9FB8-F754-CE2E-AD6CDA2750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3970338"/>
          <a:ext cx="7092950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37000" imgH="685800" progId="Equation.3">
                  <p:embed/>
                </p:oleObj>
              </mc:Choice>
              <mc:Fallback>
                <p:oleObj name="公式" r:id="rId4" imgW="39370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970338"/>
                        <a:ext cx="7092950" cy="1236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6A91A7B-BC7B-4E9B-2F29-C1AB96A210D9}"/>
              </a:ext>
            </a:extLst>
          </p:cNvPr>
          <p:cNvSpPr/>
          <p:nvPr/>
        </p:nvSpPr>
        <p:spPr>
          <a:xfrm>
            <a:off x="927100" y="5429250"/>
            <a:ext cx="72453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按照上面的公式画出的</a:t>
            </a:r>
            <a:r>
              <a:rPr lang="zh-CN" altLang="en-US" sz="2000" b="1" i="1" kern="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</a:t>
            </a:r>
            <a:r>
              <a:rPr lang="zh-CN" altLang="en-US" sz="2000" b="1" i="1" kern="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kern="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 </a:t>
            </a:r>
            <a:r>
              <a:rPr lang="en-US" altLang="zh-CN" sz="2000" b="1" i="1" kern="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j </a:t>
            </a:r>
            <a:r>
              <a:rPr lang="en-US" altLang="zh-CN" sz="2000" b="1" kern="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和 </a:t>
            </a:r>
            <a:r>
              <a:rPr lang="en-US" altLang="zh-CN" sz="2000" b="1" i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R</a:t>
            </a:r>
            <a:r>
              <a:rPr lang="en-US" altLang="zh-CN" sz="2000" b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</a:t>
            </a:r>
            <a:r>
              <a:rPr lang="en-US" altLang="zh-CN" sz="2000" b="1" i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  <a:sym typeface="Symbol" pitchFamily="18" charset="2"/>
              </a:rPr>
              <a:t></a:t>
            </a:r>
            <a:r>
              <a:rPr lang="en-US" altLang="zh-CN" sz="2000" b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)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的曲线如下图所示。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31">
            <a:extLst>
              <a:ext uri="{FF2B5EF4-FFF2-40B4-BE49-F238E27FC236}">
                <a16:creationId xmlns:a16="http://schemas.microsoft.com/office/drawing/2014/main" id="{428A7C4C-6C3A-C35C-D8F3-3A648418B308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1111250"/>
            <a:ext cx="7064375" cy="2405063"/>
            <a:chOff x="896" y="1133"/>
            <a:chExt cx="4450" cy="1515"/>
          </a:xfrm>
        </p:grpSpPr>
        <p:grpSp>
          <p:nvGrpSpPr>
            <p:cNvPr id="53253" name="Group 29">
              <a:extLst>
                <a:ext uri="{FF2B5EF4-FFF2-40B4-BE49-F238E27FC236}">
                  <a16:creationId xmlns:a16="http://schemas.microsoft.com/office/drawing/2014/main" id="{5D03BD9B-34A6-A854-C114-EB986F7B3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6" y="1133"/>
              <a:ext cx="4450" cy="1515"/>
              <a:chOff x="896" y="1133"/>
              <a:chExt cx="4450" cy="1515"/>
            </a:xfrm>
          </p:grpSpPr>
          <p:grpSp>
            <p:nvGrpSpPr>
              <p:cNvPr id="53257" name="Group 6">
                <a:extLst>
                  <a:ext uri="{FF2B5EF4-FFF2-40B4-BE49-F238E27FC236}">
                    <a16:creationId xmlns:a16="http://schemas.microsoft.com/office/drawing/2014/main" id="{D685CCCC-4DB8-8824-E796-DDB7EB9C97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6" y="1133"/>
                <a:ext cx="4450" cy="1515"/>
                <a:chOff x="1800" y="11034"/>
                <a:chExt cx="8096" cy="2259"/>
              </a:xfrm>
            </p:grpSpPr>
            <p:pic>
              <p:nvPicPr>
                <p:cNvPr id="53267" name="Picture 7" descr="图10_4">
                  <a:extLst>
                    <a:ext uri="{FF2B5EF4-FFF2-40B4-BE49-F238E27FC236}">
                      <a16:creationId xmlns:a16="http://schemas.microsoft.com/office/drawing/2014/main" id="{1255E114-5BC8-19B0-0F9D-C898A74DDF0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7454"/>
                <a:stretch>
                  <a:fillRect/>
                </a:stretch>
              </p:blipFill>
              <p:spPr bwMode="auto">
                <a:xfrm>
                  <a:off x="1800" y="11034"/>
                  <a:ext cx="8074" cy="19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3268" name="Text Box 8">
                  <a:extLst>
                    <a:ext uri="{FF2B5EF4-FFF2-40B4-BE49-F238E27FC236}">
                      <a16:creationId xmlns:a16="http://schemas.microsoft.com/office/drawing/2014/main" id="{09B8EF62-D2DB-CD9B-E862-2708034048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44" y="11083"/>
                  <a:ext cx="584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 i="1">
                      <a:solidFill>
                        <a:srgbClr val="0000CC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</a:t>
                  </a:r>
                  <a:r>
                    <a:rPr lang="en-US" altLang="zh-CN" sz="2000" b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000" b="1" i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j</a:t>
                  </a:r>
                  <a:r>
                    <a:rPr lang="en-US" altLang="zh-CN" sz="2000" b="1">
                      <a:solidFill>
                        <a:srgbClr val="0000CC"/>
                      </a:solidFill>
                      <a:latin typeface="Times New Roman" panose="02020603050405020304" pitchFamily="18" charset="0"/>
                    </a:rPr>
                    <a:t>)</a:t>
                  </a:r>
                  <a:endParaRPr lang="en-US" altLang="zh-CN" sz="2000" b="1">
                    <a:solidFill>
                      <a:srgbClr val="0000CC"/>
                    </a:solidFill>
                  </a:endParaRPr>
                </a:p>
              </p:txBody>
            </p:sp>
            <p:grpSp>
              <p:nvGrpSpPr>
                <p:cNvPr id="53269" name="Group 9">
                  <a:extLst>
                    <a:ext uri="{FF2B5EF4-FFF2-40B4-BE49-F238E27FC236}">
                      <a16:creationId xmlns:a16="http://schemas.microsoft.com/office/drawing/2014/main" id="{4A3E1B86-98DE-C66D-D9B9-9690EF78D0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14" y="12753"/>
                  <a:ext cx="8082" cy="540"/>
                  <a:chOff x="1846" y="12783"/>
                  <a:chExt cx="8082" cy="540"/>
                </a:xfrm>
              </p:grpSpPr>
              <p:pic>
                <p:nvPicPr>
                  <p:cNvPr id="53271" name="Picture 10" descr="图10_4_1">
                    <a:extLst>
                      <a:ext uri="{FF2B5EF4-FFF2-40B4-BE49-F238E27FC236}">
                        <a16:creationId xmlns:a16="http://schemas.microsoft.com/office/drawing/2014/main" id="{FA5BF938-753D-ECB9-0F28-2F34DD8EE36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63850" r="209" b="12874"/>
                  <a:stretch>
                    <a:fillRect/>
                  </a:stretch>
                </p:blipFill>
                <p:spPr bwMode="auto">
                  <a:xfrm>
                    <a:off x="1846" y="12783"/>
                    <a:ext cx="7996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3272" name="Text Box 11">
                    <a:extLst>
                      <a:ext uri="{FF2B5EF4-FFF2-40B4-BE49-F238E27FC236}">
                        <a16:creationId xmlns:a16="http://schemas.microsoft.com/office/drawing/2014/main" id="{76207F77-465A-E552-868B-E73E2B50DC6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44" y="12870"/>
                    <a:ext cx="584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i="1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</a:t>
                    </a:r>
                    <a:endParaRPr lang="en-US" altLang="zh-CN" sz="3200"/>
                  </a:p>
                </p:txBody>
              </p:sp>
              <p:sp>
                <p:nvSpPr>
                  <p:cNvPr id="53273" name="Text Box 12">
                    <a:extLst>
                      <a:ext uri="{FF2B5EF4-FFF2-40B4-BE49-F238E27FC236}">
                        <a16:creationId xmlns:a16="http://schemas.microsoft.com/office/drawing/2014/main" id="{A6E960D6-2E0F-743F-6009-27EEFAD8CFD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96" y="12899"/>
                    <a:ext cx="584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i="1">
                        <a:latin typeface="Times New Roman" panose="02020603050405020304" pitchFamily="18" charset="0"/>
                      </a:rPr>
                      <a:t>T</a:t>
                    </a:r>
                    <a:r>
                      <a:rPr lang="en-US" altLang="zh-CN" baseline="-2500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3200"/>
                  </a:p>
                </p:txBody>
              </p:sp>
            </p:grpSp>
            <p:sp>
              <p:nvSpPr>
                <p:cNvPr id="53270" name="Text Box 13">
                  <a:extLst>
                    <a:ext uri="{FF2B5EF4-FFF2-40B4-BE49-F238E27FC236}">
                      <a16:creationId xmlns:a16="http://schemas.microsoft.com/office/drawing/2014/main" id="{A67680EB-A5A1-A8D3-35C5-6AD240BE4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80" y="11083"/>
                  <a:ext cx="584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 i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(</a:t>
                  </a:r>
                  <a:r>
                    <a:rPr lang="en-US" altLang="zh-CN" sz="2000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</a:t>
                  </a: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)</a:t>
                  </a:r>
                  <a:endParaRPr lang="en-US" altLang="zh-CN" sz="2000" b="1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3258" name="Group 28">
                <a:extLst>
                  <a:ext uri="{FF2B5EF4-FFF2-40B4-BE49-F238E27FC236}">
                    <a16:creationId xmlns:a16="http://schemas.microsoft.com/office/drawing/2014/main" id="{4EC86FA0-84EC-29C8-3788-578B17629A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9" y="1366"/>
                <a:ext cx="2893" cy="853"/>
                <a:chOff x="1669" y="1366"/>
                <a:chExt cx="2893" cy="853"/>
              </a:xfrm>
            </p:grpSpPr>
            <p:sp>
              <p:nvSpPr>
                <p:cNvPr id="53259" name="Text Box 17">
                  <a:extLst>
                    <a:ext uri="{FF2B5EF4-FFF2-40B4-BE49-F238E27FC236}">
                      <a16:creationId xmlns:a16="http://schemas.microsoft.com/office/drawing/2014/main" id="{563310FF-9E17-C031-9944-3F5ACD901F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7" y="1948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0" name="Text Box 19">
                  <a:extLst>
                    <a:ext uri="{FF2B5EF4-FFF2-40B4-BE49-F238E27FC236}">
                      <a16:creationId xmlns:a16="http://schemas.microsoft.com/office/drawing/2014/main" id="{AB5DF78C-00B2-2478-ACF1-343C7FA064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1" y="1366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1" name="Text Box 21">
                  <a:extLst>
                    <a:ext uri="{FF2B5EF4-FFF2-40B4-BE49-F238E27FC236}">
                      <a16:creationId xmlns:a16="http://schemas.microsoft.com/office/drawing/2014/main" id="{C423A3AD-F1D6-A5EA-A999-CB45921864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69" y="1390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2" name="Text Box 22">
                  <a:extLst>
                    <a:ext uri="{FF2B5EF4-FFF2-40B4-BE49-F238E27FC236}">
                      <a16:creationId xmlns:a16="http://schemas.microsoft.com/office/drawing/2014/main" id="{237C1AB7-81AF-EBC2-F667-DDA1AA3DDC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7" y="1948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3" name="Text Box 23">
                  <a:extLst>
                    <a:ext uri="{FF2B5EF4-FFF2-40B4-BE49-F238E27FC236}">
                      <a16:creationId xmlns:a16="http://schemas.microsoft.com/office/drawing/2014/main" id="{AFF47A76-6DFC-A292-ECA1-190D93880C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7" y="1948"/>
                  <a:ext cx="32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4" name="Text Box 24">
                  <a:extLst>
                    <a:ext uri="{FF2B5EF4-FFF2-40B4-BE49-F238E27FC236}">
                      <a16:creationId xmlns:a16="http://schemas.microsoft.com/office/drawing/2014/main" id="{C7437D09-CA7B-A20B-FB12-3D6741C00C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3" y="1948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5" name="Text Box 25">
                  <a:extLst>
                    <a:ext uri="{FF2B5EF4-FFF2-40B4-BE49-F238E27FC236}">
                      <a16:creationId xmlns:a16="http://schemas.microsoft.com/office/drawing/2014/main" id="{F08CBA5F-2D9D-2007-1BBF-08E6AC1729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14" y="1948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53266" name="Text Box 26">
                  <a:extLst>
                    <a:ext uri="{FF2B5EF4-FFF2-40B4-BE49-F238E27FC236}">
                      <a16:creationId xmlns:a16="http://schemas.microsoft.com/office/drawing/2014/main" id="{50386B79-C198-7A80-FC9D-20FBA6D746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5" y="1948"/>
                  <a:ext cx="321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2400">
                      <a:solidFill>
                        <a:srgbClr val="0000FF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  <a:endParaRPr lang="en-US" altLang="zh-CN" sz="3200">
                    <a:solidFill>
                      <a:srgbClr val="0000FF"/>
                    </a:solidFill>
                  </a:endParaRPr>
                </a:p>
              </p:txBody>
            </p:sp>
          </p:grpSp>
        </p:grpSp>
        <p:grpSp>
          <p:nvGrpSpPr>
            <p:cNvPr id="53254" name="Group 30">
              <a:extLst>
                <a:ext uri="{FF2B5EF4-FFF2-40B4-BE49-F238E27FC236}">
                  <a16:creationId xmlns:a16="http://schemas.microsoft.com/office/drawing/2014/main" id="{EA873B2C-7C47-A610-3AD1-FEFE45386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1382"/>
              <a:ext cx="471" cy="838"/>
              <a:chOff x="2944" y="1382"/>
              <a:chExt cx="471" cy="838"/>
            </a:xfrm>
          </p:grpSpPr>
          <p:sp>
            <p:nvSpPr>
              <p:cNvPr id="53255" name="Text Box 15">
                <a:extLst>
                  <a:ext uri="{FF2B5EF4-FFF2-40B4-BE49-F238E27FC236}">
                    <a16:creationId xmlns:a16="http://schemas.microsoft.com/office/drawing/2014/main" id="{F7C9F036-8CEB-54FE-04B2-38BA370DED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4" y="1949"/>
                <a:ext cx="321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>
                  <a:solidFill>
                    <a:srgbClr val="0000FF"/>
                  </a:solidFill>
                </a:endParaRPr>
              </a:p>
            </p:txBody>
          </p:sp>
          <p:sp>
            <p:nvSpPr>
              <p:cNvPr id="53256" name="Text Box 20">
                <a:extLst>
                  <a:ext uri="{FF2B5EF4-FFF2-40B4-BE49-F238E27FC236}">
                    <a16:creationId xmlns:a16="http://schemas.microsoft.com/office/drawing/2014/main" id="{9AA09169-A253-013C-8E32-E064082DB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1382"/>
                <a:ext cx="321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40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>
                  <a:solidFill>
                    <a:srgbClr val="0000FF"/>
                  </a:solidFill>
                </a:endParaRPr>
              </a:p>
            </p:txBody>
          </p:sp>
        </p:grpSp>
      </p:grpSp>
      <p:pic>
        <p:nvPicPr>
          <p:cNvPr id="53275" name="Picture 27">
            <a:extLst>
              <a:ext uri="{FF2B5EF4-FFF2-40B4-BE49-F238E27FC236}">
                <a16:creationId xmlns:a16="http://schemas.microsoft.com/office/drawing/2014/main" id="{B2D97556-3BD0-FE6F-9B9D-5F6BAFD2A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4550" y="3613150"/>
            <a:ext cx="7713663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3276" name="Picture 28">
            <a:extLst>
              <a:ext uri="{FF2B5EF4-FFF2-40B4-BE49-F238E27FC236}">
                <a16:creationId xmlns:a16="http://schemas.microsoft.com/office/drawing/2014/main" id="{8BEBF3ED-C61F-0774-FA89-574E5BBCB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8675" y="5295900"/>
            <a:ext cx="772795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7" descr="t1005">
            <a:extLst>
              <a:ext uri="{FF2B5EF4-FFF2-40B4-BE49-F238E27FC236}">
                <a16:creationId xmlns:a16="http://schemas.microsoft.com/office/drawing/2014/main" id="{0942F516-8BE0-235B-6330-2C9A2FFA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" t="5637" r="1469"/>
          <a:stretch>
            <a:fillRect/>
          </a:stretch>
        </p:blipFill>
        <p:spPr bwMode="auto">
          <a:xfrm>
            <a:off x="2038350" y="3435350"/>
            <a:ext cx="62611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F7BA29D-5BA5-0A58-F2C8-9ABF21DC79B1}"/>
              </a:ext>
            </a:extLst>
          </p:cNvPr>
          <p:cNvSpPr/>
          <p:nvPr/>
        </p:nvSpPr>
        <p:spPr>
          <a:xfrm>
            <a:off x="857250" y="1028700"/>
            <a:ext cx="3111500" cy="541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5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fr-FR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功率谱密度</a:t>
            </a:r>
            <a:endParaRPr lang="zh-CN" altLang="en-US" sz="2400" b="1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8B580E-656A-EE6F-CA60-7286DE459FEE}"/>
              </a:ext>
            </a:extLst>
          </p:cNvPr>
          <p:cNvSpPr/>
          <p:nvPr/>
        </p:nvSpPr>
        <p:spPr>
          <a:xfrm>
            <a:off x="1149350" y="1460500"/>
            <a:ext cx="7200900" cy="9525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信号的自相关函数与功率谱密度构成一对傅里叶变换。</a:t>
            </a:r>
            <a:endParaRPr lang="en-US" altLang="zh-CN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因此，对</a:t>
            </a:r>
            <a:r>
              <a:rPr lang="fr-FR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自相关函数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作傅里叶变换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可得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其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功率谱密度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</a:p>
        </p:txBody>
      </p:sp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839AEDF9-5E54-B1B4-C6A7-7C22492FD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403475"/>
          <a:ext cx="61658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06800" imgH="596900" progId="Equation.3">
                  <p:embed/>
                </p:oleObj>
              </mc:Choice>
              <mc:Fallback>
                <p:oleObj name="公式" r:id="rId3" imgW="3606800" imgH="596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403475"/>
                        <a:ext cx="6165850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矩形 7">
            <a:extLst>
              <a:ext uri="{FF2B5EF4-FFF2-40B4-BE49-F238E27FC236}">
                <a16:creationId xmlns:a16="http://schemas.microsoft.com/office/drawing/2014/main" id="{A802639E-E927-404B-EC65-7F037DC2C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340100"/>
            <a:ext cx="244475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曲线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如图所示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511" name="矩形 9">
            <a:extLst>
              <a:ext uri="{FF2B5EF4-FFF2-40B4-BE49-F238E27FC236}">
                <a16:creationId xmlns:a16="http://schemas.microsoft.com/office/drawing/2014/main" id="{94840EC1-199B-C2D8-D010-B6725A1C2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518150"/>
            <a:ext cx="52451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fr-FR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="1" baseline="-25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 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 </a:t>
            </a:r>
            <a:r>
              <a:rPr lang="fr-FR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m/T</a:t>
            </a:r>
            <a:r>
              <a:rPr lang="fr-FR" altLang="zh-CN" sz="2000" b="1" baseline="-25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 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时，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fr-FR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fr-FR" altLang="zh-CN" sz="2000" b="1" i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fr-FR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fr-FR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的特性趋于</a:t>
            </a:r>
            <a:r>
              <a:rPr lang="zh-CN" altLang="fr-FR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白噪声</a:t>
            </a: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的功率谱密度特性。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512" name="矩形 10">
            <a:extLst>
              <a:ext uri="{FF2B5EF4-FFF2-40B4-BE49-F238E27FC236}">
                <a16:creationId xmlns:a16="http://schemas.microsoft.com/office/drawing/2014/main" id="{A9DB5665-AC32-7AA4-EAE7-609F23C8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76250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由图可见</a:t>
            </a:r>
            <a:r>
              <a:rPr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46A2ED-4B4E-F209-AA45-DA821E63A647}"/>
              </a:ext>
            </a:extLst>
          </p:cNvPr>
          <p:cNvSpPr/>
          <p:nvPr/>
        </p:nvSpPr>
        <p:spPr>
          <a:xfrm>
            <a:off x="895350" y="1054100"/>
            <a:ext cx="2336800" cy="541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90000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6</a:t>
            </a:r>
            <a:r>
              <a:rPr lang="zh-CN" altLang="en-US" sz="2400" b="1" kern="0" dirty="0">
                <a:solidFill>
                  <a:srgbClr val="FF0000"/>
                </a:solidFill>
                <a:latin typeface="宋体" pitchFamily="2" charset="-122"/>
                <a:cs typeface="Arial" pitchFamily="34" charset="0"/>
              </a:rPr>
              <a:t>）</a:t>
            </a:r>
            <a:r>
              <a:rPr lang="zh-CN" altLang="fr-FR" sz="2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伪噪声特性</a:t>
            </a:r>
            <a:endParaRPr lang="zh-CN" altLang="en-US" sz="2400" b="1" kern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2532" name="矩形 5">
            <a:extLst>
              <a:ext uri="{FF2B5EF4-FFF2-40B4-BE49-F238E27FC236}">
                <a16:creationId xmlns:a16="http://schemas.microsoft.com/office/drawing/2014/main" id="{F394D859-A12E-B67A-9CB2-E15B231B4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82738"/>
            <a:ext cx="7289800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对一正态分布白噪声取样，若取样值为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正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，则记为“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＋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”。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将每次取样所得极性排成序列，例如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D4000408-E9A4-C022-F9C0-A403B50D6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2716213"/>
          <a:ext cx="40052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139700" progId="Equation.3">
                  <p:embed/>
                </p:oleObj>
              </mc:Choice>
              <mc:Fallback>
                <p:oleObj name="公式" r:id="rId2" imgW="1828800" imgH="139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716213"/>
                        <a:ext cx="4005263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16ED52-1751-3CD4-1923-7228712AA957}"/>
              </a:ext>
            </a:extLst>
          </p:cNvPr>
          <p:cNvSpPr/>
          <p:nvPr/>
        </p:nvSpPr>
        <p:spPr>
          <a:xfrm>
            <a:off x="882650" y="3192463"/>
            <a:ext cx="6978650" cy="503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这是一个</a:t>
            </a:r>
            <a:r>
              <a:rPr lang="zh-CN" altLang="fr-F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随机序列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，它具有如下</a:t>
            </a:r>
            <a:r>
              <a:rPr lang="fr-FR" altLang="zh-CN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3</a:t>
            </a:r>
            <a:r>
              <a:rPr lang="zh-CN" altLang="fr-FR" sz="20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个基本性质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2534" name="矩形 8">
            <a:extLst>
              <a:ext uri="{FF2B5EF4-FFF2-40B4-BE49-F238E27FC236}">
                <a16:creationId xmlns:a16="http://schemas.microsoft.com/office/drawing/2014/main" id="{29B6944F-A8D6-2ACC-1CA6-0FAB30978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3725863"/>
            <a:ext cx="7105650" cy="5032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419100" indent="-419100">
              <a:lnSpc>
                <a:spcPts val="3200"/>
              </a:lnSpc>
              <a:buClr>
                <a:srgbClr val="0000CC"/>
              </a:buClr>
              <a:buSzPct val="65000"/>
              <a:buFont typeface="Wingdings" pitchFamily="2" charset="2"/>
              <a:buChar char="u"/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序列中“＋”和“－”的出现概率相等。</a:t>
            </a:r>
          </a:p>
        </p:txBody>
      </p:sp>
      <p:sp>
        <p:nvSpPr>
          <p:cNvPr id="22535" name="矩形 11">
            <a:extLst>
              <a:ext uri="{FF2B5EF4-FFF2-40B4-BE49-F238E27FC236}">
                <a16:creationId xmlns:a16="http://schemas.microsoft.com/office/drawing/2014/main" id="{6CDE84A9-69AD-C992-236A-09EB0F057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825" y="12954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</a:t>
            </a:r>
            <a:endParaRPr lang="zh-CN" altLang="en-US" b="1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536" name="矩形 12">
            <a:extLst>
              <a:ext uri="{FF2B5EF4-FFF2-40B4-BE49-F238E27FC236}">
                <a16:creationId xmlns:a16="http://schemas.microsoft.com/office/drawing/2014/main" id="{3FF2C554-00BB-AE7A-C4CF-7D236DCFF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95400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－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2539" name="Picture 11">
            <a:extLst>
              <a:ext uri="{FF2B5EF4-FFF2-40B4-BE49-F238E27FC236}">
                <a16:creationId xmlns:a16="http://schemas.microsoft.com/office/drawing/2014/main" id="{B3B62F98-FE2F-8F89-3507-1D0C156EF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r="-3938"/>
          <a:stretch>
            <a:fillRect/>
          </a:stretch>
        </p:blipFill>
        <p:spPr bwMode="auto">
          <a:xfrm>
            <a:off x="1074738" y="4330700"/>
            <a:ext cx="7453312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540" name="Picture 12">
            <a:extLst>
              <a:ext uri="{FF2B5EF4-FFF2-40B4-BE49-F238E27FC236}">
                <a16:creationId xmlns:a16="http://schemas.microsoft.com/office/drawing/2014/main" id="{D12FCDD1-F815-CC66-057B-3B9473B63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r="6250"/>
          <a:stretch>
            <a:fillRect/>
          </a:stretch>
        </p:blipFill>
        <p:spPr bwMode="auto">
          <a:xfrm>
            <a:off x="1104900" y="5384800"/>
            <a:ext cx="733425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5">
            <a:extLst>
              <a:ext uri="{FF2B5EF4-FFF2-40B4-BE49-F238E27FC236}">
                <a16:creationId xmlns:a16="http://schemas.microsoft.com/office/drawing/2014/main" id="{F12730A9-CEE9-239D-51D5-E21D90F81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1347788"/>
            <a:ext cx="7816850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5" name="Picture 6">
            <a:extLst>
              <a:ext uri="{FF2B5EF4-FFF2-40B4-BE49-F238E27FC236}">
                <a16:creationId xmlns:a16="http://schemas.microsoft.com/office/drawing/2014/main" id="{0B501505-3369-091A-AC2F-434DC9A22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3429000"/>
            <a:ext cx="7794625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2ECC8D3-C33F-7871-91ED-CA9089FE78F4}"/>
              </a:ext>
            </a:extLst>
          </p:cNvPr>
          <p:cNvSpPr/>
          <p:nvPr/>
        </p:nvSpPr>
        <p:spPr>
          <a:xfrm>
            <a:off x="127000" y="450850"/>
            <a:ext cx="60896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20000"/>
              </a:spcBef>
              <a:buClr>
                <a:srgbClr val="FF0000"/>
              </a:buClr>
              <a:buSzPct val="55000"/>
              <a:defRPr/>
            </a:pPr>
            <a:r>
              <a:rPr lang="en-US" altLang="en-US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12</a:t>
            </a:r>
            <a:r>
              <a:rPr lang="en-US" altLang="zh-CN" sz="3200" b="1" dirty="0">
                <a:solidFill>
                  <a:srgbClr val="9900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.2.3</a:t>
            </a:r>
            <a:r>
              <a:rPr lang="en-US" altLang="zh-CN" sz="3200" b="1" kern="0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其他伪随机序列简介 </a:t>
            </a:r>
            <a:endParaRPr lang="zh-CN" altLang="en-US" sz="32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0A4876-DF67-1456-3F6A-EAB6FB2B4987}"/>
              </a:ext>
            </a:extLst>
          </p:cNvPr>
          <p:cNvSpPr/>
          <p:nvPr/>
        </p:nvSpPr>
        <p:spPr>
          <a:xfrm>
            <a:off x="749300" y="1331913"/>
            <a:ext cx="2000250" cy="5413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5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1.</a:t>
            </a:r>
            <a:r>
              <a:rPr lang="zh-CN" altLang="en-US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  </a:t>
            </a: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M</a:t>
            </a:r>
            <a:r>
              <a:rPr lang="zh-CN" altLang="en-US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序列</a:t>
            </a:r>
            <a:endParaRPr lang="zh-CN" altLang="en-US" sz="3200" b="1" kern="0" dirty="0">
              <a:solidFill>
                <a:srgbClr val="0000CC"/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CF1009-5475-F43A-3DFC-9A7D0CDB347D}"/>
              </a:ext>
            </a:extLst>
          </p:cNvPr>
          <p:cNvSpPr/>
          <p:nvPr/>
        </p:nvSpPr>
        <p:spPr>
          <a:xfrm>
            <a:off x="1993900" y="2235200"/>
            <a:ext cx="6578600" cy="534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由</a:t>
            </a:r>
            <a:r>
              <a:rPr lang="zh-CN" altLang="fr-FR" sz="2000" b="1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非线性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反馈移存器产生的周期最长的序列称为</a:t>
            </a:r>
            <a:r>
              <a:rPr lang="fr-FR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4EA1B2-8DCE-125E-3529-061884CAF4B4}"/>
              </a:ext>
            </a:extLst>
          </p:cNvPr>
          <p:cNvSpPr/>
          <p:nvPr/>
        </p:nvSpPr>
        <p:spPr>
          <a:xfrm>
            <a:off x="838200" y="2235200"/>
            <a:ext cx="12890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zh-CN" altLang="fr-FR" sz="24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定义：</a:t>
            </a:r>
            <a:endParaRPr lang="zh-CN" altLang="en-US" sz="2400" b="1" kern="0" dirty="0"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5302" name="矩形 11">
            <a:extLst>
              <a:ext uri="{FF2B5EF4-FFF2-40B4-BE49-F238E27FC236}">
                <a16:creationId xmlns:a16="http://schemas.microsoft.com/office/drawing/2014/main" id="{CDA43244-4C96-4864-42BE-8DB954364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2806700"/>
            <a:ext cx="177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周期可达 </a:t>
            </a:r>
            <a:r>
              <a:rPr lang="fr-FR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="1" i="1" baseline="30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endParaRPr lang="zh-CN" altLang="en-US" sz="20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69C7D7-4F54-1AF0-54F8-5BAE69CCB685}"/>
              </a:ext>
            </a:extLst>
          </p:cNvPr>
          <p:cNvSpPr/>
          <p:nvPr/>
        </p:nvSpPr>
        <p:spPr>
          <a:xfrm>
            <a:off x="838200" y="3811588"/>
            <a:ext cx="25781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fr-FR" altLang="zh-CN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序列的产生</a:t>
            </a:r>
            <a:r>
              <a:rPr lang="zh-CN" altLang="fr-FR" sz="24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endParaRPr lang="zh-CN" altLang="en-US" sz="2400" b="1" kern="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5304" name="矩形 13">
            <a:extLst>
              <a:ext uri="{FF2B5EF4-FFF2-40B4-BE49-F238E27FC236}">
                <a16:creationId xmlns:a16="http://schemas.microsoft.com/office/drawing/2014/main" id="{5F0BEDC6-7E47-846C-EC18-FFB95CD96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4502150"/>
            <a:ext cx="7200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下面介绍一种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利用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产生器构成 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产生器的方法。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5305" name="矩形 9">
            <a:extLst>
              <a:ext uri="{FF2B5EF4-FFF2-40B4-BE49-F238E27FC236}">
                <a16:creationId xmlns:a16="http://schemas.microsoft.com/office/drawing/2014/main" id="{F9ED8129-53F7-EF71-DCBA-16C967EA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5080000"/>
            <a:ext cx="7023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仍以前面介绍的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4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级的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产生器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为例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下图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中给出了它的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种状态。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9" grpId="0"/>
      <p:bldP spid="55302" grpId="0"/>
      <p:bldP spid="13" grpId="0"/>
      <p:bldP spid="55304" grpId="0"/>
      <p:bldP spid="5530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4" descr="t1002">
            <a:extLst>
              <a:ext uri="{FF2B5EF4-FFF2-40B4-BE49-F238E27FC236}">
                <a16:creationId xmlns:a16="http://schemas.microsoft.com/office/drawing/2014/main" id="{2805B278-AAF9-22B0-3249-3BDC91F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3" t="21294" r="7666"/>
          <a:stretch>
            <a:fillRect/>
          </a:stretch>
        </p:blipFill>
        <p:spPr bwMode="auto">
          <a:xfrm>
            <a:off x="393700" y="1028700"/>
            <a:ext cx="3695700" cy="502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4" descr="t1002">
            <a:extLst>
              <a:ext uri="{FF2B5EF4-FFF2-40B4-BE49-F238E27FC236}">
                <a16:creationId xmlns:a16="http://schemas.microsoft.com/office/drawing/2014/main" id="{A135F611-048D-D1FE-EF33-81ACCD16E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94"/>
          <a:stretch>
            <a:fillRect/>
          </a:stretch>
        </p:blipFill>
        <p:spPr bwMode="auto">
          <a:xfrm>
            <a:off x="2838450" y="1028700"/>
            <a:ext cx="5378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B338DA8-1BE7-4628-69BB-223F1D9A4F26}"/>
              </a:ext>
            </a:extLst>
          </p:cNvPr>
          <p:cNvSpPr/>
          <p:nvPr/>
        </p:nvSpPr>
        <p:spPr>
          <a:xfrm>
            <a:off x="3416300" y="3695700"/>
            <a:ext cx="4933950" cy="1108075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fr-FR" sz="2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  若使它增加一个“</a:t>
            </a:r>
            <a:r>
              <a:rPr lang="fr-FR" altLang="zh-CN" sz="200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0000</a:t>
            </a:r>
            <a:r>
              <a:rPr lang="fr-FR" altLang="zh-CN" sz="2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”</a:t>
            </a:r>
            <a:r>
              <a:rPr lang="zh-CN" altLang="fr-FR" sz="2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状态，  就可变成</a:t>
            </a:r>
            <a:r>
              <a:rPr lang="zh-CN" altLang="fr-FR" sz="20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fr-FR" altLang="zh-CN" sz="24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4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fr-FR" sz="200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产生器了。</a:t>
            </a:r>
            <a:endParaRPr lang="zh-CN" altLang="en-US" sz="200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5302" name="矩形 8">
            <a:extLst>
              <a:ext uri="{FF2B5EF4-FFF2-40B4-BE49-F238E27FC236}">
                <a16:creationId xmlns:a16="http://schemas.microsoft.com/office/drawing/2014/main" id="{8CEC73B6-369F-6B99-3E1E-73E734CF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949825"/>
            <a:ext cx="4978400" cy="1323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    因为移存器中后级状态必须是由其前级状态移入而得，故此“</a:t>
            </a:r>
            <a:r>
              <a:rPr lang="fr-FR" altLang="zh-CN" sz="2000" b="1" dirty="0">
                <a:solidFill>
                  <a:srgbClr val="FF0000"/>
                </a:solidFill>
                <a:latin typeface="Arial" charset="0"/>
                <a:ea typeface="微软雅黑" pitchFamily="34" charset="-122"/>
                <a:cs typeface="Arial" charset="0"/>
              </a:rPr>
              <a:t>0000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”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状态必须处于初始状态“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1000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”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之</a:t>
            </a:r>
            <a:r>
              <a:rPr lang="zh-CN" altLang="fr-FR" sz="2000" b="1" dirty="0">
                <a:latin typeface="Arial" charset="0"/>
                <a:ea typeface="微软雅黑" pitchFamily="34" charset="-122"/>
                <a:cs typeface="Arial" charset="0"/>
              </a:rPr>
              <a:t>前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和“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0001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”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状态之</a:t>
            </a:r>
            <a:r>
              <a:rPr lang="zh-CN" altLang="fr-FR" sz="2000" b="1" dirty="0">
                <a:latin typeface="Arial" charset="0"/>
                <a:ea typeface="微软雅黑" pitchFamily="34" charset="-122"/>
                <a:cs typeface="Arial" charset="0"/>
              </a:rPr>
              <a:t>后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zh-CN" altLang="en-US" sz="2000" dirty="0"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530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矩形 4">
            <a:extLst>
              <a:ext uri="{FF2B5EF4-FFF2-40B4-BE49-F238E27FC236}">
                <a16:creationId xmlns:a16="http://schemas.microsoft.com/office/drawing/2014/main" id="{239174A6-0F64-5300-3CE0-9AF9476D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073150"/>
            <a:ext cx="746760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这就是说，需将其递推方程修改为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非线性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方程，使“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0001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状态代入新的递推方程后，产生状态“</a:t>
            </a:r>
            <a:r>
              <a:rPr lang="fr-FR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0000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（而不是“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1000”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），且在“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0000”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状态代入后产生状态“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1000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（而不是保持“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0000”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不变）。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557" name="矩形 5">
            <a:extLst>
              <a:ext uri="{FF2B5EF4-FFF2-40B4-BE49-F238E27FC236}">
                <a16:creationId xmlns:a16="http://schemas.microsoft.com/office/drawing/2014/main" id="{521CE951-BECE-622C-9230-E180297CA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02895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r>
              <a:rPr lang="zh-CN" altLang="fr-FR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的递推方程为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80F0AD6A-4E33-87AB-3C8D-941355FE8B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6250" y="3384550"/>
          <a:ext cx="34655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01800" imgH="431800" progId="Equation.3">
                  <p:embed/>
                </p:oleObj>
              </mc:Choice>
              <mc:Fallback>
                <p:oleObj name="公式" r:id="rId2" imgW="1701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3384550"/>
                        <a:ext cx="3465513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矩形 7">
            <a:extLst>
              <a:ext uri="{FF2B5EF4-FFF2-40B4-BE49-F238E27FC236}">
                <a16:creationId xmlns:a16="http://schemas.microsoft.com/office/drawing/2014/main" id="{7A453E41-7421-8C13-61A8-4C425A37B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29100"/>
            <a:ext cx="284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的递推方程应为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9094" name="Object 6">
            <a:extLst>
              <a:ext uri="{FF2B5EF4-FFF2-40B4-BE49-F238E27FC236}">
                <a16:creationId xmlns:a16="http://schemas.microsoft.com/office/drawing/2014/main" id="{FEDE21A4-C1EF-2815-5D1C-8A9024831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851400"/>
          <a:ext cx="6148387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14520" imgH="660240" progId="Equation.3">
                  <p:embed/>
                </p:oleObj>
              </mc:Choice>
              <mc:Fallback>
                <p:oleObj name="公式" r:id="rId4" imgW="3314520" imgH="660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851400"/>
                        <a:ext cx="6148387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3DAB5939-DE71-0DAA-C144-C9B3D09BB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3028950"/>
            <a:ext cx="8010525" cy="515938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有了递推方程，就不难构造出此</a:t>
            </a:r>
            <a:r>
              <a:rPr lang="fr-FR" altLang="zh-CN" sz="2000" b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序列产生器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9FAF960D-14BC-89A4-5B2A-E8619E9218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0813" y="2095500"/>
          <a:ext cx="68405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52800" imgH="457200" progId="Equation.3">
                  <p:embed/>
                </p:oleObj>
              </mc:Choice>
              <mc:Fallback>
                <p:oleObj name="公式" r:id="rId2" imgW="3352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2095500"/>
                        <a:ext cx="684053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0" name="Group 19">
            <a:extLst>
              <a:ext uri="{FF2B5EF4-FFF2-40B4-BE49-F238E27FC236}">
                <a16:creationId xmlns:a16="http://schemas.microsoft.com/office/drawing/2014/main" id="{FAC35F5D-5C59-D9CC-C0BB-594F6534696C}"/>
              </a:ext>
            </a:extLst>
          </p:cNvPr>
          <p:cNvGrpSpPr>
            <a:grpSpLocks/>
          </p:cNvGrpSpPr>
          <p:nvPr/>
        </p:nvGrpSpPr>
        <p:grpSpPr bwMode="auto">
          <a:xfrm>
            <a:off x="1504950" y="4340225"/>
            <a:ext cx="6884988" cy="1889125"/>
            <a:chOff x="981" y="2217"/>
            <a:chExt cx="4337" cy="1190"/>
          </a:xfrm>
        </p:grpSpPr>
        <p:grpSp>
          <p:nvGrpSpPr>
            <p:cNvPr id="24583" name="Group 9">
              <a:extLst>
                <a:ext uri="{FF2B5EF4-FFF2-40B4-BE49-F238E27FC236}">
                  <a16:creationId xmlns:a16="http://schemas.microsoft.com/office/drawing/2014/main" id="{01A0423B-90D9-20C2-5AE5-3260A53C9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217"/>
              <a:ext cx="4337" cy="1190"/>
              <a:chOff x="2400" y="12705"/>
              <a:chExt cx="7050" cy="2186"/>
            </a:xfrm>
          </p:grpSpPr>
          <p:pic>
            <p:nvPicPr>
              <p:cNvPr id="24589" name="Picture 10" descr="t1006">
                <a:extLst>
                  <a:ext uri="{FF2B5EF4-FFF2-40B4-BE49-F238E27FC236}">
                    <a16:creationId xmlns:a16="http://schemas.microsoft.com/office/drawing/2014/main" id="{CB1B27DD-FDF5-E25A-76FD-2D972EEE5F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12705"/>
                <a:ext cx="7050" cy="2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90" name="Line 11">
                <a:extLst>
                  <a:ext uri="{FF2B5EF4-FFF2-40B4-BE49-F238E27FC236}">
                    <a16:creationId xmlns:a16="http://schemas.microsoft.com/office/drawing/2014/main" id="{A12D1703-BDF7-5A30-B8C8-F13D1222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0" y="13785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1" name="Line 12">
                <a:extLst>
                  <a:ext uri="{FF2B5EF4-FFF2-40B4-BE49-F238E27FC236}">
                    <a16:creationId xmlns:a16="http://schemas.microsoft.com/office/drawing/2014/main" id="{AA61950A-06F2-D604-3B97-9AAA99F59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16" y="13785"/>
                <a:ext cx="52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2" name="Line 13">
                <a:extLst>
                  <a:ext uri="{FF2B5EF4-FFF2-40B4-BE49-F238E27FC236}">
                    <a16:creationId xmlns:a16="http://schemas.microsoft.com/office/drawing/2014/main" id="{547E366A-2A85-C035-BBEE-BECA59B53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96" y="13785"/>
                <a:ext cx="52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584" name="Group 18">
              <a:extLst>
                <a:ext uri="{FF2B5EF4-FFF2-40B4-BE49-F238E27FC236}">
                  <a16:creationId xmlns:a16="http://schemas.microsoft.com/office/drawing/2014/main" id="{5E9EE778-8116-186D-6093-5543141B54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670"/>
              <a:ext cx="2467" cy="255"/>
              <a:chOff x="2189" y="2674"/>
              <a:chExt cx="2511" cy="237"/>
            </a:xfrm>
          </p:grpSpPr>
          <p:sp>
            <p:nvSpPr>
              <p:cNvPr id="24585" name="Text Box 14">
                <a:extLst>
                  <a:ext uri="{FF2B5EF4-FFF2-40B4-BE49-F238E27FC236}">
                    <a16:creationId xmlns:a16="http://schemas.microsoft.com/office/drawing/2014/main" id="{3DBA944D-3FD8-6F85-8C6D-5DCEE81BA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9" y="2674"/>
                <a:ext cx="28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/>
              </a:p>
            </p:txBody>
          </p:sp>
          <p:sp>
            <p:nvSpPr>
              <p:cNvPr id="24586" name="Text Box 15">
                <a:extLst>
                  <a:ext uri="{FF2B5EF4-FFF2-40B4-BE49-F238E27FC236}">
                    <a16:creationId xmlns:a16="http://schemas.microsoft.com/office/drawing/2014/main" id="{DC152971-86FA-18A8-CF92-AD46016952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1" y="2674"/>
                <a:ext cx="2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/>
              </a:p>
            </p:txBody>
          </p:sp>
          <p:sp>
            <p:nvSpPr>
              <p:cNvPr id="24587" name="Text Box 16">
                <a:extLst>
                  <a:ext uri="{FF2B5EF4-FFF2-40B4-BE49-F238E27FC236}">
                    <a16:creationId xmlns:a16="http://schemas.microsoft.com/office/drawing/2014/main" id="{6E340969-8910-422A-1BB9-0B1924CB9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4" y="2682"/>
                <a:ext cx="2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/>
              </a:p>
            </p:txBody>
          </p:sp>
          <p:sp>
            <p:nvSpPr>
              <p:cNvPr id="24588" name="Text Box 17">
                <a:extLst>
                  <a:ext uri="{FF2B5EF4-FFF2-40B4-BE49-F238E27FC236}">
                    <a16:creationId xmlns:a16="http://schemas.microsoft.com/office/drawing/2014/main" id="{1B55EB48-0057-55DE-1D08-CBA00CFE40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674"/>
                <a:ext cx="28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en-US" altLang="zh-CN" sz="3200"/>
              </a:p>
            </p:txBody>
          </p:sp>
        </p:grp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41137825-5B64-D53A-5D7F-D2040F2393A7}"/>
              </a:ext>
            </a:extLst>
          </p:cNvPr>
          <p:cNvSpPr/>
          <p:nvPr/>
        </p:nvSpPr>
        <p:spPr>
          <a:xfrm>
            <a:off x="927100" y="1117600"/>
            <a:ext cx="7423150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对于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级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产生器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也一样。为使 </a:t>
            </a:r>
            <a:r>
              <a:rPr lang="en-US" altLang="zh-CN" sz="2000" b="1" i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n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级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en-US" altLang="zh-CN" sz="2000" b="1" i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产生器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变成</a:t>
            </a:r>
            <a:r>
              <a:rPr lang="en-US" altLang="zh-CN" sz="2000" b="1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en-US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产生器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，也只需使其</a:t>
            </a:r>
            <a:r>
              <a:rPr lang="zh-CN" altLang="en-US" sz="2000" kern="0" dirty="0">
                <a:solidFill>
                  <a:srgbClr val="FF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递推方程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改为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C62F28-3CF4-B80D-3709-9E9D00C58A3E}"/>
              </a:ext>
            </a:extLst>
          </p:cNvPr>
          <p:cNvSpPr/>
          <p:nvPr/>
        </p:nvSpPr>
        <p:spPr>
          <a:xfrm>
            <a:off x="971550" y="3732213"/>
            <a:ext cx="5600700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一个 </a:t>
            </a:r>
            <a:r>
              <a:rPr lang="fr-FR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</a:t>
            </a: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级 </a:t>
            </a:r>
            <a:r>
              <a:rPr lang="fr-FR" altLang="zh-CN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0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序列 </a:t>
            </a:r>
            <a:r>
              <a:rPr lang="zh-CN" altLang="fr-FR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产生器</a:t>
            </a: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如下图所示</a:t>
            </a: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:</a:t>
            </a:r>
            <a:endParaRPr lang="zh-CN" altLang="en-US" sz="20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8D9FC3E-1D48-4F44-08F7-20D2848BF96D}"/>
              </a:ext>
            </a:extLst>
          </p:cNvPr>
          <p:cNvSpPr/>
          <p:nvPr/>
        </p:nvSpPr>
        <p:spPr>
          <a:xfrm>
            <a:off x="838200" y="1073150"/>
            <a:ext cx="25781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fr-FR" altLang="zh-CN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序列的</a:t>
            </a:r>
            <a:r>
              <a:rPr lang="zh-CN" altLang="en-US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性质</a:t>
            </a:r>
            <a:r>
              <a:rPr lang="zh-CN" altLang="fr-FR" sz="24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endParaRPr lang="zh-CN" altLang="en-US" sz="2400" b="1" kern="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7347" name="矩形 5">
            <a:extLst>
              <a:ext uri="{FF2B5EF4-FFF2-40B4-BE49-F238E27FC236}">
                <a16:creationId xmlns:a16="http://schemas.microsoft.com/office/drawing/2014/main" id="{70E69C7F-5137-4BCE-FC90-493C8356D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612900"/>
            <a:ext cx="7467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序列与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序列类似，也在一定程度上具有噪声特性。它满足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序列的前两个性质：	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6325" name="矩形 8">
            <a:extLst>
              <a:ext uri="{FF2B5EF4-FFF2-40B4-BE49-F238E27FC236}">
                <a16:creationId xmlns:a16="http://schemas.microsoft.com/office/drawing/2014/main" id="{2065084D-CC4F-FB57-C9A2-B12409831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5518150"/>
            <a:ext cx="75882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但是</a:t>
            </a:r>
            <a:r>
              <a:rPr lang="zh-CN" altLang="en-US" sz="2000" i="1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，</a:t>
            </a:r>
            <a:r>
              <a:rPr lang="fr-FR" altLang="zh-CN" sz="2000" b="1" i="1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 </a:t>
            </a:r>
            <a:r>
              <a:rPr lang="zh-CN" alt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不再具有</a:t>
            </a:r>
            <a:r>
              <a:rPr lang="zh-CN" altLang="fr-FR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 </a:t>
            </a:r>
            <a:r>
              <a:rPr lang="fr-FR" altLang="zh-CN" sz="2000" b="1" i="1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 的</a:t>
            </a:r>
            <a:r>
              <a:rPr lang="zh-CN" alt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移位相加特性</a:t>
            </a: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及</a:t>
            </a:r>
            <a:r>
              <a:rPr lang="zh-CN" altLang="fr-FR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双值自相关</a:t>
            </a: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特性。</a:t>
            </a:r>
            <a:endParaRPr lang="zh-CN" altLang="en-US" dirty="0">
              <a:ea typeface="微软雅黑" pitchFamily="34" charset="-122"/>
              <a:cs typeface="Arial" charset="0"/>
            </a:endParaRPr>
          </a:p>
        </p:txBody>
      </p:sp>
      <p:pic>
        <p:nvPicPr>
          <p:cNvPr id="57349" name="Picture 7">
            <a:extLst>
              <a:ext uri="{FF2B5EF4-FFF2-40B4-BE49-F238E27FC236}">
                <a16:creationId xmlns:a16="http://schemas.microsoft.com/office/drawing/2014/main" id="{72FB6E4F-9065-D81D-FAB6-2EF76B1C8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2717800"/>
            <a:ext cx="7678737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8">
            <a:extLst>
              <a:ext uri="{FF2B5EF4-FFF2-40B4-BE49-F238E27FC236}">
                <a16:creationId xmlns:a16="http://schemas.microsoft.com/office/drawing/2014/main" id="{D0C11C24-5A47-3316-677C-EC1B50996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3563938"/>
            <a:ext cx="7664450" cy="177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1159EEC-272D-4C27-313D-12780A65E1B9}"/>
              </a:ext>
            </a:extLst>
          </p:cNvPr>
          <p:cNvSpPr/>
          <p:nvPr/>
        </p:nvSpPr>
        <p:spPr>
          <a:xfrm>
            <a:off x="704850" y="1144588"/>
            <a:ext cx="25781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3" indent="-28575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  <a:defRPr/>
            </a:pPr>
            <a:r>
              <a:rPr lang="fr-FR" altLang="zh-CN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序列的</a:t>
            </a:r>
            <a:r>
              <a:rPr lang="zh-CN" altLang="en-US" sz="2400" b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优点</a:t>
            </a:r>
            <a:r>
              <a:rPr lang="zh-CN" altLang="fr-FR" sz="24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endParaRPr lang="zh-CN" altLang="en-US" sz="2400" b="1" kern="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58371" name="矩形 5">
            <a:extLst>
              <a:ext uri="{FF2B5EF4-FFF2-40B4-BE49-F238E27FC236}">
                <a16:creationId xmlns:a16="http://schemas.microsoft.com/office/drawing/2014/main" id="{5C75AABC-2182-DE5B-8EA0-5E542FED5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473450"/>
            <a:ext cx="6953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下表给出了级数 </a:t>
            </a:r>
            <a:r>
              <a:rPr lang="fr-FR" altLang="zh-CN" sz="2000" b="1" i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与可能产生的两种序列数目的比较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8372" name="Picture 19">
            <a:extLst>
              <a:ext uri="{FF2B5EF4-FFF2-40B4-BE49-F238E27FC236}">
                <a16:creationId xmlns:a16="http://schemas.microsoft.com/office/drawing/2014/main" id="{EDAC362E-C729-B1B8-F5F4-4266D18C3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695450"/>
            <a:ext cx="7777163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20">
            <a:extLst>
              <a:ext uri="{FF2B5EF4-FFF2-40B4-BE49-F238E27FC236}">
                <a16:creationId xmlns:a16="http://schemas.microsoft.com/office/drawing/2014/main" id="{D20313AD-C49C-6B51-1676-3EB8FC7D1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962400"/>
            <a:ext cx="86741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B765EEC-7FAE-5301-34D3-2CEB5FDA1FD7}"/>
              </a:ext>
            </a:extLst>
          </p:cNvPr>
          <p:cNvSpPr/>
          <p:nvPr/>
        </p:nvSpPr>
        <p:spPr>
          <a:xfrm>
            <a:off x="800100" y="1073150"/>
            <a:ext cx="320040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2. </a:t>
            </a:r>
            <a:r>
              <a:rPr lang="zh-CN" altLang="fr-FR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二次剩余</a:t>
            </a:r>
            <a:r>
              <a:rPr lang="zh-CN" altLang="en-US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序列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59395" name="矩形 7">
            <a:extLst>
              <a:ext uri="{FF2B5EF4-FFF2-40B4-BE49-F238E27FC236}">
                <a16:creationId xmlns:a16="http://schemas.microsoft.com/office/drawing/2014/main" id="{5C79B17F-3850-E919-A5BC-B31BC34DF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917700"/>
            <a:ext cx="75565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二次剩余又称平方剩余数，例如，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9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被</a:t>
            </a:r>
            <a:r>
              <a:rPr lang="zh-CN" altLang="fr-FR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除得到的余数是 </a:t>
            </a:r>
            <a:r>
              <a:rPr lang="fr-FR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，即有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	    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9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2 (mod 7)			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则称</a:t>
            </a:r>
            <a:r>
              <a:rPr lang="zh-CN" altLang="fr-FR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 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的平方剩余数。</a:t>
            </a:r>
          </a:p>
        </p:txBody>
      </p:sp>
      <p:pic>
        <p:nvPicPr>
          <p:cNvPr id="59396" name="Picture 6">
            <a:extLst>
              <a:ext uri="{FF2B5EF4-FFF2-40B4-BE49-F238E27FC236}">
                <a16:creationId xmlns:a16="http://schemas.microsoft.com/office/drawing/2014/main" id="{FEC8A7FD-2921-7311-D33B-F02E52E49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56063"/>
            <a:ext cx="7772400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矩形 4">
            <a:extLst>
              <a:ext uri="{FF2B5EF4-FFF2-40B4-BE49-F238E27FC236}">
                <a16:creationId xmlns:a16="http://schemas.microsoft.com/office/drawing/2014/main" id="{14441A84-91C7-5157-ADD9-9D7AA0727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1265238"/>
            <a:ext cx="2446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当规定 </a:t>
            </a:r>
            <a:r>
              <a:rPr lang="fr-FR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400" b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-1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，且</a:t>
            </a:r>
          </a:p>
        </p:txBody>
      </p:sp>
      <p:graphicFrame>
        <p:nvGraphicFramePr>
          <p:cNvPr id="93188" name="Object 4">
            <a:extLst>
              <a:ext uri="{FF2B5EF4-FFF2-40B4-BE49-F238E27FC236}">
                <a16:creationId xmlns:a16="http://schemas.microsoft.com/office/drawing/2014/main" id="{35DA93D2-3724-9C67-DDF2-CF9A2D229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1931988"/>
          <a:ext cx="44767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8920" imgH="482400" progId="Equation.3">
                  <p:embed/>
                </p:oleObj>
              </mc:Choice>
              <mc:Fallback>
                <p:oleObj name="公式" r:id="rId2" imgW="215892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931988"/>
                        <a:ext cx="4476750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矩形 6">
            <a:extLst>
              <a:ext uri="{FF2B5EF4-FFF2-40B4-BE49-F238E27FC236}">
                <a16:creationId xmlns:a16="http://schemas.microsoft.com/office/drawing/2014/main" id="{2CFB83C7-8595-909A-8E56-2CB574AC5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221038"/>
            <a:ext cx="77978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其中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fr-FR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奇数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，则称 </a:t>
            </a:r>
            <a:r>
              <a:rPr lang="fr-FR" altLang="zh-CN" sz="24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400" b="1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400" b="1" i="1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fr-FR" altLang="zh-CN" sz="24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 </a:t>
            </a:r>
            <a:r>
              <a:rPr lang="zh-CN" altLang="fr-FR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二次剩余序列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0, 1, 2, ...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其周期为</a:t>
            </a:r>
            <a:r>
              <a:rPr lang="fr-FR" altLang="zh-CN" sz="24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CF1A2A3-A3FA-C38B-4212-9E660D06D633}"/>
              </a:ext>
            </a:extLst>
          </p:cNvPr>
          <p:cNvSpPr/>
          <p:nvPr/>
        </p:nvSpPr>
        <p:spPr>
          <a:xfrm>
            <a:off x="1060450" y="673100"/>
            <a:ext cx="6311900" cy="46196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fr-FR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设 </a:t>
            </a:r>
            <a:r>
              <a:rPr lang="fr-FR" altLang="zh-CN" sz="2400" i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fr-FR" altLang="zh-CN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= 19</a:t>
            </a: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fr-FR" sz="2400" b="1" dirty="0">
                <a:solidFill>
                  <a:srgbClr val="0000CC"/>
                </a:solidFill>
              </a:rPr>
              <a:t>素数</a:t>
            </a:r>
            <a:r>
              <a:rPr lang="zh-CN" altLang="en-US" sz="2400" dirty="0">
                <a:solidFill>
                  <a:srgbClr val="0000CC"/>
                </a:solidFill>
              </a:rPr>
              <a:t>）</a:t>
            </a:r>
            <a:r>
              <a:rPr lang="zh-CN" altLang="fr-FR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，容易算出</a:t>
            </a: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2BA26527-281A-E0AE-9A4B-6EFC3ED4157B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584200"/>
            <a:ext cx="706438" cy="577850"/>
            <a:chOff x="1655" y="845"/>
            <a:chExt cx="454" cy="453"/>
          </a:xfrm>
        </p:grpSpPr>
        <p:grpSp>
          <p:nvGrpSpPr>
            <p:cNvPr id="60422" name="Group 23">
              <a:extLst>
                <a:ext uri="{FF2B5EF4-FFF2-40B4-BE49-F238E27FC236}">
                  <a16:creationId xmlns:a16="http://schemas.microsoft.com/office/drawing/2014/main" id="{6664E732-30B8-598F-D8F6-D79FA0770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60424" name="Oval 24">
                <a:extLst>
                  <a:ext uri="{FF2B5EF4-FFF2-40B4-BE49-F238E27FC236}">
                    <a16:creationId xmlns:a16="http://schemas.microsoft.com/office/drawing/2014/main" id="{BD0801EE-5688-441F-21C7-BE091D7CD8C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0425" name="Oval 25">
                <a:extLst>
                  <a:ext uri="{FF2B5EF4-FFF2-40B4-BE49-F238E27FC236}">
                    <a16:creationId xmlns:a16="http://schemas.microsoft.com/office/drawing/2014/main" id="{4FD0B6AC-0155-D515-E292-E8FDF010E5E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0426" name="Oval 26">
                <a:extLst>
                  <a:ext uri="{FF2B5EF4-FFF2-40B4-BE49-F238E27FC236}">
                    <a16:creationId xmlns:a16="http://schemas.microsoft.com/office/drawing/2014/main" id="{2320DF83-FC2B-F768-D567-6B17A5FD66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0427" name="Oval 27">
                <a:extLst>
                  <a:ext uri="{FF2B5EF4-FFF2-40B4-BE49-F238E27FC236}">
                    <a16:creationId xmlns:a16="http://schemas.microsoft.com/office/drawing/2014/main" id="{411FAA21-DA47-4F3A-C09B-47A794D01E4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0428" name="Oval 28">
                <a:extLst>
                  <a:ext uri="{FF2B5EF4-FFF2-40B4-BE49-F238E27FC236}">
                    <a16:creationId xmlns:a16="http://schemas.microsoft.com/office/drawing/2014/main" id="{CF0AB8F2-7BDB-32D5-60C6-27CC5E9591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0423" name="Text Box 29">
              <a:extLst>
                <a:ext uri="{FF2B5EF4-FFF2-40B4-BE49-F238E27FC236}">
                  <a16:creationId xmlns:a16="http://schemas.microsoft.com/office/drawing/2014/main" id="{9A9B16B2-3F69-56E8-5F9F-534163BF428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pic>
        <p:nvPicPr>
          <p:cNvPr id="60420" name="Picture 14">
            <a:extLst>
              <a:ext uri="{FF2B5EF4-FFF2-40B4-BE49-F238E27FC236}">
                <a16:creationId xmlns:a16="http://schemas.microsoft.com/office/drawing/2014/main" id="{0F812618-C0E9-9D29-E333-1EC70100F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292225"/>
            <a:ext cx="631190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30" name="Picture 14">
            <a:extLst>
              <a:ext uri="{FF2B5EF4-FFF2-40B4-BE49-F238E27FC236}">
                <a16:creationId xmlns:a16="http://schemas.microsoft.com/office/drawing/2014/main" id="{9777D78E-F44D-7E91-7BC6-5E06D393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3015"/>
          <a:stretch>
            <a:fillRect/>
          </a:stretch>
        </p:blipFill>
        <p:spPr bwMode="auto">
          <a:xfrm>
            <a:off x="977900" y="5348288"/>
            <a:ext cx="7150100" cy="96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矩形 5">
            <a:extLst>
              <a:ext uri="{FF2B5EF4-FFF2-40B4-BE49-F238E27FC236}">
                <a16:creationId xmlns:a16="http://schemas.microsoft.com/office/drawing/2014/main" id="{3D7447BC-A010-F523-4461-A582A9590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2895600"/>
            <a:ext cx="7512050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这种序列具有随机序列基本性质的第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1)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条性质，但一般不具备第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2)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条性质。</a:t>
            </a:r>
            <a:endParaRPr lang="en-US" altLang="zh-CN" sz="2000" dirty="0"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当 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p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 = 4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 – 1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时（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t =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正整数），它是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双值自相关序列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，即具有近于随机序列基本性质第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3)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条的性质；</a:t>
            </a:r>
            <a:endParaRPr lang="en-US" altLang="zh-CN" sz="2000" dirty="0"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当 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p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 = 4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 + 1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时，它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不是双值自相关序列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en-US" altLang="zh-CN" sz="2000" dirty="0"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但是</a:t>
            </a:r>
            <a:r>
              <a:rPr lang="zh-CN" altLang="en-US" sz="2000" dirty="0">
                <a:latin typeface="Arial" charset="0"/>
                <a:ea typeface="微软雅黑" pitchFamily="34" charset="-122"/>
                <a:cs typeface="Arial" charset="0"/>
              </a:rPr>
              <a:t>，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若</a:t>
            </a:r>
            <a:r>
              <a:rPr lang="fr-FR" altLang="zh-CN" sz="2400" b="1" i="1" dirty="0">
                <a:latin typeface="Arial" charset="0"/>
                <a:ea typeface="微软雅黑" pitchFamily="34" charset="-122"/>
                <a:cs typeface="Arial" charset="0"/>
              </a:rPr>
              <a:t>p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很大，它仍具有近于第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3)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条的性质。一般认为它也属于伪随机序列。</a:t>
            </a:r>
            <a:endParaRPr lang="zh-CN" altLang="en-US" sz="2000" dirty="0">
              <a:latin typeface="Arial" charset="0"/>
              <a:ea typeface="微软雅黑" pitchFamily="34" charset="-122"/>
              <a:cs typeface="Arial" charset="0"/>
            </a:endParaRPr>
          </a:p>
        </p:txBody>
      </p:sp>
      <p:pic>
        <p:nvPicPr>
          <p:cNvPr id="61444" name="Picture 4">
            <a:extLst>
              <a:ext uri="{FF2B5EF4-FFF2-40B4-BE49-F238E27FC236}">
                <a16:creationId xmlns:a16="http://schemas.microsoft.com/office/drawing/2014/main" id="{0B86B3A9-8859-DE16-5DBA-CE7E1429E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1935"/>
          <a:stretch>
            <a:fillRect/>
          </a:stretch>
        </p:blipFill>
        <p:spPr bwMode="auto">
          <a:xfrm>
            <a:off x="881063" y="1073150"/>
            <a:ext cx="7558087" cy="169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E5D771-B80D-C049-2136-4CEBDB5B27F7}"/>
              </a:ext>
            </a:extLst>
          </p:cNvPr>
          <p:cNvSpPr/>
          <p:nvPr/>
        </p:nvSpPr>
        <p:spPr>
          <a:xfrm>
            <a:off x="774700" y="1073150"/>
            <a:ext cx="286385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3. </a:t>
            </a:r>
            <a:r>
              <a:rPr lang="zh-CN" altLang="fr-FR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双素数</a:t>
            </a:r>
            <a:r>
              <a:rPr lang="zh-CN" altLang="en-US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序列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26628" name="矩形 7">
            <a:extLst>
              <a:ext uri="{FF2B5EF4-FFF2-40B4-BE49-F238E27FC236}">
                <a16:creationId xmlns:a16="http://schemas.microsoft.com/office/drawing/2014/main" id="{7CDAFC44-6765-66F9-F66D-9F2AC8A2B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051175"/>
            <a:ext cx="4572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双素数序列 </a:t>
            </a:r>
            <a:r>
              <a:rPr lang="fr-FR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4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400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fr-FR" altLang="zh-CN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的定义为：</a:t>
            </a:r>
          </a:p>
        </p:txBody>
      </p:sp>
      <p:graphicFrame>
        <p:nvGraphicFramePr>
          <p:cNvPr id="96262" name="Object 6">
            <a:extLst>
              <a:ext uri="{FF2B5EF4-FFF2-40B4-BE49-F238E27FC236}">
                <a16:creationId xmlns:a16="http://schemas.microsoft.com/office/drawing/2014/main" id="{4CF9D8AB-9A72-A3AB-0764-066C010B96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9050" y="3687763"/>
          <a:ext cx="4678363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000" imgH="1346040" progId="Equation.3">
                  <p:embed/>
                </p:oleObj>
              </mc:Choice>
              <mc:Fallback>
                <p:oleObj name="公式" r:id="rId2" imgW="2286000" imgH="1346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3687763"/>
                        <a:ext cx="4678363" cy="2763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29" name="Picture 7">
            <a:extLst>
              <a:ext uri="{FF2B5EF4-FFF2-40B4-BE49-F238E27FC236}">
                <a16:creationId xmlns:a16="http://schemas.microsoft.com/office/drawing/2014/main" id="{E621AC1C-192C-42F8-E667-9FACA0F9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873250"/>
            <a:ext cx="791210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矩形 9">
            <a:extLst>
              <a:ext uri="{FF2B5EF4-FFF2-40B4-BE49-F238E27FC236}">
                <a16:creationId xmlns:a16="http://schemas.microsoft.com/office/drawing/2014/main" id="{6C8571C0-06CE-0B1D-E2B3-FFD6303BD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962400"/>
            <a:ext cx="69691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</a:t>
            </a: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74BD96AB-AF6C-6222-4CD9-286D5AEDD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2750" y="4318000"/>
          <a:ext cx="62674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09600" imgH="533160" progId="Equation.3">
                  <p:embed/>
                </p:oleObj>
              </mc:Choice>
              <mc:Fallback>
                <p:oleObj name="公式" r:id="rId2" imgW="3009600" imgH="533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4318000"/>
                        <a:ext cx="62674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矩形 11">
            <a:extLst>
              <a:ext uri="{FF2B5EF4-FFF2-40B4-BE49-F238E27FC236}">
                <a16:creationId xmlns:a16="http://schemas.microsoft.com/office/drawing/2014/main" id="{69FF0882-48E7-9CD3-2C8A-2EA76C7C4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5607050"/>
            <a:ext cx="704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= 1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表示 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 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互为 素数（最大公因子为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96262" name="Object 6">
            <a:extLst>
              <a:ext uri="{FF2B5EF4-FFF2-40B4-BE49-F238E27FC236}">
                <a16:creationId xmlns:a16="http://schemas.microsoft.com/office/drawing/2014/main" id="{EC341878-20E1-02A9-CFB8-6B379C7C0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1073150"/>
          <a:ext cx="4678363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0" imgH="1346040" progId="Equation.3">
                  <p:embed/>
                </p:oleObj>
              </mc:Choice>
              <mc:Fallback>
                <p:oleObj name="公式" r:id="rId4" imgW="2286000" imgH="1346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1073150"/>
                        <a:ext cx="4678363" cy="276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85" name="Picture 13">
            <a:extLst>
              <a:ext uri="{FF2B5EF4-FFF2-40B4-BE49-F238E27FC236}">
                <a16:creationId xmlns:a16="http://schemas.microsoft.com/office/drawing/2014/main" id="{410AEF65-80DE-CB2F-A7CD-ABBC45067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3750" y="450850"/>
            <a:ext cx="7556500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22">
            <a:extLst>
              <a:ext uri="{FF2B5EF4-FFF2-40B4-BE49-F238E27FC236}">
                <a16:creationId xmlns:a16="http://schemas.microsoft.com/office/drawing/2014/main" id="{25A86124-4DF1-28AD-A01A-9DDAD767DBAB}"/>
              </a:ext>
            </a:extLst>
          </p:cNvPr>
          <p:cNvGrpSpPr>
            <a:grpSpLocks/>
          </p:cNvGrpSpPr>
          <p:nvPr/>
        </p:nvGrpSpPr>
        <p:grpSpPr bwMode="auto">
          <a:xfrm>
            <a:off x="438150" y="406400"/>
            <a:ext cx="706438" cy="577850"/>
            <a:chOff x="1655" y="845"/>
            <a:chExt cx="454" cy="453"/>
          </a:xfrm>
        </p:grpSpPr>
        <p:grpSp>
          <p:nvGrpSpPr>
            <p:cNvPr id="28678" name="Group 23">
              <a:extLst>
                <a:ext uri="{FF2B5EF4-FFF2-40B4-BE49-F238E27FC236}">
                  <a16:creationId xmlns:a16="http://schemas.microsoft.com/office/drawing/2014/main" id="{2361B69E-F7A8-4BA6-B844-E2BDD278D1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28680" name="Oval 24">
                <a:extLst>
                  <a:ext uri="{FF2B5EF4-FFF2-40B4-BE49-F238E27FC236}">
                    <a16:creationId xmlns:a16="http://schemas.microsoft.com/office/drawing/2014/main" id="{882F4AFC-AA18-6644-CE83-79CF99277F2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681" name="Oval 25">
                <a:extLst>
                  <a:ext uri="{FF2B5EF4-FFF2-40B4-BE49-F238E27FC236}">
                    <a16:creationId xmlns:a16="http://schemas.microsoft.com/office/drawing/2014/main" id="{56E5406B-6467-D8D2-A91A-1E310B48625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682" name="Oval 26">
                <a:extLst>
                  <a:ext uri="{FF2B5EF4-FFF2-40B4-BE49-F238E27FC236}">
                    <a16:creationId xmlns:a16="http://schemas.microsoft.com/office/drawing/2014/main" id="{591C2109-9C65-40F9-8872-406AA65609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683" name="Oval 27">
                <a:extLst>
                  <a:ext uri="{FF2B5EF4-FFF2-40B4-BE49-F238E27FC236}">
                    <a16:creationId xmlns:a16="http://schemas.microsoft.com/office/drawing/2014/main" id="{B87ABD80-20D5-5786-BFE0-590F5D98345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25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684" name="Oval 28">
                <a:extLst>
                  <a:ext uri="{FF2B5EF4-FFF2-40B4-BE49-F238E27FC236}">
                    <a16:creationId xmlns:a16="http://schemas.microsoft.com/office/drawing/2014/main" id="{CBB2488C-EDBA-9E4F-4479-960DD828E99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8679" name="Text Box 29">
              <a:extLst>
                <a:ext uri="{FF2B5EF4-FFF2-40B4-BE49-F238E27FC236}">
                  <a16:creationId xmlns:a16="http://schemas.microsoft.com/office/drawing/2014/main" id="{1D39228C-C3B0-D6D6-03C5-938F2FCC6C5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93" y="869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graphicFrame>
        <p:nvGraphicFramePr>
          <p:cNvPr id="97284" name="Object 4">
            <a:extLst>
              <a:ext uri="{FF2B5EF4-FFF2-40B4-BE49-F238E27FC236}">
                <a16:creationId xmlns:a16="http://schemas.microsoft.com/office/drawing/2014/main" id="{67BFA5E5-2EAA-413F-A471-FCC277616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873250"/>
          <a:ext cx="4699000" cy="327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41600" imgH="1879600" progId="Equation.3">
                  <p:embed/>
                </p:oleObj>
              </mc:Choice>
              <mc:Fallback>
                <p:oleObj name="公式" r:id="rId3" imgW="2641600" imgH="187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873250"/>
                        <a:ext cx="4699000" cy="327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77" name="Picture 14">
            <a:extLst>
              <a:ext uri="{FF2B5EF4-FFF2-40B4-BE49-F238E27FC236}">
                <a16:creationId xmlns:a16="http://schemas.microsoft.com/office/drawing/2014/main" id="{91C61276-29B7-7890-BAF8-7B16AC0AA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03825"/>
            <a:ext cx="7599363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矩形 4">
            <a:extLst>
              <a:ext uri="{FF2B5EF4-FFF2-40B4-BE49-F238E27FC236}">
                <a16:creationId xmlns:a16="http://schemas.microsoft.com/office/drawing/2014/main" id="{1BD9C197-FD7A-09D5-762E-982EAB814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162050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所以此双素数序列为：</a:t>
            </a:r>
            <a:endParaRPr lang="zh-CN" altLang="en-US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467" name="矩形 5">
            <a:extLst>
              <a:ext uri="{FF2B5EF4-FFF2-40B4-BE49-F238E27FC236}">
                <a16:creationId xmlns:a16="http://schemas.microsoft.com/office/drawing/2014/main" id="{046A34E9-794C-6177-CDB8-5794977C7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651000"/>
            <a:ext cx="685800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fr-FR" sz="28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＋＋＋－＋＋</a:t>
            </a:r>
            <a:r>
              <a:rPr lang="fr-FR" altLang="zh-CN" sz="28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  - </a:t>
            </a:r>
            <a:r>
              <a:rPr lang="zh-CN" altLang="fr-FR" sz="28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＋－＋</a:t>
            </a:r>
            <a:r>
              <a:rPr lang="en-US" altLang="zh-CN" sz="28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 - - -</a:t>
            </a:r>
            <a:endParaRPr lang="fr-FR" altLang="zh-CN" sz="2800" b="1">
              <a:solidFill>
                <a:srgbClr val="0000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endParaRPr lang="en-US" altLang="zh-CN" sz="20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  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＋ 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＋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     － 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－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62468" name="矩形 6">
            <a:extLst>
              <a:ext uri="{FF2B5EF4-FFF2-40B4-BE49-F238E27FC236}">
                <a16:creationId xmlns:a16="http://schemas.microsoft.com/office/drawing/2014/main" id="{145B3E65-C090-B07B-DDFB-1E558CAC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251200"/>
            <a:ext cx="74231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可以验证，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双素数序列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也基本满足随机序列的基本性质，所以也属于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PN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48DF8075-5F35-D458-9B7B-B5E51EEB825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27300" y="3497263"/>
            <a:ext cx="4400550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fr-FR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扩展频谱通信</a:t>
            </a:r>
            <a:endParaRPr lang="en-US" altLang="zh-CN" sz="44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B7D77BAA-F3CC-4EB5-FFFB-7109B049E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982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§1</a:t>
            </a: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.3  </a:t>
            </a:r>
            <a:endParaRPr lang="zh-CN" altLang="en-US" sz="4000" b="1" u="sng" dirty="0">
              <a:solidFill>
                <a:srgbClr val="99009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99C807-53FF-AA1E-D717-CF7D657D0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875" y="6507163"/>
            <a:ext cx="385762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  <a:cs typeface="Arial" charset="0"/>
              </a:rPr>
              <a:t> 西安电子科技大学  通信工程学院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  <a:cs typeface="Arial" charset="0"/>
              </a:rPr>
              <a:t>                          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  <a:cs typeface="Arial" charset="0"/>
              <a:sym typeface="Wingdings" pitchFamily="2" charset="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652FD0-37E2-6B4E-4BC1-8CC654ECD3C6}"/>
              </a:ext>
            </a:extLst>
          </p:cNvPr>
          <p:cNvSpPr/>
          <p:nvPr/>
        </p:nvSpPr>
        <p:spPr>
          <a:xfrm>
            <a:off x="6972300" y="6492875"/>
            <a:ext cx="2143125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  课件制作：曹丽娜 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494" name="矩形 8">
            <a:extLst>
              <a:ext uri="{FF2B5EF4-FFF2-40B4-BE49-F238E27FC236}">
                <a16:creationId xmlns:a16="http://schemas.microsoft.com/office/drawing/2014/main" id="{4E43F7FA-8AAB-1ACE-18A8-3C0B747D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4318000"/>
            <a:ext cx="40735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理论依据：香农信道容量公式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349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60FCDF-F508-0924-5FEC-42E7180A0BBC}"/>
              </a:ext>
            </a:extLst>
          </p:cNvPr>
          <p:cNvSpPr/>
          <p:nvPr/>
        </p:nvSpPr>
        <p:spPr>
          <a:xfrm>
            <a:off x="482600" y="525463"/>
            <a:ext cx="2276475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扩谱的目的</a:t>
            </a:r>
          </a:p>
        </p:txBody>
      </p:sp>
      <p:sp>
        <p:nvSpPr>
          <p:cNvPr id="64515" name="矩形 5">
            <a:extLst>
              <a:ext uri="{FF2B5EF4-FFF2-40B4-BE49-F238E27FC236}">
                <a16:creationId xmlns:a16="http://schemas.microsoft.com/office/drawing/2014/main" id="{E9E3A1D2-AF81-16A8-1E22-8AB3DF3D0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117600"/>
            <a:ext cx="71040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提高抗窄带干扰的能力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特别是敌对电台的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有意干扰。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516" name="矩形 7">
            <a:extLst>
              <a:ext uri="{FF2B5EF4-FFF2-40B4-BE49-F238E27FC236}">
                <a16:creationId xmlns:a16="http://schemas.microsoft.com/office/drawing/2014/main" id="{FADF8FFF-55BD-422F-2195-1FA90A53E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094038"/>
            <a:ext cx="80264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提高抗多径传输效应的能力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   由于扩谱调制采用了扩谱伪码，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它可以用来分离多径信号，   所以有可能提高其抗多径的能力。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517" name="矩形 10">
            <a:extLst>
              <a:ext uri="{FF2B5EF4-FFF2-40B4-BE49-F238E27FC236}">
                <a16:creationId xmlns:a16="http://schemas.microsoft.com/office/drawing/2014/main" id="{110BEF59-9EED-9F22-6BE6-014BD20B7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449888"/>
            <a:ext cx="7705725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提供测距能力。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通过测量扩谱信号的自相关特性的峰值出现时刻， 可以从信号传输时间的大小计算出传输距离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4520" name="Picture 8">
            <a:extLst>
              <a:ext uri="{FF2B5EF4-FFF2-40B4-BE49-F238E27FC236}">
                <a16:creationId xmlns:a16="http://schemas.microsoft.com/office/drawing/2014/main" id="{411EBA40-42B8-8A89-8834-DCC565364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2206"/>
          <a:stretch>
            <a:fillRect/>
          </a:stretch>
        </p:blipFill>
        <p:spPr bwMode="auto">
          <a:xfrm>
            <a:off x="688975" y="1651000"/>
            <a:ext cx="78835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4521" name="Picture 9">
            <a:extLst>
              <a:ext uri="{FF2B5EF4-FFF2-40B4-BE49-F238E27FC236}">
                <a16:creationId xmlns:a16="http://schemas.microsoft.com/office/drawing/2014/main" id="{D00FDA87-9000-6D90-7837-5B21A661B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8338" y="4011613"/>
            <a:ext cx="7859712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矩形 7">
            <a:extLst>
              <a:ext uri="{FF2B5EF4-FFF2-40B4-BE49-F238E27FC236}">
                <a16:creationId xmlns:a16="http://schemas.microsoft.com/office/drawing/2014/main" id="{A82DEE3B-3F91-739E-7511-D80571BEA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162050"/>
            <a:ext cx="31813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直接序列</a:t>
            </a:r>
            <a:r>
              <a:rPr lang="fr-FR" altLang="zh-CN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(DS)</a:t>
            </a:r>
            <a:r>
              <a:rPr lang="zh-CN" altLang="fr-FR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扩谱：</a:t>
            </a:r>
            <a:endParaRPr lang="zh-CN" altLang="en-US" sz="2400" b="1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5539" name="矩形 9">
            <a:extLst>
              <a:ext uri="{FF2B5EF4-FFF2-40B4-BE49-F238E27FC236}">
                <a16:creationId xmlns:a16="http://schemas.microsoft.com/office/drawing/2014/main" id="{93DE986D-8CC7-6693-A17E-9E5A4654F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3073400"/>
            <a:ext cx="25447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跳频</a:t>
            </a:r>
            <a:r>
              <a:rPr lang="fr-FR" altLang="zh-CN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(FH)</a:t>
            </a:r>
            <a:r>
              <a:rPr lang="zh-CN" altLang="fr-FR" sz="2400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扩谱：</a:t>
            </a:r>
            <a:endParaRPr lang="zh-CN" altLang="en-US" sz="2400" b="1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5540" name="矩形 10">
            <a:extLst>
              <a:ext uri="{FF2B5EF4-FFF2-40B4-BE49-F238E27FC236}">
                <a16:creationId xmlns:a16="http://schemas.microsoft.com/office/drawing/2014/main" id="{DEC3209B-4995-3719-12B4-0ED8DD720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4540250"/>
            <a:ext cx="19272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线性调频：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3296F4-92E8-DBDD-71AB-07EE135C5035}"/>
              </a:ext>
            </a:extLst>
          </p:cNvPr>
          <p:cNvSpPr/>
          <p:nvPr/>
        </p:nvSpPr>
        <p:spPr>
          <a:xfrm>
            <a:off x="482600" y="525463"/>
            <a:ext cx="2986088" cy="503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扩谱技术的分类</a:t>
            </a:r>
          </a:p>
        </p:txBody>
      </p:sp>
      <p:pic>
        <p:nvPicPr>
          <p:cNvPr id="65545" name="Picture 9">
            <a:extLst>
              <a:ext uri="{FF2B5EF4-FFF2-40B4-BE49-F238E27FC236}">
                <a16:creationId xmlns:a16="http://schemas.microsoft.com/office/drawing/2014/main" id="{9977B7FF-F334-C897-7C14-5658C4C2A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7100" y="1606550"/>
            <a:ext cx="7683500" cy="1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5546" name="Picture 10">
            <a:extLst>
              <a:ext uri="{FF2B5EF4-FFF2-40B4-BE49-F238E27FC236}">
                <a16:creationId xmlns:a16="http://schemas.microsoft.com/office/drawing/2014/main" id="{7FE56CD7-C9B9-6322-8958-40037F21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1705"/>
          <a:stretch>
            <a:fillRect/>
          </a:stretch>
        </p:blipFill>
        <p:spPr bwMode="auto">
          <a:xfrm>
            <a:off x="927100" y="3517900"/>
            <a:ext cx="768985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5547" name="Picture 11">
            <a:extLst>
              <a:ext uri="{FF2B5EF4-FFF2-40B4-BE49-F238E27FC236}">
                <a16:creationId xmlns:a16="http://schemas.microsoft.com/office/drawing/2014/main" id="{9377C3B5-FDAC-C898-28A8-1483BD341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7100" y="4984750"/>
            <a:ext cx="766127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FAF500E-0DD0-11D0-9F22-2D1AEA16136B}"/>
              </a:ext>
            </a:extLst>
          </p:cNvPr>
          <p:cNvSpPr/>
          <p:nvPr/>
        </p:nvSpPr>
        <p:spPr>
          <a:xfrm>
            <a:off x="561975" y="539750"/>
            <a:ext cx="3376613" cy="503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fr-FR" sz="28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直接序列</a:t>
            </a:r>
            <a:r>
              <a:rPr lang="fr-FR" altLang="zh-CN" sz="28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(DS)</a:t>
            </a:r>
            <a:r>
              <a:rPr lang="zh-CN" altLang="fr-FR" sz="2800" b="1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扩谱</a:t>
            </a:r>
            <a:endParaRPr lang="zh-CN" altLang="en-US" sz="2800" b="1" kern="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6563" name="矩形 5">
            <a:extLst>
              <a:ext uri="{FF2B5EF4-FFF2-40B4-BE49-F238E27FC236}">
                <a16:creationId xmlns:a16="http://schemas.microsoft.com/office/drawing/2014/main" id="{6B82574A-1E1E-CB35-F179-908D9D4C9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16205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原理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5540" name="矩形 6">
            <a:extLst>
              <a:ext uri="{FF2B5EF4-FFF2-40B4-BE49-F238E27FC236}">
                <a16:creationId xmlns:a16="http://schemas.microsoft.com/office/drawing/2014/main" id="{5AC450AA-FB52-2718-C59C-4C6371E4F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651000"/>
            <a:ext cx="7334250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3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用一组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伪码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代表信息码元去调制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载波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。最常用的是</a:t>
            </a:r>
            <a:r>
              <a:rPr lang="fr-FR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2PSK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。这种信号的典型功率谱密度曲线示于下图中。</a:t>
            </a:r>
          </a:p>
        </p:txBody>
      </p:sp>
      <p:pic>
        <p:nvPicPr>
          <p:cNvPr id="66565" name="Picture 5" descr="t1013">
            <a:extLst>
              <a:ext uri="{FF2B5EF4-FFF2-40B4-BE49-F238E27FC236}">
                <a16:creationId xmlns:a16="http://schemas.microsoft.com/office/drawing/2014/main" id="{504760BB-4397-5080-9C58-CEBE191C6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2628900"/>
            <a:ext cx="677862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矩形 8">
            <a:extLst>
              <a:ext uri="{FF2B5EF4-FFF2-40B4-BE49-F238E27FC236}">
                <a16:creationId xmlns:a16="http://schemas.microsoft.com/office/drawing/2014/main" id="{F7195DBC-DE25-F8C9-EECB-27F7C927C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824413"/>
            <a:ext cx="755650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300"/>
              </a:lnSpc>
              <a:defRPr/>
            </a:pP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图中</a:t>
            </a:r>
            <a:r>
              <a:rPr lang="en-US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,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所示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主瓣带宽 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是伪码时钟速率</a:t>
            </a:r>
            <a:r>
              <a:rPr lang="fr-FR" altLang="zh-CN" sz="2000" b="1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R</a:t>
            </a:r>
            <a:r>
              <a:rPr lang="fr-FR" altLang="zh-CN" sz="2000" b="1" i="1" baseline="-25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c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的两倍。每个</a:t>
            </a: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旁瓣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的带宽等于</a:t>
            </a:r>
            <a:r>
              <a:rPr lang="fr-FR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R</a:t>
            </a:r>
            <a:r>
              <a:rPr lang="fr-FR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c 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。例如，若所用码片的速率为 </a:t>
            </a:r>
            <a:r>
              <a:rPr lang="fr-FR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5 Mb/s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，则主瓣带宽将为</a:t>
            </a:r>
            <a:r>
              <a:rPr lang="fr-FR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10 MHz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，每个旁瓣宽为 </a:t>
            </a:r>
            <a:r>
              <a:rPr lang="fr-FR" altLang="zh-CN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5 MHz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。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A34E5A5-33FF-8A0F-53AE-1EF2FFD65917}"/>
              </a:ext>
            </a:extLst>
          </p:cNvPr>
          <p:cNvSpPr/>
          <p:nvPr/>
        </p:nvSpPr>
        <p:spPr>
          <a:xfrm>
            <a:off x="793750" y="1028700"/>
            <a:ext cx="2286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3333CC"/>
              </a:buClr>
              <a:buSzPct val="50000"/>
              <a:buFont typeface="Wingdings" pitchFamily="2" charset="2"/>
              <a:buChar char="u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系统原理框图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562A7C-444B-659B-D017-453341E36C40}"/>
              </a:ext>
            </a:extLst>
          </p:cNvPr>
          <p:cNvSpPr/>
          <p:nvPr/>
        </p:nvSpPr>
        <p:spPr>
          <a:xfrm>
            <a:off x="793750" y="4344988"/>
            <a:ext cx="36004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3333CC"/>
              </a:buClr>
              <a:buSzPct val="50000"/>
              <a:buFont typeface="Wingdings" pitchFamily="2" charset="2"/>
              <a:buChar char="u"/>
              <a:defRPr/>
            </a:pPr>
            <a:r>
              <a:rPr lang="zh-CN" altLang="fr-FR" sz="2400" b="1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调制器简化框图</a:t>
            </a:r>
            <a:r>
              <a:rPr lang="zh-CN" altLang="fr-FR" sz="24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endParaRPr lang="zh-CN" altLang="en-US" sz="2400" kern="0" dirty="0">
              <a:solidFill>
                <a:srgbClr val="000000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3E3696-0F35-4DF7-1F66-00495EC8B61A}"/>
              </a:ext>
            </a:extLst>
          </p:cNvPr>
          <p:cNvSpPr/>
          <p:nvPr/>
        </p:nvSpPr>
        <p:spPr>
          <a:xfrm>
            <a:off x="1016000" y="5092700"/>
            <a:ext cx="3289300" cy="8699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先将两路编码序列</a:t>
            </a:r>
            <a:r>
              <a:rPr lang="zh-CN" altLang="fr-FR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模</a:t>
            </a:r>
            <a:r>
              <a:rPr lang="fr-FR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zh-CN" altLang="fr-FR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相加</a:t>
            </a: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，然后再去进行 </a:t>
            </a:r>
            <a:r>
              <a:rPr lang="zh-CN" altLang="fr-FR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反相键控 </a:t>
            </a:r>
            <a:r>
              <a:rPr lang="zh-CN" altLang="fr-FR" sz="2000" kern="0" dirty="0">
                <a:solidFill>
                  <a:srgbClr val="00000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。 </a:t>
            </a:r>
            <a:endParaRPr lang="zh-CN" altLang="en-US" sz="2000" dirty="0"/>
          </a:p>
        </p:txBody>
      </p:sp>
      <p:pic>
        <p:nvPicPr>
          <p:cNvPr id="67589" name="Picture 2">
            <a:extLst>
              <a:ext uri="{FF2B5EF4-FFF2-40B4-BE49-F238E27FC236}">
                <a16:creationId xmlns:a16="http://schemas.microsoft.com/office/drawing/2014/main" id="{AC26111C-D6D6-0F6C-0446-54C86982F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644650"/>
            <a:ext cx="7816850" cy="248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3">
            <a:extLst>
              <a:ext uri="{FF2B5EF4-FFF2-40B4-BE49-F238E27FC236}">
                <a16:creationId xmlns:a16="http://schemas.microsoft.com/office/drawing/2014/main" id="{B812152B-C684-9B18-6DEA-D6AE058DF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4584700"/>
            <a:ext cx="36449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7C3F0028-7015-9EC2-E941-FD2FD54C3C93}"/>
              </a:ext>
            </a:extLst>
          </p:cNvPr>
          <p:cNvSpPr/>
          <p:nvPr/>
        </p:nvSpPr>
        <p:spPr>
          <a:xfrm>
            <a:off x="558800" y="1606550"/>
            <a:ext cx="4044950" cy="2222500"/>
          </a:xfrm>
          <a:prstGeom prst="ellipse">
            <a:avLst/>
          </a:prstGeom>
          <a:noFill/>
          <a:ln>
            <a:solidFill>
              <a:srgbClr val="0000CC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D2F24BA-0B47-3166-1EC0-A3264DD15AAA}"/>
              </a:ext>
            </a:extLst>
          </p:cNvPr>
          <p:cNvCxnSpPr/>
          <p:nvPr/>
        </p:nvCxnSpPr>
        <p:spPr>
          <a:xfrm>
            <a:off x="3905250" y="3740150"/>
            <a:ext cx="889000" cy="800100"/>
          </a:xfrm>
          <a:prstGeom prst="straightConnector1">
            <a:avLst/>
          </a:prstGeom>
          <a:ln>
            <a:solidFill>
              <a:srgbClr val="0000CC"/>
            </a:solidFill>
            <a:prstDash val="sysDash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8AADC7A8-5823-C083-B077-A77F6335468A}"/>
              </a:ext>
            </a:extLst>
          </p:cNvPr>
          <p:cNvSpPr/>
          <p:nvPr/>
        </p:nvSpPr>
        <p:spPr>
          <a:xfrm>
            <a:off x="4794250" y="4273550"/>
            <a:ext cx="3467100" cy="2089150"/>
          </a:xfrm>
          <a:prstGeom prst="ellipse">
            <a:avLst/>
          </a:prstGeom>
          <a:noFill/>
          <a:ln>
            <a:solidFill>
              <a:srgbClr val="0000CC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5" descr="t1016">
            <a:extLst>
              <a:ext uri="{FF2B5EF4-FFF2-40B4-BE49-F238E27FC236}">
                <a16:creationId xmlns:a16="http://schemas.microsoft.com/office/drawing/2014/main" id="{1A495DE6-8D5F-5B99-E039-256555DD4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" t="1764"/>
          <a:stretch>
            <a:fillRect/>
          </a:stretch>
        </p:blipFill>
        <p:spPr bwMode="auto">
          <a:xfrm>
            <a:off x="920750" y="1135063"/>
            <a:ext cx="5741988" cy="513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1D75196-0C62-7B1D-75FD-4F6F1EB24AC8}"/>
              </a:ext>
            </a:extLst>
          </p:cNvPr>
          <p:cNvSpPr/>
          <p:nvPr/>
        </p:nvSpPr>
        <p:spPr>
          <a:xfrm>
            <a:off x="349250" y="673100"/>
            <a:ext cx="2286000" cy="461963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3333CC"/>
              </a:buClr>
              <a:buSzPct val="50000"/>
              <a:buFont typeface="Wingdings" pitchFamily="2" charset="2"/>
              <a:buChar char="u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/>
                <a:ea typeface="楷体_GB2312"/>
              </a:rPr>
              <a:t>接收过程图解</a:t>
            </a:r>
          </a:p>
        </p:txBody>
      </p:sp>
      <p:sp>
        <p:nvSpPr>
          <p:cNvPr id="68612" name="矩形 9">
            <a:extLst>
              <a:ext uri="{FF2B5EF4-FFF2-40B4-BE49-F238E27FC236}">
                <a16:creationId xmlns:a16="http://schemas.microsoft.com/office/drawing/2014/main" id="{8EDC35AC-0D97-7A38-CB54-1FAE8CF7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1162050"/>
            <a:ext cx="1401763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  <a:buFontTx/>
              <a:buAutoNum type="alphaLcParenBoth"/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信码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613" name="矩形 10">
            <a:extLst>
              <a:ext uri="{FF2B5EF4-FFF2-40B4-BE49-F238E27FC236}">
                <a16:creationId xmlns:a16="http://schemas.microsoft.com/office/drawing/2014/main" id="{2EA935E7-217D-F9EE-85B5-7C8D1E08A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1911350"/>
            <a:ext cx="1555750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(b)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伪码序列</a:t>
            </a:r>
          </a:p>
        </p:txBody>
      </p:sp>
      <p:sp>
        <p:nvSpPr>
          <p:cNvPr id="68614" name="矩形 11">
            <a:extLst>
              <a:ext uri="{FF2B5EF4-FFF2-40B4-BE49-F238E27FC236}">
                <a16:creationId xmlns:a16="http://schemas.microsoft.com/office/drawing/2014/main" id="{CD7D0971-3CF4-DA10-E826-A9825D409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2305050"/>
            <a:ext cx="1511300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发送序列</a:t>
            </a:r>
          </a:p>
        </p:txBody>
      </p:sp>
      <p:sp>
        <p:nvSpPr>
          <p:cNvPr id="68615" name="矩形 12">
            <a:extLst>
              <a:ext uri="{FF2B5EF4-FFF2-40B4-BE49-F238E27FC236}">
                <a16:creationId xmlns:a16="http://schemas.microsoft.com/office/drawing/2014/main" id="{D1A7FB6F-E41E-4844-5452-60F7D2D1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755900"/>
            <a:ext cx="2311400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(d)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发送载波相位</a:t>
            </a:r>
          </a:p>
        </p:txBody>
      </p:sp>
      <p:sp>
        <p:nvSpPr>
          <p:cNvPr id="68616" name="矩形 13">
            <a:extLst>
              <a:ext uri="{FF2B5EF4-FFF2-40B4-BE49-F238E27FC236}">
                <a16:creationId xmlns:a16="http://schemas.microsoft.com/office/drawing/2014/main" id="{B6552BD0-439D-7A6F-8990-771454B6F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3232150"/>
            <a:ext cx="2311400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(e)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混频用本振相位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617" name="矩形 14">
            <a:extLst>
              <a:ext uri="{FF2B5EF4-FFF2-40B4-BE49-F238E27FC236}">
                <a16:creationId xmlns:a16="http://schemas.microsoft.com/office/drawing/2014/main" id="{B3DF91AE-7192-AE7D-DA2B-DD3507E4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4051300"/>
            <a:ext cx="1487488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(f)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中频相位</a:t>
            </a:r>
          </a:p>
        </p:txBody>
      </p:sp>
      <p:sp>
        <p:nvSpPr>
          <p:cNvPr id="68618" name="矩形 15">
            <a:extLst>
              <a:ext uri="{FF2B5EF4-FFF2-40B4-BE49-F238E27FC236}">
                <a16:creationId xmlns:a16="http://schemas.microsoft.com/office/drawing/2014/main" id="{779FED6A-D5AC-DBC4-C15C-F38E27EA7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4540250"/>
            <a:ext cx="1544638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解调信号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619" name="矩形 16">
            <a:extLst>
              <a:ext uri="{FF2B5EF4-FFF2-40B4-BE49-F238E27FC236}">
                <a16:creationId xmlns:a16="http://schemas.microsoft.com/office/drawing/2014/main" id="{9202E57E-12BA-F90F-504C-7349C100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5162550"/>
            <a:ext cx="2052638" cy="450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(h)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干扰信号相位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620" name="矩形 17">
            <a:extLst>
              <a:ext uri="{FF2B5EF4-FFF2-40B4-BE49-F238E27FC236}">
                <a16:creationId xmlns:a16="http://schemas.microsoft.com/office/drawing/2014/main" id="{23E5D078-FFFF-970A-0F59-E87EC38E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350" y="5886450"/>
            <a:ext cx="28257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(i) 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混频后干扰信号相位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C4C1B454-61BE-1ED8-A031-719BB1A9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639E28-C162-4EA0-9D72-62BA38D05ED5}" type="slidenum">
              <a:rPr lang="en-US" altLang="zh-CN"/>
              <a:pPr eaLnBrk="1" hangingPunct="1"/>
              <a:t>62</a:t>
            </a:fld>
            <a:endParaRPr lang="en-US" altLang="zh-CN"/>
          </a:p>
        </p:txBody>
      </p:sp>
      <p:pic>
        <p:nvPicPr>
          <p:cNvPr id="69635" name="Picture 5" descr="t1017">
            <a:extLst>
              <a:ext uri="{FF2B5EF4-FFF2-40B4-BE49-F238E27FC236}">
                <a16:creationId xmlns:a16="http://schemas.microsoft.com/office/drawing/2014/main" id="{2340461E-F0F0-55A0-DBFE-4B83E2E57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5212" r="54681" b="20522"/>
          <a:stretch>
            <a:fillRect/>
          </a:stretch>
        </p:blipFill>
        <p:spPr bwMode="auto">
          <a:xfrm>
            <a:off x="349250" y="1860550"/>
            <a:ext cx="4191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Text Box 6">
            <a:extLst>
              <a:ext uri="{FF2B5EF4-FFF2-40B4-BE49-F238E27FC236}">
                <a16:creationId xmlns:a16="http://schemas.microsoft.com/office/drawing/2014/main" id="{E10282B6-968A-7FE9-BAF7-DB8D0BFDC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667250"/>
            <a:ext cx="6938962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在接收机输入端                  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(b)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在接收机中放输出端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92D823-9EAC-AFFD-CBD2-5F09FE4DAE6F}"/>
              </a:ext>
            </a:extLst>
          </p:cNvPr>
          <p:cNvSpPr/>
          <p:nvPr/>
        </p:nvSpPr>
        <p:spPr>
          <a:xfrm>
            <a:off x="692150" y="1100138"/>
            <a:ext cx="73025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3333CC"/>
              </a:buClr>
              <a:buSzPct val="50000"/>
              <a:buFont typeface="Wingdings" pitchFamily="2" charset="2"/>
              <a:buChar char="u"/>
              <a:defRPr/>
            </a:pPr>
            <a:r>
              <a:rPr lang="zh-CN" altLang="fr-FR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楷体_GB2312"/>
              </a:rPr>
              <a:t>信号和干扰信号在频域中的变化 </a:t>
            </a:r>
            <a:endParaRPr lang="zh-CN" altLang="en-US" sz="24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ea typeface="楷体_GB2312"/>
            </a:endParaRPr>
          </a:p>
        </p:txBody>
      </p:sp>
      <p:pic>
        <p:nvPicPr>
          <p:cNvPr id="69638" name="Picture 5" descr="t1017">
            <a:extLst>
              <a:ext uri="{FF2B5EF4-FFF2-40B4-BE49-F238E27FC236}">
                <a16:creationId xmlns:a16="http://schemas.microsoft.com/office/drawing/2014/main" id="{6FEA9C4F-586C-2F8E-42D7-5117D41C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5" r="2728" b="8795"/>
          <a:stretch>
            <a:fillRect/>
          </a:stretch>
        </p:blipFill>
        <p:spPr bwMode="auto">
          <a:xfrm>
            <a:off x="4514850" y="1536700"/>
            <a:ext cx="454660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326599FB-0868-3D9B-7DE2-12D11B917F1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82800" y="3606800"/>
            <a:ext cx="5778500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fr-FR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伪随机序列的其他应用</a:t>
            </a:r>
            <a:endParaRPr lang="en-US" altLang="zh-CN" sz="44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02492B5C-C603-0EF9-FF5C-6AC3541F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982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cs typeface="Arial" pitchFamily="34" charset="0"/>
              </a:rPr>
              <a:t>§1</a:t>
            </a:r>
            <a:r>
              <a:rPr lang="en-US" altLang="en-US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</a:t>
            </a:r>
            <a:r>
              <a:rPr lang="en-US" altLang="zh-CN" sz="4000" b="1" u="sng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.4  </a:t>
            </a:r>
            <a:endParaRPr lang="zh-CN" altLang="en-US" sz="4000" b="1" u="sng" dirty="0">
              <a:solidFill>
                <a:srgbClr val="99009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24AAD08-6747-D2C7-2738-EBC7464C5D5E}"/>
              </a:ext>
            </a:extLst>
          </p:cNvPr>
          <p:cNvSpPr/>
          <p:nvPr/>
        </p:nvSpPr>
        <p:spPr>
          <a:xfrm>
            <a:off x="704850" y="406400"/>
            <a:ext cx="333375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1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 </a:t>
            </a:r>
            <a:r>
              <a:rPr lang="zh-CN" altLang="fr-FR" sz="3200" b="1" kern="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分离多径技术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29701" name="矩形 5">
            <a:extLst>
              <a:ext uri="{FF2B5EF4-FFF2-40B4-BE49-F238E27FC236}">
                <a16:creationId xmlns:a16="http://schemas.microsoft.com/office/drawing/2014/main" id="{D8402932-1F31-87DF-C87E-C1C56B7A6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3000375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原理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702" name="矩形 5">
            <a:extLst>
              <a:ext uri="{FF2B5EF4-FFF2-40B4-BE49-F238E27FC236}">
                <a16:creationId xmlns:a16="http://schemas.microsoft.com/office/drawing/2014/main" id="{3DF1B63A-F394-A39E-77C4-9DE176DD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117600"/>
            <a:ext cx="13970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目的：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703" name="矩形 9">
            <a:extLst>
              <a:ext uri="{FF2B5EF4-FFF2-40B4-BE49-F238E27FC236}">
                <a16:creationId xmlns:a16="http://schemas.microsoft.com/office/drawing/2014/main" id="{6018E890-8E30-BC0E-F28A-A35C41C3E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446463"/>
            <a:ext cx="74676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考察发射的一个数字信号码元。设这个码元是用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的一个周期去调制的余弦载波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04452" name="Object 4">
            <a:extLst>
              <a:ext uri="{FF2B5EF4-FFF2-40B4-BE49-F238E27FC236}">
                <a16:creationId xmlns:a16="http://schemas.microsoft.com/office/drawing/2014/main" id="{411F8FDC-7285-08A6-CFE1-A8BB20B54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3000" y="4116388"/>
          <a:ext cx="22225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66337" imgH="203112" progId="Equation.3">
                  <p:embed/>
                </p:oleObj>
              </mc:Choice>
              <mc:Fallback>
                <p:oleObj name="公式" r:id="rId2" imgW="106633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4116388"/>
                        <a:ext cx="222250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矩形 11">
            <a:extLst>
              <a:ext uri="{FF2B5EF4-FFF2-40B4-BE49-F238E27FC236}">
                <a16:creationId xmlns:a16="http://schemas.microsoft.com/office/drawing/2014/main" id="{FF17F9EA-2A75-47B8-D6EC-2B2201202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540250"/>
            <a:ext cx="7512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其中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为一取值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864AF6B5-233F-9CDB-6779-26EC64B64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6250" y="5605463"/>
          <a:ext cx="3959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800" imgH="444500" progId="Equation.3">
                  <p:embed/>
                </p:oleObj>
              </mc:Choice>
              <mc:Fallback>
                <p:oleObj name="公式" r:id="rId4" imgW="2209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5605463"/>
                        <a:ext cx="3959225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矩形 10">
            <a:extLst>
              <a:ext uri="{FF2B5EF4-FFF2-40B4-BE49-F238E27FC236}">
                <a16:creationId xmlns:a16="http://schemas.microsoft.com/office/drawing/2014/main" id="{B79FE9EC-A331-E999-7D86-71F02BA99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103813"/>
            <a:ext cx="77787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假设经过多径传输后，在接收机中频部分得到的输出信号为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9707" name="Picture 11">
            <a:extLst>
              <a:ext uri="{FF2B5EF4-FFF2-40B4-BE49-F238E27FC236}">
                <a16:creationId xmlns:a16="http://schemas.microsoft.com/office/drawing/2014/main" id="{5ABC4F32-8C33-4A28-9620-590BD9A8B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77900" y="1651000"/>
            <a:ext cx="75057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B9110905-1E72-02F4-6B3D-BF1D68001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100" y="2095500"/>
            <a:ext cx="3467100" cy="515938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其中</a:t>
            </a:r>
            <a:r>
              <a:rPr lang="zh-CN" altLang="en-US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共有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条路径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的信号</a:t>
            </a:r>
            <a:r>
              <a:rPr lang="zh-CN" altLang="en-US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EC4DC03F-F8A6-C1A3-5CD2-DF520018D6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1162050"/>
          <a:ext cx="39592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09800" imgH="444500" progId="Equation.3">
                  <p:embed/>
                </p:oleObj>
              </mc:Choice>
              <mc:Fallback>
                <p:oleObj name="公式" r:id="rId2" imgW="22098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1162050"/>
                        <a:ext cx="3959225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2ECE06D-A7F0-0B5A-3D42-115F316C0D75}"/>
              </a:ext>
            </a:extLst>
          </p:cNvPr>
          <p:cNvSpPr/>
          <p:nvPr/>
        </p:nvSpPr>
        <p:spPr>
          <a:xfrm>
            <a:off x="1216025" y="2762250"/>
            <a:ext cx="31781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zh-CN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A</a:t>
            </a:r>
            <a:r>
              <a:rPr lang="fr-FR" altLang="zh-CN" sz="2000" b="1" i="1" kern="0" baseline="-25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j  </a:t>
            </a:r>
            <a:r>
              <a:rPr lang="en-US" altLang="zh-CN" sz="2000" dirty="0">
                <a:latin typeface="Arial" charset="0"/>
                <a:ea typeface="微软雅黑" pitchFamily="34" charset="-122"/>
                <a:cs typeface="Arial" charset="0"/>
              </a:rPr>
              <a:t>-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第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j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条路径信号的振幅</a:t>
            </a:r>
            <a:r>
              <a:rPr lang="en-US" altLang="zh-CN" sz="2000" dirty="0">
                <a:latin typeface="Arial" charset="0"/>
                <a:ea typeface="微软雅黑" pitchFamily="34" charset="-122"/>
                <a:cs typeface="Arial" charset="0"/>
              </a:rPr>
              <a:t>;</a:t>
            </a:r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FA1D36-F5DE-04F6-88C7-B1BDC26E226B}"/>
              </a:ext>
            </a:extLst>
          </p:cNvPr>
          <p:cNvSpPr/>
          <p:nvPr/>
        </p:nvSpPr>
        <p:spPr>
          <a:xfrm>
            <a:off x="1206500" y="3195638"/>
            <a:ext cx="320833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altLang="zh-CN" sz="2000" b="1" i="1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j</a:t>
            </a:r>
            <a:r>
              <a:rPr lang="fr-FR" altLang="zh-CN" sz="2000" b="1" i="1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</a:t>
            </a:r>
            <a:r>
              <a:rPr lang="fr-FR" altLang="zh-CN" sz="2000" b="1" i="1" kern="0" baseline="-25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  </a:t>
            </a:r>
            <a:r>
              <a:rPr lang="en-US" altLang="zh-CN" sz="2000" dirty="0">
                <a:latin typeface="Arial" charset="0"/>
                <a:ea typeface="微软雅黑" pitchFamily="34" charset="-122"/>
                <a:cs typeface="Arial" charset="0"/>
              </a:rPr>
              <a:t>-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第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j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条路径信号的延时</a:t>
            </a:r>
            <a:r>
              <a:rPr lang="en-US" altLang="zh-CN" sz="2000" dirty="0">
                <a:latin typeface="Arial" charset="0"/>
                <a:ea typeface="微软雅黑" pitchFamily="34" charset="-122"/>
                <a:cs typeface="Arial" charset="0"/>
              </a:rPr>
              <a:t>;</a:t>
            </a:r>
            <a:endParaRPr lang="zh-CN" altLang="en-US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9FE524-E436-6EED-E2EF-E1F9C884B9B5}"/>
              </a:ext>
            </a:extLst>
          </p:cNvPr>
          <p:cNvSpPr/>
          <p:nvPr/>
        </p:nvSpPr>
        <p:spPr>
          <a:xfrm>
            <a:off x="1206500" y="4095750"/>
            <a:ext cx="32273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fr-FR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</a:t>
            </a:r>
            <a:r>
              <a:rPr lang="fr-FR" altLang="zh-CN" sz="2000" b="1" i="1" kern="0" baseline="-25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j </a:t>
            </a:r>
            <a:r>
              <a:rPr lang="en-US" altLang="zh-CN" sz="2000" dirty="0">
                <a:latin typeface="Arial" charset="0"/>
                <a:ea typeface="微软雅黑" pitchFamily="34" charset="-122"/>
                <a:cs typeface="Arial" charset="0"/>
              </a:rPr>
              <a:t> - 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载波附加的随机相位</a:t>
            </a:r>
            <a:r>
              <a:rPr lang="zh-CN" altLang="en-US" sz="2000" dirty="0"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zh-CN" altLang="en-US" sz="2000" b="1" dirty="0"/>
          </a:p>
        </p:txBody>
      </p:sp>
      <p:sp>
        <p:nvSpPr>
          <p:cNvPr id="30727" name="矩形 7">
            <a:extLst>
              <a:ext uri="{FF2B5EF4-FFF2-40B4-BE49-F238E27FC236}">
                <a16:creationId xmlns:a16="http://schemas.microsoft.com/office/drawing/2014/main" id="{E296DEEB-7AF0-E41A-0321-D422D99DF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25" y="3651250"/>
            <a:ext cx="2084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 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中频角频率 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zh-CN" altLang="en-US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0BFEEE-B3B8-D469-D7ED-A0414CF60EB8}"/>
              </a:ext>
            </a:extLst>
          </p:cNvPr>
          <p:cNvSpPr/>
          <p:nvPr/>
        </p:nvSpPr>
        <p:spPr>
          <a:xfrm>
            <a:off x="4972050" y="2584450"/>
            <a:ext cx="3467100" cy="17335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在此式中，忽略了各条路径共同的延迟，并且认为相邻路径的延迟时间差相等，均等于</a:t>
            </a:r>
            <a:r>
              <a:rPr lang="zh-CN" altLang="fr-FR" sz="2400" b="1" i="1" kern="0" dirty="0">
                <a:solidFill>
                  <a:srgbClr val="FF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 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秒。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B79FD0-4D9D-A059-AF3D-121838A8FCAA}"/>
              </a:ext>
            </a:extLst>
          </p:cNvPr>
          <p:cNvSpPr/>
          <p:nvPr/>
        </p:nvSpPr>
        <p:spPr>
          <a:xfrm>
            <a:off x="965200" y="4710113"/>
            <a:ext cx="7385050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在设计中</a:t>
            </a:r>
            <a:r>
              <a:rPr lang="zh-CN" altLang="en-US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，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我们选用此</a:t>
            </a:r>
            <a:r>
              <a:rPr lang="zh-CN" altLang="fr-FR" sz="2400" b="1" i="1" kern="0" dirty="0">
                <a:solidFill>
                  <a:srgbClr val="FF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</a:t>
            </a:r>
            <a:r>
              <a:rPr lang="zh-CN" altLang="fr-FR" sz="2400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 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值作为 </a:t>
            </a:r>
            <a:r>
              <a:rPr lang="fr-FR" altLang="zh-CN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 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的一个</a:t>
            </a:r>
            <a:r>
              <a:rPr lang="zh-CN" altLang="fr-FR" sz="2000" kern="0" dirty="0">
                <a:solidFill>
                  <a:srgbClr val="FF0000"/>
                </a:solidFill>
                <a:latin typeface="Arial" charset="0"/>
                <a:ea typeface="微软雅黑" pitchFamily="34" charset="-122"/>
                <a:cs typeface="Arial" charset="0"/>
              </a:rPr>
              <a:t>码元宽度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FEFBE3-9AD4-6E58-71EE-D8C42CB0B34D}"/>
              </a:ext>
            </a:extLst>
          </p:cNvPr>
          <p:cNvSpPr/>
          <p:nvPr/>
        </p:nvSpPr>
        <p:spPr>
          <a:xfrm>
            <a:off x="920750" y="5332413"/>
            <a:ext cx="7785100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为了消除各条射线随机相位 </a:t>
            </a:r>
            <a:r>
              <a:rPr lang="zh-CN" altLang="fr-FR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</a:t>
            </a:r>
            <a:r>
              <a:rPr lang="fr-FR" altLang="zh-CN" sz="2000" i="1" kern="0" baseline="-25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j 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的影响，可采用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自适应校相滤波器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zh-CN" altLang="en-US" sz="2000" kern="0" dirty="0">
              <a:solidFill>
                <a:srgbClr val="000000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矩形 5">
            <a:extLst>
              <a:ext uri="{FF2B5EF4-FFF2-40B4-BE49-F238E27FC236}">
                <a16:creationId xmlns:a16="http://schemas.microsoft.com/office/drawing/2014/main" id="{93620089-AD3D-5920-86A2-6A8BA761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984250"/>
            <a:ext cx="29352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自适应校相滤波器</a:t>
            </a:r>
          </a:p>
        </p:txBody>
      </p:sp>
      <p:pic>
        <p:nvPicPr>
          <p:cNvPr id="31749" name="Picture 5" descr="t1018">
            <a:extLst>
              <a:ext uri="{FF2B5EF4-FFF2-40B4-BE49-F238E27FC236}">
                <a16:creationId xmlns:a16="http://schemas.microsoft.com/office/drawing/2014/main" id="{D7E7DEA5-F411-1144-5BA8-91392E882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17650"/>
            <a:ext cx="5448300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矩形 6">
            <a:extLst>
              <a:ext uri="{FF2B5EF4-FFF2-40B4-BE49-F238E27FC236}">
                <a16:creationId xmlns:a16="http://schemas.microsoft.com/office/drawing/2014/main" id="{D04A8C38-4758-471E-960A-1EF898CFE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3028950"/>
            <a:ext cx="3336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上式中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的第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条射线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06503" name="Object 7">
            <a:extLst>
              <a:ext uri="{FF2B5EF4-FFF2-40B4-BE49-F238E27FC236}">
                <a16:creationId xmlns:a16="http://schemas.microsoft.com/office/drawing/2014/main" id="{D2C25B71-6D91-27C4-F525-31738E549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3562350"/>
          <a:ext cx="47704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52700" imgH="241300" progId="Equation.3">
                  <p:embed/>
                </p:oleObj>
              </mc:Choice>
              <mc:Fallback>
                <p:oleObj name="公式" r:id="rId3" imgW="25527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562350"/>
                        <a:ext cx="477043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矩形 8">
            <a:extLst>
              <a:ext uri="{FF2B5EF4-FFF2-40B4-BE49-F238E27FC236}">
                <a16:creationId xmlns:a16="http://schemas.microsoft.com/office/drawing/2014/main" id="{2ED9A50E-D7FF-7295-2295-17506068D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140200"/>
            <a:ext cx="75120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第</a:t>
            </a:r>
            <a:r>
              <a:rPr lang="fr-FR" altLang="zh-CN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1</a:t>
            </a:r>
            <a:r>
              <a:rPr lang="zh-CN" altLang="fr-FR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个相乘器中</a:t>
            </a:r>
            <a:r>
              <a:rPr lang="zh-CN" altLang="en-US" sz="2000" dirty="0">
                <a:latin typeface="Arial" charset="0"/>
                <a:ea typeface="微软雅黑" pitchFamily="34" charset="-122"/>
                <a:cs typeface="Arial" charset="0"/>
              </a:rPr>
              <a:t>：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s</a:t>
            </a:r>
            <a:r>
              <a:rPr lang="fr-FR" altLang="zh-CN" sz="2000" b="1" i="1" baseline="-25000" dirty="0">
                <a:latin typeface="Arial" charset="0"/>
                <a:ea typeface="微软雅黑" pitchFamily="34" charset="-122"/>
                <a:cs typeface="Arial" charset="0"/>
              </a:rPr>
              <a:t>j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与本地振荡电压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s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) = cos (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</a:t>
            </a:r>
            <a:r>
              <a:rPr lang="fr-FR" altLang="zh-CN" sz="2000" b="1" baseline="-25000" dirty="0">
                <a:latin typeface="Arial" charset="0"/>
                <a:ea typeface="微软雅黑" pitchFamily="34" charset="-122"/>
                <a:cs typeface="Arial" charset="0"/>
              </a:rPr>
              <a:t>0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 + 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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相乘。</a:t>
            </a:r>
            <a:endParaRPr lang="en-US" altLang="zh-CN" sz="2000" dirty="0"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相乘结果通过窄带滤波器，后者的中心角频率为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</a:t>
            </a:r>
            <a:r>
              <a:rPr lang="fr-FR" altLang="zh-CN" sz="2000" i="1" baseline="-25000" dirty="0">
                <a:latin typeface="Arial" charset="0"/>
                <a:ea typeface="微软雅黑" pitchFamily="34" charset="-122"/>
                <a:cs typeface="Arial" charset="0"/>
              </a:rPr>
              <a:t>i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 - 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</a:t>
            </a:r>
            <a:r>
              <a:rPr lang="fr-FR" altLang="zh-CN" sz="2000" baseline="-25000" dirty="0">
                <a:latin typeface="Arial" charset="0"/>
                <a:ea typeface="微软雅黑" pitchFamily="34" charset="-122"/>
                <a:cs typeface="Arial" charset="0"/>
              </a:rPr>
              <a:t>0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，其通带极窄，只能通过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</a:t>
            </a:r>
            <a:r>
              <a:rPr lang="fr-FR" altLang="zh-CN" sz="2000" i="1" baseline="-25000" dirty="0">
                <a:latin typeface="Arial" charset="0"/>
                <a:ea typeface="微软雅黑" pitchFamily="34" charset="-122"/>
                <a:cs typeface="Arial" charset="0"/>
              </a:rPr>
              <a:t>i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 - 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  <a:sym typeface="Symbol" pitchFamily="18" charset="2"/>
              </a:rPr>
              <a:t></a:t>
            </a:r>
            <a:r>
              <a:rPr lang="fr-FR" altLang="zh-CN" sz="2000" baseline="-25000" dirty="0">
                <a:latin typeface="Arial" charset="0"/>
                <a:ea typeface="微软雅黑" pitchFamily="34" charset="-122"/>
                <a:cs typeface="Arial" charset="0"/>
              </a:rPr>
              <a:t>0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分量而不能通过各边带分量。故滤波输出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g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在忽略一常数因子后可以表示为</a:t>
            </a:r>
            <a:endParaRPr lang="zh-CN" altLang="en-US" sz="2000" dirty="0">
              <a:latin typeface="Arial" charset="0"/>
              <a:ea typeface="微软雅黑" pitchFamily="34" charset="-122"/>
              <a:cs typeface="Arial" charset="0"/>
            </a:endParaRPr>
          </a:p>
        </p:txBody>
      </p:sp>
      <p:graphicFrame>
        <p:nvGraphicFramePr>
          <p:cNvPr id="106505" name="Object 9">
            <a:extLst>
              <a:ext uri="{FF2B5EF4-FFF2-40B4-BE49-F238E27FC236}">
                <a16:creationId xmlns:a16="http://schemas.microsoft.com/office/drawing/2014/main" id="{67B07CF1-8FEA-CA3B-4E20-173C8E8F7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5875338"/>
          <a:ext cx="50403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65400" imgH="241300" progId="Equation.3">
                  <p:embed/>
                </p:oleObj>
              </mc:Choice>
              <mc:Fallback>
                <p:oleObj name="公式" r:id="rId5" imgW="25654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875338"/>
                        <a:ext cx="5040313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73AB757-D1B4-1306-2561-4D934A93BD3F}"/>
              </a:ext>
            </a:extLst>
          </p:cNvPr>
          <p:cNvSpPr/>
          <p:nvPr/>
        </p:nvSpPr>
        <p:spPr>
          <a:xfrm>
            <a:off x="1238250" y="1517650"/>
            <a:ext cx="1822450" cy="132397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 由两个相乘器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   和</a:t>
            </a: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一个</a:t>
            </a: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窄带</a:t>
            </a:r>
            <a:endParaRPr lang="en-US" altLang="zh-CN" sz="2000" dirty="0">
              <a:solidFill>
                <a:srgbClr val="000000"/>
              </a:solidFill>
              <a:latin typeface="Arial" charset="0"/>
              <a:ea typeface="微软雅黑" pitchFamily="34" charset="-122"/>
              <a:cs typeface="Arial" charset="0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 滤波器组成 </a:t>
            </a:r>
            <a:r>
              <a:rPr lang="zh-CN" altLang="en-US" sz="200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矩形 4">
            <a:extLst>
              <a:ext uri="{FF2B5EF4-FFF2-40B4-BE49-F238E27FC236}">
                <a16:creationId xmlns:a16="http://schemas.microsoft.com/office/drawing/2014/main" id="{4CFDB38C-4AD9-82A8-BFAE-46C4AA00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939800"/>
            <a:ext cx="751205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第</a:t>
            </a:r>
            <a:r>
              <a:rPr lang="fr-FR" altLang="zh-CN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2</a:t>
            </a:r>
            <a:r>
              <a:rPr lang="zh-CN" altLang="fr-FR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个相乘器中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，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s</a:t>
            </a:r>
            <a:r>
              <a:rPr lang="fr-FR" altLang="zh-CN" sz="2000" b="1" i="1" baseline="-25000" dirty="0">
                <a:latin typeface="Arial" charset="0"/>
                <a:ea typeface="微软雅黑" pitchFamily="34" charset="-122"/>
                <a:cs typeface="Arial" charset="0"/>
              </a:rPr>
              <a:t>j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与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g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b="1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b="1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相乘，取出乘积中差频项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f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，仍忽略常数因子，可将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f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(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t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)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表示为</a:t>
            </a:r>
            <a:endParaRPr lang="zh-CN" altLang="en-US" sz="2000" dirty="0">
              <a:ea typeface="微软雅黑" pitchFamily="34" charset="-122"/>
              <a:cs typeface="Arial" charset="0"/>
            </a:endParaRPr>
          </a:p>
        </p:txBody>
      </p:sp>
      <p:graphicFrame>
        <p:nvGraphicFramePr>
          <p:cNvPr id="107524" name="Object 4">
            <a:extLst>
              <a:ext uri="{FF2B5EF4-FFF2-40B4-BE49-F238E27FC236}">
                <a16:creationId xmlns:a16="http://schemas.microsoft.com/office/drawing/2014/main" id="{3A38D206-4233-6E8B-85DC-0C9D3DA8E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1828800"/>
          <a:ext cx="37814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32000" imgH="254000" progId="Equation.3">
                  <p:embed/>
                </p:oleObj>
              </mc:Choice>
              <mc:Fallback>
                <p:oleObj name="公式" r:id="rId2" imgW="20320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1828800"/>
                        <a:ext cx="3781425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6" name="Object 6">
            <a:extLst>
              <a:ext uri="{FF2B5EF4-FFF2-40B4-BE49-F238E27FC236}">
                <a16:creationId xmlns:a16="http://schemas.microsoft.com/office/drawing/2014/main" id="{E47EE1CA-89CD-B7EF-23B0-D320A3A59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4663" y="4627563"/>
          <a:ext cx="373538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800" imgH="444500" progId="Equation.3">
                  <p:embed/>
                </p:oleObj>
              </mc:Choice>
              <mc:Fallback>
                <p:oleObj name="公式" r:id="rId4" imgW="2209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4627563"/>
                        <a:ext cx="3735387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矩形 7">
            <a:extLst>
              <a:ext uri="{FF2B5EF4-FFF2-40B4-BE49-F238E27FC236}">
                <a16:creationId xmlns:a16="http://schemas.microsoft.com/office/drawing/2014/main" id="{349FF881-287C-4ABF-6722-89065B953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317750"/>
            <a:ext cx="7423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在上图中省略了上述分离出差频项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的带通滤波器。</a:t>
            </a:r>
            <a:endParaRPr lang="zh-CN" altLang="en-US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774" name="矩形 8">
            <a:extLst>
              <a:ext uri="{FF2B5EF4-FFF2-40B4-BE49-F238E27FC236}">
                <a16:creationId xmlns:a16="http://schemas.microsoft.com/office/drawing/2014/main" id="{219B315F-0E75-96B3-942D-FD8F425EC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2984500"/>
            <a:ext cx="7467600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由上式可见，经过自适应校相滤波器后，接收信号中的随机相位可以消除。上面只分析了一条路径接收信号的情况。当多径信号输入此滤波器时，每条路径信号都同样受到相位校正，故使各路径信号具有相同的相位。这时的输出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变为</a:t>
            </a:r>
            <a:endParaRPr lang="zh-CN" altLang="en-US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775" name="矩形 9">
            <a:extLst>
              <a:ext uri="{FF2B5EF4-FFF2-40B4-BE49-F238E27FC236}">
                <a16:creationId xmlns:a16="http://schemas.microsoft.com/office/drawing/2014/main" id="{9D7B3437-C600-9FD8-4FCA-074EB909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319713"/>
            <a:ext cx="7423150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此式中各路径信号的载波得到了校正，但是包络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-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仍然有差别。为了校正各路径包络的相对延迟，可以采用下图所示的办法。 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5" descr="t1019">
            <a:extLst>
              <a:ext uri="{FF2B5EF4-FFF2-40B4-BE49-F238E27FC236}">
                <a16:creationId xmlns:a16="http://schemas.microsoft.com/office/drawing/2014/main" id="{1ABFED94-FB3D-3172-C631-231645E8E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781050"/>
            <a:ext cx="773430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矩形 5">
            <a:extLst>
              <a:ext uri="{FF2B5EF4-FFF2-40B4-BE49-F238E27FC236}">
                <a16:creationId xmlns:a16="http://schemas.microsoft.com/office/drawing/2014/main" id="{431CF133-3CB0-15CA-8E6F-F22B51FFB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073650"/>
            <a:ext cx="760095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此图中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AF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为自适应校相滤波器，抽头延迟线的抽头间隔时间为</a:t>
            </a:r>
            <a:r>
              <a:rPr lang="zh-CN" altLang="fr-FR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。设现在共有</a:t>
            </a:r>
            <a:r>
              <a:rPr lang="fr-FR" altLang="zh-CN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fr-FR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条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路径的信号，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4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，抽头延迟线共有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段，每段延迟时间为</a:t>
            </a:r>
            <a:r>
              <a:rPr lang="zh-CN" altLang="fr-FR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相加器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输入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信号包络为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矩形 4">
            <a:extLst>
              <a:ext uri="{FF2B5EF4-FFF2-40B4-BE49-F238E27FC236}">
                <a16:creationId xmlns:a16="http://schemas.microsoft.com/office/drawing/2014/main" id="{5C2EB697-D21F-190D-81BD-385B6D212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295400"/>
            <a:ext cx="786765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未经延迟的：    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经延迟</a:t>
            </a:r>
            <a:r>
              <a:rPr lang="zh-CN" altLang="en-US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  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经延迟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经延迟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t-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B8315CD0-2890-886A-FA05-5E678C67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BD9917-B18F-4FA3-B953-BC6693526ECE}" type="slidenum">
              <a:rPr lang="en-US" altLang="zh-CN"/>
              <a:pPr eaLnBrk="1" hangingPunct="1"/>
              <a:t>70</a:t>
            </a:fld>
            <a:endParaRPr lang="en-US" altLang="zh-CN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47705DF-7ACD-8548-A1DF-8959128C9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339850"/>
            <a:ext cx="7778750" cy="2871788"/>
          </a:xfrm>
        </p:spPr>
        <p:txBody>
          <a:bodyPr/>
          <a:lstStyle/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相加器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输出信号的载波仍为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cos(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+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，包络则为上式中各项之和。</a:t>
            </a:r>
            <a:endParaRPr lang="en-US" altLang="zh-CN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若上图中本地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产生器的输出为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- 3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，则在相乘器</a:t>
            </a:r>
            <a:r>
              <a:rPr lang="fr-FR" altLang="zh-CN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中与接</a:t>
            </a:r>
            <a:endParaRPr lang="en-US" altLang="zh-CN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收的多径信号相乘并经积分后，就能分离出包络为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baseline="30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baseline="30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 baseline="30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fr-FR" altLang="zh-CN" sz="2000" baseline="30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- 3</a:t>
            </a:r>
            <a:r>
              <a:rPr lang="fr-FR" altLang="zh-CN" sz="20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fr-FR" altLang="zh-CN" sz="2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的分量，即上式中右上至左下对角线上各项。或者说，</a:t>
            </a:r>
            <a:endParaRPr lang="en-US" altLang="zh-CN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相当于将</a:t>
            </a:r>
            <a:r>
              <a:rPr lang="fr-FR" altLang="zh-CN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条路径的信号包络的相对延迟校正后相加了起来，而抑止</a:t>
            </a:r>
            <a:endParaRPr lang="en-US" altLang="zh-CN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 b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掉了其余各项。	</a:t>
            </a:r>
            <a:endParaRPr lang="en-US" altLang="zh-CN" sz="2000" b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25AD91-194B-2A2D-E831-CBC58DCAC065}"/>
              </a:ext>
            </a:extLst>
          </p:cNvPr>
          <p:cNvSpPr/>
          <p:nvPr/>
        </p:nvSpPr>
        <p:spPr>
          <a:xfrm>
            <a:off x="971550" y="4629150"/>
            <a:ext cx="7689850" cy="9747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在数字通信系统中，为了传输不同的符号，可以采用不同的</a:t>
            </a:r>
            <a:r>
              <a:rPr lang="fr-FR" altLang="zh-CN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en-US" altLang="zh-CN" sz="2000" kern="0" dirty="0">
              <a:solidFill>
                <a:srgbClr val="000000"/>
              </a:solidFill>
              <a:latin typeface="Arial" charset="0"/>
              <a:ea typeface="微软雅黑" pitchFamily="34" charset="-122"/>
              <a:cs typeface="Arial" charset="0"/>
            </a:endParaRPr>
          </a:p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在接收端自然也需要有几个相应的</a:t>
            </a:r>
            <a:r>
              <a:rPr lang="fr-FR" altLang="zh-CN" sz="2000" b="1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分别与之作相关检测。</a:t>
            </a:r>
            <a:endParaRPr lang="zh-CN" altLang="en-US" sz="2000" kern="0" dirty="0">
              <a:solidFill>
                <a:srgbClr val="000000"/>
              </a:solidFill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CF6561-355A-A8D0-979E-0B70B2847E39}"/>
              </a:ext>
            </a:extLst>
          </p:cNvPr>
          <p:cNvSpPr/>
          <p:nvPr/>
        </p:nvSpPr>
        <p:spPr>
          <a:xfrm>
            <a:off x="749300" y="430213"/>
            <a:ext cx="2978150" cy="55403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2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 </a:t>
            </a:r>
            <a:r>
              <a:rPr lang="zh-CN" altLang="fr-FR" sz="320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误码率测量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74755" name="矩形 5">
            <a:extLst>
              <a:ext uri="{FF2B5EF4-FFF2-40B4-BE49-F238E27FC236}">
                <a16:creationId xmlns:a16="http://schemas.microsoft.com/office/drawing/2014/main" id="{203A5814-2584-AE1D-7619-FA5C6D79B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117600"/>
            <a:ext cx="75120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在实际测量数字通信系统的误码率时，测量结果与信源送出信号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的统计特性有关。通常认为二进制信号中“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和“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1”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是以等概率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随机出现的。所以测量误码率时最理想的信源应是随机序列产生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器。这样测量的结果，是符合实际运用时的情况。</a:t>
            </a:r>
          </a:p>
        </p:txBody>
      </p:sp>
      <p:sp>
        <p:nvSpPr>
          <p:cNvPr id="74756" name="矩形 6">
            <a:extLst>
              <a:ext uri="{FF2B5EF4-FFF2-40B4-BE49-F238E27FC236}">
                <a16:creationId xmlns:a16="http://schemas.microsoft.com/office/drawing/2014/main" id="{3C9DEA8D-FE40-4085-41A3-C8C57F8E4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2957513"/>
            <a:ext cx="751205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用真正的随机序列产生器进行测量时，只适于闭环线路的测试，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如下图所示：</a:t>
            </a:r>
          </a:p>
        </p:txBody>
      </p:sp>
      <p:grpSp>
        <p:nvGrpSpPr>
          <p:cNvPr id="74757" name="Group 9">
            <a:extLst>
              <a:ext uri="{FF2B5EF4-FFF2-40B4-BE49-F238E27FC236}">
                <a16:creationId xmlns:a16="http://schemas.microsoft.com/office/drawing/2014/main" id="{57646017-AB6F-2CFA-4420-3AB4BB704A21}"/>
              </a:ext>
            </a:extLst>
          </p:cNvPr>
          <p:cNvGrpSpPr>
            <a:grpSpLocks/>
          </p:cNvGrpSpPr>
          <p:nvPr/>
        </p:nvGrpSpPr>
        <p:grpSpPr bwMode="auto">
          <a:xfrm>
            <a:off x="1771650" y="3784600"/>
            <a:ext cx="6711950" cy="1466850"/>
            <a:chOff x="1434" y="2670"/>
            <a:chExt cx="4111" cy="993"/>
          </a:xfrm>
        </p:grpSpPr>
        <p:pic>
          <p:nvPicPr>
            <p:cNvPr id="74759" name="Picture 6" descr="t1007">
              <a:extLst>
                <a:ext uri="{FF2B5EF4-FFF2-40B4-BE49-F238E27FC236}">
                  <a16:creationId xmlns:a16="http://schemas.microsoft.com/office/drawing/2014/main" id="{8A16C5A6-AFBD-E173-725F-6FBC2A9DB3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4" y="2670"/>
              <a:ext cx="4111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0" name="Text Box 7">
              <a:extLst>
                <a:ext uri="{FF2B5EF4-FFF2-40B4-BE49-F238E27FC236}">
                  <a16:creationId xmlns:a16="http://schemas.microsoft.com/office/drawing/2014/main" id="{38422F15-040F-E452-F2F2-2DB1B48AD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784"/>
              <a:ext cx="393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endParaRPr lang="en-US" altLang="zh-CN" sz="4400"/>
            </a:p>
          </p:txBody>
        </p:sp>
      </p:grpSp>
      <p:sp>
        <p:nvSpPr>
          <p:cNvPr id="74758" name="矩形 10">
            <a:extLst>
              <a:ext uri="{FF2B5EF4-FFF2-40B4-BE49-F238E27FC236}">
                <a16:creationId xmlns:a16="http://schemas.microsoft.com/office/drawing/2014/main" id="{BB305D03-3D66-E453-FF52-21ED78EE8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603875"/>
            <a:ext cx="48768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闭环测试法所用的信道不符合实际情况。 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>
            <a:extLst>
              <a:ext uri="{FF2B5EF4-FFF2-40B4-BE49-F238E27FC236}">
                <a16:creationId xmlns:a16="http://schemas.microsoft.com/office/drawing/2014/main" id="{CC10129A-D83A-A762-FF9A-66A3EF981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775" y="4629150"/>
            <a:ext cx="7743825" cy="1722438"/>
          </a:xfrm>
        </p:spPr>
        <p:txBody>
          <a:bodyPr/>
          <a:lstStyle/>
          <a:p>
            <a:pPr eaLnBrk="1" hangingPunct="1">
              <a:lnSpc>
                <a:spcPts val="3200"/>
              </a:lnSpc>
              <a:buSzPct val="55000"/>
              <a:buFont typeface="Wingdings" panose="05000000000000000000" pitchFamily="2" charset="2"/>
              <a:buChar char="u"/>
              <a:defRPr/>
            </a:pPr>
            <a:r>
              <a:rPr lang="fr-FR" altLang="zh-CN" sz="2000" b="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ITU</a:t>
            </a:r>
            <a:r>
              <a:rPr lang="zh-CN" altLang="fr-FR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建议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用于</a:t>
            </a:r>
            <a:r>
              <a:rPr lang="zh-CN" altLang="fr-FR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数据传输设备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测量误码的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序列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周期是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511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，其特征</a:t>
            </a:r>
            <a:endParaRPr lang="en-US" altLang="zh-CN" sz="2000" b="0" dirty="0">
              <a:latin typeface="Arial" charset="0"/>
              <a:ea typeface="微软雅黑" pitchFamily="34" charset="-122"/>
              <a:cs typeface="Arial" charset="0"/>
            </a:endParaRPr>
          </a:p>
          <a:p>
            <a:pPr eaLnBrk="1" hangingPunct="1">
              <a:lnSpc>
                <a:spcPts val="3200"/>
              </a:lnSpc>
              <a:buSzPct val="55000"/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latin typeface="Arial" charset="0"/>
                <a:ea typeface="微软雅黑" pitchFamily="34" charset="-122"/>
                <a:cs typeface="Arial" charset="0"/>
              </a:rPr>
              <a:t>    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多项式建议采用</a:t>
            </a:r>
            <a:r>
              <a:rPr lang="fr-FR" altLang="zh-CN" sz="2000" b="0" dirty="0">
                <a:latin typeface="Arial" charset="0"/>
                <a:ea typeface="微软雅黑" pitchFamily="34" charset="-122"/>
                <a:cs typeface="Arial" charset="0"/>
              </a:rPr>
              <a:t>x</a:t>
            </a:r>
            <a:r>
              <a:rPr lang="fr-FR" altLang="zh-CN" sz="2000" b="0" baseline="30000" dirty="0">
                <a:latin typeface="Arial" charset="0"/>
                <a:ea typeface="微软雅黑" pitchFamily="34" charset="-122"/>
                <a:cs typeface="Arial" charset="0"/>
              </a:rPr>
              <a:t>9</a:t>
            </a:r>
            <a:r>
              <a:rPr lang="fr-FR" altLang="zh-CN" sz="2000" b="0" dirty="0">
                <a:latin typeface="Arial" charset="0"/>
                <a:ea typeface="微软雅黑" pitchFamily="34" charset="-122"/>
                <a:cs typeface="Arial" charset="0"/>
              </a:rPr>
              <a:t> + x</a:t>
            </a:r>
            <a:r>
              <a:rPr lang="fr-FR" altLang="zh-CN" sz="2000" b="0" baseline="30000" dirty="0">
                <a:latin typeface="Arial" charset="0"/>
                <a:ea typeface="微软雅黑" pitchFamily="34" charset="-122"/>
                <a:cs typeface="Arial" charset="0"/>
              </a:rPr>
              <a:t>5</a:t>
            </a:r>
            <a:r>
              <a:rPr lang="fr-FR" altLang="zh-CN" sz="2000" b="0" dirty="0">
                <a:latin typeface="Arial" charset="0"/>
                <a:ea typeface="微软雅黑" pitchFamily="34" charset="-122"/>
                <a:cs typeface="Arial" charset="0"/>
              </a:rPr>
              <a:t> + 1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；</a:t>
            </a:r>
            <a:r>
              <a:rPr lang="zh-CN" altLang="fr-FR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建议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用于</a:t>
            </a:r>
            <a:r>
              <a:rPr lang="zh-CN" altLang="fr-FR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数字传输系统</a:t>
            </a:r>
            <a:r>
              <a:rPr lang="fr-FR" altLang="zh-CN" sz="2000" b="0" dirty="0">
                <a:latin typeface="Arial" charset="0"/>
                <a:ea typeface="微软雅黑" pitchFamily="34" charset="-122"/>
                <a:cs typeface="Arial" charset="0"/>
              </a:rPr>
              <a:t>(1544/2048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和</a:t>
            </a:r>
            <a:r>
              <a:rPr lang="fr-FR" altLang="zh-CN" sz="2000" b="0" dirty="0">
                <a:latin typeface="Arial" charset="0"/>
                <a:ea typeface="微软雅黑" pitchFamily="34" charset="-122"/>
                <a:cs typeface="Arial" charset="0"/>
              </a:rPr>
              <a:t>6312/8448 kb/s)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测量的</a:t>
            </a:r>
            <a:r>
              <a:rPr lang="fr-FR" altLang="zh-CN" sz="2000" i="1" dirty="0"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dirty="0">
                <a:latin typeface="Arial" charset="0"/>
                <a:ea typeface="微软雅黑" pitchFamily="34" charset="-122"/>
                <a:cs typeface="Arial" charset="0"/>
              </a:rPr>
              <a:t>序列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周期是 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2</a:t>
            </a:r>
            <a:r>
              <a:rPr lang="fr-FR" altLang="zh-CN" sz="2000" baseline="30000" dirty="0">
                <a:latin typeface="Arial" charset="0"/>
                <a:ea typeface="微软雅黑" pitchFamily="34" charset="-122"/>
                <a:cs typeface="Arial" charset="0"/>
              </a:rPr>
              <a:t>15</a:t>
            </a:r>
            <a:r>
              <a:rPr lang="fr-FR" altLang="zh-CN" sz="2000" dirty="0">
                <a:latin typeface="Arial" charset="0"/>
                <a:ea typeface="微软雅黑" pitchFamily="34" charset="-122"/>
                <a:cs typeface="Arial" charset="0"/>
              </a:rPr>
              <a:t> – 1 = 32767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，其特征多项式建议采用</a:t>
            </a:r>
            <a:r>
              <a:rPr lang="fr-FR" altLang="zh-CN" sz="200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x</a:t>
            </a:r>
            <a:r>
              <a:rPr lang="fr-FR" altLang="zh-CN" sz="2000" baseline="3000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15</a:t>
            </a:r>
            <a:r>
              <a:rPr lang="fr-FR" altLang="zh-CN" sz="200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 + x</a:t>
            </a:r>
            <a:r>
              <a:rPr lang="fr-FR" altLang="zh-CN" sz="2000" baseline="3000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14</a:t>
            </a:r>
            <a:r>
              <a:rPr lang="fr-FR" altLang="zh-CN" sz="2000" dirty="0">
                <a:solidFill>
                  <a:srgbClr val="0000CC"/>
                </a:solidFill>
                <a:latin typeface="Arial" charset="0"/>
                <a:ea typeface="微软雅黑" pitchFamily="34" charset="-122"/>
                <a:cs typeface="Arial" charset="0"/>
              </a:rPr>
              <a:t> + 1</a:t>
            </a:r>
            <a:r>
              <a:rPr lang="zh-CN" altLang="fr-FR" sz="2000" b="0" dirty="0">
                <a:latin typeface="Arial" charset="0"/>
                <a:ea typeface="微软雅黑" pitchFamily="34" charset="-122"/>
                <a:cs typeface="Arial" charset="0"/>
              </a:rPr>
              <a:t>。</a:t>
            </a:r>
            <a:endParaRPr lang="zh-CN" altLang="en-US" sz="2000" b="0" dirty="0">
              <a:latin typeface="Arial" charset="0"/>
              <a:ea typeface="微软雅黑" pitchFamily="34" charset="-122"/>
              <a:cs typeface="Arial" charset="0"/>
            </a:endParaRPr>
          </a:p>
        </p:txBody>
      </p:sp>
      <p:pic>
        <p:nvPicPr>
          <p:cNvPr id="75779" name="Picture 5" descr="t1008">
            <a:extLst>
              <a:ext uri="{FF2B5EF4-FFF2-40B4-BE49-F238E27FC236}">
                <a16:creationId xmlns:a16="http://schemas.microsoft.com/office/drawing/2014/main" id="{D189C05F-3BC9-2266-F88D-2C388FC6C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873250"/>
            <a:ext cx="765175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695DDAB-E374-A19C-6FDE-7048B8CCFC88}"/>
              </a:ext>
            </a:extLst>
          </p:cNvPr>
          <p:cNvSpPr/>
          <p:nvPr/>
        </p:nvSpPr>
        <p:spPr>
          <a:xfrm>
            <a:off x="749300" y="984250"/>
            <a:ext cx="7867650" cy="9128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rgbClr val="3333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在测量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单程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数字通信的误码率时，不能利用随机序列，只能用</a:t>
            </a:r>
            <a:r>
              <a:rPr lang="zh-CN" altLang="fr-FR" sz="2000" b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伪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随机序列代替它。如下图所示：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BFE011-484E-F56D-6C6D-CDB9CCF961D2}"/>
              </a:ext>
            </a:extLst>
          </p:cNvPr>
          <p:cNvSpPr/>
          <p:nvPr/>
        </p:nvSpPr>
        <p:spPr>
          <a:xfrm>
            <a:off x="762000" y="3251200"/>
            <a:ext cx="767715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200"/>
              </a:lnSpc>
              <a:spcBef>
                <a:spcPct val="20000"/>
              </a:spcBef>
              <a:buClr>
                <a:srgbClr val="3333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由于发送端用的是伪随机序列，而且通常是</a:t>
            </a:r>
            <a:r>
              <a:rPr lang="fr-FR" altLang="zh-CN" sz="2000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序列，接收端可以用同样的</a:t>
            </a:r>
            <a:r>
              <a:rPr lang="fr-FR" altLang="zh-CN" sz="2000" i="1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m</a:t>
            </a:r>
            <a:r>
              <a:rPr lang="zh-CN" altLang="fr-FR" sz="2000" kern="0" dirty="0">
                <a:solidFill>
                  <a:srgbClr val="000000"/>
                </a:solidFill>
                <a:latin typeface="Arial" charset="0"/>
                <a:ea typeface="微软雅黑" pitchFamily="34" charset="-122"/>
                <a:cs typeface="Arial" charset="0"/>
              </a:rPr>
              <a:t>序列产生器，由同步信号控制，产生出相同的本地序列。本地序列和接收序列相比较，就可以检测误码。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E5A3C85-8976-F62D-33FF-9FDCD73EC879}"/>
              </a:ext>
            </a:extLst>
          </p:cNvPr>
          <p:cNvSpPr/>
          <p:nvPr/>
        </p:nvSpPr>
        <p:spPr>
          <a:xfrm>
            <a:off x="615950" y="450850"/>
            <a:ext cx="253365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3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 </a:t>
            </a:r>
            <a:r>
              <a:rPr lang="zh-CN" altLang="en-US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时延</a:t>
            </a:r>
            <a:r>
              <a:rPr lang="zh-CN" altLang="fr-FR" sz="320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测量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76803" name="矩形 5">
            <a:extLst>
              <a:ext uri="{FF2B5EF4-FFF2-40B4-BE49-F238E27FC236}">
                <a16:creationId xmlns:a16="http://schemas.microsoft.com/office/drawing/2014/main" id="{45411C8C-313D-2456-E30C-5375E6047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1295400"/>
            <a:ext cx="64008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测量信号传输的时间延迟。</a:t>
            </a:r>
          </a:p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测量信号传播距离，即利用无线电信号测距。</a:t>
            </a:r>
          </a:p>
        </p:txBody>
      </p:sp>
      <p:sp>
        <p:nvSpPr>
          <p:cNvPr id="76804" name="矩形 5">
            <a:extLst>
              <a:ext uri="{FF2B5EF4-FFF2-40B4-BE49-F238E27FC236}">
                <a16:creationId xmlns:a16="http://schemas.microsoft.com/office/drawing/2014/main" id="{8A05F3EE-38AF-E6B0-EC0F-F9BB5872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11760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 b="1">
                <a:ea typeface="微软雅黑" panose="020B0503020204020204" pitchFamily="34" charset="-122"/>
                <a:cs typeface="Arial" panose="020B0604020202020204" pitchFamily="34" charset="0"/>
              </a:rPr>
              <a:t>目的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6805" name="矩形 5">
            <a:extLst>
              <a:ext uri="{FF2B5EF4-FFF2-40B4-BE49-F238E27FC236}">
                <a16:creationId xmlns:a16="http://schemas.microsoft.com/office/drawing/2014/main" id="{78C41089-8CC4-6B95-A6C7-CB438EC1F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05105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b="1">
                <a:ea typeface="微软雅黑" panose="020B0503020204020204" pitchFamily="34" charset="-122"/>
                <a:cs typeface="Arial" panose="020B0604020202020204" pitchFamily="34" charset="0"/>
              </a:rPr>
              <a:t>原理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7831" name="矩形 13">
            <a:extLst>
              <a:ext uri="{FF2B5EF4-FFF2-40B4-BE49-F238E27FC236}">
                <a16:creationId xmlns:a16="http://schemas.microsoft.com/office/drawing/2014/main" id="{A1E215D7-A161-27B7-C75B-6462B6B4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4540250"/>
            <a:ext cx="4222750" cy="1733550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图</a:t>
            </a:r>
            <a:r>
              <a:rPr lang="fr-FR" altLang="zh-CN" sz="2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(a)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：测量的最大延迟（距离）受脉冲重复频率限制，测量的精确度也受脉冲宽度（或上升时间）及标准延迟线的精确度限制。 </a:t>
            </a:r>
          </a:p>
        </p:txBody>
      </p:sp>
      <p:sp>
        <p:nvSpPr>
          <p:cNvPr id="77832" name="矩形 14">
            <a:extLst>
              <a:ext uri="{FF2B5EF4-FFF2-40B4-BE49-F238E27FC236}">
                <a16:creationId xmlns:a16="http://schemas.microsoft.com/office/drawing/2014/main" id="{96F48EB7-B2A8-3165-15FF-56857F372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4540250"/>
            <a:ext cx="4178300" cy="1733550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sz="2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图</a:t>
            </a:r>
            <a:r>
              <a:rPr lang="en-US" altLang="zh-CN" sz="2000" dirty="0">
                <a:solidFill>
                  <a:srgbClr val="0000CC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(b)</a:t>
            </a:r>
            <a:r>
              <a:rPr lang="zh-CN" altLang="en-US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：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用</a:t>
            </a:r>
            <a:r>
              <a:rPr lang="fr-FR" altLang="zh-CN" sz="2000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序列代替周期性窄脉冲，用相关器代替比较器，可以改善测量延迟的性能。测量精确度决定于所用</a:t>
            </a:r>
            <a:r>
              <a:rPr lang="fr-FR" altLang="zh-CN" sz="2000" i="1" dirty="0">
                <a:latin typeface="Arial" pitchFamily="34" charset="0"/>
                <a:ea typeface="微软雅黑" pitchFamily="34" charset="-122"/>
                <a:cs typeface="Arial" pitchFamily="34" charset="0"/>
              </a:rPr>
              <a:t>m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序列的一个码片的宽度 。</a:t>
            </a:r>
            <a:endParaRPr lang="zh-CN" altLang="en-US" sz="2000" dirty="0"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76808" name="组合 18">
            <a:extLst>
              <a:ext uri="{FF2B5EF4-FFF2-40B4-BE49-F238E27FC236}">
                <a16:creationId xmlns:a16="http://schemas.microsoft.com/office/drawing/2014/main" id="{D0D54376-21D7-CB16-69DA-FBC7BAC70195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2673350"/>
            <a:ext cx="8045450" cy="1689100"/>
            <a:chOff x="571500" y="2673350"/>
            <a:chExt cx="8045450" cy="1689100"/>
          </a:xfrm>
        </p:grpSpPr>
        <p:grpSp>
          <p:nvGrpSpPr>
            <p:cNvPr id="76809" name="Group 12">
              <a:extLst>
                <a:ext uri="{FF2B5EF4-FFF2-40B4-BE49-F238E27FC236}">
                  <a16:creationId xmlns:a16="http://schemas.microsoft.com/office/drawing/2014/main" id="{DFB15AA4-F06A-2F6D-6391-D0E3EE388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" y="2673350"/>
              <a:ext cx="8045450" cy="1689100"/>
              <a:chOff x="867" y="2018"/>
              <a:chExt cx="4593" cy="935"/>
            </a:xfrm>
          </p:grpSpPr>
          <p:pic>
            <p:nvPicPr>
              <p:cNvPr id="76816" name="Picture 6" descr="t1009">
                <a:extLst>
                  <a:ext uri="{FF2B5EF4-FFF2-40B4-BE49-F238E27FC236}">
                    <a16:creationId xmlns:a16="http://schemas.microsoft.com/office/drawing/2014/main" id="{93AB67E9-7F3E-6058-191C-2EB3F22D2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7" y="2018"/>
                <a:ext cx="4593" cy="9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6817" name="Group 11">
                <a:extLst>
                  <a:ext uri="{FF2B5EF4-FFF2-40B4-BE49-F238E27FC236}">
                    <a16:creationId xmlns:a16="http://schemas.microsoft.com/office/drawing/2014/main" id="{7A06129D-A1EC-E1B7-1DDE-4DC38B9ABD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0" y="2144"/>
                <a:ext cx="695" cy="588"/>
                <a:chOff x="3552" y="2358"/>
                <a:chExt cx="695" cy="588"/>
              </a:xfrm>
            </p:grpSpPr>
            <p:sp>
              <p:nvSpPr>
                <p:cNvPr id="77835" name="Text Box 8">
                  <a:extLst>
                    <a:ext uri="{FF2B5EF4-FFF2-40B4-BE49-F238E27FC236}">
                      <a16:creationId xmlns:a16="http://schemas.microsoft.com/office/drawing/2014/main" id="{D766797A-6C42-439A-7618-669898207F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2358"/>
                  <a:ext cx="691" cy="1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defRPr/>
                  </a:pPr>
                  <a:r>
                    <a:rPr lang="en-US" altLang="zh-CN" i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ea typeface="微软雅黑" pitchFamily="34" charset="-122"/>
                      <a:cs typeface="Arial" pitchFamily="34" charset="0"/>
                    </a:rPr>
                    <a:t>m</a:t>
                  </a:r>
                  <a:r>
                    <a:rPr lang="zh-CN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ea typeface="微软雅黑" pitchFamily="34" charset="-122"/>
                      <a:cs typeface="Arial" pitchFamily="34" charset="0"/>
                    </a:rPr>
                    <a:t>序列源</a:t>
                  </a:r>
                </a:p>
              </p:txBody>
            </p:sp>
            <p:sp>
              <p:nvSpPr>
                <p:cNvPr id="77836" name="Text Box 9">
                  <a:extLst>
                    <a:ext uri="{FF2B5EF4-FFF2-40B4-BE49-F238E27FC236}">
                      <a16:creationId xmlns:a16="http://schemas.microsoft.com/office/drawing/2014/main" id="{D9954A0A-26D2-CF0C-BFDB-41AB3505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2757"/>
                  <a:ext cx="691" cy="19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defRPr/>
                  </a:pPr>
                  <a:r>
                    <a:rPr lang="zh-CN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ea typeface="微软雅黑" pitchFamily="34" charset="-122"/>
                      <a:cs typeface="Arial" pitchFamily="34" charset="0"/>
                    </a:rPr>
                    <a:t>移位</a:t>
                  </a:r>
                  <a:r>
                    <a:rPr lang="en-US" altLang="zh-CN" i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ea typeface="微软雅黑" pitchFamily="34" charset="-122"/>
                      <a:cs typeface="Arial" pitchFamily="34" charset="0"/>
                    </a:rPr>
                    <a:t>m</a:t>
                  </a:r>
                  <a:r>
                    <a:rPr lang="zh-CN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itchFamily="34" charset="0"/>
                      <a:ea typeface="微软雅黑" pitchFamily="34" charset="-122"/>
                      <a:cs typeface="Arial" pitchFamily="34" charset="0"/>
                    </a:rPr>
                    <a:t>序列</a:t>
                  </a:r>
                </a:p>
              </p:txBody>
            </p:sp>
          </p:grpSp>
        </p:grp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A283B35F-C209-C679-72F0-E23BDE9E8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2813050"/>
              <a:ext cx="1217613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软雅黑" pitchFamily="34" charset="-122"/>
                  <a:cs typeface="Arial" pitchFamily="34" charset="0"/>
                </a:rPr>
                <a:t>脉冲源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0C3B35EA-DBD0-4FBF-C5AD-28AFCC555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556000"/>
              <a:ext cx="1217613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微软雅黑" pitchFamily="34" charset="-122"/>
                  <a:cs typeface="Arial" charset="0"/>
                </a:rPr>
                <a:t>延迟线</a:t>
              </a:r>
              <a:r>
                <a:rPr lang="en-US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Arial" charset="0"/>
                </a:rPr>
                <a:t>τ</a:t>
              </a:r>
              <a:endPara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微软雅黑" pitchFamily="34" charset="-122"/>
                <a:cs typeface="Arial" charset="0"/>
              </a:endParaRP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367D634A-4BDF-D1B1-3528-098A406BC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8738" y="2806700"/>
              <a:ext cx="1217612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软雅黑" pitchFamily="34" charset="-122"/>
                  <a:cs typeface="Arial" pitchFamily="34" charset="0"/>
                </a:rPr>
                <a:t>传输路径</a:t>
              </a:r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6CB03993-BB4A-41B1-A957-6E1ACFD07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6200" y="3562350"/>
              <a:ext cx="1217613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软雅黑" pitchFamily="34" charset="-122"/>
                  <a:cs typeface="Arial" pitchFamily="34" charset="0"/>
                </a:rPr>
                <a:t>比较</a:t>
              </a: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3A7753A4-15EB-5C1A-4F5C-445CD3164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1200" y="2857500"/>
              <a:ext cx="1217613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软雅黑" pitchFamily="34" charset="-122"/>
                  <a:cs typeface="Arial" pitchFamily="34" charset="0"/>
                </a:rPr>
                <a:t>传输路径</a:t>
              </a: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E0E2A898-A70F-07A9-8A5C-28F5DE04C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7550" y="3581400"/>
              <a:ext cx="1217613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ts val="2600"/>
                </a:lnSpc>
                <a:defRPr/>
              </a:pP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软雅黑" pitchFamily="34" charset="-122"/>
                  <a:cs typeface="Arial" pitchFamily="34" charset="0"/>
                </a:rPr>
                <a:t>相关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836FFCA-9CF6-DBAD-70FA-55DEFF5058E0}"/>
              </a:ext>
            </a:extLst>
          </p:cNvPr>
          <p:cNvSpPr/>
          <p:nvPr/>
        </p:nvSpPr>
        <p:spPr>
          <a:xfrm>
            <a:off x="660400" y="406400"/>
            <a:ext cx="2978150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4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 </a:t>
            </a:r>
            <a:r>
              <a:rPr lang="zh-CN" altLang="fr-FR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噪声产生器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78851" name="矩形 5">
            <a:extLst>
              <a:ext uri="{FF2B5EF4-FFF2-40B4-BE49-F238E27FC236}">
                <a16:creationId xmlns:a16="http://schemas.microsoft.com/office/drawing/2014/main" id="{E052896A-500E-88EB-812F-335041DE2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1295400"/>
            <a:ext cx="55562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lt"/>
                <a:ea typeface="黑体" pitchFamily="49" charset="-122"/>
                <a:cs typeface="Arial" pitchFamily="34" charset="0"/>
              </a:rPr>
              <a:t>:  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测量通信系统在不同信噪比条件下的性能。</a:t>
            </a:r>
          </a:p>
        </p:txBody>
      </p:sp>
      <p:sp>
        <p:nvSpPr>
          <p:cNvPr id="77828" name="矩形 5">
            <a:extLst>
              <a:ext uri="{FF2B5EF4-FFF2-40B4-BE49-F238E27FC236}">
                <a16:creationId xmlns:a16="http://schemas.microsoft.com/office/drawing/2014/main" id="{A229C044-F2AF-3E47-3FDE-55780F686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22555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用途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7829" name="矩形 5">
            <a:extLst>
              <a:ext uri="{FF2B5EF4-FFF2-40B4-BE49-F238E27FC236}">
                <a16:creationId xmlns:a16="http://schemas.microsoft.com/office/drawing/2014/main" id="{4AA4178B-ED6F-B163-681F-6D2FDBA28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00660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要求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7830" name="矩形 13">
            <a:extLst>
              <a:ext uri="{FF2B5EF4-FFF2-40B4-BE49-F238E27FC236}">
                <a16:creationId xmlns:a16="http://schemas.microsoft.com/office/drawing/2014/main" id="{AE63AEBD-4628-9353-D376-5BBE92CA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28900"/>
            <a:ext cx="74676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噪声二极管做成的噪声产生器，在测量数字通信系统的性能时不很适用。因为它在一段观察时间内产生的噪声的统计特性，不一定和同样长的另一段观察时间内的统计特性相同。测量得到的误码率常常很难重复得到。</a:t>
            </a:r>
          </a:p>
        </p:txBody>
      </p:sp>
      <p:sp>
        <p:nvSpPr>
          <p:cNvPr id="77831" name="矩形 14">
            <a:extLst>
              <a:ext uri="{FF2B5EF4-FFF2-40B4-BE49-F238E27FC236}">
                <a16:creationId xmlns:a16="http://schemas.microsoft.com/office/drawing/2014/main" id="{45398D88-08E9-62D8-D707-9A87A7D54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4495800"/>
            <a:ext cx="74676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序列的功率谱密度的包络是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(sin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形的。设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序列的码元宽度为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秒，则大约在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至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 /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45% Hz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的频率范围内，可认为它具有均匀的功率谱密度。所以，可用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序列的这一部分频谱作为噪声产生器的噪声输出。虽然是伪噪声，但有可重复性。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856" name="矩形 15">
            <a:extLst>
              <a:ext uri="{FF2B5EF4-FFF2-40B4-BE49-F238E27FC236}">
                <a16:creationId xmlns:a16="http://schemas.microsoft.com/office/drawing/2014/main" id="{C44AEBC1-6E4F-61AF-3406-F3A22F725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2070100"/>
            <a:ext cx="32115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dirty="0">
                <a:latin typeface="+mn-lt"/>
                <a:ea typeface="黑体" pitchFamily="49" charset="-122"/>
                <a:cs typeface="Arial" pitchFamily="34" charset="0"/>
              </a:rPr>
              <a:t>: </a:t>
            </a:r>
            <a:r>
              <a:rPr lang="en-US" altLang="zh-CN" sz="2000" b="1" dirty="0">
                <a:ea typeface="黑体" pitchFamily="49" charset="-122"/>
                <a:cs typeface="Arial" pitchFamily="34" charset="0"/>
              </a:rPr>
              <a:t> </a:t>
            </a:r>
            <a:r>
              <a:rPr lang="zh-CN" altLang="fr-FR" sz="2000" dirty="0">
                <a:latin typeface="Arial" pitchFamily="34" charset="0"/>
                <a:ea typeface="微软雅黑" pitchFamily="34" charset="-122"/>
                <a:cs typeface="Arial" pitchFamily="34" charset="0"/>
              </a:rPr>
              <a:t>能产生带限白高斯噪声。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C806CEC-E7EA-CE69-CB93-40731060F91D}"/>
              </a:ext>
            </a:extLst>
          </p:cNvPr>
          <p:cNvSpPr/>
          <p:nvPr/>
        </p:nvSpPr>
        <p:spPr>
          <a:xfrm>
            <a:off x="704850" y="406400"/>
            <a:ext cx="231140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5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</a:t>
            </a:r>
            <a:r>
              <a:rPr lang="zh-CN" altLang="fr-FR" sz="320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通信加密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78851" name="矩形 5">
            <a:extLst>
              <a:ext uri="{FF2B5EF4-FFF2-40B4-BE49-F238E27FC236}">
                <a16:creationId xmlns:a16="http://schemas.microsoft.com/office/drawing/2014/main" id="{428D1692-0192-592A-0C01-8749925A2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3740150"/>
            <a:ext cx="751205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在保密通信应用中，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序列比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序列优越得多，因为前者的数目比后者的大很多。数目越多，为解密所需要的搜索时间就越长。</a:t>
            </a:r>
          </a:p>
        </p:txBody>
      </p:sp>
      <p:sp>
        <p:nvSpPr>
          <p:cNvPr id="78852" name="矩形 5">
            <a:extLst>
              <a:ext uri="{FF2B5EF4-FFF2-40B4-BE49-F238E27FC236}">
                <a16:creationId xmlns:a16="http://schemas.microsoft.com/office/drawing/2014/main" id="{25A3F658-66C7-D220-3FDA-AC36C34C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117600"/>
            <a:ext cx="5807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数字通信的优点：容易作到高度保密性的加密。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853" name="矩形 5">
            <a:extLst>
              <a:ext uri="{FF2B5EF4-FFF2-40B4-BE49-F238E27FC236}">
                <a16:creationId xmlns:a16="http://schemas.microsoft.com/office/drawing/2014/main" id="{6DAB1CDB-AA3F-7CD0-F302-46B457CFB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1606550"/>
            <a:ext cx="3498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数字信号加密的基本原理：</a:t>
            </a:r>
            <a:endParaRPr lang="zh-CN" altLang="en-US" sz="20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8854" name="Picture 5" descr="t1010">
            <a:extLst>
              <a:ext uri="{FF2B5EF4-FFF2-40B4-BE49-F238E27FC236}">
                <a16:creationId xmlns:a16="http://schemas.microsoft.com/office/drawing/2014/main" id="{D9A74174-C2AC-6258-D20B-A7F5A378E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9950"/>
            <a:ext cx="77343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5" name="矩形 9">
            <a:extLst>
              <a:ext uri="{FF2B5EF4-FFF2-40B4-BE49-F238E27FC236}">
                <a16:creationId xmlns:a16="http://schemas.microsoft.com/office/drawing/2014/main" id="{B3231D98-23CC-DC94-E83D-59E037912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673600"/>
            <a:ext cx="73342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例如，在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10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时，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序列只有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60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个，而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序列的数目约达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1.3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151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个。假定解密者用计算机搜索时，试探一种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序列平均需要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 ns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，则平均约需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(1.3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151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) / 2(365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24  60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60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= 2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10</a:t>
            </a:r>
            <a:r>
              <a:rPr lang="fr-FR" altLang="zh-CN" sz="2000" baseline="30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134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年才能破译这个密码！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12D3ABC-FA22-CB67-9C05-7F6714FA09F2}"/>
              </a:ext>
            </a:extLst>
          </p:cNvPr>
          <p:cNvSpPr/>
          <p:nvPr/>
        </p:nvSpPr>
        <p:spPr>
          <a:xfrm>
            <a:off x="527050" y="406400"/>
            <a:ext cx="4845050" cy="5540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2" indent="-285750">
              <a:lnSpc>
                <a:spcPts val="3600"/>
              </a:lnSpc>
              <a:spcBef>
                <a:spcPct val="20000"/>
              </a:spcBef>
              <a:buClr>
                <a:srgbClr val="FF0000"/>
              </a:buClr>
              <a:buSzPct val="80000"/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6</a:t>
            </a:r>
            <a:r>
              <a:rPr lang="en-US" altLang="zh-CN" sz="32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  <a:cs typeface="Arial" pitchFamily="34" charset="0"/>
              </a:rPr>
              <a:t>.</a:t>
            </a:r>
            <a:r>
              <a:rPr lang="zh-CN" altLang="fr-FR" sz="320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数据序列的扰乱与解扰</a:t>
            </a:r>
            <a:endParaRPr lang="zh-CN" altLang="en-US" sz="3200" b="1" kern="0" dirty="0">
              <a:solidFill>
                <a:srgbClr val="0000CC"/>
              </a:solidFill>
              <a:latin typeface="黑体" pitchFamily="49" charset="-122"/>
              <a:ea typeface="黑体" pitchFamily="49" charset="-122"/>
              <a:cs typeface="Arial" pitchFamily="34" charset="0"/>
            </a:endParaRPr>
          </a:p>
        </p:txBody>
      </p:sp>
      <p:sp>
        <p:nvSpPr>
          <p:cNvPr id="79875" name="矩形 5">
            <a:extLst>
              <a:ext uri="{FF2B5EF4-FFF2-40B4-BE49-F238E27FC236}">
                <a16:creationId xmlns:a16="http://schemas.microsoft.com/office/drawing/2014/main" id="{4BB1BF8F-6CAE-96EA-4873-9D53AA94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1225550"/>
            <a:ext cx="10890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>
                <a:ea typeface="微软雅黑" panose="020B0503020204020204" pitchFamily="34" charset="-122"/>
                <a:cs typeface="Arial" panose="020B0604020202020204" pitchFamily="34" charset="0"/>
              </a:rPr>
              <a:t>目的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876" name="矩形 6">
            <a:extLst>
              <a:ext uri="{FF2B5EF4-FFF2-40B4-BE49-F238E27FC236}">
                <a16:creationId xmlns:a16="http://schemas.microsoft.com/office/drawing/2014/main" id="{CC15036F-E86E-BA72-B96D-40D3C1ED7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1651000"/>
            <a:ext cx="6623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使所传输的数字信号具有接近随机的统计特性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877" name="矩形 7">
            <a:extLst>
              <a:ext uri="{FF2B5EF4-FFF2-40B4-BE49-F238E27FC236}">
                <a16:creationId xmlns:a16="http://schemas.microsoft.com/office/drawing/2014/main" id="{19D29FE7-2587-76CA-F42A-24230DCCD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2139950"/>
            <a:ext cx="17049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fr-FR" sz="2400">
                <a:ea typeface="微软雅黑" panose="020B0503020204020204" pitchFamily="34" charset="-122"/>
                <a:cs typeface="Arial" panose="020B0604020202020204" pitchFamily="34" charset="0"/>
              </a:rPr>
              <a:t>加扰技术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9878" name="矩形 8">
            <a:extLst>
              <a:ext uri="{FF2B5EF4-FFF2-40B4-BE49-F238E27FC236}">
                <a16:creationId xmlns:a16="http://schemas.microsoft.com/office/drawing/2014/main" id="{36D39B47-185D-E105-E9E0-E7272C73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2646363"/>
            <a:ext cx="617855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不用增加多余度而扰乱信号，改变数字信号统计特性，使其近似于白噪声统计特性的一种技术。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9879" name="Group 10">
            <a:extLst>
              <a:ext uri="{FF2B5EF4-FFF2-40B4-BE49-F238E27FC236}">
                <a16:creationId xmlns:a16="http://schemas.microsoft.com/office/drawing/2014/main" id="{9764B08F-4FD3-64CE-050C-A34839368D8B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3829050"/>
            <a:ext cx="8142288" cy="800100"/>
            <a:chOff x="924" y="2585"/>
            <a:chExt cx="4167" cy="497"/>
          </a:xfrm>
        </p:grpSpPr>
        <p:pic>
          <p:nvPicPr>
            <p:cNvPr id="79880" name="Picture 6" descr="t1011">
              <a:extLst>
                <a:ext uri="{FF2B5EF4-FFF2-40B4-BE49-F238E27FC236}">
                  <a16:creationId xmlns:a16="http://schemas.microsoft.com/office/drawing/2014/main" id="{6164CE68-FC0D-FEB2-4901-B06A745F3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" y="2585"/>
              <a:ext cx="4167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81" name="Text Box 8">
              <a:extLst>
                <a:ext uri="{FF2B5EF4-FFF2-40B4-BE49-F238E27FC236}">
                  <a16:creationId xmlns:a16="http://schemas.microsoft.com/office/drawing/2014/main" id="{F4E476E0-E217-0F61-070D-CA7AC198A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2726"/>
              <a:ext cx="369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加扰器</a:t>
              </a:r>
            </a:p>
          </p:txBody>
        </p:sp>
        <p:sp>
          <p:nvSpPr>
            <p:cNvPr id="79882" name="Text Box 9">
              <a:extLst>
                <a:ext uri="{FF2B5EF4-FFF2-40B4-BE49-F238E27FC236}">
                  <a16:creationId xmlns:a16="http://schemas.microsoft.com/office/drawing/2014/main" id="{1E0735D9-9330-04C3-A2FF-5AC89224D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9" y="2732"/>
              <a:ext cx="369" cy="2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解扰器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>
            <a:extLst>
              <a:ext uri="{FF2B5EF4-FFF2-40B4-BE49-F238E27FC236}">
                <a16:creationId xmlns:a16="http://schemas.microsoft.com/office/drawing/2014/main" id="{19964311-844D-8DC5-5818-921D7AE2E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17650"/>
            <a:ext cx="1644650" cy="471488"/>
          </a:xfrm>
        </p:spPr>
        <p:txBody>
          <a:bodyPr/>
          <a:lstStyle/>
          <a:p>
            <a:pPr marL="342900" lvl="3" indent="-34290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fr-FR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原理</a:t>
            </a:r>
            <a:r>
              <a: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框图：</a:t>
            </a:r>
          </a:p>
        </p:txBody>
      </p:sp>
      <p:grpSp>
        <p:nvGrpSpPr>
          <p:cNvPr id="80899" name="组合 10">
            <a:extLst>
              <a:ext uri="{FF2B5EF4-FFF2-40B4-BE49-F238E27FC236}">
                <a16:creationId xmlns:a16="http://schemas.microsoft.com/office/drawing/2014/main" id="{F128C88D-86FA-C471-1C9E-9F70183416E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406650"/>
            <a:ext cx="7100888" cy="3886200"/>
            <a:chOff x="838200" y="1917700"/>
            <a:chExt cx="7100888" cy="3886260"/>
          </a:xfrm>
        </p:grpSpPr>
        <p:pic>
          <p:nvPicPr>
            <p:cNvPr id="80902" name="Picture 5" descr="t1012">
              <a:extLst>
                <a:ext uri="{FF2B5EF4-FFF2-40B4-BE49-F238E27FC236}">
                  <a16:creationId xmlns:a16="http://schemas.microsoft.com/office/drawing/2014/main" id="{12F20779-30A1-89E9-5844-40F296F1DC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917700"/>
              <a:ext cx="7100888" cy="3883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03" name="矩形 8">
              <a:extLst>
                <a:ext uri="{FF2B5EF4-FFF2-40B4-BE49-F238E27FC236}">
                  <a16:creationId xmlns:a16="http://schemas.microsoft.com/office/drawing/2014/main" id="{418B67A4-71F8-4DB7-C4F7-282154EF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600" y="3397250"/>
              <a:ext cx="10823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加扰器 </a:t>
              </a:r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04" name="矩形 9">
              <a:extLst>
                <a:ext uri="{FF2B5EF4-FFF2-40B4-BE49-F238E27FC236}">
                  <a16:creationId xmlns:a16="http://schemas.microsoft.com/office/drawing/2014/main" id="{11084151-D2DA-00AF-7059-96A5D5488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050" y="5403850"/>
              <a:ext cx="95410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解扰器</a:t>
              </a:r>
              <a:endParaRPr lang="zh-CN" altLang="en-US" sz="3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0900" name="矩形 9">
            <a:extLst>
              <a:ext uri="{FF2B5EF4-FFF2-40B4-BE49-F238E27FC236}">
                <a16:creationId xmlns:a16="http://schemas.microsoft.com/office/drawing/2014/main" id="{37A441DA-E86E-5C26-5824-2D16FA463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969963"/>
            <a:ext cx="34591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fr-FR" sz="24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自同步加扰器和解扰器</a:t>
            </a:r>
            <a:endParaRPr lang="zh-CN" altLang="en-US" sz="2400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0D813-738A-45BE-2883-0B4E38A1B769}"/>
              </a:ext>
            </a:extLst>
          </p:cNvPr>
          <p:cNvSpPr/>
          <p:nvPr/>
        </p:nvSpPr>
        <p:spPr>
          <a:xfrm>
            <a:off x="1282700" y="2051050"/>
            <a:ext cx="71564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下图是</a:t>
            </a:r>
            <a:r>
              <a:rPr lang="zh-CN" altLang="fr-FR" sz="2000" kern="0" dirty="0">
                <a:latin typeface="微软雅黑" pitchFamily="34" charset="-122"/>
                <a:ea typeface="微软雅黑" pitchFamily="34" charset="-122"/>
              </a:rPr>
              <a:t>一种由</a:t>
            </a:r>
            <a:r>
              <a:rPr lang="fr-FR" altLang="zh-CN" sz="2000" kern="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fr-FR" sz="2000" kern="0" dirty="0">
                <a:latin typeface="微软雅黑" pitchFamily="34" charset="-122"/>
                <a:ea typeface="微软雅黑" pitchFamily="34" charset="-122"/>
              </a:rPr>
              <a:t>级移存器组成的自同步加扰器和解扰器。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矩形 4">
            <a:extLst>
              <a:ext uri="{FF2B5EF4-FFF2-40B4-BE49-F238E27FC236}">
                <a16:creationId xmlns:a16="http://schemas.microsoft.com/office/drawing/2014/main" id="{A0A0D53A-31EC-8630-2571-B7605983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73150"/>
            <a:ext cx="1731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工作原理：</a:t>
            </a:r>
          </a:p>
        </p:txBody>
      </p:sp>
      <p:sp>
        <p:nvSpPr>
          <p:cNvPr id="33797" name="矩形 5">
            <a:extLst>
              <a:ext uri="{FF2B5EF4-FFF2-40B4-BE49-F238E27FC236}">
                <a16:creationId xmlns:a16="http://schemas.microsoft.com/office/drawing/2014/main" id="{6357477C-0081-6B64-A809-A7D614924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562100"/>
            <a:ext cx="760095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设加扰器的输入数字序列为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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fr-FR" altLang="zh-CN" sz="2000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k+1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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，输出序列为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；解扰器的输入序列为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，输出序列为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fr-FR" altLang="zh-CN" sz="2000" b="1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fr-FR" altLang="zh-CN" sz="2000" b="1" i="1" baseline="-25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fr-FR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18788" name="Object 4">
            <a:extLst>
              <a:ext uri="{FF2B5EF4-FFF2-40B4-BE49-F238E27FC236}">
                <a16:creationId xmlns:a16="http://schemas.microsoft.com/office/drawing/2014/main" id="{AD479843-92E8-86A3-D5DF-D0CA4DE96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3201988"/>
          <a:ext cx="29337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8100" imgH="228600" progId="Equation.3">
                  <p:embed/>
                </p:oleObj>
              </mc:Choice>
              <mc:Fallback>
                <p:oleObj name="公式" r:id="rId2" imgW="1308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3201988"/>
                        <a:ext cx="29337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0" name="Object 6">
            <a:extLst>
              <a:ext uri="{FF2B5EF4-FFF2-40B4-BE49-F238E27FC236}">
                <a16:creationId xmlns:a16="http://schemas.microsoft.com/office/drawing/2014/main" id="{152F9DE8-9E68-2C04-3367-BD0F4F62D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8813" y="4194175"/>
          <a:ext cx="33289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900" imgH="228600" progId="Equation.3">
                  <p:embed/>
                </p:oleObj>
              </mc:Choice>
              <mc:Fallback>
                <p:oleObj name="公式" r:id="rId4" imgW="16129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4194175"/>
                        <a:ext cx="3328987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矩形 8">
            <a:extLst>
              <a:ext uri="{FF2B5EF4-FFF2-40B4-BE49-F238E27FC236}">
                <a16:creationId xmlns:a16="http://schemas.microsoft.com/office/drawing/2014/main" id="{EB230ED9-6932-9184-5EDC-2D0ABFEA1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3724275"/>
            <a:ext cx="19796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解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扰器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799" name="矩形 9">
            <a:extLst>
              <a:ext uri="{FF2B5EF4-FFF2-40B4-BE49-F238E27FC236}">
                <a16:creationId xmlns:a16="http://schemas.microsoft.com/office/drawing/2014/main" id="{37041BEA-EA04-1F76-92B3-A935EEB98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940300"/>
            <a:ext cx="7067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以上两式表明，解扰后的序列与加扰前的序列相同。 </a:t>
            </a:r>
          </a:p>
        </p:txBody>
      </p:sp>
      <p:sp>
        <p:nvSpPr>
          <p:cNvPr id="33800" name="矩形 7">
            <a:extLst>
              <a:ext uri="{FF2B5EF4-FFF2-40B4-BE49-F238E27FC236}">
                <a16:creationId xmlns:a16="http://schemas.microsoft.com/office/drawing/2014/main" id="{164030DD-E982-1D03-2FEF-BBF360B42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673350"/>
            <a:ext cx="746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由上图不难看出，</a:t>
            </a:r>
            <a:r>
              <a:rPr lang="zh-CN" altLang="fr-FR" sz="20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加</a:t>
            </a: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扰器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fr-FR" sz="2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r>
              <a:rPr lang="zh-CN" altLang="fr-FR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zh-CN" altLang="en-US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矩形 4">
            <a:extLst>
              <a:ext uri="{FF2B5EF4-FFF2-40B4-BE49-F238E27FC236}">
                <a16:creationId xmlns:a16="http://schemas.microsoft.com/office/drawing/2014/main" id="{68F3C024-C8A3-9AB1-4E2F-D1A3C1DB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073150"/>
            <a:ext cx="111125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lnSpc>
                <a:spcPts val="3200"/>
              </a:lnSpc>
              <a:buClr>
                <a:srgbClr val="0000CC"/>
              </a:buClr>
              <a:buSzPct val="65000"/>
            </a:pPr>
            <a:r>
              <a: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性能</a:t>
            </a:r>
            <a:r>
              <a:rPr lang="zh-CN" altLang="fr-FR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endParaRPr lang="zh-CN" altLang="en-US" sz="2400" b="1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1923" name="矩形 5">
            <a:extLst>
              <a:ext uri="{FF2B5EF4-FFF2-40B4-BE49-F238E27FC236}">
                <a16:creationId xmlns:a16="http://schemas.microsoft.com/office/drawing/2014/main" id="{99AF8EBA-1F0E-1FF2-2D11-6B07EECE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6550"/>
            <a:ext cx="768985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这种解扰器是自同步的，因为若信道干扰造成错码，它的影响至多持续移存器内的一段时间（连续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个输出码元）。</a:t>
            </a:r>
          </a:p>
        </p:txBody>
      </p:sp>
      <p:sp>
        <p:nvSpPr>
          <p:cNvPr id="81924" name="矩形 6">
            <a:extLst>
              <a:ext uri="{FF2B5EF4-FFF2-40B4-BE49-F238E27FC236}">
                <a16:creationId xmlns:a16="http://schemas.microsoft.com/office/drawing/2014/main" id="{B2B88D91-2410-6E18-57D6-61C47BBF1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540000"/>
            <a:ext cx="75565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如果断开输入端，加扰器就变成一个反馈移存器序列产生器，其输出为一周期性序列。一般都适当设计反馈抽头的位置，使其构成为</a:t>
            </a:r>
            <a:r>
              <a:rPr lang="fr-FR" altLang="zh-CN" sz="2000" i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序列产生器。因为它能最有效地将输入序列扰乱，使输出数字码元之间相关性最小。</a:t>
            </a:r>
          </a:p>
        </p:txBody>
      </p:sp>
      <p:sp>
        <p:nvSpPr>
          <p:cNvPr id="81925" name="矩形 7">
            <a:extLst>
              <a:ext uri="{FF2B5EF4-FFF2-40B4-BE49-F238E27FC236}">
                <a16:creationId xmlns:a16="http://schemas.microsoft.com/office/drawing/2014/main" id="{6C175072-A39C-08DD-DFB0-A78B15CDE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273550"/>
            <a:ext cx="7645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加扰器的作用可以看作是使输出码元成为输入序列许多码元的模</a:t>
            </a:r>
            <a:r>
              <a:rPr lang="fr-FR" altLang="zh-CN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fr-FR"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和。因此可以把它当作是一种线性序列滤波器；同理，解扰器也可看作是一个线性序列滤波器。</a:t>
            </a:r>
          </a:p>
        </p:txBody>
      </p:sp>
      <p:sp>
        <p:nvSpPr>
          <p:cNvPr id="82950" name="矩形 8">
            <a:extLst>
              <a:ext uri="{FF2B5EF4-FFF2-40B4-BE49-F238E27FC236}">
                <a16:creationId xmlns:a16="http://schemas.microsoft.com/office/drawing/2014/main" id="{62352A39-B76F-D921-605C-05E2F15B2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726113"/>
            <a:ext cx="75120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cs typeface="Arial" charset="0"/>
              </a:rPr>
              <a:t>加扰技术在某种程度上也可以达到通信加密的目的。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微软雅黑" pitchFamily="34" charset="-122"/>
              <a:cs typeface="Arial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内容占位符 32" descr="通信原理（第7版）学习辅导与考研指导.jpg">
            <a:extLst>
              <a:ext uri="{FF2B5EF4-FFF2-40B4-BE49-F238E27FC236}">
                <a16:creationId xmlns:a16="http://schemas.microsoft.com/office/drawing/2014/main" id="{D7951ED0-CD2F-4B47-01DB-93777C9046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4" t="5714" r="17461"/>
          <a:stretch>
            <a:fillRect/>
          </a:stretch>
        </p:blipFill>
        <p:spPr bwMode="auto">
          <a:xfrm>
            <a:off x="1071563" y="1292225"/>
            <a:ext cx="3035300" cy="513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BCD4363-A88C-E4B3-3D6A-BFD23576521C}"/>
              </a:ext>
            </a:extLst>
          </p:cNvPr>
          <p:cNvSpPr/>
          <p:nvPr/>
        </p:nvSpPr>
        <p:spPr>
          <a:xfrm>
            <a:off x="2928938" y="317500"/>
            <a:ext cx="3143250" cy="6302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3200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配套辅导教材：</a:t>
            </a:r>
            <a:r>
              <a:rPr lang="en-US" altLang="zh-CN" sz="3200" kern="0" dirty="0">
                <a:solidFill>
                  <a:srgbClr val="003399"/>
                </a:solidFill>
                <a:latin typeface="Arial" charset="0"/>
                <a:ea typeface="宋体"/>
                <a:cs typeface="Arial" charset="0"/>
              </a:rPr>
              <a:t>  </a:t>
            </a:r>
            <a:r>
              <a:rPr lang="en-US" altLang="zh-CN" sz="3200" kern="0" dirty="0">
                <a:solidFill>
                  <a:srgbClr val="003399"/>
                </a:solidFill>
                <a:latin typeface="Tahoma"/>
                <a:ea typeface="宋体"/>
              </a:rPr>
              <a:t>                                     </a:t>
            </a:r>
            <a:endParaRPr lang="en-US" altLang="zh-CN" sz="3200" kern="0" dirty="0">
              <a:solidFill>
                <a:srgbClr val="003399"/>
              </a:solidFill>
              <a:latin typeface="Tahoma"/>
              <a:ea typeface="宋体"/>
              <a:sym typeface="Wingdings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9ACD7D-E99A-850B-12C2-29A34992AEBC}"/>
              </a:ext>
            </a:extLst>
          </p:cNvPr>
          <p:cNvSpPr/>
          <p:nvPr/>
        </p:nvSpPr>
        <p:spPr>
          <a:xfrm>
            <a:off x="5715000" y="4068763"/>
            <a:ext cx="1428750" cy="860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曹丽娜  </a:t>
            </a:r>
            <a:endParaRPr lang="en-US" altLang="zh-CN" sz="2000" kern="0" dirty="0">
              <a:solidFill>
                <a:srgbClr val="003399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樊昌信</a:t>
            </a:r>
            <a:r>
              <a:rPr lang="en-US" altLang="zh-CN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  <a:cs typeface="Arial" charset="0"/>
              </a:rPr>
              <a:t>  </a:t>
            </a:r>
            <a:r>
              <a:rPr lang="en-US" altLang="zh-CN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                                  </a:t>
            </a:r>
            <a:endParaRPr lang="en-US" altLang="zh-CN" sz="2000" kern="0" dirty="0">
              <a:solidFill>
                <a:srgbClr val="003399"/>
              </a:solidFill>
              <a:latin typeface="黑体" pitchFamily="2" charset="-122"/>
              <a:ea typeface="黑体" pitchFamily="2" charset="-122"/>
              <a:sym typeface="Wingdings" pitchFamily="2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4D6FA7-13FE-2AC1-006B-34E220D1E5C7}"/>
              </a:ext>
            </a:extLst>
          </p:cNvPr>
          <p:cNvSpPr/>
          <p:nvPr/>
        </p:nvSpPr>
        <p:spPr>
          <a:xfrm>
            <a:off x="6786563" y="4186238"/>
            <a:ext cx="857250" cy="6096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编著</a:t>
            </a:r>
            <a:r>
              <a:rPr lang="en-US" altLang="zh-CN" sz="2800" kern="0" dirty="0">
                <a:latin typeface="Arial" charset="0"/>
                <a:ea typeface="宋体"/>
                <a:cs typeface="Arial" charset="0"/>
              </a:rPr>
              <a:t>  </a:t>
            </a:r>
            <a:r>
              <a:rPr lang="en-US" altLang="zh-CN" sz="2800" kern="0" dirty="0">
                <a:latin typeface="Tahoma"/>
                <a:ea typeface="宋体"/>
              </a:rPr>
              <a:t> </a:t>
            </a:r>
            <a:r>
              <a:rPr lang="en-US" altLang="zh-CN" sz="2800" kern="0" dirty="0">
                <a:solidFill>
                  <a:srgbClr val="000000"/>
                </a:solidFill>
                <a:latin typeface="Tahoma"/>
                <a:ea typeface="宋体"/>
              </a:rPr>
              <a:t>                                    </a:t>
            </a:r>
            <a:endParaRPr lang="en-US" altLang="zh-CN" sz="2800" kern="0" dirty="0">
              <a:solidFill>
                <a:srgbClr val="000000"/>
              </a:solidFill>
              <a:latin typeface="Tahoma"/>
              <a:ea typeface="宋体"/>
              <a:sym typeface="Wingdings" pitchFamily="2" charset="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3BCC93-93A0-902F-579F-995EC2124858}"/>
              </a:ext>
            </a:extLst>
          </p:cNvPr>
          <p:cNvSpPr/>
          <p:nvPr/>
        </p:nvSpPr>
        <p:spPr>
          <a:xfrm>
            <a:off x="5643563" y="5230813"/>
            <a:ext cx="2214562" cy="412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688" algn="l"/>
              </a:tabLst>
              <a:defRPr/>
            </a:pPr>
            <a:r>
              <a:rPr lang="zh-CN" altLang="en-US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国防工业出版社</a:t>
            </a:r>
            <a:r>
              <a:rPr lang="en-US" altLang="zh-CN" sz="2000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                        </a:t>
            </a:r>
            <a:endParaRPr lang="en-US" altLang="zh-CN" sz="2000" kern="0" dirty="0">
              <a:solidFill>
                <a:srgbClr val="003399"/>
              </a:solidFill>
              <a:latin typeface="黑体" pitchFamily="2" charset="-122"/>
              <a:ea typeface="黑体" pitchFamily="2" charset="-122"/>
              <a:sym typeface="Wingdings" pitchFamily="2" charset="2"/>
            </a:endParaRPr>
          </a:p>
        </p:txBody>
      </p:sp>
      <p:pic>
        <p:nvPicPr>
          <p:cNvPr id="82951" name="内容占位符 12" descr="校徽3.gif">
            <a:extLst>
              <a:ext uri="{FF2B5EF4-FFF2-40B4-BE49-F238E27FC236}">
                <a16:creationId xmlns:a16="http://schemas.microsoft.com/office/drawing/2014/main" id="{C2F4AF92-36BE-1EDB-2F63-C2D313922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4171950"/>
            <a:ext cx="5715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2" name="内容占位符 27" descr="图标3.gif">
            <a:extLst>
              <a:ext uri="{FF2B5EF4-FFF2-40B4-BE49-F238E27FC236}">
                <a16:creationId xmlns:a16="http://schemas.microsoft.com/office/drawing/2014/main" id="{3211639A-9B76-197A-4D07-48E5DF2E2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213" y="5156200"/>
            <a:ext cx="5699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6" name="Rectangle 10">
            <a:extLst>
              <a:ext uri="{FF2B5EF4-FFF2-40B4-BE49-F238E27FC236}">
                <a16:creationId xmlns:a16="http://schemas.microsoft.com/office/drawing/2014/main" id="{7873BCA9-7B00-9415-F829-16CB14CA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695450"/>
            <a:ext cx="3714750" cy="1733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itchFamily="2" charset="2"/>
              <a:buChar char="Ø"/>
              <a:tabLst>
                <a:tab pos="838200" algn="l"/>
              </a:tabLst>
              <a:defRPr/>
            </a:pPr>
            <a:r>
              <a:rPr lang="zh-CN" sz="240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整理知识</a:t>
            </a:r>
            <a:r>
              <a:rPr lang="zh-CN" altLang="en-US" sz="240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 归纳结论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梳理关系  引导主线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剖析难点  解惑疑点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强化重点  点击考点 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75875-A84A-DC78-8AFF-291C1A12EDD0}"/>
              </a:ext>
            </a:extLst>
          </p:cNvPr>
          <p:cNvSpPr txBox="1">
            <a:spLocks/>
          </p:cNvSpPr>
          <p:nvPr/>
        </p:nvSpPr>
        <p:spPr bwMode="auto">
          <a:xfrm>
            <a:off x="2857500" y="2482850"/>
            <a:ext cx="4143375" cy="151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7200" kern="0" dirty="0">
                <a:solidFill>
                  <a:srgbClr val="003399"/>
                </a:solidFill>
                <a:latin typeface="隶书" pitchFamily="49" charset="-122"/>
                <a:ea typeface="隶书" pitchFamily="49" charset="-122"/>
              </a:rPr>
              <a:t> 谢谢！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4226</TotalTime>
  <Words>5375</Words>
  <Application>Microsoft Office PowerPoint</Application>
  <PresentationFormat>全屏显示(4:3)</PresentationFormat>
  <Paragraphs>437</Paragraphs>
  <Slides>81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4" baseType="lpstr">
      <vt:lpstr>Tahoma</vt:lpstr>
      <vt:lpstr>宋体</vt:lpstr>
      <vt:lpstr>Arial</vt:lpstr>
      <vt:lpstr>Times New Roman</vt:lpstr>
      <vt:lpstr>隶书</vt:lpstr>
      <vt:lpstr>楷体_GB2312</vt:lpstr>
      <vt:lpstr>Wingdings</vt:lpstr>
      <vt:lpstr>黑体</vt:lpstr>
      <vt:lpstr>微软雅黑</vt:lpstr>
      <vt:lpstr>Arial Unicode MS</vt:lpstr>
      <vt:lpstr>Symbol</vt:lpstr>
      <vt:lpstr>Blends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Xidian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通信原理</dc:title>
  <dc:creator>Fan</dc:creator>
  <cp:lastModifiedBy>Wang Liming</cp:lastModifiedBy>
  <cp:revision>237</cp:revision>
  <dcterms:created xsi:type="dcterms:W3CDTF">2005-12-13T08:40:34Z</dcterms:created>
  <dcterms:modified xsi:type="dcterms:W3CDTF">2023-08-16T09:42:51Z</dcterms:modified>
</cp:coreProperties>
</file>